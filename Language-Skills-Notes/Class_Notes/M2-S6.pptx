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300" r:id="rId3"/>
    <p:sldId id="258" r:id="rId4"/>
    <p:sldId id="301" r:id="rId5"/>
    <p:sldId id="259" r:id="rId6"/>
    <p:sldId id="260" r:id="rId7"/>
    <p:sldId id="302" r:id="rId8"/>
    <p:sldId id="303" r:id="rId9"/>
    <p:sldId id="306" r:id="rId10"/>
    <p:sldId id="304" r:id="rId11"/>
    <p:sldId id="305" r:id="rId12"/>
    <p:sldId id="307" r:id="rId13"/>
    <p:sldId id="313" r:id="rId14"/>
    <p:sldId id="312" r:id="rId15"/>
    <p:sldId id="308" r:id="rId16"/>
    <p:sldId id="309" r:id="rId17"/>
    <p:sldId id="31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B602E-1DC4-4085-A821-23DBD35E110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B6142-8DE8-4A32-8D24-9B4F8B91F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0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93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2DFC-E158-5CD5-F108-95EA26DE3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DCDE1-40C1-3BE2-6589-CDDDA7995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F3CEC-4619-302C-26AE-E65FC100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B0E5-D7CC-DC0F-FA48-4A9228F0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EC323-1D55-CE2C-2ABB-ADA991EF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91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2927D-D7EA-5E33-0C8F-82E480E6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706E4-62BE-1E8E-AADB-30581171C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F10D1-D653-9339-5C1E-3F20BCC5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6826F-E166-AAC4-650F-CEC1C0D7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85FD6-755A-C704-5F7F-5AC5C739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22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993A-DDEC-7FAE-A350-75837DCB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88F81-7579-E1FC-44ED-F7EB053B2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DDB4C-A7C0-A0E0-7558-48C52EDE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7B13E-5B45-1596-9E12-90B89087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03CB6-2F26-E736-CE31-50758DA7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01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EA6B-DD10-2CC6-27F2-C63ABB44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EEB5-B3F6-81E5-05E9-6C9468F08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BB99F-1614-CB7A-869E-1D8B26391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9DA07-6F77-A495-CA2E-D5B6BAE88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655C1-B43C-5CB4-DAE0-2C4DC6A3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E4BB0-9133-E320-CFFD-A258F6E3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9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2982-0F34-AE97-1158-003F0FAC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EF16F-B4D1-CED8-B75F-C13B6AFCA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07B95-3FC0-40F3-AC7F-C504DB71E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64CC0-3928-3484-43D1-7C9E992A7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0D1BF-CDEB-FAA5-9603-3EA9AFDDD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C8265-9523-1CB1-0890-7B3701B3E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7C8F9-EEF2-0699-1E40-9E42FA0F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B8C57-5EFF-186C-CDCC-940EB81D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900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0983-706D-E746-6BBC-8BFA3524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A7E223-7421-D195-4FD3-C9F1E7B3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9262D-50EA-5B96-FB13-0E83B7CC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FD688-7EFD-2386-9793-165822B3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074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92046-4018-432C-3A1D-8B29144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90DE6-3E99-C496-9A62-9B1CB3D3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820BD-052F-BC26-B415-54AD9430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7889-93D7-1853-5958-BE03D38D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B6C89-FE99-E28D-6BD4-427567758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EA5B7-2180-0C8D-6124-9B9A0EFE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41BE2-305D-92FB-5D2E-F8557B9A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8CF66-7E91-ED99-B489-86D4CB2B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50BE6-657C-61FA-3271-2EA80181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912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2808-275E-BC6A-DCD1-3C058082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88941-568B-C471-1A49-67AA60B2E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402EE-E02B-F187-4F11-D470A8D5D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0CEAF-556B-B121-0505-94262281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A937E-6AD4-5FAA-A16D-E9C6A2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B5288-3118-3E1B-F591-01F67C0F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524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6EB4-17F7-CD84-CCDB-5B810337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7048D-5FB3-69AD-A2D9-A2C34DDF2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97C25-0C86-3656-734E-6D7B26F8C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A4453-02EA-D5EA-872C-46086F247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97B4A-CC4B-6175-C2E2-CE3BF425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30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5CEF46-4CE5-8D40-A34C-29AFFF5DB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BEDE9-0C35-53C5-44BB-9B8E0FA17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DF25-518B-FE9B-CF1F-B73B6CFC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1A265-98A2-B819-C4F0-F0551F36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5A215-B35C-F462-9B2B-01DEB1A4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11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7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63FDEF-97FE-E416-1E20-E8EB2EF8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21CF9-49DB-364E-3534-5EFE17AFD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1FE99-531A-25CE-7048-F60BA0C25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19DCD-D5BD-4542-B009-26A8CF2C86F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A4EF6-B244-A3AA-7ED1-B1B2ED4E3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38418-B4FA-385A-EBA9-8F1FE0290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7515-80E4-4C1D-A199-93F45CD0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3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?utm_source=chatgpt.com" TargetMode="External"/><Relationship Id="rId2" Type="http://schemas.openxmlformats.org/officeDocument/2006/relationships/hyperlink" Target="https://videohighlight.com/v/NG44swIzykA?aiFormatted=false&amp;language=en&amp;mediaType=youtube&amp;summaryType=default&amp;utm_source=chatgpt.co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111646" y="2772050"/>
            <a:ext cx="6810277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IN" sz="2400" b="1" dirty="0"/>
          </a:p>
          <a:p>
            <a:endParaRPr lang="en-IN" sz="2400" b="1" dirty="0"/>
          </a:p>
          <a:p>
            <a:pPr algn="ctr"/>
            <a:r>
              <a:rPr lang="en-IN" sz="3200" dirty="0"/>
              <a:t>Module 2 –</a:t>
            </a:r>
            <a:r>
              <a:rPr lang="en-IN" sz="3200" b="1" dirty="0"/>
              <a:t>Technical vocabulary VS General Vocabulary</a:t>
            </a:r>
          </a:p>
          <a:p>
            <a:pPr algn="ctr"/>
            <a:r>
              <a:rPr lang="en-IN" sz="2000" b="1" dirty="0"/>
              <a:t>Collocations, Idioms, Phrasal Verbs, Professional Expressions, Tone-Carrying Words, Hedging &amp; Softening, Assertive vs Tentative Language, Positive vs Negative Framing</a:t>
            </a:r>
          </a:p>
          <a:p>
            <a:pPr algn="ctr"/>
            <a:r>
              <a:rPr lang="en-IN" sz="2000" b="1" dirty="0"/>
              <a:t>Explaining Technical Ideas to Non-Technical Audiences</a:t>
            </a:r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8" y="332258"/>
            <a:ext cx="53782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English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6680332" y="2791727"/>
            <a:ext cx="3948803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- 6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5414"/>
            <a:ext cx="10731286" cy="11654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prstClr val="black"/>
                </a:solidFill>
                <a:latin typeface="Poppins"/>
                <a:cs typeface="Poppins"/>
              </a:rPr>
              <a:t>To equip learners with the difference in using Technical vocabulary and General vocabulary including </a:t>
            </a:r>
            <a:r>
              <a:rPr lang="en-US" sz="1600" dirty="0" err="1">
                <a:solidFill>
                  <a:prstClr val="black"/>
                </a:solidFill>
                <a:latin typeface="Poppins"/>
                <a:cs typeface="Poppins"/>
              </a:rPr>
              <a:t>collacations</a:t>
            </a:r>
            <a:r>
              <a:rPr lang="en-US" sz="1600" dirty="0">
                <a:solidFill>
                  <a:prstClr val="black"/>
                </a:solidFill>
                <a:latin typeface="Poppins"/>
                <a:cs typeface="Poppins"/>
              </a:rPr>
              <a:t>, hedging and softening  language and, enabling them to communicate ideas clearly, coherently, and persuasively.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790861"/>
            <a:ext cx="3870831" cy="31702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0837" y="2107883"/>
            <a:ext cx="10143241" cy="19964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This Session is designed to: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/>
            </a:pPr>
            <a:r>
              <a:rPr lang="en-IN" sz="16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 distinguish between </a:t>
            </a:r>
            <a:r>
              <a:rPr lang="en-US" sz="1600" dirty="0">
                <a:solidFill>
                  <a:prstClr val="black"/>
                </a:solidFill>
                <a:latin typeface="Poppins"/>
                <a:cs typeface="Poppins"/>
              </a:rPr>
              <a:t>Technical vocabulary and General vocabulary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prstClr val="black"/>
                </a:solidFill>
                <a:latin typeface="Poppins"/>
                <a:cs typeface="Poppins"/>
              </a:rPr>
              <a:t>To </a:t>
            </a:r>
            <a:r>
              <a:rPr lang="en-IN" sz="16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 appropriate expressions for each context.</a:t>
            </a:r>
            <a:endParaRPr lang="en-US" sz="1600" dirty="0">
              <a:solidFill>
                <a:prstClr val="black"/>
              </a:solidFill>
              <a:latin typeface="Poppins"/>
              <a:cs typeface="Poppins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prstClr val="black"/>
                </a:solidFill>
                <a:latin typeface="Poppins"/>
                <a:cs typeface="Poppins"/>
              </a:rPr>
              <a:t>To structure professional expressions using hedging and softening language</a:t>
            </a: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87186"/>
            <a:ext cx="3870831" cy="478585"/>
          </a:xfrm>
          <a:prstGeom prst="roundRect">
            <a:avLst>
              <a:gd name="adj" fmla="val 0"/>
            </a:avLst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30837" y="4672484"/>
            <a:ext cx="10143242" cy="1993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At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the end of this session, you should be able to: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Use suitable expressions in professional and casual conversations.</a:t>
            </a:r>
            <a:endParaRPr lang="en-IN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Participate effectively in positive and negative framing situations.</a:t>
            </a:r>
          </a:p>
          <a:p>
            <a:pPr>
              <a:lnSpc>
                <a:spcPct val="200000"/>
              </a:lnSpc>
              <a:defRPr/>
            </a:pPr>
            <a:endParaRPr lang="en-IN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B696-0D3B-1401-3473-F87127B3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WARM UP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3DBD20-AD94-A5FA-0BD1-7AE87D1F5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4"/>
            <a:ext cx="11049000" cy="490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6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71BF-1C67-2B8A-59F4-E77BCC2C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4143-C93C-4F5F-71D6-54802E6A9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62275"/>
          </a:xfrm>
        </p:spPr>
        <p:txBody>
          <a:bodyPr/>
          <a:lstStyle/>
          <a:p>
            <a:r>
              <a:rPr lang="en-US" dirty="0"/>
              <a:t>Whose language is Technical?</a:t>
            </a:r>
          </a:p>
          <a:p>
            <a:r>
              <a:rPr lang="en-US" dirty="0"/>
              <a:t>What are it’s features?</a:t>
            </a:r>
          </a:p>
          <a:p>
            <a:r>
              <a:rPr lang="en-US" dirty="0"/>
              <a:t>What is the purpose of using Technical language?</a:t>
            </a:r>
          </a:p>
          <a:p>
            <a:r>
              <a:rPr lang="en-US" dirty="0"/>
              <a:t>Where do we use general language?</a:t>
            </a:r>
          </a:p>
          <a:p>
            <a:r>
              <a:rPr lang="en-US" dirty="0"/>
              <a:t>What are it’s features?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06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FF95-1C79-4F39-674F-652E32B93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pPr algn="ctr"/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A100A0-455F-93B4-27E8-DFC8DF74C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300" y="0"/>
            <a:ext cx="114681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4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3874-8ED7-9209-FBDC-B221F659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Explaining Technical Ideas to Non-Technical Audiences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23A7F-0A5F-6176-321E-857F5EB57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Presenting technical ideas to non-technical audiences requires translating complex data into relatable, impact-driven narratives.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Activity-1</a:t>
            </a:r>
          </a:p>
        </p:txBody>
      </p:sp>
    </p:spTree>
    <p:extLst>
      <p:ext uri="{BB962C8B-B14F-4D97-AF65-F5344CB8AC3E}">
        <p14:creationId xmlns:p14="http://schemas.microsoft.com/office/powerpoint/2010/main" val="122042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09E2D-871C-C828-612B-577E0487B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58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Collocations and Phrasal verbs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6DE23-3DE8-1092-C3AD-01D2ED01F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760"/>
            <a:ext cx="10515600" cy="61992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Collocations are </a:t>
            </a:r>
            <a:r>
              <a:rPr lang="en-IN" sz="2000" b="1" dirty="0"/>
              <a:t>words that naturally and frequently occur together</a:t>
            </a:r>
            <a:r>
              <a:rPr lang="en-IN" sz="2000" dirty="0"/>
              <a:t> in English. Native speakers use these combinations automatically because they sound natural.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Verb + Noun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Adjective + Noun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Adverb + Adjective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Verb + Adverb 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Ex: Make a decision, Pay attention, Heavy rain, Strong coffee, Conduct research, etc….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 phrasal verb is a </a:t>
            </a:r>
            <a:r>
              <a:rPr lang="en-IN" sz="2000" b="1" dirty="0"/>
              <a:t>verb combined with a preposition or an adverb (or both)</a:t>
            </a:r>
            <a:r>
              <a:rPr lang="en-IN" sz="2000" dirty="0"/>
              <a:t>. Together, they create a new meaning that is often different from the meaning of the original verb.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Verb + Preposition/Adverb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/>
              <a:t>Ex: Carry out, Give up, Look after, Set up, Turn off</a:t>
            </a:r>
          </a:p>
        </p:txBody>
      </p:sp>
    </p:spTree>
    <p:extLst>
      <p:ext uri="{BB962C8B-B14F-4D97-AF65-F5344CB8AC3E}">
        <p14:creationId xmlns:p14="http://schemas.microsoft.com/office/powerpoint/2010/main" val="385962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7E1D-A67B-7B33-8C21-B7795857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075"/>
          </a:xfrm>
        </p:spPr>
        <p:txBody>
          <a:bodyPr/>
          <a:lstStyle/>
          <a:p>
            <a:pPr algn="ctr"/>
            <a:r>
              <a:rPr lang="en-US" dirty="0"/>
              <a:t>Tone Carrying 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59FFF-F403-1B5E-41F6-198FE867B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200"/>
            <a:ext cx="10515600" cy="5084763"/>
          </a:xfrm>
        </p:spPr>
        <p:txBody>
          <a:bodyPr>
            <a:normAutofit fontScale="55000" lnSpcReduction="20000"/>
          </a:bodyPr>
          <a:lstStyle/>
          <a:p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Tone-carrying words are </a:t>
            </a:r>
            <a:r>
              <a:rPr lang="en-IN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or phrases that reveal the speaker's or writer’s </a:t>
            </a:r>
          </a:p>
          <a:p>
            <a:r>
              <a:rPr lang="en-IN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attitude, </a:t>
            </a:r>
          </a:p>
          <a:p>
            <a:r>
              <a:rPr lang="en-IN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emotion, or</a:t>
            </a:r>
          </a:p>
          <a:p>
            <a:pPr>
              <a:lnSpc>
                <a:spcPct val="170000"/>
              </a:lnSpc>
            </a:pPr>
            <a:r>
              <a:rPr lang="en-IN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 of certainty toward the message or the audience</a:t>
            </a:r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influence </a:t>
            </a:r>
            <a:r>
              <a:rPr lang="en-IN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message is perceived, not just </a:t>
            </a:r>
            <a:r>
              <a:rPr lang="en-IN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means.</a:t>
            </a:r>
          </a:p>
          <a:p>
            <a:pPr>
              <a:lnSpc>
                <a:spcPct val="170000"/>
              </a:lnSpc>
            </a:pPr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professional communication, tone-carrying words help make your language </a:t>
            </a:r>
            <a:r>
              <a:rPr lang="en-IN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polite, respectful, confident, cautious, persuasive, or empathetic</a:t>
            </a:r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IN" sz="1800" dirty="0"/>
            </a:br>
            <a:endParaRPr lang="en-IN" sz="1800" dirty="0"/>
          </a:p>
          <a:p>
            <a:pPr marL="0" indent="0">
              <a:buNone/>
            </a:pPr>
            <a:br>
              <a:rPr lang="en-IN" sz="1800" dirty="0"/>
            </a:br>
            <a:br>
              <a:rPr lang="en-IN" sz="1800" dirty="0"/>
            </a:br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55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A846-7F44-B497-9D90-50D888D0E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Contd</a:t>
            </a:r>
            <a:r>
              <a:rPr lang="en-IN" dirty="0"/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E0BB-79DD-E4CB-1186-B5C69CB62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us: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politely and professionally.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sounding rude or demanding.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confidence or caution when needed.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positive workplace relationships.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our language to different audiences.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please ,kindly, could , would, may , appreciate , certainly , definitely , clearly ,undoubtedly ,confidently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74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1DC5-BDFA-9BDE-45E6-A6924E8E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Hedging and Softening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53570-9C6A-7F19-7F91-A56787BAD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dirty="0"/>
              <a:t>Hedging language is the use of cautious, tentative, or qualifying words to soften statements and avoid making absolute claims.</a:t>
            </a:r>
          </a:p>
          <a:p>
            <a:pPr>
              <a:lnSpc>
                <a:spcPct val="200000"/>
              </a:lnSpc>
            </a:pPr>
            <a:r>
              <a:rPr lang="en-IN" dirty="0"/>
              <a:t>It involves using specific grammar devices to soften claims, avoid over-generalization, and express professional uncertainty.</a:t>
            </a:r>
          </a:p>
        </p:txBody>
      </p:sp>
    </p:spTree>
    <p:extLst>
      <p:ext uri="{BB962C8B-B14F-4D97-AF65-F5344CB8AC3E}">
        <p14:creationId xmlns:p14="http://schemas.microsoft.com/office/powerpoint/2010/main" val="2647207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C86D-C696-9D77-B17F-DD5833D3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F0B1-0259-C9D5-7532-26A9FA1C3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Hedging adverbs (</a:t>
            </a:r>
            <a:r>
              <a:rPr lang="en-IN" b="1" dirty="0"/>
              <a:t>possibly</a:t>
            </a:r>
            <a:r>
              <a:rPr lang="en-IN" dirty="0"/>
              <a:t>, </a:t>
            </a:r>
            <a:r>
              <a:rPr lang="en-IN" b="1" dirty="0"/>
              <a:t>probably</a:t>
            </a:r>
            <a:r>
              <a:rPr lang="en-IN" dirty="0"/>
              <a:t>, </a:t>
            </a:r>
            <a:r>
              <a:rPr lang="en-IN" b="1" dirty="0"/>
              <a:t>perhaps</a:t>
            </a:r>
            <a:r>
              <a:rPr lang="en-IN" dirty="0"/>
              <a:t>) or modal verbs (</a:t>
            </a:r>
            <a:r>
              <a:rPr lang="en-IN" b="1" dirty="0"/>
              <a:t>may</a:t>
            </a:r>
            <a:r>
              <a:rPr lang="en-IN" dirty="0"/>
              <a:t>, </a:t>
            </a:r>
            <a:r>
              <a:rPr lang="en-IN" b="1" dirty="0"/>
              <a:t>might</a:t>
            </a:r>
            <a:r>
              <a:rPr lang="en-IN" dirty="0"/>
              <a:t>, </a:t>
            </a:r>
            <a:r>
              <a:rPr lang="en-IN" b="1" dirty="0"/>
              <a:t>could</a:t>
            </a:r>
            <a:r>
              <a:rPr lang="en-IN" dirty="0"/>
              <a:t>) would soften the language.</a:t>
            </a:r>
          </a:p>
          <a:p>
            <a:r>
              <a:rPr lang="en-IN" dirty="0"/>
              <a:t>Ex: Night shifts cause sleep disorders in all workers.</a:t>
            </a:r>
          </a:p>
          <a:p>
            <a:r>
              <a:rPr lang="en-IN" i="1" dirty="0"/>
              <a:t>Night shifts </a:t>
            </a:r>
            <a:r>
              <a:rPr lang="en-IN" b="1" i="1" dirty="0"/>
              <a:t>might/may/possibly</a:t>
            </a:r>
            <a:r>
              <a:rPr lang="en-IN" i="1" dirty="0"/>
              <a:t> cause sleep disorders in workers.</a:t>
            </a:r>
            <a:r>
              <a:rPr lang="en-IN" dirty="0"/>
              <a:t> (Softens the claim from 100% certainty).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277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E160-FB1F-884C-B025-51806FA9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Assertive VS Tentative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D5F97-C718-9CB1-F3F4-47EC7FF0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Assertive language</a:t>
            </a:r>
            <a:r>
              <a:rPr lang="en-IN" sz="2400" dirty="0"/>
              <a:t> expresses ideas with </a:t>
            </a:r>
            <a:r>
              <a:rPr lang="en-IN" sz="2400" b="1" dirty="0"/>
              <a:t>confidence and certainty</a:t>
            </a:r>
            <a:r>
              <a:rPr lang="en-IN" sz="2400" dirty="0"/>
              <a:t>, while </a:t>
            </a:r>
            <a:r>
              <a:rPr lang="en-IN" sz="2400" b="1" dirty="0"/>
              <a:t>tentative language</a:t>
            </a:r>
            <a:r>
              <a:rPr lang="en-IN" sz="2400" dirty="0"/>
              <a:t> expresses ideas with </a:t>
            </a:r>
            <a:r>
              <a:rPr lang="en-IN" sz="2400" b="1" dirty="0"/>
              <a:t>caution, politeness, or uncertainty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F03A37-E4B3-0A2B-5BB6-5F9BDA702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14851"/>
              </p:ext>
            </p:extLst>
          </p:nvPr>
        </p:nvGraphicFramePr>
        <p:xfrm>
          <a:off x="838200" y="2844578"/>
          <a:ext cx="10515600" cy="2768822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049764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40669614"/>
                    </a:ext>
                  </a:extLst>
                </a:gridCol>
              </a:tblGrid>
              <a:tr h="481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Assertive Language</a:t>
                      </a:r>
                      <a:endParaRPr lang="en-IN" sz="2000"/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Tentative Language</a:t>
                      </a:r>
                      <a:endParaRPr lang="en-IN" sz="2000"/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393009"/>
                  </a:ext>
                </a:extLst>
              </a:tr>
              <a:tr h="481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Shows confidence and certainty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Shows caution or uncertainty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152743"/>
                  </a:ext>
                </a:extLst>
              </a:tr>
              <a:tr h="843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Used when giving facts, instructions, or making strong recommendations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Used when expressing opinions, suggestions, or discussing uncertain information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680645"/>
                  </a:ext>
                </a:extLst>
              </a:tr>
              <a:tr h="481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Direct and clear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Polite and flexible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36093"/>
                  </a:ext>
                </a:extLst>
              </a:tr>
              <a:tr h="481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Common in leadership and decision-making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Common in academic writing and diplomacy</a:t>
                      </a:r>
                    </a:p>
                  </a:txBody>
                  <a:tcPr marT="50292" marB="50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455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0030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5366-BB5D-0461-7D9E-104D19AE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E295-283B-F8AC-8F69-0E97EFA5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Portfolio Activity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6AA70-DDAE-6F90-6C9B-8F66538B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Personal Word Bank and Jargon-to-Plain English Rewrite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Refer Portfolio Activity 2 and Complete Tasks 6 &amp; 7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961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A90C-C629-6D1A-60FE-AA1797B3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A05C-F0F7-7DF2-E665-32C4B0B56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dirty="0"/>
              <a:t>In today's academic and professional world, </a:t>
            </a:r>
            <a:r>
              <a:rPr lang="en-IN" sz="2400" b="1" dirty="0"/>
              <a:t>what you say is important, but how you say it is equally important</a:t>
            </a:r>
            <a:r>
              <a:rPr lang="en-IN" sz="2400" dirty="0"/>
              <a:t>. These language skills help you communicate clearly, professionally, and confidently with different audiences. Whether you are writing a report, attending an interview, giving a presentation, working in a </a:t>
            </a:r>
            <a:r>
              <a:rPr lang="en-IN" sz="2400" dirty="0" err="1"/>
              <a:t>team.</a:t>
            </a:r>
            <a:r>
              <a:rPr lang="en-IN" sz="2400" b="1" dirty="0" err="1"/>
              <a:t>Explaining</a:t>
            </a:r>
            <a:r>
              <a:rPr lang="en-IN" sz="2400" b="1" dirty="0"/>
              <a:t> technical ideas to non-technical audiences does not mean reducing accuracy—it means replacing unfamiliar terms with familiar words, examples, and analogies so the audience understands the same concept.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44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34E7-4E6B-0A69-A1A1-01F2502FC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Terminal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001A5-C394-E191-E291-98C90A1B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1. Which sentence sounds more natural?</a:t>
            </a:r>
          </a:p>
          <a:p>
            <a:pPr marL="0" indent="0">
              <a:buNone/>
            </a:pPr>
            <a:r>
              <a:rPr lang="en-IN" sz="1600" dirty="0"/>
              <a:t> a) Do a decision </a:t>
            </a:r>
          </a:p>
          <a:p>
            <a:pPr marL="0" indent="0">
              <a:buNone/>
            </a:pPr>
            <a:r>
              <a:rPr lang="en-IN" sz="1600" dirty="0"/>
              <a:t>b) Make a decision </a:t>
            </a:r>
          </a:p>
          <a:p>
            <a:pPr marL="0" indent="0">
              <a:buNone/>
            </a:pPr>
            <a:r>
              <a:rPr lang="en-IN" sz="1600" dirty="0"/>
              <a:t>2. Complete the sentence: The technician __________ the machine before leaving. </a:t>
            </a:r>
          </a:p>
          <a:p>
            <a:pPr marL="0" indent="0">
              <a:buNone/>
            </a:pPr>
            <a:r>
              <a:rPr lang="en-IN" sz="1600" dirty="0"/>
              <a:t>(turn off / turn up) </a:t>
            </a:r>
          </a:p>
          <a:p>
            <a:pPr marL="0" indent="0">
              <a:buNone/>
            </a:pPr>
            <a:r>
              <a:rPr lang="en-IN" sz="1600" dirty="0"/>
              <a:t>3. Which audience needs more technical vocabulary? </a:t>
            </a:r>
          </a:p>
          <a:p>
            <a:pPr marL="0" indent="0">
              <a:buNone/>
            </a:pPr>
            <a:r>
              <a:rPr lang="en-IN" sz="1600" dirty="0"/>
              <a:t>a) Engineers </a:t>
            </a:r>
          </a:p>
          <a:p>
            <a:pPr marL="0" indent="0">
              <a:buNone/>
            </a:pPr>
            <a:r>
              <a:rPr lang="en-IN" sz="1600" dirty="0"/>
              <a:t>b) School children </a:t>
            </a:r>
          </a:p>
          <a:p>
            <a:pPr marL="0" indent="0">
              <a:buNone/>
            </a:pPr>
            <a:r>
              <a:rPr lang="en-IN" sz="1600" dirty="0"/>
              <a:t>4. Rewrite the sentence positively: </a:t>
            </a:r>
          </a:p>
          <a:p>
            <a:pPr marL="0" indent="0">
              <a:buNone/>
            </a:pPr>
            <a:r>
              <a:rPr lang="en-IN" sz="1600" dirty="0"/>
              <a:t>"Your report is full of mistakes."</a:t>
            </a:r>
          </a:p>
          <a:p>
            <a:pPr marL="0" indent="0">
              <a:buNone/>
            </a:pPr>
            <a:br>
              <a:rPr lang="en-IN" sz="1600" dirty="0"/>
            </a:br>
            <a:br>
              <a:rPr lang="en-IN" sz="1600" dirty="0"/>
            </a:b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07753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6145-401D-6B0E-0520-0940285A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Video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0362E-E783-5435-FE30-492476A9B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1.</a:t>
            </a:r>
            <a:r>
              <a:rPr lang="en-IN" dirty="0">
                <a:hlinkClick r:id="rId2"/>
              </a:rPr>
              <a:t>https://videohighlight.com/v/NG44swIzykA?aiFormatted=false&amp;language=en&amp;mediaType=youtube&amp;summaryType=default&amp;utm_source=chatgpt.com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dirty="0">
                <a:hlinkClick r:id="rId3"/>
              </a:rPr>
              <a:t>https://www.ted.com/talks?utm_source=chatgpt.com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References</a:t>
            </a:r>
          </a:p>
          <a:p>
            <a:r>
              <a:rPr lang="en-IN" dirty="0"/>
              <a:t>Joseph M. Williams &amp; Joseph </a:t>
            </a:r>
            <a:r>
              <a:rPr lang="en-IN" dirty="0" err="1"/>
              <a:t>Bizup</a:t>
            </a:r>
            <a:r>
              <a:rPr lang="en-IN" dirty="0"/>
              <a:t>. </a:t>
            </a:r>
            <a:r>
              <a:rPr lang="en-IN" b="1" dirty="0"/>
              <a:t>Style: Lessons in Clarity and Grace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Richard C. Larson. </a:t>
            </a:r>
            <a:r>
              <a:rPr lang="en-IN" b="1" dirty="0"/>
              <a:t>Technical Communication</a:t>
            </a:r>
            <a:r>
              <a:rPr lang="en-IN" dirty="0"/>
              <a:t>.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327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8607344" cy="344884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+mj-lt"/>
              <a:cs typeface="Poppins" pitchFamily="2" charset="77"/>
            </a:endParaRPr>
          </a:p>
          <a:p>
            <a:pPr algn="ctr"/>
            <a:endParaRPr lang="en-US" sz="4000" b="1" dirty="0">
              <a:latin typeface="+mj-lt"/>
              <a:cs typeface="Poppins" pitchFamily="2" charset="77"/>
            </a:endParaRPr>
          </a:p>
          <a:p>
            <a:pPr algn="ctr"/>
            <a:endParaRPr lang="en-US" sz="4000" b="1" dirty="0">
              <a:latin typeface="+mj-lt"/>
              <a:cs typeface="Poppins" pitchFamily="2" charset="77"/>
            </a:endParaRPr>
          </a:p>
          <a:p>
            <a:pPr algn="ctr"/>
            <a:r>
              <a:rPr lang="en-US" sz="4000" b="1" dirty="0">
                <a:latin typeface="+mj-lt"/>
                <a:cs typeface="Poppins" pitchFamily="2" charset="77"/>
              </a:rPr>
              <a:t>THANK YOU</a:t>
            </a:r>
          </a:p>
          <a:p>
            <a:pPr algn="ctr"/>
            <a:endParaRPr lang="en-US" sz="4000" dirty="0">
              <a:latin typeface="+mj-lt"/>
              <a:cs typeface="Poppins" pitchFamily="2" charset="77"/>
            </a:endParaRPr>
          </a:p>
          <a:p>
            <a:pPr algn="ctr"/>
            <a:endParaRPr lang="en-US" sz="4000" dirty="0">
              <a:latin typeface="+mj-lt"/>
              <a:cs typeface="Poppins" pitchFamily="2" charset="77"/>
            </a:endParaRPr>
          </a:p>
          <a:p>
            <a:pPr algn="ctr"/>
            <a:r>
              <a:rPr lang="en-US" sz="4000" b="1" dirty="0">
                <a:latin typeface="+mj-lt"/>
                <a:cs typeface="Poppins" pitchFamily="2" charset="77"/>
              </a:rPr>
              <a:t>Team – Language Skills for Engineers</a:t>
            </a:r>
          </a:p>
          <a:p>
            <a:pPr algn="ctr"/>
            <a:endParaRPr lang="en-US" sz="4000" b="1" dirty="0">
              <a:latin typeface="+mj-lt"/>
              <a:cs typeface="Poppins" pitchFamily="2" charset="77"/>
            </a:endParaRPr>
          </a:p>
          <a:p>
            <a:pPr algn="ctr"/>
            <a:endParaRPr lang="en-US" sz="4000" dirty="0">
              <a:solidFill>
                <a:schemeClr val="bg1"/>
              </a:solidFill>
              <a:latin typeface="+mj-lt"/>
              <a:cs typeface="Poppins" pitchFamily="2" charset="77"/>
            </a:endParaRPr>
          </a:p>
          <a:p>
            <a:pPr algn="ctr"/>
            <a:endParaRPr lang="en-US" sz="4000" dirty="0">
              <a:solidFill>
                <a:schemeClr val="bg1"/>
              </a:solidFill>
              <a:latin typeface="+mj-lt"/>
              <a:cs typeface="Poppins" pitchFamily="2" charset="77"/>
            </a:endParaRPr>
          </a:p>
          <a:p>
            <a:pPr algn="ctr"/>
            <a:endParaRPr lang="en-US" sz="4000" dirty="0">
              <a:solidFill>
                <a:schemeClr val="bg1"/>
              </a:solidFill>
              <a:latin typeface="+mj-lt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0934" y="2752232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913</Words>
  <Application>Microsoft Office PowerPoint</Application>
  <PresentationFormat>Widescreen</PresentationFormat>
  <Paragraphs>114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MS Mincho</vt:lpstr>
      <vt:lpstr>Arial</vt:lpstr>
      <vt:lpstr>Calibri</vt:lpstr>
      <vt:lpstr>Calibri Light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WARM UP</vt:lpstr>
      <vt:lpstr>DISCUSSION</vt:lpstr>
      <vt:lpstr>PowerPoint Presentation</vt:lpstr>
      <vt:lpstr>Explaining Technical Ideas to Non-Technical Audiences </vt:lpstr>
      <vt:lpstr>Collocations and Phrasal verbs</vt:lpstr>
      <vt:lpstr>Tone Carrying Words</vt:lpstr>
      <vt:lpstr>Contd….</vt:lpstr>
      <vt:lpstr>Hedging and Softening Language</vt:lpstr>
      <vt:lpstr>Contd….</vt:lpstr>
      <vt:lpstr>Assertive VS Tentative Language</vt:lpstr>
      <vt:lpstr>Portfolio Activity 2</vt:lpstr>
      <vt:lpstr>Summary</vt:lpstr>
      <vt:lpstr>Terminal Questions</vt:lpstr>
      <vt:lpstr>Video Links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 DEVI BELLAMKONDA</dc:creator>
  <cp:lastModifiedBy>DHANYAMOL CT</cp:lastModifiedBy>
  <cp:revision>24</cp:revision>
  <dcterms:created xsi:type="dcterms:W3CDTF">2026-06-30T04:27:06Z</dcterms:created>
  <dcterms:modified xsi:type="dcterms:W3CDTF">2026-08-14T11:02:26Z</dcterms:modified>
</cp:coreProperties>
</file>