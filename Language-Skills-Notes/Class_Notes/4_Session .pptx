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8"/>
  </p:notesMasterIdLst>
  <p:sldIdLst>
    <p:sldId id="271" r:id="rId5"/>
    <p:sldId id="300" r:id="rId6"/>
    <p:sldId id="366" r:id="rId7"/>
    <p:sldId id="400" r:id="rId8"/>
    <p:sldId id="401" r:id="rId9"/>
    <p:sldId id="394" r:id="rId10"/>
    <p:sldId id="398" r:id="rId11"/>
    <p:sldId id="399" r:id="rId12"/>
    <p:sldId id="397" r:id="rId13"/>
    <p:sldId id="390" r:id="rId14"/>
    <p:sldId id="391" r:id="rId15"/>
    <p:sldId id="392" r:id="rId16"/>
    <p:sldId id="386" r:id="rId17"/>
    <p:sldId id="395" r:id="rId18"/>
    <p:sldId id="396" r:id="rId19"/>
    <p:sldId id="372" r:id="rId20"/>
    <p:sldId id="322" r:id="rId21"/>
    <p:sldId id="385" r:id="rId22"/>
    <p:sldId id="320" r:id="rId23"/>
    <p:sldId id="360" r:id="rId24"/>
    <p:sldId id="318" r:id="rId25"/>
    <p:sldId id="303" r:id="rId26"/>
    <p:sldId id="30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D653FD9-9ADD-4B74-87EF-0E980E6A1BFB}">
          <p14:sldIdLst>
            <p14:sldId id="271"/>
          </p14:sldIdLst>
        </p14:section>
        <p14:section name="Untitled Section" id="{42022C8A-C688-4D71-8B9D-A6A6F156AC6D}">
          <p14:sldIdLst>
            <p14:sldId id="300"/>
          </p14:sldIdLst>
        </p14:section>
        <p14:section name="Untitled Section" id="{323AA95E-10EF-46E5-99CF-274541B03B8F}">
          <p14:sldIdLst>
            <p14:sldId id="366"/>
            <p14:sldId id="400"/>
            <p14:sldId id="401"/>
            <p14:sldId id="394"/>
            <p14:sldId id="398"/>
            <p14:sldId id="399"/>
            <p14:sldId id="397"/>
            <p14:sldId id="390"/>
            <p14:sldId id="391"/>
            <p14:sldId id="392"/>
            <p14:sldId id="386"/>
            <p14:sldId id="395"/>
            <p14:sldId id="396"/>
            <p14:sldId id="372"/>
            <p14:sldId id="322"/>
            <p14:sldId id="385"/>
            <p14:sldId id="320"/>
            <p14:sldId id="360"/>
            <p14:sldId id="318"/>
            <p14:sldId id="303"/>
            <p14:sldId id="304"/>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dma Lata" initials="PL" lastIdx="2" clrIdx="0">
    <p:extLst>
      <p:ext uri="{19B8F6BF-5375-455C-9EA6-DF929625EA0E}">
        <p15:presenceInfo xmlns:p15="http://schemas.microsoft.com/office/powerpoint/2012/main" userId="b355b3e4c8493ed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1E24"/>
    <a:srgbClr val="BA2532"/>
    <a:srgbClr val="77FB25"/>
    <a:srgbClr val="FF9900"/>
    <a:srgbClr val="E84845"/>
    <a:srgbClr val="FAD2D2"/>
    <a:srgbClr val="F89E4C"/>
    <a:srgbClr val="FFF2CC"/>
    <a:srgbClr val="CF2F33"/>
    <a:srgbClr val="E329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497" autoAdjust="0"/>
    <p:restoredTop sz="94689"/>
  </p:normalViewPr>
  <p:slideViewPr>
    <p:cSldViewPr snapToGrid="0">
      <p:cViewPr varScale="1">
        <p:scale>
          <a:sx n="78" d="100"/>
          <a:sy n="78" d="100"/>
        </p:scale>
        <p:origin x="77"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8/7/2026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8/7/2026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8/7/2026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8/7/2026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8/7/2026</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8/7/2026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8/7/2026</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8/7/2026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8/7/2026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8/7/2026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hyperlink" Target="https://www.grammarly.com/ai/ai-writing-tools/sentence-rewriter" TargetMode="External"/><Relationship Id="rId2" Type="http://schemas.openxmlformats.org/officeDocument/2006/relationships/hyperlink" Target="https://quillbot.com/punctuation-checker" TargetMode="Externa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uHYuDDHvU64" TargetMode="External"/><Relationship Id="rId2" Type="http://schemas.openxmlformats.org/officeDocument/2006/relationships/hyperlink" Target="https://www.youtube.com/watch?v=gfYq2ng9s4E"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tvtropes.org/pmwiki/pmwiki.php/Main/PunctuationChangesTheMeaning" TargetMode="External"/><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9831" y="6795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lnSpc>
                <a:spcPct val="150000"/>
              </a:lnSpc>
              <a:spcAft>
                <a:spcPts val="800"/>
              </a:spcAft>
            </a:pPr>
            <a:r>
              <a:rPr lang="en-IN" sz="1800" b="1" kern="100">
                <a:effectLst/>
                <a:latin typeface="Times New Roman" panose="02020603050405020304" pitchFamily="18" charset="0"/>
                <a:ea typeface="Calibri" panose="020F0502020204030204" pitchFamily="34" charset="0"/>
                <a:cs typeface="Arial" panose="020B0604020202020204" pitchFamily="34" charset="0"/>
              </a:rPr>
              <a:t>Competency -3 -  Reading Skills</a:t>
            </a:r>
            <a:endParaRPr lang="en-IN" sz="1800" kern="100">
              <a:effectLst/>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300"/>
              </a:spcAft>
            </a:pPr>
            <a:r>
              <a:rPr lang="en-IN" sz="1800" b="1" kern="100">
                <a:effectLst/>
                <a:latin typeface="Times New Roman" panose="02020603050405020304" pitchFamily="18" charset="0"/>
                <a:ea typeface="Calibri" panose="020F0502020204030204" pitchFamily="34" charset="0"/>
                <a:cs typeface="Arial" panose="020B0604020202020204" pitchFamily="34" charset="0"/>
              </a:rPr>
              <a:t>c. Identifying Tone, Themes &amp; Ideas</a:t>
            </a:r>
            <a:endParaRPr lang="en-IN" sz="1800" kern="100">
              <a:effectLst/>
              <a:latin typeface="Calibri" panose="020F0502020204030204" pitchFamily="34" charset="0"/>
              <a:ea typeface="Calibri" panose="020F0502020204030204" pitchFamily="34" charset="0"/>
              <a:cs typeface="Arial" panose="020B0604020202020204" pitchFamily="34" charset="0"/>
            </a:endParaRPr>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5" name="Google Shape;475;p16"/>
          <p:cNvSpPr txBox="1"/>
          <p:nvPr/>
        </p:nvSpPr>
        <p:spPr>
          <a:xfrm>
            <a:off x="6095998" y="332258"/>
            <a:ext cx="5378247" cy="707846"/>
          </a:xfrm>
          <a:prstGeom prst="rect">
            <a:avLst/>
          </a:prstGeom>
          <a:noFill/>
          <a:ln>
            <a:noFill/>
          </a:ln>
          <a:effectLst/>
        </p:spPr>
        <p:txBody>
          <a:bodyPr spcFirstLastPara="1" wrap="square" lIns="91425" tIns="45700" rIns="91425" bIns="45700" anchor="t" anchorCtr="0">
            <a:spAutoFit/>
          </a:bodyPr>
          <a:lstStyle/>
          <a:p>
            <a:pPr algn="ctr"/>
            <a:r>
              <a:rPr lang="en-US" sz="4000" b="1" dirty="0">
                <a:solidFill>
                  <a:srgbClr val="C00000"/>
                </a:solidFill>
                <a:cs typeface="Poppins" pitchFamily="2" charset="77"/>
              </a:rPr>
              <a:t>Department of English</a:t>
            </a:r>
          </a:p>
        </p:txBody>
      </p:sp>
      <p:sp>
        <p:nvSpPr>
          <p:cNvPr id="8" name="Google Shape;502;p17">
            <a:extLst>
              <a:ext uri="{FF2B5EF4-FFF2-40B4-BE49-F238E27FC236}">
                <a16:creationId xmlns:a16="http://schemas.microsoft.com/office/drawing/2014/main" id="{7153E61F-4441-DBE3-3DFF-6E9EF6C48D23}"/>
              </a:ext>
            </a:extLst>
          </p:cNvPr>
          <p:cNvSpPr/>
          <p:nvPr/>
        </p:nvSpPr>
        <p:spPr>
          <a:xfrm>
            <a:off x="6620100" y="1504503"/>
            <a:ext cx="3948803"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
        <p:nvSpPr>
          <p:cNvPr id="4" name="Google Shape;476;p16">
            <a:extLst>
              <a:ext uri="{FF2B5EF4-FFF2-40B4-BE49-F238E27FC236}">
                <a16:creationId xmlns:a16="http://schemas.microsoft.com/office/drawing/2014/main" id="{F2ABFB87-2192-1618-280C-C170709F4AA1}"/>
              </a:ext>
            </a:extLst>
          </p:cNvPr>
          <p:cNvSpPr txBox="1"/>
          <p:nvPr/>
        </p:nvSpPr>
        <p:spPr>
          <a:xfrm>
            <a:off x="4677533" y="2593606"/>
            <a:ext cx="7103754" cy="1200288"/>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600" b="1" dirty="0">
                <a:solidFill>
                  <a:srgbClr val="C00000"/>
                </a:solidFill>
                <a:ea typeface="BioRhyme ExtraBold"/>
                <a:cs typeface="Poppins" panose="00000500000000000000" pitchFamily="2" charset="0"/>
                <a:sym typeface="BioRhyme ExtraBold"/>
              </a:rPr>
              <a:t>Topic: </a:t>
            </a:r>
            <a:r>
              <a:rPr lang="en-GB" sz="4000" b="1" dirty="0"/>
              <a:t> </a:t>
            </a:r>
            <a:endParaRPr lang="en-US" sz="2400" b="1" dirty="0">
              <a:solidFill>
                <a:srgbClr val="C00000"/>
              </a:solidFill>
              <a:ea typeface="BioRhyme ExtraBold"/>
              <a:cs typeface="Poppins" panose="00000500000000000000" pitchFamily="2" charset="0"/>
              <a:sym typeface="BioRhyme ExtraBold"/>
            </a:endParaRPr>
          </a:p>
        </p:txBody>
      </p:sp>
      <p:sp>
        <p:nvSpPr>
          <p:cNvPr id="3" name="Rectangle 2">
            <a:extLst>
              <a:ext uri="{FF2B5EF4-FFF2-40B4-BE49-F238E27FC236}">
                <a16:creationId xmlns:a16="http://schemas.microsoft.com/office/drawing/2014/main" id="{2C50C099-9BF9-BEA0-7A04-D3A12C90F22D}"/>
              </a:ext>
            </a:extLst>
          </p:cNvPr>
          <p:cNvSpPr/>
          <p:nvPr/>
        </p:nvSpPr>
        <p:spPr>
          <a:xfrm>
            <a:off x="-6854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lnSpc>
                <a:spcPct val="150000"/>
              </a:lnSpc>
              <a:spcAft>
                <a:spcPts val="800"/>
              </a:spcAft>
            </a:pPr>
            <a:r>
              <a:rPr lang="en-IN" sz="1800" b="1" kern="100" dirty="0">
                <a:effectLst/>
                <a:latin typeface="Times New Roman" panose="02020603050405020304" pitchFamily="18" charset="0"/>
                <a:ea typeface="Calibri" panose="020F0502020204030204" pitchFamily="34" charset="0"/>
                <a:cs typeface="Arial" panose="020B0604020202020204" pitchFamily="34" charset="0"/>
              </a:rPr>
              <a:t>Competency -3 -  Reading Skills</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300"/>
              </a:spcAft>
            </a:pPr>
            <a:r>
              <a:rPr lang="en-IN" sz="1800" b="1" kern="100" dirty="0">
                <a:effectLst/>
                <a:latin typeface="Times New Roman" panose="02020603050405020304" pitchFamily="18" charset="0"/>
                <a:ea typeface="Calibri" panose="020F0502020204030204" pitchFamily="34" charset="0"/>
                <a:cs typeface="Arial" panose="020B0604020202020204" pitchFamily="34" charset="0"/>
              </a:rPr>
              <a:t>c. Identifying Tone, Themes &amp; Ideas</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 name="Google Shape;464;p16">
            <a:extLst>
              <a:ext uri="{FF2B5EF4-FFF2-40B4-BE49-F238E27FC236}">
                <a16:creationId xmlns:a16="http://schemas.microsoft.com/office/drawing/2014/main" id="{16BFFA04-B01A-1B4B-16E6-4C6526DDA7ED}"/>
              </a:ext>
            </a:extLst>
          </p:cNvPr>
          <p:cNvPicPr preferRelativeResize="0"/>
          <p:nvPr/>
        </p:nvPicPr>
        <p:blipFill>
          <a:blip r:embed="rId3">
            <a:extLst>
              <a:ext uri="{28A0092B-C50C-407E-A947-70E740481C1C}">
                <a14:useLocalDpi xmlns:a14="http://schemas.microsoft.com/office/drawing/2010/main" val="0"/>
              </a:ext>
            </a:extLst>
          </a:blip>
          <a:stretch>
            <a:fillRect/>
          </a:stretch>
        </p:blipFill>
        <p:spPr>
          <a:xfrm>
            <a:off x="-9831" y="81946"/>
            <a:ext cx="3919287" cy="6659020"/>
          </a:xfrm>
          <a:prstGeom prst="rect">
            <a:avLst/>
          </a:prstGeom>
          <a:noFill/>
          <a:ln>
            <a:noFill/>
          </a:ln>
        </p:spPr>
      </p:pic>
      <p:sp>
        <p:nvSpPr>
          <p:cNvPr id="6" name="Google Shape;475;p16">
            <a:extLst>
              <a:ext uri="{FF2B5EF4-FFF2-40B4-BE49-F238E27FC236}">
                <a16:creationId xmlns:a16="http://schemas.microsoft.com/office/drawing/2014/main" id="{E4DDD02C-1094-4724-5308-7A303E341D90}"/>
              </a:ext>
            </a:extLst>
          </p:cNvPr>
          <p:cNvSpPr txBox="1"/>
          <p:nvPr/>
        </p:nvSpPr>
        <p:spPr>
          <a:xfrm>
            <a:off x="6215249" y="243795"/>
            <a:ext cx="5566038" cy="707846"/>
          </a:xfrm>
          <a:prstGeom prst="rect">
            <a:avLst/>
          </a:prstGeom>
          <a:noFill/>
          <a:ln>
            <a:noFill/>
          </a:ln>
          <a:effectLst/>
        </p:spPr>
        <p:txBody>
          <a:bodyPr spcFirstLastPara="1" wrap="square" lIns="91425" tIns="45700" rIns="91425" bIns="45700" anchor="t" anchorCtr="0">
            <a:spAutoFit/>
          </a:bodyPr>
          <a:lstStyle/>
          <a:p>
            <a:pPr algn="ctr"/>
            <a:r>
              <a:rPr lang="en-US" sz="4000" b="1" dirty="0">
                <a:solidFill>
                  <a:srgbClr val="C00000"/>
                </a:solidFill>
                <a:cs typeface="Poppins" pitchFamily="2" charset="77"/>
              </a:rPr>
              <a:t>Department of English</a:t>
            </a:r>
          </a:p>
        </p:txBody>
      </p:sp>
      <p:sp>
        <p:nvSpPr>
          <p:cNvPr id="7" name="Google Shape;502;p17">
            <a:extLst>
              <a:ext uri="{FF2B5EF4-FFF2-40B4-BE49-F238E27FC236}">
                <a16:creationId xmlns:a16="http://schemas.microsoft.com/office/drawing/2014/main" id="{01C782C4-DE4B-8A16-6005-7FDFC56AFB0D}"/>
              </a:ext>
            </a:extLst>
          </p:cNvPr>
          <p:cNvSpPr/>
          <p:nvPr/>
        </p:nvSpPr>
        <p:spPr>
          <a:xfrm>
            <a:off x="6872748" y="1062335"/>
            <a:ext cx="2970167" cy="430397"/>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Module 1</a:t>
            </a:r>
            <a:endParaRPr sz="2400" dirty="0">
              <a:solidFill>
                <a:schemeClr val="lt1"/>
              </a:solidFill>
              <a:ea typeface="Calibri"/>
              <a:cs typeface="Poppins" panose="00000500000000000000" pitchFamily="2" charset="0"/>
              <a:sym typeface="Calibri"/>
            </a:endParaRPr>
          </a:p>
        </p:txBody>
      </p:sp>
      <p:sp>
        <p:nvSpPr>
          <p:cNvPr id="9" name="Rectangle 8">
            <a:extLst>
              <a:ext uri="{FF2B5EF4-FFF2-40B4-BE49-F238E27FC236}">
                <a16:creationId xmlns:a16="http://schemas.microsoft.com/office/drawing/2014/main" id="{840C5ADC-23D0-180A-2C38-F88B0FAA33B8}"/>
              </a:ext>
            </a:extLst>
          </p:cNvPr>
          <p:cNvSpPr/>
          <p:nvPr/>
        </p:nvSpPr>
        <p:spPr>
          <a:xfrm>
            <a:off x="-9831"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E93BB6F-E7F2-547E-A9BD-5CD0EA462775}"/>
              </a:ext>
            </a:extLst>
          </p:cNvPr>
          <p:cNvSpPr/>
          <p:nvPr/>
        </p:nvSpPr>
        <p:spPr>
          <a:xfrm>
            <a:off x="-9831"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KL Deemed to be University Logo">
            <a:extLst>
              <a:ext uri="{FF2B5EF4-FFF2-40B4-BE49-F238E27FC236}">
                <a16:creationId xmlns:a16="http://schemas.microsoft.com/office/drawing/2014/main" id="{07680BDD-2DFA-9761-B139-057C07C37BF9}"/>
              </a:ext>
            </a:extLst>
          </p:cNvPr>
          <p:cNvPicPr>
            <a:picLocks noChangeAspect="1" noChangeArrowheads="1"/>
          </p:cNvPicPr>
          <p:nvPr/>
        </p:nvPicPr>
        <p:blipFill>
          <a:blip r:embed="rId4"/>
          <a:srcRect/>
          <a:stretch>
            <a:fillRect/>
          </a:stretch>
        </p:blipFill>
        <p:spPr bwMode="auto">
          <a:xfrm>
            <a:off x="212872" y="81946"/>
            <a:ext cx="1885435" cy="797484"/>
          </a:xfrm>
          <a:prstGeom prst="rect">
            <a:avLst/>
          </a:prstGeom>
          <a:noFill/>
        </p:spPr>
      </p:pic>
      <p:sp>
        <p:nvSpPr>
          <p:cNvPr id="12" name="Google Shape;476;p16">
            <a:extLst>
              <a:ext uri="{FF2B5EF4-FFF2-40B4-BE49-F238E27FC236}">
                <a16:creationId xmlns:a16="http://schemas.microsoft.com/office/drawing/2014/main" id="{247263F1-9E80-DE09-531E-7797EBC783E0}"/>
              </a:ext>
            </a:extLst>
          </p:cNvPr>
          <p:cNvSpPr txBox="1"/>
          <p:nvPr/>
        </p:nvSpPr>
        <p:spPr>
          <a:xfrm>
            <a:off x="3785418" y="1835331"/>
            <a:ext cx="8288393" cy="2841763"/>
          </a:xfrm>
          <a:prstGeom prst="rect">
            <a:avLst/>
          </a:prstGeom>
          <a:noFill/>
          <a:ln>
            <a:noFill/>
          </a:ln>
        </p:spPr>
        <p:txBody>
          <a:bodyPr spcFirstLastPara="1" wrap="square" lIns="91425" tIns="45700" rIns="91425" bIns="45700" anchor="t" anchorCtr="0">
            <a:spAutoFit/>
          </a:bodyPr>
          <a:lstStyle/>
          <a:p>
            <a:pPr marR="0" lvl="0" algn="ctr" defTabSz="914400" rtl="0" eaLnBrk="1" fontAlgn="auto" latinLnBrk="0" hangingPunct="1">
              <a:lnSpc>
                <a:spcPct val="90000"/>
              </a:lnSpc>
              <a:spcBef>
                <a:spcPts val="1000"/>
              </a:spcBef>
              <a:spcAft>
                <a:spcPts val="0"/>
              </a:spcAft>
              <a:buClrTx/>
              <a:buSzTx/>
              <a:tabLst/>
              <a:defRPr/>
            </a:pPr>
            <a:r>
              <a:rPr kumimoji="0" lang="en-US" sz="3600" b="1" i="0" u="none" strike="noStrike" kern="1200" cap="none" spc="0" normalizeH="0" baseline="0" noProof="0" dirty="0">
                <a:ln>
                  <a:noFill/>
                </a:ln>
                <a:solidFill>
                  <a:srgbClr val="C00000"/>
                </a:solidFill>
                <a:effectLst/>
                <a:uLnTx/>
                <a:uFillTx/>
                <a:latin typeface="Calibri"/>
                <a:ea typeface="+mn-ea"/>
                <a:cs typeface="+mn-cs"/>
              </a:rPr>
              <a:t>Session 4 : </a:t>
            </a:r>
          </a:p>
          <a:p>
            <a:pPr marR="0" lvl="0" algn="l" defTabSz="914400" rtl="0" eaLnBrk="1" fontAlgn="auto" latinLnBrk="0" hangingPunct="1">
              <a:lnSpc>
                <a:spcPct val="90000"/>
              </a:lnSpc>
              <a:spcBef>
                <a:spcPts val="1000"/>
              </a:spcBef>
              <a:spcAft>
                <a:spcPts val="0"/>
              </a:spcAft>
              <a:buClrTx/>
              <a:buSzTx/>
              <a:tabLst/>
              <a:defRPr/>
            </a:pPr>
            <a:r>
              <a:rPr kumimoji="0" lang="en-US" sz="3600" b="1" i="0" u="none" strike="noStrike" kern="1200" cap="none" spc="0" normalizeH="0" baseline="0" noProof="0" dirty="0">
                <a:ln>
                  <a:noFill/>
                </a:ln>
                <a:solidFill>
                  <a:srgbClr val="C00000"/>
                </a:solidFill>
                <a:effectLst/>
                <a:uLnTx/>
                <a:uFillTx/>
                <a:latin typeface="Calibri"/>
                <a:ea typeface="+mn-ea"/>
                <a:cs typeface="+mn-cs"/>
              </a:rPr>
              <a:t>Punctuation for clarity: comma, semicolon, colon, apostrophe and the meaning they carry; punctuation that changes meaning.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567625"/>
            <a:ext cx="11157735" cy="646331"/>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r>
              <a:rPr lang="en-GB"/>
              <a:t>To develop students' ability to use punctuation marks correctly in written communication, improving clarity, meaning, and readability.</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041743" y="1624629"/>
            <a:ext cx="3870831" cy="4110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079645" y="2130495"/>
            <a:ext cx="10983071" cy="147732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lvl="0"/>
            <a:r>
              <a:rPr lang="en-GB" dirty="0"/>
              <a:t>Identify common punctuation marks (full stop, comma, question mark, exclamation mark, apostrophe, quotation marks, colon, and semicolon). </a:t>
            </a:r>
          </a:p>
          <a:p>
            <a:pPr lvl="0"/>
            <a:r>
              <a:rPr lang="en-GB" dirty="0"/>
              <a:t>Explain the purpose of each punctuation mark. </a:t>
            </a:r>
          </a:p>
          <a:p>
            <a:pPr lvl="0"/>
            <a:r>
              <a:rPr lang="en-GB" dirty="0"/>
              <a:t>Use punctuation marks correctly in sentences. </a:t>
            </a:r>
          </a:p>
          <a:p>
            <a:pPr lvl="0"/>
            <a:r>
              <a:rPr lang="en-GB" dirty="0"/>
              <a:t>Edit and punctuate short passages accurately. </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9283" y="2644053"/>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041744" y="4105113"/>
            <a:ext cx="3870831" cy="5965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5246" y="5020445"/>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079645" y="4701706"/>
            <a:ext cx="10448818" cy="120032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lvl="0"/>
            <a:r>
              <a:rPr lang="en-GB" dirty="0"/>
              <a:t>Identify punctuation marks correctly. </a:t>
            </a:r>
          </a:p>
          <a:p>
            <a:pPr lvl="0"/>
            <a:r>
              <a:rPr lang="en-GB" dirty="0"/>
              <a:t>Explain their functions. </a:t>
            </a:r>
          </a:p>
          <a:p>
            <a:pPr lvl="0"/>
            <a:r>
              <a:rPr lang="en-GB" dirty="0"/>
              <a:t>Apply punctuation accurately in sentences and short paragraphs. </a:t>
            </a:r>
          </a:p>
          <a:p>
            <a:pPr lvl="0"/>
            <a:r>
              <a:rPr lang="en-GB" dirty="0"/>
              <a:t>Demonstrate understanding of how punctuation affects the meaning of writing.</a:t>
            </a:r>
          </a:p>
        </p:txBody>
      </p:sp>
      <p:pic>
        <p:nvPicPr>
          <p:cNvPr id="12"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0FC5A5-09E4-F168-FAD5-386D86F0B5B1}"/>
              </a:ext>
            </a:extLst>
          </p:cNvPr>
          <p:cNvSpPr>
            <a:spLocks noGrp="1"/>
          </p:cNvSpPr>
          <p:nvPr>
            <p:ph/>
          </p:nvPr>
        </p:nvSpPr>
        <p:spPr>
          <a:xfrm>
            <a:off x="561314" y="199176"/>
            <a:ext cx="11552223" cy="5977787"/>
          </a:xfrm>
        </p:spPr>
        <p:txBody>
          <a:bodyPr/>
          <a:lstStyle/>
          <a:p>
            <a:pPr marL="0" indent="0">
              <a:buNone/>
            </a:pPr>
            <a:endParaRPr lang="en-IN" b="1" dirty="0"/>
          </a:p>
          <a:p>
            <a:endParaRPr lang="en-IN" dirty="0"/>
          </a:p>
          <a:p>
            <a:pPr marL="0" indent="0">
              <a:buNone/>
            </a:pPr>
            <a:r>
              <a:rPr lang="en-US" sz="3200" b="1" dirty="0">
                <a:solidFill>
                  <a:srgbClr val="C00000"/>
                </a:solidFill>
              </a:rPr>
              <a:t>Register and Clarity Rewrite Studio (Activity)</a:t>
            </a:r>
            <a:endParaRPr lang="en-IN" sz="3200" b="1" dirty="0"/>
          </a:p>
          <a:p>
            <a:pPr marL="0" indent="0">
              <a:buNone/>
            </a:pPr>
            <a:r>
              <a:rPr lang="en-IN" b="1" dirty="0"/>
              <a:t>Identify the Register in the following sentences</a:t>
            </a:r>
          </a:p>
          <a:p>
            <a:r>
              <a:rPr lang="en-IN" dirty="0"/>
              <a:t>Hey bro, I haven't finished the CAD drawing yet. Asking sir for extra time?</a:t>
            </a:r>
          </a:p>
          <a:p>
            <a:r>
              <a:rPr lang="en-IN" dirty="0"/>
              <a:t>The CAD report deadline is Friday at 4:00 PM. An extension was requested.</a:t>
            </a:r>
          </a:p>
          <a:p>
            <a:r>
              <a:rPr lang="en-IN" dirty="0"/>
              <a:t>Dear Sir, I am writing to respectfully request a short extension for the CAD report.</a:t>
            </a:r>
          </a:p>
          <a:p>
            <a:pPr marL="0" indent="0">
              <a:buNone/>
            </a:pPr>
            <a:r>
              <a:rPr lang="en-GB" b="1" dirty="0"/>
              <a:t>Now, write the following sentences to three different people: Friend, Colleague and Principal. </a:t>
            </a:r>
          </a:p>
          <a:p>
            <a:pPr marL="514350" indent="-514350">
              <a:buAutoNum type="arabicPeriod"/>
            </a:pPr>
            <a:r>
              <a:rPr lang="en-GB" dirty="0"/>
              <a:t>Ask whether tomorrow is a working day/holiday </a:t>
            </a:r>
          </a:p>
          <a:p>
            <a:pPr marL="514350" indent="-514350">
              <a:buAutoNum type="arabicPeriod"/>
            </a:pPr>
            <a:r>
              <a:rPr lang="en-GB" dirty="0"/>
              <a:t>Requesting guidance for applying for bank loan. </a:t>
            </a:r>
          </a:p>
        </p:txBody>
      </p:sp>
      <p:sp>
        <p:nvSpPr>
          <p:cNvPr id="4" name="Title 6">
            <a:extLst>
              <a:ext uri="{FF2B5EF4-FFF2-40B4-BE49-F238E27FC236}">
                <a16:creationId xmlns:a16="http://schemas.microsoft.com/office/drawing/2014/main" id="{D4CE210C-6519-71EE-EC47-FFF37C01F090}"/>
              </a:ext>
            </a:extLst>
          </p:cNvPr>
          <p:cNvSpPr txBox="1">
            <a:spLocks/>
          </p:cNvSpPr>
          <p:nvPr/>
        </p:nvSpPr>
        <p:spPr>
          <a:xfrm>
            <a:off x="3834581" y="199176"/>
            <a:ext cx="4817806" cy="612771"/>
          </a:xfrm>
          <a:prstGeom prst="rect">
            <a:avLst/>
          </a:prstGeom>
          <a:solidFill>
            <a:srgbClr val="A81E24"/>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3600" b="1" dirty="0">
                <a:solidFill>
                  <a:schemeClr val="bg1"/>
                </a:solidFill>
              </a:rPr>
              <a:t>Let’s Recap</a:t>
            </a:r>
          </a:p>
          <a:p>
            <a:pPr marL="0" indent="0">
              <a:buNone/>
            </a:pPr>
            <a:endParaRPr lang="en-GB" sz="4000" dirty="0">
              <a:solidFill>
                <a:srgbClr val="FF0000"/>
              </a:solidFill>
            </a:endParaRPr>
          </a:p>
          <a:p>
            <a:pPr marL="0" indent="0">
              <a:buNone/>
            </a:pPr>
            <a:br>
              <a:rPr lang="en-GB" sz="4000" dirty="0">
                <a:solidFill>
                  <a:srgbClr val="FF0000"/>
                </a:solidFill>
              </a:rPr>
            </a:br>
            <a:endParaRPr lang="en-GB" sz="4000" dirty="0"/>
          </a:p>
        </p:txBody>
      </p:sp>
      <p:pic>
        <p:nvPicPr>
          <p:cNvPr id="6" name="Picture 5" descr="KL Deemed to be University Logo">
            <a:extLst>
              <a:ext uri="{FF2B5EF4-FFF2-40B4-BE49-F238E27FC236}">
                <a16:creationId xmlns:a16="http://schemas.microsoft.com/office/drawing/2014/main" id="{4141C1C6-00F0-02CB-0685-60A1DA374C2B}"/>
              </a:ext>
            </a:extLst>
          </p:cNvPr>
          <p:cNvPicPr>
            <a:picLocks noChangeAspect="1" noChangeArrowheads="1"/>
          </p:cNvPicPr>
          <p:nvPr/>
        </p:nvPicPr>
        <p:blipFill>
          <a:blip r:embed="rId2"/>
          <a:srcRect/>
          <a:stretch>
            <a:fillRect/>
          </a:stretch>
        </p:blipFill>
        <p:spPr bwMode="auto">
          <a:xfrm>
            <a:off x="80437" y="131219"/>
            <a:ext cx="1457238" cy="728274"/>
          </a:xfrm>
          <a:prstGeom prst="rect">
            <a:avLst/>
          </a:prstGeom>
          <a:noFill/>
        </p:spPr>
      </p:pic>
    </p:spTree>
    <p:extLst>
      <p:ext uri="{BB962C8B-B14F-4D97-AF65-F5344CB8AC3E}">
        <p14:creationId xmlns:p14="http://schemas.microsoft.com/office/powerpoint/2010/main" val="258758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724F2-A4CC-2157-1082-DB392D202C2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C7B83C-F64D-81AF-CCFF-D7A9D9C7414E}"/>
              </a:ext>
            </a:extLst>
          </p:cNvPr>
          <p:cNvSpPr>
            <a:spLocks noGrp="1"/>
          </p:cNvSpPr>
          <p:nvPr>
            <p:ph/>
          </p:nvPr>
        </p:nvSpPr>
        <p:spPr>
          <a:xfrm>
            <a:off x="561314" y="199176"/>
            <a:ext cx="11552223" cy="5977787"/>
          </a:xfrm>
        </p:spPr>
        <p:txBody>
          <a:bodyPr/>
          <a:lstStyle/>
          <a:p>
            <a:pPr marL="0" indent="0">
              <a:buNone/>
            </a:pPr>
            <a:endParaRPr lang="en-IN" b="1" dirty="0"/>
          </a:p>
          <a:p>
            <a:pPr marL="0" indent="0">
              <a:buNone/>
            </a:pPr>
            <a:endParaRPr lang="en-IN" dirty="0"/>
          </a:p>
          <a:p>
            <a:pPr marL="0" indent="0">
              <a:buNone/>
            </a:pPr>
            <a:endParaRPr lang="en-IN" dirty="0"/>
          </a:p>
        </p:txBody>
      </p:sp>
      <p:sp>
        <p:nvSpPr>
          <p:cNvPr id="4" name="Title 6">
            <a:extLst>
              <a:ext uri="{FF2B5EF4-FFF2-40B4-BE49-F238E27FC236}">
                <a16:creationId xmlns:a16="http://schemas.microsoft.com/office/drawing/2014/main" id="{B08D9D9F-1826-E65A-AEDA-8A1CA94DEE60}"/>
              </a:ext>
            </a:extLst>
          </p:cNvPr>
          <p:cNvSpPr txBox="1">
            <a:spLocks/>
          </p:cNvSpPr>
          <p:nvPr/>
        </p:nvSpPr>
        <p:spPr>
          <a:xfrm>
            <a:off x="3834581" y="199176"/>
            <a:ext cx="4817806" cy="612771"/>
          </a:xfrm>
          <a:prstGeom prst="rect">
            <a:avLst/>
          </a:prstGeom>
          <a:solidFill>
            <a:srgbClr val="A81E24"/>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3600" b="1" dirty="0">
                <a:solidFill>
                  <a:schemeClr val="bg1"/>
                </a:solidFill>
              </a:rPr>
              <a:t>Answer</a:t>
            </a:r>
          </a:p>
          <a:p>
            <a:pPr marL="0" indent="0">
              <a:buNone/>
            </a:pPr>
            <a:endParaRPr lang="en-GB" sz="4000" dirty="0">
              <a:solidFill>
                <a:srgbClr val="FF0000"/>
              </a:solidFill>
            </a:endParaRPr>
          </a:p>
          <a:p>
            <a:pPr marL="0" indent="0">
              <a:buNone/>
            </a:pPr>
            <a:br>
              <a:rPr lang="en-GB" sz="4000" dirty="0">
                <a:solidFill>
                  <a:srgbClr val="FF0000"/>
                </a:solidFill>
              </a:rPr>
            </a:br>
            <a:endParaRPr lang="en-GB" sz="4000" dirty="0"/>
          </a:p>
        </p:txBody>
      </p:sp>
      <p:pic>
        <p:nvPicPr>
          <p:cNvPr id="6" name="Picture 5" descr="KL Deemed to be University Logo">
            <a:extLst>
              <a:ext uri="{FF2B5EF4-FFF2-40B4-BE49-F238E27FC236}">
                <a16:creationId xmlns:a16="http://schemas.microsoft.com/office/drawing/2014/main" id="{AB06FD29-6818-F33C-8837-DDC7C14EA3C0}"/>
              </a:ext>
            </a:extLst>
          </p:cNvPr>
          <p:cNvPicPr>
            <a:picLocks noChangeAspect="1" noChangeArrowheads="1"/>
          </p:cNvPicPr>
          <p:nvPr/>
        </p:nvPicPr>
        <p:blipFill>
          <a:blip r:embed="rId2"/>
          <a:srcRect/>
          <a:stretch>
            <a:fillRect/>
          </a:stretch>
        </p:blipFill>
        <p:spPr bwMode="auto">
          <a:xfrm>
            <a:off x="80437" y="131219"/>
            <a:ext cx="1457238" cy="728274"/>
          </a:xfrm>
          <a:prstGeom prst="rect">
            <a:avLst/>
          </a:prstGeom>
          <a:noFill/>
        </p:spPr>
      </p:pic>
      <p:graphicFrame>
        <p:nvGraphicFramePr>
          <p:cNvPr id="10" name="Table 9">
            <a:extLst>
              <a:ext uri="{FF2B5EF4-FFF2-40B4-BE49-F238E27FC236}">
                <a16:creationId xmlns:a16="http://schemas.microsoft.com/office/drawing/2014/main" id="{312C1EC2-C8A4-216E-9C3E-06B08EEFF99D}"/>
              </a:ext>
            </a:extLst>
          </p:cNvPr>
          <p:cNvGraphicFramePr>
            <a:graphicFrameLocks noGrp="1"/>
          </p:cNvGraphicFramePr>
          <p:nvPr>
            <p:extLst>
              <p:ext uri="{D42A27DB-BD31-4B8C-83A1-F6EECF244321}">
                <p14:modId xmlns:p14="http://schemas.microsoft.com/office/powerpoint/2010/main" val="1839775929"/>
              </p:ext>
            </p:extLst>
          </p:nvPr>
        </p:nvGraphicFramePr>
        <p:xfrm>
          <a:off x="1012723" y="1052052"/>
          <a:ext cx="10441858" cy="4296696"/>
        </p:xfrm>
        <a:graphic>
          <a:graphicData uri="http://schemas.openxmlformats.org/drawingml/2006/table">
            <a:tbl>
              <a:tblPr firstRow="1" firstCol="1" bandRow="1"/>
              <a:tblGrid>
                <a:gridCol w="4069417">
                  <a:extLst>
                    <a:ext uri="{9D8B030D-6E8A-4147-A177-3AD203B41FA5}">
                      <a16:colId xmlns:a16="http://schemas.microsoft.com/office/drawing/2014/main" val="1848656129"/>
                    </a:ext>
                  </a:extLst>
                </a:gridCol>
                <a:gridCol w="2247122">
                  <a:extLst>
                    <a:ext uri="{9D8B030D-6E8A-4147-A177-3AD203B41FA5}">
                      <a16:colId xmlns:a16="http://schemas.microsoft.com/office/drawing/2014/main" val="723937109"/>
                    </a:ext>
                  </a:extLst>
                </a:gridCol>
                <a:gridCol w="4125319">
                  <a:extLst>
                    <a:ext uri="{9D8B030D-6E8A-4147-A177-3AD203B41FA5}">
                      <a16:colId xmlns:a16="http://schemas.microsoft.com/office/drawing/2014/main" val="3877465008"/>
                    </a:ext>
                  </a:extLst>
                </a:gridCol>
              </a:tblGrid>
              <a:tr h="498483">
                <a:tc>
                  <a:txBody>
                    <a:bodyPr/>
                    <a:lstStyle/>
                    <a:p>
                      <a:pPr algn="ctr">
                        <a:lnSpc>
                          <a:spcPct val="107000"/>
                        </a:lnSpc>
                        <a:buNone/>
                      </a:pPr>
                      <a:r>
                        <a:rPr lang="en-IN" sz="2400" b="1" kern="10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Sentence</a:t>
                      </a:r>
                      <a:endParaRPr lang="en-IN" sz="2400" kern="10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buNone/>
                      </a:pPr>
                      <a:r>
                        <a:rPr lang="en-IN" sz="2400" b="1" kern="10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Register</a:t>
                      </a:r>
                      <a:endParaRPr lang="en-IN" sz="2400" kern="10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buNone/>
                      </a:pPr>
                      <a:r>
                        <a:rPr lang="en-IN" sz="24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Reason</a:t>
                      </a:r>
                      <a:endParaRPr lang="en-IN" sz="2400"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4170766"/>
                  </a:ext>
                </a:extLst>
              </a:tr>
              <a:tr h="1266071">
                <a:tc>
                  <a:txBody>
                    <a:bodyPr/>
                    <a:lstStyle/>
                    <a:p>
                      <a:pPr>
                        <a:lnSpc>
                          <a:spcPct val="107000"/>
                        </a:lnSpc>
                        <a:buNone/>
                      </a:pPr>
                      <a:r>
                        <a:rPr lang="en-IN"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000" i="1" kern="100" dirty="0">
                          <a:effectLst/>
                          <a:latin typeface="Times New Roman" panose="02020603050405020304" pitchFamily="18" charset="0"/>
                          <a:ea typeface="Times New Roman" panose="02020603050405020304" pitchFamily="18" charset="0"/>
                          <a:cs typeface="Times New Roman" panose="02020603050405020304" pitchFamily="18" charset="0"/>
                        </a:rPr>
                        <a:t>Hey bro, I haven't finished the CAD drawing yet. Asking sir for extra time?</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buNone/>
                      </a:pPr>
                      <a:r>
                        <a:rPr lang="en-IN" sz="2000" b="1" kern="100">
                          <a:effectLst/>
                          <a:latin typeface="Times New Roman" panose="02020603050405020304" pitchFamily="18" charset="0"/>
                          <a:ea typeface="Times New Roman" panose="02020603050405020304" pitchFamily="18" charset="0"/>
                          <a:cs typeface="Times New Roman" panose="02020603050405020304" pitchFamily="18" charset="0"/>
                        </a:rPr>
                        <a:t>Informal Register</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buNone/>
                      </a:pPr>
                      <a:r>
                        <a:rPr lang="en-IN" sz="2000" kern="100">
                          <a:effectLst/>
                          <a:latin typeface="Times New Roman" panose="02020603050405020304" pitchFamily="18" charset="0"/>
                          <a:ea typeface="Times New Roman" panose="02020603050405020304" pitchFamily="18" charset="0"/>
                          <a:cs typeface="Times New Roman" panose="02020603050405020304" pitchFamily="18" charset="0"/>
                        </a:rPr>
                        <a:t>Uses casual language ("Hey bro"), contractions, and conversational style suitable for friends.</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8373272"/>
                  </a:ext>
                </a:extLst>
              </a:tr>
              <a:tr h="1266071">
                <a:tc>
                  <a:txBody>
                    <a:bodyPr/>
                    <a:lstStyle/>
                    <a:p>
                      <a:pPr>
                        <a:lnSpc>
                          <a:spcPct val="107000"/>
                        </a:lnSpc>
                        <a:buNone/>
                      </a:pPr>
                      <a:r>
                        <a:rPr lang="en-IN"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000" i="1" kern="100" dirty="0">
                          <a:effectLst/>
                          <a:latin typeface="Times New Roman" panose="02020603050405020304" pitchFamily="18" charset="0"/>
                          <a:ea typeface="Times New Roman" panose="02020603050405020304" pitchFamily="18" charset="0"/>
                          <a:cs typeface="Times New Roman" panose="02020603050405020304" pitchFamily="18" charset="0"/>
                        </a:rPr>
                        <a:t>The CAD report deadline is Friday at 4:00 PM. An extension was requested.</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buNone/>
                      </a:pPr>
                      <a:r>
                        <a:rPr lang="en-IN"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Neutral/Formal Register</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buNone/>
                      </a:pPr>
                      <a:r>
                        <a:rPr lang="en-IN" sz="2000" kern="100">
                          <a:effectLst/>
                          <a:latin typeface="Times New Roman" panose="02020603050405020304" pitchFamily="18" charset="0"/>
                          <a:ea typeface="Times New Roman" panose="02020603050405020304" pitchFamily="18" charset="0"/>
                          <a:cs typeface="Times New Roman" panose="02020603050405020304" pitchFamily="18" charset="0"/>
                        </a:rPr>
                        <a:t>Objective and impersonal. Appropriate for workplace communication or notices.</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6457245"/>
                  </a:ext>
                </a:extLst>
              </a:tr>
              <a:tr h="1266071">
                <a:tc>
                  <a:txBody>
                    <a:bodyPr/>
                    <a:lstStyle/>
                    <a:p>
                      <a:pPr>
                        <a:lnSpc>
                          <a:spcPct val="107000"/>
                        </a:lnSpc>
                        <a:buNone/>
                      </a:pPr>
                      <a:r>
                        <a:rPr lang="en-IN"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3.</a:t>
                      </a:r>
                      <a:r>
                        <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000" i="1" kern="100" dirty="0">
                          <a:effectLst/>
                          <a:latin typeface="Times New Roman" panose="02020603050405020304" pitchFamily="18" charset="0"/>
                          <a:ea typeface="Times New Roman" panose="02020603050405020304" pitchFamily="18" charset="0"/>
                          <a:cs typeface="Times New Roman" panose="02020603050405020304" pitchFamily="18" charset="0"/>
                        </a:rPr>
                        <a:t>Dear Sir, I am writing to respectfully request a short extension for the CAD report.</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buNone/>
                      </a:pPr>
                      <a:r>
                        <a:rPr lang="en-IN"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Formal Register</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buNone/>
                      </a:pPr>
                      <a:r>
                        <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rPr>
                        <a:t>Polite, respectful, and appropriate for communicating with a teacher or authority.</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2070478"/>
                  </a:ext>
                </a:extLst>
              </a:tr>
            </a:tbl>
          </a:graphicData>
        </a:graphic>
      </p:graphicFrame>
    </p:spTree>
    <p:extLst>
      <p:ext uri="{BB962C8B-B14F-4D97-AF65-F5344CB8AC3E}">
        <p14:creationId xmlns:p14="http://schemas.microsoft.com/office/powerpoint/2010/main" val="2259630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FBBAA-1E6D-EF03-3CF4-9386A69E3B1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8C7C93-4760-B19B-B106-031221C749F2}"/>
              </a:ext>
            </a:extLst>
          </p:cNvPr>
          <p:cNvSpPr>
            <a:spLocks noGrp="1"/>
          </p:cNvSpPr>
          <p:nvPr>
            <p:ph/>
          </p:nvPr>
        </p:nvSpPr>
        <p:spPr>
          <a:xfrm>
            <a:off x="561314" y="199176"/>
            <a:ext cx="11552223" cy="5977787"/>
          </a:xfrm>
        </p:spPr>
        <p:txBody>
          <a:bodyPr/>
          <a:lstStyle/>
          <a:p>
            <a:pPr marL="0" indent="0">
              <a:buNone/>
            </a:pPr>
            <a:endParaRPr lang="en-IN" b="1" dirty="0"/>
          </a:p>
          <a:p>
            <a:pPr marL="0" indent="0">
              <a:buNone/>
            </a:pPr>
            <a:endParaRPr lang="en-IN" dirty="0"/>
          </a:p>
          <a:p>
            <a:pPr marL="0" indent="0">
              <a:buNone/>
            </a:pPr>
            <a:endParaRPr lang="en-IN" dirty="0"/>
          </a:p>
        </p:txBody>
      </p:sp>
      <p:sp>
        <p:nvSpPr>
          <p:cNvPr id="4" name="Title 6">
            <a:extLst>
              <a:ext uri="{FF2B5EF4-FFF2-40B4-BE49-F238E27FC236}">
                <a16:creationId xmlns:a16="http://schemas.microsoft.com/office/drawing/2014/main" id="{C4ED6F3D-0DD5-2C77-5E50-34A3381760B5}"/>
              </a:ext>
            </a:extLst>
          </p:cNvPr>
          <p:cNvSpPr txBox="1">
            <a:spLocks/>
          </p:cNvSpPr>
          <p:nvPr/>
        </p:nvSpPr>
        <p:spPr>
          <a:xfrm>
            <a:off x="3834581" y="199176"/>
            <a:ext cx="4817806" cy="612771"/>
          </a:xfrm>
          <a:prstGeom prst="rect">
            <a:avLst/>
          </a:prstGeom>
          <a:solidFill>
            <a:srgbClr val="A81E24"/>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3600" b="1" dirty="0">
                <a:solidFill>
                  <a:schemeClr val="bg1"/>
                </a:solidFill>
              </a:rPr>
              <a:t>Answer</a:t>
            </a:r>
          </a:p>
          <a:p>
            <a:pPr marL="0" indent="0">
              <a:buNone/>
            </a:pPr>
            <a:endParaRPr lang="en-GB" sz="4000" dirty="0">
              <a:solidFill>
                <a:srgbClr val="FF0000"/>
              </a:solidFill>
            </a:endParaRPr>
          </a:p>
          <a:p>
            <a:pPr marL="0" indent="0">
              <a:buNone/>
            </a:pPr>
            <a:br>
              <a:rPr lang="en-GB" sz="4000" dirty="0">
                <a:solidFill>
                  <a:srgbClr val="FF0000"/>
                </a:solidFill>
              </a:rPr>
            </a:br>
            <a:endParaRPr lang="en-GB" sz="4000" dirty="0"/>
          </a:p>
        </p:txBody>
      </p:sp>
      <p:pic>
        <p:nvPicPr>
          <p:cNvPr id="6" name="Picture 5" descr="KL Deemed to be University Logo">
            <a:extLst>
              <a:ext uri="{FF2B5EF4-FFF2-40B4-BE49-F238E27FC236}">
                <a16:creationId xmlns:a16="http://schemas.microsoft.com/office/drawing/2014/main" id="{3D14FE0D-763A-4CF2-20BD-E9002A5A6149}"/>
              </a:ext>
            </a:extLst>
          </p:cNvPr>
          <p:cNvPicPr>
            <a:picLocks noChangeAspect="1" noChangeArrowheads="1"/>
          </p:cNvPicPr>
          <p:nvPr/>
        </p:nvPicPr>
        <p:blipFill>
          <a:blip r:embed="rId2"/>
          <a:srcRect/>
          <a:stretch>
            <a:fillRect/>
          </a:stretch>
        </p:blipFill>
        <p:spPr bwMode="auto">
          <a:xfrm>
            <a:off x="80437" y="131219"/>
            <a:ext cx="1457238" cy="728274"/>
          </a:xfrm>
          <a:prstGeom prst="rect">
            <a:avLst/>
          </a:prstGeom>
          <a:noFill/>
        </p:spPr>
      </p:pic>
      <p:graphicFrame>
        <p:nvGraphicFramePr>
          <p:cNvPr id="8" name="Table 7">
            <a:extLst>
              <a:ext uri="{FF2B5EF4-FFF2-40B4-BE49-F238E27FC236}">
                <a16:creationId xmlns:a16="http://schemas.microsoft.com/office/drawing/2014/main" id="{76448294-5B9C-CEC2-D75E-3C245D9E23B2}"/>
              </a:ext>
            </a:extLst>
          </p:cNvPr>
          <p:cNvGraphicFramePr>
            <a:graphicFrameLocks noGrp="1"/>
          </p:cNvGraphicFramePr>
          <p:nvPr>
            <p:extLst>
              <p:ext uri="{D42A27DB-BD31-4B8C-83A1-F6EECF244321}">
                <p14:modId xmlns:p14="http://schemas.microsoft.com/office/powerpoint/2010/main" val="3638693237"/>
              </p:ext>
            </p:extLst>
          </p:nvPr>
        </p:nvGraphicFramePr>
        <p:xfrm>
          <a:off x="838200" y="1553498"/>
          <a:ext cx="10515600" cy="3904680"/>
        </p:xfrm>
        <a:graphic>
          <a:graphicData uri="http://schemas.openxmlformats.org/drawingml/2006/table">
            <a:tbl>
              <a:tblPr firstRow="1" firstCol="1" bandRow="1"/>
              <a:tblGrid>
                <a:gridCol w="2628900">
                  <a:extLst>
                    <a:ext uri="{9D8B030D-6E8A-4147-A177-3AD203B41FA5}">
                      <a16:colId xmlns:a16="http://schemas.microsoft.com/office/drawing/2014/main" val="1469519973"/>
                    </a:ext>
                  </a:extLst>
                </a:gridCol>
                <a:gridCol w="2628900">
                  <a:extLst>
                    <a:ext uri="{9D8B030D-6E8A-4147-A177-3AD203B41FA5}">
                      <a16:colId xmlns:a16="http://schemas.microsoft.com/office/drawing/2014/main" val="928404414"/>
                    </a:ext>
                  </a:extLst>
                </a:gridCol>
                <a:gridCol w="2628900">
                  <a:extLst>
                    <a:ext uri="{9D8B030D-6E8A-4147-A177-3AD203B41FA5}">
                      <a16:colId xmlns:a16="http://schemas.microsoft.com/office/drawing/2014/main" val="3751115667"/>
                    </a:ext>
                  </a:extLst>
                </a:gridCol>
                <a:gridCol w="2628900">
                  <a:extLst>
                    <a:ext uri="{9D8B030D-6E8A-4147-A177-3AD203B41FA5}">
                      <a16:colId xmlns:a16="http://schemas.microsoft.com/office/drawing/2014/main" val="2361932319"/>
                    </a:ext>
                  </a:extLst>
                </a:gridCol>
              </a:tblGrid>
              <a:tr h="456349">
                <a:tc>
                  <a:txBody>
                    <a:bodyPr/>
                    <a:lstStyle/>
                    <a:p>
                      <a:pPr algn="ctr">
                        <a:lnSpc>
                          <a:spcPct val="107000"/>
                        </a:lnSpc>
                        <a:buNone/>
                      </a:pPr>
                      <a:r>
                        <a:rPr lang="en-IN" sz="2000" b="1" kern="100" dirty="0">
                          <a:effectLst/>
                          <a:latin typeface="Times New Roman" panose="02020603050405020304" pitchFamily="18" charset="0"/>
                          <a:ea typeface="Times New Roman" panose="02020603050405020304" pitchFamily="18" charset="0"/>
                          <a:cs typeface="Times New Roman" panose="02020603050405020304" pitchFamily="18" charset="0"/>
                        </a:rPr>
                        <a:t>Situation</a:t>
                      </a:r>
                      <a:endPar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buNone/>
                      </a:pPr>
                      <a:r>
                        <a:rPr lang="en-IN" sz="2000" b="1" kern="100">
                          <a:effectLst/>
                          <a:latin typeface="Times New Roman" panose="02020603050405020304" pitchFamily="18" charset="0"/>
                          <a:ea typeface="Times New Roman" panose="02020603050405020304" pitchFamily="18" charset="0"/>
                          <a:cs typeface="Times New Roman" panose="02020603050405020304" pitchFamily="18" charset="0"/>
                        </a:rPr>
                        <a:t>Friend (Informal Register)</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buNone/>
                      </a:pPr>
                      <a:r>
                        <a:rPr lang="en-IN" sz="2000" b="1" kern="100">
                          <a:effectLst/>
                          <a:latin typeface="Times New Roman" panose="02020603050405020304" pitchFamily="18" charset="0"/>
                          <a:ea typeface="Times New Roman" panose="02020603050405020304" pitchFamily="18" charset="0"/>
                          <a:cs typeface="Times New Roman" panose="02020603050405020304" pitchFamily="18" charset="0"/>
                        </a:rPr>
                        <a:t>Colleague (Neutral Register)</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buNone/>
                      </a:pPr>
                      <a:r>
                        <a:rPr lang="en-IN" sz="2000" b="1" kern="100">
                          <a:effectLst/>
                          <a:latin typeface="Times New Roman" panose="02020603050405020304" pitchFamily="18" charset="0"/>
                          <a:ea typeface="Times New Roman" panose="02020603050405020304" pitchFamily="18" charset="0"/>
                          <a:cs typeface="Times New Roman" panose="02020603050405020304" pitchFamily="18" charset="0"/>
                        </a:rPr>
                        <a:t>Principal (Formal Register)</a:t>
                      </a:r>
                      <a:endParaRPr lang="en-IN"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5189461"/>
                  </a:ext>
                </a:extLst>
              </a:tr>
              <a:tr h="1342592">
                <a:tc>
                  <a:txBody>
                    <a:bodyPr/>
                    <a:lstStyle/>
                    <a:p>
                      <a:pPr>
                        <a:lnSpc>
                          <a:spcPct val="107000"/>
                        </a:lnSpc>
                        <a:buNone/>
                      </a:pPr>
                      <a:r>
                        <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rPr>
                        <a:t>Ask whether tomorrow is a working day or a holiday.</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buNone/>
                      </a:pPr>
                      <a:r>
                        <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rPr>
                        <a:t>Hey! Is tomorrow a working day or a holiday?</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buNone/>
                      </a:pPr>
                      <a:r>
                        <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rPr>
                        <a:t>Hi, could you please let me know if tomorrow is a working day or a holiday?</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buNone/>
                      </a:pPr>
                      <a:r>
                        <a:rPr lang="en-IN" sz="2000" kern="100">
                          <a:effectLst/>
                          <a:latin typeface="Times New Roman" panose="02020603050405020304" pitchFamily="18" charset="0"/>
                          <a:ea typeface="Times New Roman" panose="02020603050405020304" pitchFamily="18" charset="0"/>
                          <a:cs typeface="Times New Roman" panose="02020603050405020304" pitchFamily="18" charset="0"/>
                        </a:rPr>
                        <a:t>Good morning, Sir/Madam. Could you please confirm whether tomorrow is a working day or a holiday?</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1880421"/>
                  </a:ext>
                </a:extLst>
              </a:tr>
              <a:tr h="1342592">
                <a:tc>
                  <a:txBody>
                    <a:bodyPr/>
                    <a:lstStyle/>
                    <a:p>
                      <a:pPr>
                        <a:lnSpc>
                          <a:spcPct val="107000"/>
                        </a:lnSpc>
                        <a:buNone/>
                      </a:pPr>
                      <a:r>
                        <a:rPr lang="en-IN" sz="2000" kern="100">
                          <a:effectLst/>
                          <a:latin typeface="Times New Roman" panose="02020603050405020304" pitchFamily="18" charset="0"/>
                          <a:ea typeface="Times New Roman" panose="02020603050405020304" pitchFamily="18" charset="0"/>
                          <a:cs typeface="Times New Roman" panose="02020603050405020304" pitchFamily="18" charset="0"/>
                        </a:rPr>
                        <a:t>Request guidance for applying for a bank loan.</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buNone/>
                      </a:pPr>
                      <a:r>
                        <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rPr>
                        <a:t>Hey, do you know how to apply for a bank loan? Can you guide me?</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buNone/>
                      </a:pPr>
                      <a:r>
                        <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rPr>
                        <a:t>Hi, could you guide me on the procedure for applying for a bank loan?</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buNone/>
                      </a:pPr>
                      <a:r>
                        <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rPr>
                        <a:t>Respected Sir/Madam, I would be grateful if you could guide me on the procedure for applying for a bank loan.</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5965286"/>
                  </a:ext>
                </a:extLst>
              </a:tr>
            </a:tbl>
          </a:graphicData>
        </a:graphic>
      </p:graphicFrame>
    </p:spTree>
    <p:extLst>
      <p:ext uri="{BB962C8B-B14F-4D97-AF65-F5344CB8AC3E}">
        <p14:creationId xmlns:p14="http://schemas.microsoft.com/office/powerpoint/2010/main" val="3158483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EBAF4012-BC85-F0B0-CA15-604C0D0C6F5D}"/>
              </a:ext>
            </a:extLst>
          </p:cNvPr>
          <p:cNvSpPr txBox="1">
            <a:spLocks noGrp="1"/>
          </p:cNvSpPr>
          <p:nvPr>
            <p:ph/>
          </p:nvPr>
        </p:nvSpPr>
        <p:spPr>
          <a:xfrm>
            <a:off x="1261712" y="131219"/>
            <a:ext cx="10683240" cy="648427"/>
          </a:xfrm>
          <a:prstGeom prst="rect">
            <a:avLst/>
          </a:prstGeom>
          <a:solidFill>
            <a:srgbClr val="A81E24"/>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3600" b="1" dirty="0">
                <a:solidFill>
                  <a:schemeClr val="bg1"/>
                </a:solidFill>
              </a:rPr>
              <a:t>Some tips to write with clarity and appropriate register</a:t>
            </a:r>
          </a:p>
          <a:p>
            <a:pPr marL="0" indent="0" algn="ctr">
              <a:buNone/>
            </a:pPr>
            <a:br>
              <a:rPr lang="en-GB" sz="4000" dirty="0">
                <a:solidFill>
                  <a:srgbClr val="FF0000"/>
                </a:solidFill>
              </a:rPr>
            </a:br>
            <a:endParaRPr lang="en-GB" sz="4000" dirty="0"/>
          </a:p>
        </p:txBody>
      </p:sp>
      <p:sp>
        <p:nvSpPr>
          <p:cNvPr id="5" name="TextBox 4">
            <a:extLst>
              <a:ext uri="{FF2B5EF4-FFF2-40B4-BE49-F238E27FC236}">
                <a16:creationId xmlns:a16="http://schemas.microsoft.com/office/drawing/2014/main" id="{9287AB8B-DA53-7775-06DE-3000F0B7E928}"/>
              </a:ext>
            </a:extLst>
          </p:cNvPr>
          <p:cNvSpPr txBox="1"/>
          <p:nvPr/>
        </p:nvSpPr>
        <p:spPr>
          <a:xfrm>
            <a:off x="2924475" y="1181653"/>
            <a:ext cx="6343049" cy="4678204"/>
          </a:xfrm>
          <a:prstGeom prst="rect">
            <a:avLst/>
          </a:prstGeom>
          <a:noFill/>
        </p:spPr>
        <p:txBody>
          <a:bodyPr wrap="square" rtlCol="0">
            <a:spAutoFit/>
          </a:bodyPr>
          <a:lstStyle/>
          <a:p>
            <a:pPr marL="457200" lvl="0" indent="-457200">
              <a:buFont typeface="Arial" panose="020B0604020202020204" pitchFamily="34" charset="0"/>
              <a:buChar char="•"/>
            </a:pPr>
            <a:r>
              <a:rPr lang="en-IN" sz="2800" dirty="0"/>
              <a:t>Identify your </a:t>
            </a:r>
            <a:r>
              <a:rPr lang="en-IN" sz="2800" b="1" dirty="0"/>
              <a:t>audience</a:t>
            </a:r>
            <a:r>
              <a:rPr lang="en-IN" sz="2800" dirty="0"/>
              <a:t> first.</a:t>
            </a:r>
          </a:p>
          <a:p>
            <a:pPr marL="457200" lvl="0" indent="-457200">
              <a:buFont typeface="Arial" panose="020B0604020202020204" pitchFamily="34" charset="0"/>
              <a:buChar char="•"/>
            </a:pPr>
            <a:r>
              <a:rPr lang="en-IN" sz="2800" dirty="0"/>
              <a:t>Adjust your </a:t>
            </a:r>
            <a:r>
              <a:rPr lang="en-IN" sz="2800" b="1" dirty="0"/>
              <a:t>tone</a:t>
            </a:r>
            <a:r>
              <a:rPr lang="en-IN" sz="2800" dirty="0"/>
              <a:t> according to the role.</a:t>
            </a:r>
          </a:p>
          <a:p>
            <a:pPr marL="457200" lvl="0" indent="-457200">
              <a:buFont typeface="Arial" panose="020B0604020202020204" pitchFamily="34" charset="0"/>
              <a:buChar char="•"/>
            </a:pPr>
            <a:r>
              <a:rPr lang="en-IN" sz="2800" dirty="0"/>
              <a:t>Use </a:t>
            </a:r>
            <a:r>
              <a:rPr lang="en-IN" sz="2800" b="1" dirty="0"/>
              <a:t>precise, specific language</a:t>
            </a:r>
            <a:r>
              <a:rPr lang="en-IN" sz="2800" dirty="0"/>
              <a:t>.</a:t>
            </a:r>
          </a:p>
          <a:p>
            <a:pPr marL="457200" lvl="0" indent="-457200">
              <a:buFont typeface="Arial" panose="020B0604020202020204" pitchFamily="34" charset="0"/>
              <a:buChar char="•"/>
            </a:pPr>
            <a:r>
              <a:rPr lang="en-IN" sz="2800" dirty="0"/>
              <a:t>Prefer </a:t>
            </a:r>
            <a:r>
              <a:rPr lang="en-IN" sz="2800" b="1" dirty="0"/>
              <a:t>active voice</a:t>
            </a:r>
            <a:r>
              <a:rPr lang="en-IN" sz="2800" dirty="0"/>
              <a:t> always.</a:t>
            </a:r>
          </a:p>
          <a:p>
            <a:pPr marL="457200" lvl="0" indent="-457200">
              <a:buFont typeface="Arial" panose="020B0604020202020204" pitchFamily="34" charset="0"/>
              <a:buChar char="•"/>
            </a:pPr>
            <a:r>
              <a:rPr lang="en-IN" sz="2800" dirty="0"/>
              <a:t>Cut </a:t>
            </a:r>
            <a:r>
              <a:rPr lang="en-IN" sz="2800" b="1" dirty="0"/>
              <a:t>unnecessary words</a:t>
            </a:r>
            <a:r>
              <a:rPr lang="en-IN" sz="2800" dirty="0"/>
              <a:t> completely.</a:t>
            </a:r>
          </a:p>
          <a:p>
            <a:pPr marL="457200" lvl="0" indent="-457200">
              <a:buFont typeface="Arial" panose="020B0604020202020204" pitchFamily="34" charset="0"/>
              <a:buChar char="•"/>
            </a:pPr>
            <a:r>
              <a:rPr lang="en-IN" sz="2800" dirty="0"/>
              <a:t>Replace </a:t>
            </a:r>
            <a:r>
              <a:rPr lang="en-IN" sz="2800" b="1" dirty="0"/>
              <a:t>jargon</a:t>
            </a:r>
            <a:r>
              <a:rPr lang="en-IN" sz="2800" dirty="0"/>
              <a:t> with clarity.</a:t>
            </a:r>
          </a:p>
          <a:p>
            <a:pPr marL="457200" lvl="0" indent="-457200">
              <a:buFont typeface="Arial" panose="020B0604020202020204" pitchFamily="34" charset="0"/>
              <a:buChar char="•"/>
            </a:pPr>
            <a:r>
              <a:rPr lang="en-IN" sz="2800" dirty="0"/>
              <a:t>Eliminate </a:t>
            </a:r>
            <a:r>
              <a:rPr lang="en-IN" sz="2800" b="1" dirty="0"/>
              <a:t>all ambiguity</a:t>
            </a:r>
            <a:r>
              <a:rPr lang="en-IN" sz="2800" dirty="0"/>
              <a:t>.</a:t>
            </a:r>
          </a:p>
          <a:p>
            <a:pPr marL="457200" lvl="0" indent="-457200">
              <a:buFont typeface="Arial" panose="020B0604020202020204" pitchFamily="34" charset="0"/>
              <a:buChar char="•"/>
            </a:pPr>
            <a:r>
              <a:rPr lang="en-IN" sz="2800" dirty="0"/>
              <a:t>Keep </a:t>
            </a:r>
            <a:r>
              <a:rPr lang="en-IN" sz="2800" b="1" dirty="0"/>
              <a:t>one message</a:t>
            </a:r>
            <a:r>
              <a:rPr lang="en-IN" sz="2800" dirty="0"/>
              <a:t> per sentence.</a:t>
            </a:r>
          </a:p>
          <a:p>
            <a:pPr marL="457200" lvl="0" indent="-457200">
              <a:buFont typeface="Arial" panose="020B0604020202020204" pitchFamily="34" charset="0"/>
              <a:buChar char="•"/>
            </a:pPr>
            <a:r>
              <a:rPr lang="en-IN" sz="2800" dirty="0"/>
              <a:t>Improve </a:t>
            </a:r>
            <a:r>
              <a:rPr lang="en-IN" sz="2800" b="1" dirty="0"/>
              <a:t>readability</a:t>
            </a:r>
            <a:r>
              <a:rPr lang="en-IN" sz="2800" dirty="0"/>
              <a:t> through structure.</a:t>
            </a:r>
          </a:p>
          <a:p>
            <a:pPr marL="457200" lvl="0" indent="-457200">
              <a:buFont typeface="Arial" panose="020B0604020202020204" pitchFamily="34" charset="0"/>
              <a:buChar char="•"/>
            </a:pPr>
            <a:r>
              <a:rPr lang="en-IN" sz="2800" dirty="0"/>
              <a:t>Match </a:t>
            </a:r>
            <a:r>
              <a:rPr lang="en-IN" sz="2800" b="1" dirty="0"/>
              <a:t>words</a:t>
            </a:r>
            <a:r>
              <a:rPr lang="en-IN" sz="2800" dirty="0"/>
              <a:t> to tone.</a:t>
            </a:r>
          </a:p>
          <a:p>
            <a:endParaRPr lang="en-IN" dirty="0"/>
          </a:p>
        </p:txBody>
      </p:sp>
      <p:pic>
        <p:nvPicPr>
          <p:cNvPr id="7" name="Picture 6" descr="KL Deemed to be University Logo">
            <a:extLst>
              <a:ext uri="{FF2B5EF4-FFF2-40B4-BE49-F238E27FC236}">
                <a16:creationId xmlns:a16="http://schemas.microsoft.com/office/drawing/2014/main" id="{14E247CD-321D-D1E4-F139-D99002C0E008}"/>
              </a:ext>
            </a:extLst>
          </p:cNvPr>
          <p:cNvPicPr>
            <a:picLocks noChangeAspect="1" noChangeArrowheads="1"/>
          </p:cNvPicPr>
          <p:nvPr/>
        </p:nvPicPr>
        <p:blipFill>
          <a:blip r:embed="rId2"/>
          <a:srcRect/>
          <a:stretch>
            <a:fillRect/>
          </a:stretch>
        </p:blipFill>
        <p:spPr bwMode="auto">
          <a:xfrm>
            <a:off x="80437" y="131219"/>
            <a:ext cx="1457238" cy="728274"/>
          </a:xfrm>
          <a:prstGeom prst="rect">
            <a:avLst/>
          </a:prstGeom>
          <a:noFill/>
        </p:spPr>
      </p:pic>
    </p:spTree>
    <p:extLst>
      <p:ext uri="{BB962C8B-B14F-4D97-AF65-F5344CB8AC3E}">
        <p14:creationId xmlns:p14="http://schemas.microsoft.com/office/powerpoint/2010/main" val="3636940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47F84-A427-F1F9-47B8-DED11C41F985}"/>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032A9C35-EAA1-2121-89F4-421A683F88C9}"/>
              </a:ext>
            </a:extLst>
          </p:cNvPr>
          <p:cNvSpPr txBox="1">
            <a:spLocks noGrp="1"/>
          </p:cNvSpPr>
          <p:nvPr>
            <p:ph/>
          </p:nvPr>
        </p:nvSpPr>
        <p:spPr>
          <a:xfrm>
            <a:off x="3028335" y="131219"/>
            <a:ext cx="5948518" cy="648427"/>
          </a:xfrm>
          <a:prstGeom prst="rect">
            <a:avLst/>
          </a:prstGeom>
          <a:solidFill>
            <a:srgbClr val="A81E24"/>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3600" b="1" dirty="0">
                <a:solidFill>
                  <a:schemeClr val="bg1"/>
                </a:solidFill>
              </a:rPr>
              <a:t>Read the following paragraph</a:t>
            </a:r>
          </a:p>
          <a:p>
            <a:pPr marL="0" indent="0" algn="ctr">
              <a:buNone/>
            </a:pPr>
            <a:br>
              <a:rPr lang="en-GB" sz="4000" dirty="0">
                <a:solidFill>
                  <a:srgbClr val="FF0000"/>
                </a:solidFill>
              </a:rPr>
            </a:br>
            <a:endParaRPr lang="en-GB" sz="4000" dirty="0"/>
          </a:p>
        </p:txBody>
      </p:sp>
      <p:sp>
        <p:nvSpPr>
          <p:cNvPr id="5" name="TextBox 4">
            <a:extLst>
              <a:ext uri="{FF2B5EF4-FFF2-40B4-BE49-F238E27FC236}">
                <a16:creationId xmlns:a16="http://schemas.microsoft.com/office/drawing/2014/main" id="{A1AB8D30-0F42-8B11-4D07-48C6B9D11574}"/>
              </a:ext>
            </a:extLst>
          </p:cNvPr>
          <p:cNvSpPr txBox="1"/>
          <p:nvPr/>
        </p:nvSpPr>
        <p:spPr>
          <a:xfrm>
            <a:off x="786582" y="1181653"/>
            <a:ext cx="10422192" cy="5539978"/>
          </a:xfrm>
          <a:prstGeom prst="rect">
            <a:avLst/>
          </a:prstGeom>
          <a:noFill/>
        </p:spPr>
        <p:txBody>
          <a:bodyPr wrap="square" rtlCol="0">
            <a:spAutoFit/>
          </a:bodyPr>
          <a:lstStyle/>
          <a:p>
            <a:r>
              <a:rPr lang="en-IN" sz="2800" b="1" dirty="0"/>
              <a:t>attention everyone switch off the main power supply wear your safety gloves do not touch the exposed wires if you notice sparks inform the lab instructor immediately if not continue the experiment carefully remember safety comes first</a:t>
            </a:r>
            <a:endParaRPr lang="en-IN" sz="2800" dirty="0"/>
          </a:p>
          <a:p>
            <a:endParaRPr lang="en-IN" sz="2800" dirty="0"/>
          </a:p>
          <a:p>
            <a:r>
              <a:rPr lang="en-IN" sz="2800" b="1" dirty="0"/>
              <a:t>Now, answer the following questions</a:t>
            </a:r>
          </a:p>
          <a:p>
            <a:endParaRPr lang="en-IN" sz="2800" b="1" dirty="0"/>
          </a:p>
          <a:p>
            <a:pPr marL="514350" lvl="0" indent="-514350">
              <a:buFont typeface="+mj-lt"/>
              <a:buAutoNum type="arabicPeriod"/>
            </a:pPr>
            <a:r>
              <a:rPr lang="en-IN" sz="2800" dirty="0"/>
              <a:t>Was the paragraph easy or difficult to read? Why? </a:t>
            </a:r>
          </a:p>
          <a:p>
            <a:pPr marL="514350" lvl="0" indent="-514350">
              <a:buFont typeface="+mj-lt"/>
              <a:buAutoNum type="arabicPeriod"/>
            </a:pPr>
            <a:r>
              <a:rPr lang="en-IN" sz="2800" dirty="0"/>
              <a:t>Where would you pause while reading? </a:t>
            </a:r>
          </a:p>
          <a:p>
            <a:pPr marL="514350" lvl="0" indent="-514350">
              <a:buFont typeface="+mj-lt"/>
              <a:buAutoNum type="arabicPeriod"/>
            </a:pPr>
            <a:r>
              <a:rPr lang="en-IN" sz="2800" dirty="0"/>
              <a:t>Which part confused you the most? </a:t>
            </a:r>
          </a:p>
          <a:p>
            <a:pPr marL="514350" lvl="0" indent="-514350">
              <a:buFont typeface="+mj-lt"/>
              <a:buAutoNum type="arabicPeriod"/>
            </a:pPr>
            <a:r>
              <a:rPr lang="en-IN" sz="2800" dirty="0"/>
              <a:t>How would you revise the passage to make it clear and easy to understand?</a:t>
            </a:r>
          </a:p>
          <a:p>
            <a:endParaRPr lang="en-IN" dirty="0"/>
          </a:p>
        </p:txBody>
      </p:sp>
      <p:pic>
        <p:nvPicPr>
          <p:cNvPr id="7" name="Picture 6" descr="KL Deemed to be University Logo">
            <a:extLst>
              <a:ext uri="{FF2B5EF4-FFF2-40B4-BE49-F238E27FC236}">
                <a16:creationId xmlns:a16="http://schemas.microsoft.com/office/drawing/2014/main" id="{CDF9FC22-BECA-2C66-1836-DA5C86B2BE78}"/>
              </a:ext>
            </a:extLst>
          </p:cNvPr>
          <p:cNvPicPr>
            <a:picLocks noChangeAspect="1" noChangeArrowheads="1"/>
          </p:cNvPicPr>
          <p:nvPr/>
        </p:nvPicPr>
        <p:blipFill>
          <a:blip r:embed="rId2"/>
          <a:srcRect/>
          <a:stretch>
            <a:fillRect/>
          </a:stretch>
        </p:blipFill>
        <p:spPr bwMode="auto">
          <a:xfrm>
            <a:off x="80437" y="131219"/>
            <a:ext cx="1457238" cy="728274"/>
          </a:xfrm>
          <a:prstGeom prst="rect">
            <a:avLst/>
          </a:prstGeom>
          <a:noFill/>
        </p:spPr>
      </p:pic>
    </p:spTree>
    <p:extLst>
      <p:ext uri="{BB962C8B-B14F-4D97-AF65-F5344CB8AC3E}">
        <p14:creationId xmlns:p14="http://schemas.microsoft.com/office/powerpoint/2010/main" val="1108343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5D038-82FE-739F-E379-1EE52875FA86}"/>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9735536D-CEAD-6BE3-9E47-9A2276A1F3ED}"/>
              </a:ext>
            </a:extLst>
          </p:cNvPr>
          <p:cNvSpPr txBox="1">
            <a:spLocks noGrp="1"/>
          </p:cNvSpPr>
          <p:nvPr>
            <p:ph/>
          </p:nvPr>
        </p:nvSpPr>
        <p:spPr>
          <a:xfrm>
            <a:off x="3028335" y="131219"/>
            <a:ext cx="5948518" cy="648427"/>
          </a:xfrm>
          <a:prstGeom prst="rect">
            <a:avLst/>
          </a:prstGeom>
          <a:solidFill>
            <a:srgbClr val="A81E24"/>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3600" b="1" dirty="0">
                <a:solidFill>
                  <a:schemeClr val="bg1"/>
                </a:solidFill>
              </a:rPr>
              <a:t>Revised Paragraph</a:t>
            </a:r>
          </a:p>
          <a:p>
            <a:pPr marL="0" indent="0" algn="ctr">
              <a:buNone/>
            </a:pPr>
            <a:br>
              <a:rPr lang="en-GB" sz="4000" dirty="0">
                <a:solidFill>
                  <a:srgbClr val="FF0000"/>
                </a:solidFill>
              </a:rPr>
            </a:br>
            <a:endParaRPr lang="en-GB" sz="4000" dirty="0"/>
          </a:p>
        </p:txBody>
      </p:sp>
      <p:pic>
        <p:nvPicPr>
          <p:cNvPr id="7" name="Picture 6" descr="KL Deemed to be University Logo">
            <a:extLst>
              <a:ext uri="{FF2B5EF4-FFF2-40B4-BE49-F238E27FC236}">
                <a16:creationId xmlns:a16="http://schemas.microsoft.com/office/drawing/2014/main" id="{6DE22C07-5846-B999-233E-736827C9D8C9}"/>
              </a:ext>
            </a:extLst>
          </p:cNvPr>
          <p:cNvPicPr>
            <a:picLocks noChangeAspect="1" noChangeArrowheads="1"/>
          </p:cNvPicPr>
          <p:nvPr/>
        </p:nvPicPr>
        <p:blipFill>
          <a:blip r:embed="rId2"/>
          <a:srcRect/>
          <a:stretch>
            <a:fillRect/>
          </a:stretch>
        </p:blipFill>
        <p:spPr bwMode="auto">
          <a:xfrm>
            <a:off x="80437" y="131219"/>
            <a:ext cx="1457238" cy="728274"/>
          </a:xfrm>
          <a:prstGeom prst="rect">
            <a:avLst/>
          </a:prstGeom>
          <a:noFill/>
        </p:spPr>
      </p:pic>
      <p:sp>
        <p:nvSpPr>
          <p:cNvPr id="3" name="TextBox 2">
            <a:extLst>
              <a:ext uri="{FF2B5EF4-FFF2-40B4-BE49-F238E27FC236}">
                <a16:creationId xmlns:a16="http://schemas.microsoft.com/office/drawing/2014/main" id="{3EA57803-6844-3207-0AE7-4574B3B26851}"/>
              </a:ext>
            </a:extLst>
          </p:cNvPr>
          <p:cNvSpPr txBox="1"/>
          <p:nvPr/>
        </p:nvSpPr>
        <p:spPr>
          <a:xfrm>
            <a:off x="1160206" y="1012723"/>
            <a:ext cx="10225548" cy="5509200"/>
          </a:xfrm>
          <a:prstGeom prst="rect">
            <a:avLst/>
          </a:prstGeom>
          <a:noFill/>
        </p:spPr>
        <p:txBody>
          <a:bodyPr wrap="square">
            <a:spAutoFit/>
          </a:bodyPr>
          <a:lstStyle/>
          <a:p>
            <a:pPr algn="just"/>
            <a:r>
              <a:rPr lang="en-IN" sz="3200" dirty="0"/>
              <a:t>Attention, everyone! Switch off the main power supply. Wear your safety gloves. Do not touch the exposed wires. If you notice sparks, inform the lab instructor immediately. If not, continue the experiment carefully. Remember, safety comes first!</a:t>
            </a:r>
          </a:p>
          <a:p>
            <a:pPr algn="just"/>
            <a:endParaRPr lang="en-IN" sz="3200" dirty="0"/>
          </a:p>
          <a:p>
            <a:pPr algn="just"/>
            <a:r>
              <a:rPr lang="en-IN" sz="3200" b="1" dirty="0">
                <a:solidFill>
                  <a:srgbClr val="A81E24"/>
                </a:solidFill>
              </a:rPr>
              <a:t>Think About It</a:t>
            </a:r>
          </a:p>
          <a:p>
            <a:pPr algn="just"/>
            <a:endParaRPr lang="en-IN" sz="3200" dirty="0"/>
          </a:p>
          <a:p>
            <a:pPr algn="just"/>
            <a:r>
              <a:rPr lang="en-IN" sz="3200" b="1" dirty="0"/>
              <a:t>Imagine you are working in an engineering laboratory. Which version of the instructions would you trust and follow? Why?</a:t>
            </a:r>
            <a:endParaRPr lang="en-IN" sz="3200" dirty="0"/>
          </a:p>
        </p:txBody>
      </p:sp>
    </p:spTree>
    <p:extLst>
      <p:ext uri="{BB962C8B-B14F-4D97-AF65-F5344CB8AC3E}">
        <p14:creationId xmlns:p14="http://schemas.microsoft.com/office/powerpoint/2010/main" val="1221834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974EF4-C941-1EAE-A41E-4EAF9014C82F}"/>
              </a:ext>
            </a:extLst>
          </p:cNvPr>
          <p:cNvSpPr txBox="1"/>
          <p:nvPr/>
        </p:nvSpPr>
        <p:spPr>
          <a:xfrm>
            <a:off x="596766" y="1447760"/>
            <a:ext cx="11290433" cy="6001643"/>
          </a:xfrm>
          <a:prstGeom prst="rect">
            <a:avLst/>
          </a:prstGeom>
          <a:noFill/>
        </p:spPr>
        <p:txBody>
          <a:bodyPr wrap="square">
            <a:spAutoFit/>
          </a:bodyPr>
          <a:lstStyle/>
          <a:p>
            <a:pPr algn="just"/>
            <a:r>
              <a:rPr lang="en-GB" sz="3200" dirty="0"/>
              <a:t>Punctuation marks are symbols used in writing to improve clarity,  readability, indicate pauses and emphasis and idea. Incorrect punctuation can change the meaning of a sentence and create confusion in communication. Proper punctuation helps to convey the writer's intended meaning. </a:t>
            </a:r>
          </a:p>
          <a:p>
            <a:r>
              <a:rPr lang="en-GB" sz="3200" b="1" dirty="0"/>
              <a:t>Example: </a:t>
            </a:r>
            <a:r>
              <a:rPr lang="en-GB" sz="3200" dirty="0"/>
              <a:t>Professor said the student is intelligent. </a:t>
            </a:r>
          </a:p>
          <a:p>
            <a:r>
              <a:rPr lang="en-GB" sz="3200" dirty="0"/>
              <a:t>                  Professor said, “the student is intelligent.” </a:t>
            </a:r>
          </a:p>
          <a:p>
            <a:r>
              <a:rPr lang="en-GB" sz="3200" dirty="0"/>
              <a:t>		Let’s eat teachers (suggests eating teachers)</a:t>
            </a:r>
          </a:p>
          <a:p>
            <a:r>
              <a:rPr lang="en-GB" sz="3200" dirty="0"/>
              <a:t>		Let’s eat, teachers (invites teachers to eat)</a:t>
            </a:r>
          </a:p>
          <a:p>
            <a:r>
              <a:rPr lang="en-GB" sz="3200" b="1" dirty="0"/>
              <a:t>Example: </a:t>
            </a:r>
            <a:r>
              <a:rPr lang="en-GB" sz="3200" dirty="0"/>
              <a:t>I like cooking my friends and YouTube.</a:t>
            </a:r>
          </a:p>
          <a:p>
            <a:r>
              <a:rPr lang="en-GB" sz="3200" dirty="0"/>
              <a:t>                  I like cooking, my friends, and YouTube. </a:t>
            </a:r>
          </a:p>
          <a:p>
            <a:endParaRPr lang="en-GB" sz="3200" dirty="0"/>
          </a:p>
        </p:txBody>
      </p:sp>
      <p:sp>
        <p:nvSpPr>
          <p:cNvPr id="7" name="Title 6">
            <a:extLst>
              <a:ext uri="{FF2B5EF4-FFF2-40B4-BE49-F238E27FC236}">
                <a16:creationId xmlns:a16="http://schemas.microsoft.com/office/drawing/2014/main" id="{1CCA778F-5F20-806E-426D-5E939B057858}"/>
              </a:ext>
            </a:extLst>
          </p:cNvPr>
          <p:cNvSpPr>
            <a:spLocks noGrp="1"/>
          </p:cNvSpPr>
          <p:nvPr>
            <p:ph type="title"/>
          </p:nvPr>
        </p:nvSpPr>
        <p:spPr>
          <a:xfrm>
            <a:off x="1666005" y="169720"/>
            <a:ext cx="9730306" cy="651272"/>
          </a:xfrm>
          <a:solidFill>
            <a:srgbClr val="A81E24"/>
          </a:solidFill>
        </p:spPr>
        <p:txBody>
          <a:bodyPr/>
          <a:lstStyle/>
          <a:p>
            <a:r>
              <a:rPr lang="en-GB" sz="4000" b="1" dirty="0">
                <a:solidFill>
                  <a:schemeClr val="bg1"/>
                </a:solidFill>
              </a:rPr>
              <a:t>Punctuation Marks in Effective  Communication</a:t>
            </a:r>
            <a:br>
              <a:rPr lang="en-GB" sz="4000" dirty="0">
                <a:solidFill>
                  <a:srgbClr val="FF0000"/>
                </a:solidFill>
              </a:rPr>
            </a:br>
            <a:endParaRPr lang="en-GB" sz="4000" dirty="0"/>
          </a:p>
        </p:txBody>
      </p:sp>
      <p:graphicFrame>
        <p:nvGraphicFramePr>
          <p:cNvPr id="5" name="Content Placeholder 4">
            <a:extLst>
              <a:ext uri="{FF2B5EF4-FFF2-40B4-BE49-F238E27FC236}">
                <a16:creationId xmlns:a16="http://schemas.microsoft.com/office/drawing/2014/main" id="{0EAA3419-B7D3-CE41-30A5-2AA700AAFAD5}"/>
              </a:ext>
            </a:extLst>
          </p:cNvPr>
          <p:cNvGraphicFramePr>
            <a:graphicFrameLocks noGrp="1"/>
          </p:cNvGraphicFramePr>
          <p:nvPr>
            <p:ph idx="1"/>
          </p:nvPr>
        </p:nvGraphicFramePr>
        <p:xfrm>
          <a:off x="12522200" y="7792803"/>
          <a:ext cx="2108200" cy="248119"/>
        </p:xfrm>
        <a:graphic>
          <a:graphicData uri="http://schemas.openxmlformats.org/drawingml/2006/table">
            <a:tbl>
              <a:tblPr/>
              <a:tblGrid>
                <a:gridCol w="2108200">
                  <a:extLst>
                    <a:ext uri="{9D8B030D-6E8A-4147-A177-3AD203B41FA5}">
                      <a16:colId xmlns:a16="http://schemas.microsoft.com/office/drawing/2014/main" val="2266832445"/>
                    </a:ext>
                  </a:extLst>
                </a:gridCol>
              </a:tblGrid>
              <a:tr h="56524">
                <a:tc>
                  <a:txBody>
                    <a:bodyPr/>
                    <a:lstStyle/>
                    <a:p>
                      <a:pPr fontAlgn="t">
                        <a:lnSpc>
                          <a:spcPts val="1500"/>
                        </a:lnSpc>
                        <a:buNone/>
                      </a:pPr>
                      <a:r>
                        <a:rPr lang="en-IN" sz="200" b="0" i="0">
                          <a:effectLst/>
                          <a:latin typeface="Segoe UI" panose="020B0502040204020203" pitchFamily="34" charset="0"/>
                        </a:rPr>
                        <a:t>I like cooking, my friends, and YouTube</a:t>
                      </a:r>
                    </a:p>
                  </a:txBody>
                  <a:tcPr marL="18332" marR="18332" marT="9166" marB="9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001588953"/>
                  </a:ext>
                </a:extLst>
              </a:tr>
              <a:tr h="73329">
                <a:tc>
                  <a:txBody>
                    <a:bodyPr/>
                    <a:lstStyle/>
                    <a:p>
                      <a:endParaRPr lang="en-IN" sz="400" dirty="0"/>
                    </a:p>
                  </a:txBody>
                  <a:tcPr marL="18332" marR="18332" marT="9166" marB="9166">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513924323"/>
                  </a:ext>
                </a:extLst>
              </a:tr>
            </a:tbl>
          </a:graphicData>
        </a:graphic>
      </p:graphicFrame>
      <p:pic>
        <p:nvPicPr>
          <p:cNvPr id="3" name="Picture 2" descr="KL Deemed to be University Logo">
            <a:extLst>
              <a:ext uri="{FF2B5EF4-FFF2-40B4-BE49-F238E27FC236}">
                <a16:creationId xmlns:a16="http://schemas.microsoft.com/office/drawing/2014/main" id="{BD8D92A3-8DB1-2E9B-0472-D3C2C865EED9}"/>
              </a:ext>
            </a:extLst>
          </p:cNvPr>
          <p:cNvPicPr>
            <a:picLocks noChangeAspect="1" noChangeArrowheads="1"/>
          </p:cNvPicPr>
          <p:nvPr/>
        </p:nvPicPr>
        <p:blipFill>
          <a:blip r:embed="rId2"/>
          <a:srcRect/>
          <a:stretch>
            <a:fillRect/>
          </a:stretch>
        </p:blipFill>
        <p:spPr bwMode="auto">
          <a:xfrm>
            <a:off x="136793" y="131219"/>
            <a:ext cx="1364748" cy="728274"/>
          </a:xfrm>
          <a:prstGeom prst="rect">
            <a:avLst/>
          </a:prstGeom>
          <a:noFill/>
        </p:spPr>
      </p:pic>
    </p:spTree>
    <p:extLst>
      <p:ext uri="{BB962C8B-B14F-4D97-AF65-F5344CB8AC3E}">
        <p14:creationId xmlns:p14="http://schemas.microsoft.com/office/powerpoint/2010/main" val="3910490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13D74F9B-9F74-897F-AB72-EB3DCA8F453F}"/>
              </a:ext>
            </a:extLst>
          </p:cNvPr>
          <p:cNvPicPr>
            <a:picLocks noGrp="1" noChangeAspect="1"/>
          </p:cNvPicPr>
          <p:nvPr>
            <p:ph/>
          </p:nvPr>
        </p:nvPicPr>
        <p:blipFill>
          <a:blip r:embed="rId2"/>
          <a:srcRect b="1744"/>
          <a:stretch>
            <a:fillRect/>
          </a:stretch>
        </p:blipFill>
        <p:spPr>
          <a:xfrm>
            <a:off x="0" y="0"/>
            <a:ext cx="12648351" cy="6858000"/>
          </a:xfrm>
          <a:prstGeom prst="rect">
            <a:avLst/>
          </a:prstGeom>
          <a:noFill/>
        </p:spPr>
      </p:pic>
    </p:spTree>
    <p:extLst>
      <p:ext uri="{BB962C8B-B14F-4D97-AF65-F5344CB8AC3E}">
        <p14:creationId xmlns:p14="http://schemas.microsoft.com/office/powerpoint/2010/main" val="3296753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46618-A555-5221-3605-153238C97E4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29229A4-9B8E-A401-95C4-E211AFA55F1B}"/>
              </a:ext>
            </a:extLst>
          </p:cNvPr>
          <p:cNvSpPr>
            <a:spLocks noGrp="1"/>
          </p:cNvSpPr>
          <p:nvPr>
            <p:ph type="title"/>
          </p:nvPr>
        </p:nvSpPr>
        <p:spPr>
          <a:xfrm>
            <a:off x="1597794" y="323724"/>
            <a:ext cx="9278754" cy="612771"/>
          </a:xfrm>
          <a:solidFill>
            <a:srgbClr val="A81E24"/>
          </a:solidFill>
        </p:spPr>
        <p:txBody>
          <a:bodyPr/>
          <a:lstStyle/>
          <a:p>
            <a:pPr algn="ctr"/>
            <a:r>
              <a:rPr lang="en-GB" sz="4000" b="1" dirty="0">
                <a:solidFill>
                  <a:schemeClr val="bg1"/>
                </a:solidFill>
              </a:rPr>
              <a:t>Uses of C</a:t>
            </a:r>
            <a:r>
              <a:rPr lang="en-US" sz="4000" b="1" dirty="0">
                <a:solidFill>
                  <a:schemeClr val="bg1"/>
                </a:solidFill>
              </a:rPr>
              <a:t>omma ( , ) &amp; Semicolon( ; ) </a:t>
            </a:r>
            <a:endParaRPr lang="en-GB" sz="4000" dirty="0"/>
          </a:p>
        </p:txBody>
      </p:sp>
      <p:graphicFrame>
        <p:nvGraphicFramePr>
          <p:cNvPr id="5" name="Content Placeholder 4">
            <a:extLst>
              <a:ext uri="{FF2B5EF4-FFF2-40B4-BE49-F238E27FC236}">
                <a16:creationId xmlns:a16="http://schemas.microsoft.com/office/drawing/2014/main" id="{66199826-D6C3-EAB1-2E53-862AB7A2F0D9}"/>
              </a:ext>
            </a:extLst>
          </p:cNvPr>
          <p:cNvGraphicFramePr>
            <a:graphicFrameLocks noGrp="1"/>
          </p:cNvGraphicFramePr>
          <p:nvPr>
            <p:ph idx="1"/>
          </p:nvPr>
        </p:nvGraphicFramePr>
        <p:xfrm>
          <a:off x="12522200" y="7792803"/>
          <a:ext cx="2108200" cy="248119"/>
        </p:xfrm>
        <a:graphic>
          <a:graphicData uri="http://schemas.openxmlformats.org/drawingml/2006/table">
            <a:tbl>
              <a:tblPr/>
              <a:tblGrid>
                <a:gridCol w="2108200">
                  <a:extLst>
                    <a:ext uri="{9D8B030D-6E8A-4147-A177-3AD203B41FA5}">
                      <a16:colId xmlns:a16="http://schemas.microsoft.com/office/drawing/2014/main" val="2266832445"/>
                    </a:ext>
                  </a:extLst>
                </a:gridCol>
              </a:tblGrid>
              <a:tr h="56524">
                <a:tc>
                  <a:txBody>
                    <a:bodyPr/>
                    <a:lstStyle/>
                    <a:p>
                      <a:pPr fontAlgn="t">
                        <a:lnSpc>
                          <a:spcPts val="1500"/>
                        </a:lnSpc>
                        <a:buNone/>
                      </a:pPr>
                      <a:r>
                        <a:rPr lang="en-IN" sz="200" b="0" i="0">
                          <a:effectLst/>
                          <a:latin typeface="Segoe UI" panose="020B0502040204020203" pitchFamily="34" charset="0"/>
                        </a:rPr>
                        <a:t>I like cooking, my friends, and YouTube</a:t>
                      </a:r>
                    </a:p>
                  </a:txBody>
                  <a:tcPr marL="18332" marR="18332" marT="9166" marB="9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001588953"/>
                  </a:ext>
                </a:extLst>
              </a:tr>
              <a:tr h="73329">
                <a:tc>
                  <a:txBody>
                    <a:bodyPr/>
                    <a:lstStyle/>
                    <a:p>
                      <a:endParaRPr lang="en-IN" sz="400" dirty="0"/>
                    </a:p>
                  </a:txBody>
                  <a:tcPr marL="18332" marR="18332" marT="9166" marB="9166">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513924323"/>
                  </a:ext>
                </a:extLst>
              </a:tr>
            </a:tbl>
          </a:graphicData>
        </a:graphic>
      </p:graphicFrame>
      <p:pic>
        <p:nvPicPr>
          <p:cNvPr id="3" name="Picture 2" descr="KL Deemed to be University Logo">
            <a:extLst>
              <a:ext uri="{FF2B5EF4-FFF2-40B4-BE49-F238E27FC236}">
                <a16:creationId xmlns:a16="http://schemas.microsoft.com/office/drawing/2014/main" id="{126FAF7D-15F1-BA9C-D4F3-174D8BE52F5D}"/>
              </a:ext>
            </a:extLst>
          </p:cNvPr>
          <p:cNvPicPr>
            <a:picLocks noChangeAspect="1" noChangeArrowheads="1"/>
          </p:cNvPicPr>
          <p:nvPr/>
        </p:nvPicPr>
        <p:blipFill>
          <a:blip r:embed="rId2"/>
          <a:srcRect/>
          <a:stretch>
            <a:fillRect/>
          </a:stretch>
        </p:blipFill>
        <p:spPr bwMode="auto">
          <a:xfrm>
            <a:off x="198307" y="131219"/>
            <a:ext cx="1283984" cy="728274"/>
          </a:xfrm>
          <a:prstGeom prst="rect">
            <a:avLst/>
          </a:prstGeom>
          <a:noFill/>
        </p:spPr>
      </p:pic>
      <p:sp>
        <p:nvSpPr>
          <p:cNvPr id="2" name="TextBox 1">
            <a:extLst>
              <a:ext uri="{FF2B5EF4-FFF2-40B4-BE49-F238E27FC236}">
                <a16:creationId xmlns:a16="http://schemas.microsoft.com/office/drawing/2014/main" id="{BB860A52-4ECC-2F0A-4CFE-E3562DA1A406}"/>
              </a:ext>
            </a:extLst>
          </p:cNvPr>
          <p:cNvSpPr txBox="1"/>
          <p:nvPr/>
        </p:nvSpPr>
        <p:spPr>
          <a:xfrm>
            <a:off x="733867" y="948690"/>
            <a:ext cx="10672070" cy="5262979"/>
          </a:xfrm>
          <a:prstGeom prst="rect">
            <a:avLst/>
          </a:prstGeom>
          <a:noFill/>
        </p:spPr>
        <p:txBody>
          <a:bodyPr wrap="square" rtlCol="0">
            <a:spAutoFit/>
          </a:bodyPr>
          <a:lstStyle/>
          <a:p>
            <a:pPr lvl="0"/>
            <a:r>
              <a:rPr lang="en-IN" sz="2400" b="1" dirty="0"/>
              <a:t>Commas are used to separates clauses, ideas, or items in a list to help the reader pause and prevent sentences from becoming jumbled. </a:t>
            </a:r>
          </a:p>
          <a:p>
            <a:pPr lvl="0"/>
            <a:endParaRPr lang="en-IN" sz="2400" dirty="0"/>
          </a:p>
          <a:p>
            <a:pPr lvl="0"/>
            <a:r>
              <a:rPr lang="en-IN" sz="2400" b="1" dirty="0"/>
              <a:t>Joining clauses          :</a:t>
            </a:r>
            <a:r>
              <a:rPr lang="en-IN" sz="2400" dirty="0"/>
              <a:t> She wanted to go for a walk</a:t>
            </a:r>
            <a:r>
              <a:rPr lang="en-IN" sz="2400" b="1" dirty="0"/>
              <a:t>,</a:t>
            </a:r>
            <a:r>
              <a:rPr lang="en-IN" sz="2400" dirty="0"/>
              <a:t> but it started raining.</a:t>
            </a:r>
          </a:p>
          <a:p>
            <a:pPr lvl="0"/>
            <a:r>
              <a:rPr lang="en-IN" sz="2400" b="1" dirty="0"/>
              <a:t>Introductory phrase :</a:t>
            </a:r>
            <a:r>
              <a:rPr lang="en-IN" sz="2400" dirty="0"/>
              <a:t> After the long meeting, we decided to take a break.</a:t>
            </a:r>
          </a:p>
          <a:p>
            <a:pPr lvl="0"/>
            <a:r>
              <a:rPr lang="en-IN" sz="2400" b="1" dirty="0"/>
              <a:t>Separate Items           : </a:t>
            </a:r>
            <a:r>
              <a:rPr lang="en-IN" sz="2400" dirty="0"/>
              <a:t>I bought apples, bananas, and oranges.</a:t>
            </a:r>
          </a:p>
          <a:p>
            <a:pPr lvl="0"/>
            <a:r>
              <a:rPr lang="en-IN" sz="2400" b="1" dirty="0"/>
              <a:t>Extra Information      : </a:t>
            </a:r>
            <a:r>
              <a:rPr lang="en-IN" sz="2400" dirty="0"/>
              <a:t>Instagram, which is a famous social networking site, kills time. </a:t>
            </a:r>
          </a:p>
          <a:p>
            <a:pPr lvl="0"/>
            <a:endParaRPr lang="en-IN" sz="2400" dirty="0"/>
          </a:p>
          <a:p>
            <a:r>
              <a:rPr lang="en-IN" sz="2400" b="1" dirty="0"/>
              <a:t>Semicolon helps link two closely related, complete sentences without using a conjunction (like </a:t>
            </a:r>
            <a:r>
              <a:rPr lang="en-IN" sz="2400" b="1" i="1" dirty="0"/>
              <a:t>and</a:t>
            </a:r>
            <a:r>
              <a:rPr lang="en-IN" sz="2400" b="1" dirty="0"/>
              <a:t> or </a:t>
            </a:r>
            <a:r>
              <a:rPr lang="en-IN" sz="2400" b="1" i="1" dirty="0"/>
              <a:t>but</a:t>
            </a:r>
            <a:r>
              <a:rPr lang="en-IN" sz="2400" b="1" dirty="0"/>
              <a:t>).</a:t>
            </a:r>
          </a:p>
          <a:p>
            <a:endParaRPr lang="en-IN" sz="2400" dirty="0"/>
          </a:p>
          <a:p>
            <a:pPr lvl="0"/>
            <a:r>
              <a:rPr lang="en-IN" sz="2400" b="1" dirty="0"/>
              <a:t>Linking thoughts:</a:t>
            </a:r>
            <a:r>
              <a:rPr lang="en-IN" sz="2400" dirty="0"/>
              <a:t> </a:t>
            </a:r>
            <a:r>
              <a:rPr lang="en-IN" sz="2400" i="1" dirty="0"/>
              <a:t>My phone battery is drained; so I couldn't call a ride. </a:t>
            </a:r>
            <a:endParaRPr lang="en-IN" sz="2400" dirty="0"/>
          </a:p>
          <a:p>
            <a:pPr lvl="0"/>
            <a:r>
              <a:rPr lang="en-IN" sz="2400" b="1" dirty="0"/>
              <a:t>Replacing a conjunction:</a:t>
            </a:r>
            <a:r>
              <a:rPr lang="en-IN" sz="2400" dirty="0"/>
              <a:t> </a:t>
            </a:r>
            <a:r>
              <a:rPr lang="en-IN" sz="2400" i="1" dirty="0"/>
              <a:t>The weather was terrible; nevertheless, we went hiking.</a:t>
            </a:r>
            <a:endParaRPr lang="en-IN" sz="2400" dirty="0"/>
          </a:p>
          <a:p>
            <a:pPr lvl="0"/>
            <a:r>
              <a:rPr lang="en-IN" sz="2400" b="1" dirty="0"/>
              <a:t>Complex list:</a:t>
            </a:r>
            <a:r>
              <a:rPr lang="en-IN" sz="2400" dirty="0"/>
              <a:t> </a:t>
            </a:r>
            <a:r>
              <a:rPr lang="en-IN" sz="2400" i="1" dirty="0"/>
              <a:t>We visited Paris, France; Rome, Italy; and Athens, Greece.</a:t>
            </a:r>
            <a:endParaRPr lang="en-IN" sz="2400" dirty="0"/>
          </a:p>
        </p:txBody>
      </p:sp>
    </p:spTree>
    <p:extLst>
      <p:ext uri="{BB962C8B-B14F-4D97-AF65-F5344CB8AC3E}">
        <p14:creationId xmlns:p14="http://schemas.microsoft.com/office/powerpoint/2010/main" val="572394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5E414-C540-FE55-AE18-D884035D959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0961AC9-E1F8-6C9E-84FC-E0E508438859}"/>
              </a:ext>
            </a:extLst>
          </p:cNvPr>
          <p:cNvSpPr>
            <a:spLocks noGrp="1"/>
          </p:cNvSpPr>
          <p:nvPr>
            <p:ph type="title"/>
          </p:nvPr>
        </p:nvSpPr>
        <p:spPr>
          <a:xfrm>
            <a:off x="2425566" y="246722"/>
            <a:ext cx="7902342" cy="612771"/>
          </a:xfrm>
          <a:solidFill>
            <a:srgbClr val="A81E24"/>
          </a:solidFill>
        </p:spPr>
        <p:txBody>
          <a:bodyPr/>
          <a:lstStyle/>
          <a:p>
            <a:pPr algn="ctr"/>
            <a:r>
              <a:rPr lang="en-GB" sz="4000" b="1" dirty="0">
                <a:solidFill>
                  <a:schemeClr val="bg1"/>
                </a:solidFill>
              </a:rPr>
              <a:t>Uses of </a:t>
            </a:r>
            <a:r>
              <a:rPr lang="en-US" sz="4000" b="1" dirty="0">
                <a:solidFill>
                  <a:schemeClr val="bg1"/>
                </a:solidFill>
              </a:rPr>
              <a:t>&amp; Colon ( : ) &amp; Apostrophe ( ’ ) </a:t>
            </a:r>
            <a:br>
              <a:rPr lang="en-GB" sz="4000" dirty="0">
                <a:solidFill>
                  <a:srgbClr val="FF0000"/>
                </a:solidFill>
              </a:rPr>
            </a:br>
            <a:endParaRPr lang="en-GB" sz="4000" dirty="0"/>
          </a:p>
        </p:txBody>
      </p:sp>
      <p:graphicFrame>
        <p:nvGraphicFramePr>
          <p:cNvPr id="5" name="Content Placeholder 4">
            <a:extLst>
              <a:ext uri="{FF2B5EF4-FFF2-40B4-BE49-F238E27FC236}">
                <a16:creationId xmlns:a16="http://schemas.microsoft.com/office/drawing/2014/main" id="{239959C4-D81D-E3C7-F53E-6BFF4EA32D13}"/>
              </a:ext>
            </a:extLst>
          </p:cNvPr>
          <p:cNvGraphicFramePr>
            <a:graphicFrameLocks noGrp="1"/>
          </p:cNvGraphicFramePr>
          <p:nvPr>
            <p:ph idx="1"/>
          </p:nvPr>
        </p:nvGraphicFramePr>
        <p:xfrm>
          <a:off x="12522200" y="7792803"/>
          <a:ext cx="2108200" cy="248119"/>
        </p:xfrm>
        <a:graphic>
          <a:graphicData uri="http://schemas.openxmlformats.org/drawingml/2006/table">
            <a:tbl>
              <a:tblPr/>
              <a:tblGrid>
                <a:gridCol w="2108200">
                  <a:extLst>
                    <a:ext uri="{9D8B030D-6E8A-4147-A177-3AD203B41FA5}">
                      <a16:colId xmlns:a16="http://schemas.microsoft.com/office/drawing/2014/main" val="2266832445"/>
                    </a:ext>
                  </a:extLst>
                </a:gridCol>
              </a:tblGrid>
              <a:tr h="56524">
                <a:tc>
                  <a:txBody>
                    <a:bodyPr/>
                    <a:lstStyle/>
                    <a:p>
                      <a:pPr fontAlgn="t">
                        <a:lnSpc>
                          <a:spcPts val="1500"/>
                        </a:lnSpc>
                        <a:buNone/>
                      </a:pPr>
                      <a:r>
                        <a:rPr lang="en-IN" sz="200" b="0" i="0">
                          <a:effectLst/>
                          <a:latin typeface="Segoe UI" panose="020B0502040204020203" pitchFamily="34" charset="0"/>
                        </a:rPr>
                        <a:t>I like cooking, my friends, and YouTube</a:t>
                      </a:r>
                    </a:p>
                  </a:txBody>
                  <a:tcPr marL="18332" marR="18332" marT="9166" marB="9166">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3001588953"/>
                  </a:ext>
                </a:extLst>
              </a:tr>
              <a:tr h="73329">
                <a:tc>
                  <a:txBody>
                    <a:bodyPr/>
                    <a:lstStyle/>
                    <a:p>
                      <a:endParaRPr lang="en-IN" sz="400" dirty="0"/>
                    </a:p>
                  </a:txBody>
                  <a:tcPr marL="18332" marR="18332" marT="9166" marB="9166">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3513924323"/>
                  </a:ext>
                </a:extLst>
              </a:tr>
            </a:tbl>
          </a:graphicData>
        </a:graphic>
      </p:graphicFrame>
      <p:pic>
        <p:nvPicPr>
          <p:cNvPr id="3" name="Picture 2" descr="KL Deemed to be University Logo">
            <a:extLst>
              <a:ext uri="{FF2B5EF4-FFF2-40B4-BE49-F238E27FC236}">
                <a16:creationId xmlns:a16="http://schemas.microsoft.com/office/drawing/2014/main" id="{CABE038D-DE67-4A32-A3CC-27D5A7D14969}"/>
              </a:ext>
            </a:extLst>
          </p:cNvPr>
          <p:cNvPicPr>
            <a:picLocks noChangeAspect="1" noChangeArrowheads="1"/>
          </p:cNvPicPr>
          <p:nvPr/>
        </p:nvPicPr>
        <p:blipFill>
          <a:blip r:embed="rId2"/>
          <a:srcRect/>
          <a:stretch>
            <a:fillRect/>
          </a:stretch>
        </p:blipFill>
        <p:spPr bwMode="auto">
          <a:xfrm>
            <a:off x="198307" y="131219"/>
            <a:ext cx="1283984" cy="728274"/>
          </a:xfrm>
          <a:prstGeom prst="rect">
            <a:avLst/>
          </a:prstGeom>
          <a:noFill/>
        </p:spPr>
      </p:pic>
      <p:sp>
        <p:nvSpPr>
          <p:cNvPr id="2" name="TextBox 1">
            <a:extLst>
              <a:ext uri="{FF2B5EF4-FFF2-40B4-BE49-F238E27FC236}">
                <a16:creationId xmlns:a16="http://schemas.microsoft.com/office/drawing/2014/main" id="{A3B6A61A-A2C3-25DD-095A-7DA59ABB41E6}"/>
              </a:ext>
            </a:extLst>
          </p:cNvPr>
          <p:cNvSpPr txBox="1"/>
          <p:nvPr/>
        </p:nvSpPr>
        <p:spPr>
          <a:xfrm>
            <a:off x="733866" y="948690"/>
            <a:ext cx="11182209" cy="5663089"/>
          </a:xfrm>
          <a:prstGeom prst="rect">
            <a:avLst/>
          </a:prstGeom>
          <a:noFill/>
        </p:spPr>
        <p:txBody>
          <a:bodyPr wrap="square" rtlCol="0">
            <a:spAutoFit/>
          </a:bodyPr>
          <a:lstStyle/>
          <a:p>
            <a:pPr>
              <a:spcAft>
                <a:spcPts val="600"/>
              </a:spcAft>
            </a:pPr>
            <a:r>
              <a:rPr lang="en-US" sz="2400" b="1" dirty="0"/>
              <a:t>Colon </a:t>
            </a:r>
            <a:r>
              <a:rPr lang="en-IN" sz="2400" b="1" dirty="0"/>
              <a:t>introduces a list, an explanation, an example, or a quote after a complete statement.</a:t>
            </a:r>
          </a:p>
          <a:p>
            <a:pPr lvl="0">
              <a:spcAft>
                <a:spcPts val="600"/>
              </a:spcAft>
            </a:pPr>
            <a:r>
              <a:rPr lang="en-IN" sz="2400" b="1" dirty="0"/>
              <a:t>Introducing a list:</a:t>
            </a:r>
            <a:r>
              <a:rPr lang="en-IN" sz="2400" dirty="0"/>
              <a:t> </a:t>
            </a:r>
            <a:r>
              <a:rPr lang="en-IN" sz="2400" i="1" dirty="0"/>
              <a:t>Please bring three things</a:t>
            </a:r>
            <a:r>
              <a:rPr lang="en-IN" sz="2400" b="1" i="1" dirty="0"/>
              <a:t>:</a:t>
            </a:r>
            <a:r>
              <a:rPr lang="en-IN" sz="2400" i="1" dirty="0"/>
              <a:t> a pen, a notebook, and an open mind.</a:t>
            </a:r>
            <a:endParaRPr lang="en-IN" sz="2400" dirty="0"/>
          </a:p>
          <a:p>
            <a:pPr lvl="0">
              <a:spcAft>
                <a:spcPts val="600"/>
              </a:spcAft>
            </a:pPr>
            <a:r>
              <a:rPr lang="en-IN" sz="2400" b="1" dirty="0"/>
              <a:t>Introducing an explanation:</a:t>
            </a:r>
            <a:r>
              <a:rPr lang="en-IN" sz="2400" dirty="0"/>
              <a:t> </a:t>
            </a:r>
            <a:r>
              <a:rPr lang="en-IN" sz="2400" i="1" dirty="0"/>
              <a:t>There was only one problem: we were completely lost.</a:t>
            </a:r>
            <a:endParaRPr lang="en-IN" sz="2400" dirty="0"/>
          </a:p>
          <a:p>
            <a:pPr lvl="0">
              <a:spcAft>
                <a:spcPts val="600"/>
              </a:spcAft>
            </a:pPr>
            <a:r>
              <a:rPr lang="en-IN" sz="2400" b="1" dirty="0"/>
              <a:t>Direct quote:</a:t>
            </a:r>
            <a:r>
              <a:rPr lang="en-IN" sz="2400" dirty="0"/>
              <a:t> </a:t>
            </a:r>
            <a:r>
              <a:rPr lang="en-IN" sz="2400" i="1" dirty="0"/>
              <a:t>The speaker began with a simple statement: "Success takes practice.“</a:t>
            </a:r>
          </a:p>
          <a:p>
            <a:pPr lvl="0">
              <a:spcAft>
                <a:spcPts val="600"/>
              </a:spcAft>
            </a:pPr>
            <a:r>
              <a:rPr lang="en-IN" sz="2400" b="1" dirty="0"/>
              <a:t>Time:</a:t>
            </a:r>
            <a:r>
              <a:rPr lang="en-IN" sz="2400" dirty="0"/>
              <a:t> Separate hours and minutes. 7:10 am  12:30 pm  </a:t>
            </a:r>
          </a:p>
          <a:p>
            <a:pPr>
              <a:spcAft>
                <a:spcPts val="600"/>
              </a:spcAft>
            </a:pPr>
            <a:endParaRPr lang="en-IN" sz="2400" dirty="0"/>
          </a:p>
          <a:p>
            <a:pPr>
              <a:spcAft>
                <a:spcPts val="600"/>
              </a:spcAft>
            </a:pPr>
            <a:r>
              <a:rPr lang="en-IN" sz="2400" b="1" dirty="0"/>
              <a:t>An apostrophe is a punctuation mark used for showing possession, forming contractions, and indicating plurals of letters or numbers. </a:t>
            </a:r>
          </a:p>
          <a:p>
            <a:pPr lvl="0">
              <a:spcAft>
                <a:spcPts val="600"/>
              </a:spcAft>
            </a:pPr>
            <a:r>
              <a:rPr lang="en-IN" sz="2400" b="1" dirty="0"/>
              <a:t>Singular Possession:</a:t>
            </a:r>
            <a:r>
              <a:rPr lang="en-IN" sz="2400" dirty="0"/>
              <a:t> Add 's (</a:t>
            </a:r>
            <a:r>
              <a:rPr lang="en-IN" sz="2400" i="1" dirty="0"/>
              <a:t>Sarah's book</a:t>
            </a:r>
            <a:r>
              <a:rPr lang="en-IN" sz="2400" dirty="0"/>
              <a:t>).</a:t>
            </a:r>
          </a:p>
          <a:p>
            <a:pPr lvl="0">
              <a:spcAft>
                <a:spcPts val="600"/>
              </a:spcAft>
            </a:pPr>
            <a:r>
              <a:rPr lang="en-IN" sz="2400" b="1" dirty="0"/>
              <a:t>Plural Possession:</a:t>
            </a:r>
            <a:r>
              <a:rPr lang="en-IN" sz="2400" dirty="0"/>
              <a:t> Add ' if it ends in </a:t>
            </a:r>
            <a:r>
              <a:rPr lang="en-IN" sz="2400" b="1" dirty="0"/>
              <a:t>s</a:t>
            </a:r>
            <a:r>
              <a:rPr lang="en-IN" sz="2400" dirty="0"/>
              <a:t> (</a:t>
            </a:r>
            <a:r>
              <a:rPr lang="en-IN" sz="2400" i="1" dirty="0"/>
              <a:t>dogs' toys</a:t>
            </a:r>
            <a:r>
              <a:rPr lang="en-IN" sz="2400" dirty="0"/>
              <a:t>); add 's if it doesn't (</a:t>
            </a:r>
            <a:r>
              <a:rPr lang="en-IN" sz="2400" i="1" dirty="0"/>
              <a:t>children's room</a:t>
            </a:r>
            <a:r>
              <a:rPr lang="en-IN" sz="2400" dirty="0"/>
              <a:t>).</a:t>
            </a:r>
          </a:p>
          <a:p>
            <a:pPr lvl="0">
              <a:spcAft>
                <a:spcPts val="600"/>
              </a:spcAft>
            </a:pPr>
            <a:r>
              <a:rPr lang="en-IN" sz="2400" b="1" dirty="0"/>
              <a:t>Contractions:</a:t>
            </a:r>
            <a:r>
              <a:rPr lang="en-IN" sz="2400" dirty="0"/>
              <a:t> Put an apostrophe where missing letters were dropped (</a:t>
            </a:r>
            <a:r>
              <a:rPr lang="en-IN" sz="2400" i="1" dirty="0"/>
              <a:t>don't</a:t>
            </a:r>
            <a:r>
              <a:rPr lang="en-IN" sz="2400" dirty="0"/>
              <a:t>, </a:t>
            </a:r>
            <a:r>
              <a:rPr lang="en-IN" sz="2400" i="1" dirty="0"/>
              <a:t>it's</a:t>
            </a:r>
            <a:r>
              <a:rPr lang="en-IN" sz="2400" dirty="0"/>
              <a:t>).</a:t>
            </a:r>
          </a:p>
          <a:p>
            <a:pPr lvl="0">
              <a:spcAft>
                <a:spcPts val="600"/>
              </a:spcAft>
            </a:pPr>
            <a:r>
              <a:rPr lang="en-IN" sz="2400" b="1" dirty="0"/>
              <a:t>Missing Digits:</a:t>
            </a:r>
            <a:r>
              <a:rPr lang="en-IN" sz="2400" dirty="0"/>
              <a:t> Put an apostrophe before shortened years (</a:t>
            </a:r>
            <a:r>
              <a:rPr lang="en-IN" sz="2400" i="1" dirty="0"/>
              <a:t>'90s</a:t>
            </a:r>
            <a:r>
              <a:rPr lang="en-IN" sz="2400" dirty="0"/>
              <a:t>).</a:t>
            </a:r>
          </a:p>
        </p:txBody>
      </p:sp>
    </p:spTree>
    <p:extLst>
      <p:ext uri="{BB962C8B-B14F-4D97-AF65-F5344CB8AC3E}">
        <p14:creationId xmlns:p14="http://schemas.microsoft.com/office/powerpoint/2010/main" val="662860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FC75C36-C1ED-4DD1-8989-A21BE71867EF}"/>
              </a:ext>
            </a:extLst>
          </p:cNvPr>
          <p:cNvPicPr>
            <a:picLocks noGrp="1" noChangeAspect="1"/>
          </p:cNvPicPr>
          <p:nvPr>
            <p:ph/>
          </p:nvPr>
        </p:nvPicPr>
        <p:blipFill>
          <a:blip r:embed="rId2"/>
          <a:stretch>
            <a:fillRect/>
          </a:stretch>
        </p:blipFill>
        <p:spPr>
          <a:xfrm>
            <a:off x="-351367" y="-1977824"/>
            <a:ext cx="13371114" cy="8835824"/>
          </a:xfrm>
          <a:prstGeom prst="rect">
            <a:avLst/>
          </a:prstGeom>
        </p:spPr>
      </p:pic>
    </p:spTree>
    <p:extLst>
      <p:ext uri="{BB962C8B-B14F-4D97-AF65-F5344CB8AC3E}">
        <p14:creationId xmlns:p14="http://schemas.microsoft.com/office/powerpoint/2010/main" val="1748429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0749C-A57A-4453-3E0D-DE518C846CEF}"/>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03DB5DB3-3BF7-2D15-0143-783EDDCCF666}"/>
              </a:ext>
            </a:extLst>
          </p:cNvPr>
          <p:cNvSpPr txBox="1">
            <a:spLocks noGrp="1"/>
          </p:cNvSpPr>
          <p:nvPr>
            <p:ph/>
          </p:nvPr>
        </p:nvSpPr>
        <p:spPr>
          <a:xfrm>
            <a:off x="2484121" y="211066"/>
            <a:ext cx="8565682" cy="648427"/>
          </a:xfrm>
          <a:prstGeom prst="rect">
            <a:avLst/>
          </a:prstGeom>
          <a:solidFill>
            <a:srgbClr val="A81E24"/>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3600" b="1" dirty="0">
                <a:solidFill>
                  <a:schemeClr val="bg1"/>
                </a:solidFill>
              </a:rPr>
              <a:t>Rewrite the following sentences with clarity </a:t>
            </a:r>
          </a:p>
          <a:p>
            <a:pPr marL="0" indent="0" algn="ctr">
              <a:buNone/>
            </a:pPr>
            <a:br>
              <a:rPr lang="en-GB" sz="4000" dirty="0">
                <a:solidFill>
                  <a:srgbClr val="FF0000"/>
                </a:solidFill>
              </a:rPr>
            </a:br>
            <a:endParaRPr lang="en-GB" sz="4000" dirty="0"/>
          </a:p>
        </p:txBody>
      </p:sp>
      <p:sp>
        <p:nvSpPr>
          <p:cNvPr id="5" name="TextBox 4">
            <a:extLst>
              <a:ext uri="{FF2B5EF4-FFF2-40B4-BE49-F238E27FC236}">
                <a16:creationId xmlns:a16="http://schemas.microsoft.com/office/drawing/2014/main" id="{550BFB10-35CA-E417-E2E9-A308D844869C}"/>
              </a:ext>
            </a:extLst>
          </p:cNvPr>
          <p:cNvSpPr txBox="1"/>
          <p:nvPr/>
        </p:nvSpPr>
        <p:spPr>
          <a:xfrm>
            <a:off x="672967" y="1010245"/>
            <a:ext cx="11021728" cy="4801314"/>
          </a:xfrm>
          <a:prstGeom prst="rect">
            <a:avLst/>
          </a:prstGeom>
          <a:noFill/>
        </p:spPr>
        <p:txBody>
          <a:bodyPr wrap="square" rtlCol="0">
            <a:spAutoFit/>
          </a:bodyPr>
          <a:lstStyle/>
          <a:p>
            <a:pPr marL="285750" lvl="0" indent="-285750">
              <a:buFont typeface="Arial" panose="020B0604020202020204" pitchFamily="34" charset="0"/>
              <a:buChar char="•"/>
            </a:pPr>
            <a:r>
              <a:rPr lang="en-IN" sz="2400" dirty="0"/>
              <a:t>the assignment was submitted by the student before the bell rang for the campus placement drive at kl university</a:t>
            </a:r>
          </a:p>
          <a:p>
            <a:pPr marL="285750" lvl="0" indent="-285750">
              <a:buFont typeface="Arial" panose="020B0604020202020204" pitchFamily="34" charset="0"/>
              <a:buChar char="•"/>
            </a:pPr>
            <a:r>
              <a:rPr lang="en-IN" sz="2400" dirty="0"/>
              <a:t>because the Kl campus is very big students get lost looking for the seminar hall which is confusing</a:t>
            </a:r>
          </a:p>
          <a:p>
            <a:pPr marL="285750" lvl="0" indent="-285750">
              <a:buFont typeface="Arial" panose="020B0604020202020204" pitchFamily="34" charset="0"/>
              <a:buChar char="•"/>
            </a:pPr>
            <a:r>
              <a:rPr lang="en-IN" sz="2400" dirty="0"/>
              <a:t>passing the semester exams requires hard work by everyone and proper notes must be maintained by you</a:t>
            </a:r>
          </a:p>
          <a:p>
            <a:pPr marL="285750" lvl="0" indent="-285750">
              <a:buFont typeface="Arial" panose="020B0604020202020204" pitchFamily="34" charset="0"/>
              <a:buChar char="•"/>
            </a:pPr>
            <a:r>
              <a:rPr lang="en-IN" sz="2400" dirty="0"/>
              <a:t>after eating at the canteen the laptop was left on the bench by the computer science student</a:t>
            </a:r>
          </a:p>
          <a:p>
            <a:pPr marL="285750" lvl="0" indent="-285750">
              <a:buFont typeface="Arial" panose="020B0604020202020204" pitchFamily="34" charset="0"/>
              <a:buChar char="•"/>
            </a:pPr>
            <a:r>
              <a:rPr lang="en-IN" sz="2400" dirty="0"/>
              <a:t>the bus to </a:t>
            </a:r>
            <a:r>
              <a:rPr lang="en-IN" sz="2400" dirty="0" err="1"/>
              <a:t>kanuru</a:t>
            </a:r>
            <a:r>
              <a:rPr lang="en-IN" sz="2400" dirty="0"/>
              <a:t> was completely packed so he missed the mid exam because it was late</a:t>
            </a:r>
          </a:p>
          <a:p>
            <a:pPr marL="285750" lvl="0" indent="-285750">
              <a:buFont typeface="Arial" panose="020B0604020202020204" pitchFamily="34" charset="0"/>
              <a:buChar char="•"/>
            </a:pPr>
            <a:r>
              <a:rPr lang="en-IN" sz="2400" dirty="0"/>
              <a:t>inside the engineering lab the main switchboard was repaired by the technician who was wearing safety gloves</a:t>
            </a:r>
          </a:p>
          <a:p>
            <a:endParaRPr lang="en-IN" dirty="0"/>
          </a:p>
        </p:txBody>
      </p:sp>
      <p:pic>
        <p:nvPicPr>
          <p:cNvPr id="7" name="Picture 6" descr="KL Deemed to be University Logo">
            <a:extLst>
              <a:ext uri="{FF2B5EF4-FFF2-40B4-BE49-F238E27FC236}">
                <a16:creationId xmlns:a16="http://schemas.microsoft.com/office/drawing/2014/main" id="{941B76CE-F022-CEA4-4886-684570EEA3A8}"/>
              </a:ext>
            </a:extLst>
          </p:cNvPr>
          <p:cNvPicPr>
            <a:picLocks noChangeAspect="1" noChangeArrowheads="1"/>
          </p:cNvPicPr>
          <p:nvPr/>
        </p:nvPicPr>
        <p:blipFill>
          <a:blip r:embed="rId2"/>
          <a:srcRect/>
          <a:stretch>
            <a:fillRect/>
          </a:stretch>
        </p:blipFill>
        <p:spPr bwMode="auto">
          <a:xfrm>
            <a:off x="154004" y="131219"/>
            <a:ext cx="1309036" cy="728274"/>
          </a:xfrm>
          <a:prstGeom prst="rect">
            <a:avLst/>
          </a:prstGeom>
          <a:noFill/>
        </p:spPr>
      </p:pic>
    </p:spTree>
    <p:extLst>
      <p:ext uri="{BB962C8B-B14F-4D97-AF65-F5344CB8AC3E}">
        <p14:creationId xmlns:p14="http://schemas.microsoft.com/office/powerpoint/2010/main" val="1972330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667203-0F37-64D9-1BFB-8899CFD02749}"/>
              </a:ext>
            </a:extLst>
          </p:cNvPr>
          <p:cNvSpPr>
            <a:spLocks noGrp="1"/>
          </p:cNvSpPr>
          <p:nvPr>
            <p:ph/>
          </p:nvPr>
        </p:nvSpPr>
        <p:spPr>
          <a:xfrm>
            <a:off x="1039528" y="1270535"/>
            <a:ext cx="10314272" cy="4906428"/>
          </a:xfrm>
        </p:spPr>
        <p:txBody>
          <a:bodyPr/>
          <a:lstStyle/>
          <a:p>
            <a:pPr lvl="0"/>
            <a:r>
              <a:rPr lang="en-IN" dirty="0"/>
              <a:t>The student submitted the assignment before the KL University campus placement drive bell rang.</a:t>
            </a:r>
          </a:p>
          <a:p>
            <a:pPr lvl="0"/>
            <a:r>
              <a:rPr lang="en-IN" dirty="0"/>
              <a:t>Because the KL University campus is vast, students easily get confused and lose their way to the seminar hall.</a:t>
            </a:r>
          </a:p>
          <a:p>
            <a:pPr lvl="0"/>
            <a:r>
              <a:rPr lang="en-IN" dirty="0"/>
              <a:t>To pass the semester exams, you must work hard and maintain proper notes.</a:t>
            </a:r>
          </a:p>
          <a:p>
            <a:pPr lvl="0"/>
            <a:r>
              <a:rPr lang="en-IN" dirty="0"/>
              <a:t>After eating at the canteen, the computer science student left the laptop on the bench.</a:t>
            </a:r>
          </a:p>
          <a:p>
            <a:pPr lvl="0"/>
            <a:r>
              <a:rPr lang="en-IN" dirty="0"/>
              <a:t>Because the </a:t>
            </a:r>
            <a:r>
              <a:rPr lang="en-IN" dirty="0" err="1"/>
              <a:t>Kanuru</a:t>
            </a:r>
            <a:r>
              <a:rPr lang="en-IN" dirty="0"/>
              <a:t> bus was late and packed, the student missed the midterm exam.</a:t>
            </a:r>
          </a:p>
          <a:p>
            <a:pPr lvl="0"/>
            <a:r>
              <a:rPr lang="en-IN" dirty="0"/>
              <a:t>Wearing safety gloves, the technician repaired the main switchboard inside the engineering lab.</a:t>
            </a:r>
          </a:p>
          <a:p>
            <a:endParaRPr lang="en-IN" dirty="0"/>
          </a:p>
        </p:txBody>
      </p:sp>
      <p:sp>
        <p:nvSpPr>
          <p:cNvPr id="3" name="Title 6">
            <a:extLst>
              <a:ext uri="{FF2B5EF4-FFF2-40B4-BE49-F238E27FC236}">
                <a16:creationId xmlns:a16="http://schemas.microsoft.com/office/drawing/2014/main" id="{D5113D83-5DBE-63A3-9210-82FEE691247E}"/>
              </a:ext>
            </a:extLst>
          </p:cNvPr>
          <p:cNvSpPr txBox="1">
            <a:spLocks/>
          </p:cNvSpPr>
          <p:nvPr/>
        </p:nvSpPr>
        <p:spPr>
          <a:xfrm>
            <a:off x="3680460" y="211066"/>
            <a:ext cx="5290285" cy="648427"/>
          </a:xfrm>
          <a:prstGeom prst="rect">
            <a:avLst/>
          </a:prstGeom>
          <a:solidFill>
            <a:srgbClr val="A81E24"/>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4000" b="1" dirty="0">
                <a:solidFill>
                  <a:schemeClr val="bg1"/>
                </a:solidFill>
              </a:rPr>
              <a:t>Check these sentences</a:t>
            </a:r>
            <a:br>
              <a:rPr lang="en-GB" sz="4000" dirty="0">
                <a:solidFill>
                  <a:srgbClr val="FF0000"/>
                </a:solidFill>
              </a:rPr>
            </a:br>
            <a:endParaRPr lang="en-GB" sz="4000" dirty="0"/>
          </a:p>
        </p:txBody>
      </p:sp>
      <p:pic>
        <p:nvPicPr>
          <p:cNvPr id="5" name="Picture 4" descr="KL Deemed to be University Logo">
            <a:extLst>
              <a:ext uri="{FF2B5EF4-FFF2-40B4-BE49-F238E27FC236}">
                <a16:creationId xmlns:a16="http://schemas.microsoft.com/office/drawing/2014/main" id="{DB9E5BE5-E9BD-5211-D4C1-BE4441CF0952}"/>
              </a:ext>
            </a:extLst>
          </p:cNvPr>
          <p:cNvPicPr>
            <a:picLocks noChangeAspect="1" noChangeArrowheads="1"/>
          </p:cNvPicPr>
          <p:nvPr/>
        </p:nvPicPr>
        <p:blipFill>
          <a:blip r:embed="rId2"/>
          <a:srcRect/>
          <a:stretch>
            <a:fillRect/>
          </a:stretch>
        </p:blipFill>
        <p:spPr bwMode="auto">
          <a:xfrm>
            <a:off x="154004" y="131219"/>
            <a:ext cx="1309036" cy="728274"/>
          </a:xfrm>
          <a:prstGeom prst="rect">
            <a:avLst/>
          </a:prstGeom>
          <a:noFill/>
        </p:spPr>
      </p:pic>
    </p:spTree>
    <p:extLst>
      <p:ext uri="{BB962C8B-B14F-4D97-AF65-F5344CB8AC3E}">
        <p14:creationId xmlns:p14="http://schemas.microsoft.com/office/powerpoint/2010/main" val="3504259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4068C2-FA8F-B0F7-E607-4B6197A36442}"/>
              </a:ext>
            </a:extLst>
          </p:cNvPr>
          <p:cNvSpPr>
            <a:spLocks noGrp="1"/>
          </p:cNvSpPr>
          <p:nvPr>
            <p:ph/>
          </p:nvPr>
        </p:nvSpPr>
        <p:spPr>
          <a:xfrm>
            <a:off x="749166" y="1321066"/>
            <a:ext cx="10693668" cy="4215867"/>
          </a:xfrm>
        </p:spPr>
        <p:txBody>
          <a:bodyPr/>
          <a:lstStyle/>
          <a:p>
            <a:pPr marL="0" indent="0">
              <a:lnSpc>
                <a:spcPct val="150000"/>
              </a:lnSpc>
              <a:buNone/>
            </a:pPr>
            <a:r>
              <a:rPr lang="en-GB" b="1" dirty="0"/>
              <a:t>Write a paragraph of five sentences without punctuation marks  and give prompt to correct it by using AI tools.</a:t>
            </a:r>
          </a:p>
          <a:p>
            <a:pPr marL="0" indent="0">
              <a:lnSpc>
                <a:spcPct val="150000"/>
              </a:lnSpc>
              <a:buNone/>
            </a:pPr>
            <a:r>
              <a:rPr lang="en-GB" b="1" dirty="0"/>
              <a:t>Use Editing Tools:</a:t>
            </a:r>
            <a:r>
              <a:rPr lang="en-GB" dirty="0"/>
              <a:t> AI-powered options like: </a:t>
            </a:r>
            <a:r>
              <a:rPr lang="en-GB" dirty="0">
                <a:hlinkClick r:id="rId2">
                  <a:extLst>
                    <a:ext uri="{A12FA001-AC4F-418D-AE19-62706E023703}">
                      <ahyp:hlinkClr xmlns:ahyp="http://schemas.microsoft.com/office/drawing/2018/hyperlinkcolor" val="tx"/>
                    </a:ext>
                  </a:extLst>
                </a:hlinkClick>
              </a:rPr>
              <a:t>Quill Bot Punctuation Checker</a:t>
            </a:r>
            <a:r>
              <a:rPr lang="en-GB" dirty="0"/>
              <a:t> or the </a:t>
            </a:r>
            <a:r>
              <a:rPr lang="en-GB" dirty="0">
                <a:hlinkClick r:id="rId3">
                  <a:extLst>
                    <a:ext uri="{A12FA001-AC4F-418D-AE19-62706E023703}">
                      <ahyp:hlinkClr xmlns:ahyp="http://schemas.microsoft.com/office/drawing/2018/hyperlinkcolor" val="tx"/>
                    </a:ext>
                  </a:extLst>
                </a:hlinkClick>
              </a:rPr>
              <a:t>Grammarly Sentence Rewriter</a:t>
            </a:r>
            <a:r>
              <a:rPr lang="en-GB" dirty="0"/>
              <a:t> to instantly restructure text and eliminate errors. </a:t>
            </a:r>
          </a:p>
          <a:p>
            <a:endParaRPr lang="en-GB" dirty="0"/>
          </a:p>
        </p:txBody>
      </p:sp>
      <p:sp>
        <p:nvSpPr>
          <p:cNvPr id="4" name="Title 6">
            <a:extLst>
              <a:ext uri="{FF2B5EF4-FFF2-40B4-BE49-F238E27FC236}">
                <a16:creationId xmlns:a16="http://schemas.microsoft.com/office/drawing/2014/main" id="{08F4DF32-3D58-F9D2-C64A-58F5A45BCF83}"/>
              </a:ext>
            </a:extLst>
          </p:cNvPr>
          <p:cNvSpPr txBox="1">
            <a:spLocks/>
          </p:cNvSpPr>
          <p:nvPr/>
        </p:nvSpPr>
        <p:spPr>
          <a:xfrm>
            <a:off x="4479357" y="441852"/>
            <a:ext cx="2633713" cy="648427"/>
          </a:xfrm>
          <a:prstGeom prst="rect">
            <a:avLst/>
          </a:prstGeom>
          <a:solidFill>
            <a:srgbClr val="A81E24"/>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4000" b="1" dirty="0">
                <a:solidFill>
                  <a:schemeClr val="bg1"/>
                </a:solidFill>
              </a:rPr>
              <a:t>Activity</a:t>
            </a:r>
            <a:br>
              <a:rPr lang="en-GB" sz="4000" dirty="0">
                <a:solidFill>
                  <a:srgbClr val="FF0000"/>
                </a:solidFill>
              </a:rPr>
            </a:br>
            <a:endParaRPr lang="en-GB" sz="4000" dirty="0"/>
          </a:p>
        </p:txBody>
      </p:sp>
      <p:pic>
        <p:nvPicPr>
          <p:cNvPr id="6" name="Picture 5" descr="KL Deemed to be University Logo">
            <a:extLst>
              <a:ext uri="{FF2B5EF4-FFF2-40B4-BE49-F238E27FC236}">
                <a16:creationId xmlns:a16="http://schemas.microsoft.com/office/drawing/2014/main" id="{DFF0814B-B46E-E9E5-3DC0-22910C007ADF}"/>
              </a:ext>
            </a:extLst>
          </p:cNvPr>
          <p:cNvPicPr>
            <a:picLocks noChangeAspect="1" noChangeArrowheads="1"/>
          </p:cNvPicPr>
          <p:nvPr/>
        </p:nvPicPr>
        <p:blipFill>
          <a:blip r:embed="rId4"/>
          <a:srcRect/>
          <a:stretch>
            <a:fillRect/>
          </a:stretch>
        </p:blipFill>
        <p:spPr bwMode="auto">
          <a:xfrm>
            <a:off x="154004" y="131219"/>
            <a:ext cx="1309036" cy="728274"/>
          </a:xfrm>
          <a:prstGeom prst="rect">
            <a:avLst/>
          </a:prstGeom>
          <a:noFill/>
        </p:spPr>
      </p:pic>
    </p:spTree>
    <p:extLst>
      <p:ext uri="{BB962C8B-B14F-4D97-AF65-F5344CB8AC3E}">
        <p14:creationId xmlns:p14="http://schemas.microsoft.com/office/powerpoint/2010/main" val="201016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5E8D68-8094-B1BE-82AC-3DF0D88F746E}"/>
              </a:ext>
            </a:extLst>
          </p:cNvPr>
          <p:cNvSpPr>
            <a:spLocks noGrp="1"/>
          </p:cNvSpPr>
          <p:nvPr>
            <p:ph idx="1"/>
          </p:nvPr>
        </p:nvSpPr>
        <p:spPr>
          <a:xfrm>
            <a:off x="2453834" y="1742173"/>
            <a:ext cx="7527564" cy="1318661"/>
          </a:xfrm>
        </p:spPr>
        <p:txBody>
          <a:bodyPr/>
          <a:lstStyle/>
          <a:p>
            <a:pPr marL="0" indent="0" algn="just">
              <a:lnSpc>
                <a:spcPct val="107000"/>
              </a:lnSpc>
              <a:spcAft>
                <a:spcPts val="800"/>
              </a:spcAft>
              <a:buNone/>
            </a:pPr>
            <a:endParaRPr lang="en-GB" dirty="0"/>
          </a:p>
          <a:p>
            <a:pPr marL="0" indent="0" algn="just">
              <a:lnSpc>
                <a:spcPct val="107000"/>
              </a:lnSpc>
              <a:spcAft>
                <a:spcPts val="800"/>
              </a:spcAft>
              <a:buNone/>
            </a:pPr>
            <a:r>
              <a:rPr lang="en-GB" dirty="0"/>
              <a:t> </a:t>
            </a:r>
            <a:r>
              <a:rPr lang="en-GB" dirty="0">
                <a:hlinkClick r:id="rId2"/>
              </a:rPr>
              <a:t>https://www.youtube.com/watch?v=gfYq2ng9s4E</a:t>
            </a:r>
            <a:endParaRPr lang="en-GB" dirty="0"/>
          </a:p>
          <a:p>
            <a:pPr marL="0" indent="0" algn="just">
              <a:lnSpc>
                <a:spcPct val="107000"/>
              </a:lnSpc>
              <a:spcAft>
                <a:spcPts val="800"/>
              </a:spcAft>
              <a:buNone/>
            </a:pPr>
            <a:endParaRPr lang="en-GB" dirty="0"/>
          </a:p>
          <a:p>
            <a:pPr algn="just">
              <a:lnSpc>
                <a:spcPct val="107000"/>
              </a:lnSpc>
              <a:spcAft>
                <a:spcPts val="800"/>
              </a:spcAft>
            </a:pPr>
            <a:endParaRPr lang="en-IN" sz="2600" kern="100" dirty="0">
              <a:effectLst/>
              <a:ea typeface="Calibri" panose="020F0502020204030204" pitchFamily="34" charset="0"/>
              <a:cs typeface="Arial" panose="020B0604020202020204" pitchFamily="34" charset="0"/>
              <a:hlinkClick r:id="rId3"/>
            </a:endParaRPr>
          </a:p>
        </p:txBody>
      </p:sp>
      <p:sp>
        <p:nvSpPr>
          <p:cNvPr id="4" name="Rounded Rectangle 17">
            <a:extLst>
              <a:ext uri="{FF2B5EF4-FFF2-40B4-BE49-F238E27FC236}">
                <a16:creationId xmlns:a16="http://schemas.microsoft.com/office/drawing/2014/main" id="{6E48150F-81D2-4255-EF87-E903BCD38282}"/>
              </a:ext>
            </a:extLst>
          </p:cNvPr>
          <p:cNvSpPr>
            <a:spLocks noGrp="1"/>
          </p:cNvSpPr>
          <p:nvPr>
            <p:ph type="title"/>
          </p:nvPr>
        </p:nvSpPr>
        <p:spPr>
          <a:xfrm>
            <a:off x="4061861" y="380391"/>
            <a:ext cx="3503596" cy="66876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b="1" dirty="0">
                <a:effectLst/>
                <a:ea typeface="Calibri" panose="020F0502020204030204" pitchFamily="34" charset="0"/>
              </a:rPr>
              <a:t>Let’s Watch</a:t>
            </a:r>
            <a:endParaRPr lang="en-IN" sz="8000" b="1" dirty="0"/>
          </a:p>
        </p:txBody>
      </p:sp>
      <p:pic>
        <p:nvPicPr>
          <p:cNvPr id="5" name="Picture 4" descr="KL Deemed to be University Logo">
            <a:extLst>
              <a:ext uri="{FF2B5EF4-FFF2-40B4-BE49-F238E27FC236}">
                <a16:creationId xmlns:a16="http://schemas.microsoft.com/office/drawing/2014/main" id="{B557C0A2-96C7-D1B1-ECFE-A53269870B13}"/>
              </a:ext>
            </a:extLst>
          </p:cNvPr>
          <p:cNvPicPr>
            <a:picLocks noChangeAspect="1" noChangeArrowheads="1"/>
          </p:cNvPicPr>
          <p:nvPr/>
        </p:nvPicPr>
        <p:blipFill>
          <a:blip r:embed="rId4"/>
          <a:srcRect/>
          <a:stretch>
            <a:fillRect/>
          </a:stretch>
        </p:blipFill>
        <p:spPr bwMode="auto">
          <a:xfrm>
            <a:off x="154004" y="131219"/>
            <a:ext cx="1309036" cy="728274"/>
          </a:xfrm>
          <a:prstGeom prst="rect">
            <a:avLst/>
          </a:prstGeom>
          <a:noFill/>
        </p:spPr>
      </p:pic>
    </p:spTree>
    <p:extLst>
      <p:ext uri="{BB962C8B-B14F-4D97-AF65-F5344CB8AC3E}">
        <p14:creationId xmlns:p14="http://schemas.microsoft.com/office/powerpoint/2010/main" val="932882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B2C20-4CBF-481D-F82B-FE2FACF45593}"/>
              </a:ext>
            </a:extLst>
          </p:cNvPr>
          <p:cNvSpPr>
            <a:spLocks noGrp="1"/>
          </p:cNvSpPr>
          <p:nvPr>
            <p:ph type="title"/>
          </p:nvPr>
        </p:nvSpPr>
        <p:spPr/>
        <p:txBody>
          <a:bodyPr/>
          <a:lstStyle/>
          <a:p>
            <a:pPr algn="ctr"/>
            <a:br>
              <a:rPr lang="en-GB" sz="4000" b="1" dirty="0">
                <a:solidFill>
                  <a:srgbClr val="FF0000"/>
                </a:solidFill>
              </a:rPr>
            </a:br>
            <a:endParaRPr lang="en-GB" sz="4000" b="1" dirty="0"/>
          </a:p>
        </p:txBody>
      </p:sp>
      <p:sp>
        <p:nvSpPr>
          <p:cNvPr id="3" name="Content Placeholder 2">
            <a:extLst>
              <a:ext uri="{FF2B5EF4-FFF2-40B4-BE49-F238E27FC236}">
                <a16:creationId xmlns:a16="http://schemas.microsoft.com/office/drawing/2014/main" id="{5E1CE2D9-AD76-B773-A44D-E3B8B3E3C3AC}"/>
              </a:ext>
            </a:extLst>
          </p:cNvPr>
          <p:cNvSpPr>
            <a:spLocks noGrp="1"/>
          </p:cNvSpPr>
          <p:nvPr>
            <p:ph idx="1"/>
          </p:nvPr>
        </p:nvSpPr>
        <p:spPr>
          <a:xfrm>
            <a:off x="838200" y="1825625"/>
            <a:ext cx="10515600" cy="1138956"/>
          </a:xfrm>
        </p:spPr>
        <p:txBody>
          <a:bodyPr/>
          <a:lstStyle/>
          <a:p>
            <a:r>
              <a:rPr lang="en-GB" sz="4000" dirty="0"/>
              <a:t>Create a graphical representation by using AI tools on Punctuation Marks.</a:t>
            </a:r>
          </a:p>
          <a:p>
            <a:endParaRPr lang="en-GB" dirty="0"/>
          </a:p>
        </p:txBody>
      </p:sp>
      <p:sp>
        <p:nvSpPr>
          <p:cNvPr id="4" name="Rounded Rectangle 17">
            <a:extLst>
              <a:ext uri="{FF2B5EF4-FFF2-40B4-BE49-F238E27FC236}">
                <a16:creationId xmlns:a16="http://schemas.microsoft.com/office/drawing/2014/main" id="{8B6BD0BC-CDF9-BF1C-BE47-8B9F2589FAA2}"/>
              </a:ext>
            </a:extLst>
          </p:cNvPr>
          <p:cNvSpPr txBox="1">
            <a:spLocks/>
          </p:cNvSpPr>
          <p:nvPr/>
        </p:nvSpPr>
        <p:spPr>
          <a:xfrm>
            <a:off x="4061861" y="380391"/>
            <a:ext cx="2627697" cy="668763"/>
          </a:xfrm>
          <a:prstGeom prst="roundRect">
            <a:avLst/>
          </a:prstGeom>
          <a:solidFill>
            <a:srgbClr val="BA2532"/>
          </a:solidFill>
          <a:ln w="19050" cap="flat" cmpd="sng" algn="ctr">
            <a:noFill/>
            <a:prstDash val="solid"/>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IN" sz="4000" b="1" dirty="0">
                <a:ea typeface="Calibri" panose="020F0502020204030204" pitchFamily="34" charset="0"/>
              </a:rPr>
              <a:t>Activity</a:t>
            </a:r>
            <a:endParaRPr lang="en-IN" sz="8000" b="1" dirty="0"/>
          </a:p>
        </p:txBody>
      </p:sp>
      <p:pic>
        <p:nvPicPr>
          <p:cNvPr id="6" name="Picture 5" descr="KL Deemed to be University Logo">
            <a:extLst>
              <a:ext uri="{FF2B5EF4-FFF2-40B4-BE49-F238E27FC236}">
                <a16:creationId xmlns:a16="http://schemas.microsoft.com/office/drawing/2014/main" id="{28F8A120-EF18-D0A0-DC1B-AD120CCD8B3A}"/>
              </a:ext>
            </a:extLst>
          </p:cNvPr>
          <p:cNvPicPr>
            <a:picLocks noChangeAspect="1" noChangeArrowheads="1"/>
          </p:cNvPicPr>
          <p:nvPr/>
        </p:nvPicPr>
        <p:blipFill>
          <a:blip r:embed="rId2"/>
          <a:srcRect/>
          <a:stretch>
            <a:fillRect/>
          </a:stretch>
        </p:blipFill>
        <p:spPr bwMode="auto">
          <a:xfrm>
            <a:off x="154004" y="131219"/>
            <a:ext cx="1309036" cy="728274"/>
          </a:xfrm>
          <a:prstGeom prst="rect">
            <a:avLst/>
          </a:prstGeom>
          <a:noFill/>
        </p:spPr>
      </p:pic>
    </p:spTree>
    <p:extLst>
      <p:ext uri="{BB962C8B-B14F-4D97-AF65-F5344CB8AC3E}">
        <p14:creationId xmlns:p14="http://schemas.microsoft.com/office/powerpoint/2010/main" val="1670859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1990725" y="94372"/>
            <a:ext cx="8160142" cy="77893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t>Summary</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id="{7C23143F-B5EC-3A12-2D4A-FA7666B2AB88}"/>
              </a:ext>
            </a:extLst>
          </p:cNvPr>
          <p:cNvSpPr>
            <a:spLocks noGrp="1"/>
          </p:cNvSpPr>
          <p:nvPr>
            <p:ph/>
          </p:nvPr>
        </p:nvSpPr>
        <p:spPr>
          <a:xfrm>
            <a:off x="458913" y="1420063"/>
            <a:ext cx="10562013" cy="4258843"/>
          </a:xfrm>
        </p:spPr>
        <p:txBody>
          <a:bodyPr/>
          <a:lstStyle/>
          <a:p>
            <a:r>
              <a:rPr lang="en-GB" sz="2400" dirty="0"/>
              <a:t>Makes writing clear and meaningful. </a:t>
            </a:r>
          </a:p>
          <a:p>
            <a:r>
              <a:rPr lang="en-GB" sz="2400" dirty="0"/>
              <a:t>Prevents misunderstanding. </a:t>
            </a:r>
          </a:p>
          <a:p>
            <a:r>
              <a:rPr lang="en-GB" sz="2400" dirty="0"/>
              <a:t>Improves readability and organization. </a:t>
            </a:r>
          </a:p>
          <a:p>
            <a:r>
              <a:rPr lang="en-GB" sz="2400" dirty="0"/>
              <a:t>Helps express emotions and tone. </a:t>
            </a:r>
          </a:p>
          <a:p>
            <a:r>
              <a:rPr lang="en-GB" sz="2400" dirty="0"/>
              <a:t>Ensures grammatical correctness. </a:t>
            </a:r>
          </a:p>
          <a:p>
            <a:r>
              <a:rPr lang="en-GB" sz="2400" dirty="0"/>
              <a:t>Punctuation marks are essential tools in written communication. Proper use of punctuation helps readers understand the writer's message accurately and makes writing more effective and professional.</a:t>
            </a:r>
          </a:p>
          <a:p>
            <a:pPr algn="just"/>
            <a:endParaRPr lang="en-US" sz="2500" kern="100" dirty="0">
              <a:effectLst/>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2310515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7B3B2-1242-F207-6DBA-8E3DBABD1DA6}"/>
            </a:ext>
          </a:extLst>
        </p:cNvPr>
        <p:cNvGrpSpPr/>
        <p:nvPr/>
      </p:nvGrpSpPr>
      <p:grpSpPr>
        <a:xfrm>
          <a:off x="0" y="0"/>
          <a:ext cx="0" cy="0"/>
          <a:chOff x="0" y="0"/>
          <a:chExt cx="0" cy="0"/>
        </a:xfrm>
      </p:grpSpPr>
      <p:pic>
        <p:nvPicPr>
          <p:cNvPr id="31" name="Picture 2" descr="KL Deemed to be University Logo">
            <a:extLst>
              <a:ext uri="{FF2B5EF4-FFF2-40B4-BE49-F238E27FC236}">
                <a16:creationId xmlns:a16="http://schemas.microsoft.com/office/drawing/2014/main" id="{D9EB3ADC-8EE4-550E-DEB1-D39E244D3CF2}"/>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Content Placeholder 5">
            <a:extLst>
              <a:ext uri="{FF2B5EF4-FFF2-40B4-BE49-F238E27FC236}">
                <a16:creationId xmlns:a16="http://schemas.microsoft.com/office/drawing/2014/main" id="{ABB7F9F1-0E79-1654-F38C-513AD7775A4B}"/>
              </a:ext>
            </a:extLst>
          </p:cNvPr>
          <p:cNvSpPr>
            <a:spLocks noGrp="1"/>
          </p:cNvSpPr>
          <p:nvPr>
            <p:ph idx="1"/>
          </p:nvPr>
        </p:nvSpPr>
        <p:spPr>
          <a:xfrm>
            <a:off x="376176" y="1404016"/>
            <a:ext cx="11291299" cy="5057080"/>
          </a:xfrm>
        </p:spPr>
        <p:txBody>
          <a:bodyPr/>
          <a:lstStyle/>
          <a:p>
            <a:pPr marL="0" indent="0">
              <a:lnSpc>
                <a:spcPct val="100000"/>
              </a:lnSpc>
              <a:buNone/>
            </a:pPr>
            <a:r>
              <a:rPr lang="en-GB" sz="3600" dirty="0"/>
              <a:t>1.Can I identify different punctuation marks in a sentence?</a:t>
            </a:r>
          </a:p>
          <a:p>
            <a:pPr marL="0" indent="0">
              <a:lnSpc>
                <a:spcPct val="100000"/>
              </a:lnSpc>
              <a:buNone/>
            </a:pPr>
            <a:r>
              <a:rPr lang="en-GB" sz="3600" dirty="0"/>
              <a:t> 2.Can I explain the purpose of a full stop, comma, question mark, and exclamation mark? </a:t>
            </a:r>
          </a:p>
          <a:p>
            <a:pPr marL="0" indent="0">
              <a:lnSpc>
                <a:spcPct val="100000"/>
              </a:lnSpc>
              <a:buNone/>
            </a:pPr>
            <a:r>
              <a:rPr lang="en-GB" sz="3600" dirty="0"/>
              <a:t>3.Can I use punctuation marks correctly when writing sentences? </a:t>
            </a:r>
          </a:p>
          <a:p>
            <a:pPr marL="0" indent="0">
              <a:lnSpc>
                <a:spcPct val="100000"/>
              </a:lnSpc>
              <a:buNone/>
            </a:pPr>
            <a:r>
              <a:rPr lang="en-GB" sz="3600" dirty="0"/>
              <a:t>4. What problems can arise from incorrect punctuation? </a:t>
            </a:r>
          </a:p>
          <a:p>
            <a:pPr marL="0" indent="0">
              <a:buNone/>
            </a:pPr>
            <a:endParaRPr lang="en-GB" sz="3600" dirty="0"/>
          </a:p>
          <a:p>
            <a:pPr marL="0" indent="0">
              <a:buNone/>
            </a:pPr>
            <a:endParaRPr lang="en-IN" sz="3600" dirty="0"/>
          </a:p>
        </p:txBody>
      </p:sp>
      <p:sp>
        <p:nvSpPr>
          <p:cNvPr id="2" name="Rounded Rectangle 17">
            <a:extLst>
              <a:ext uri="{FF2B5EF4-FFF2-40B4-BE49-F238E27FC236}">
                <a16:creationId xmlns:a16="http://schemas.microsoft.com/office/drawing/2014/main" id="{E55344AE-D04F-229C-9D67-F6F35DE0D0BF}"/>
              </a:ext>
            </a:extLst>
          </p:cNvPr>
          <p:cNvSpPr/>
          <p:nvPr/>
        </p:nvSpPr>
        <p:spPr>
          <a:xfrm>
            <a:off x="1479480" y="123311"/>
            <a:ext cx="9770722" cy="777149"/>
          </a:xfrm>
          <a:prstGeom prst="roundRect">
            <a:avLst>
              <a:gd name="adj" fmla="val 5000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3600" dirty="0"/>
              <a:t>SELF-ASSESSMENT QUESTIONS</a:t>
            </a:r>
          </a:p>
        </p:txBody>
      </p:sp>
    </p:spTree>
    <p:extLst>
      <p:ext uri="{BB962C8B-B14F-4D97-AF65-F5344CB8AC3E}">
        <p14:creationId xmlns:p14="http://schemas.microsoft.com/office/powerpoint/2010/main" val="2827086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390294" y="106917"/>
            <a:ext cx="7541231" cy="72756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Terminal Questions </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Content Placeholder 4">
            <a:extLst>
              <a:ext uri="{FF2B5EF4-FFF2-40B4-BE49-F238E27FC236}">
                <a16:creationId xmlns:a16="http://schemas.microsoft.com/office/drawing/2014/main" id="{C8BC5279-88CD-C714-C8CE-AA942732F218}"/>
              </a:ext>
            </a:extLst>
          </p:cNvPr>
          <p:cNvSpPr>
            <a:spLocks noGrp="1"/>
          </p:cNvSpPr>
          <p:nvPr>
            <p:ph idx="1"/>
          </p:nvPr>
        </p:nvSpPr>
        <p:spPr>
          <a:xfrm>
            <a:off x="389299" y="932508"/>
            <a:ext cx="10692143" cy="5244456"/>
          </a:xfrm>
        </p:spPr>
        <p:txBody>
          <a:bodyPr/>
          <a:lstStyle/>
          <a:p>
            <a:pPr algn="just"/>
            <a:endParaRPr lang="en-IN" kern="100" dirty="0">
              <a:effectLst/>
              <a:ea typeface="Calibri" panose="020F0502020204030204" pitchFamily="34" charset="0"/>
              <a:cs typeface="Arial" panose="020B0604020202020204" pitchFamily="34" charset="0"/>
            </a:endParaRPr>
          </a:p>
          <a:p>
            <a:pPr algn="just"/>
            <a:endParaRPr lang="en-IN" kern="100" dirty="0">
              <a:effectLst/>
              <a:ea typeface="Calibri" panose="020F0502020204030204" pitchFamily="34" charset="0"/>
              <a:cs typeface="Arial" panose="020B0604020202020204" pitchFamily="34" charset="0"/>
            </a:endParaRPr>
          </a:p>
          <a:p>
            <a:pPr algn="just"/>
            <a:endParaRPr lang="en-IN" sz="1800" kern="100" dirty="0">
              <a:effectLst/>
              <a:ea typeface="Calibri" panose="020F0502020204030204" pitchFamily="34" charset="0"/>
              <a:cs typeface="Arial" panose="020B0604020202020204" pitchFamily="34" charset="0"/>
            </a:endParaRPr>
          </a:p>
          <a:p>
            <a:pPr algn="just"/>
            <a:endParaRPr lang="en-IN" dirty="0"/>
          </a:p>
        </p:txBody>
      </p:sp>
      <p:sp>
        <p:nvSpPr>
          <p:cNvPr id="3" name="TextBox 2">
            <a:extLst>
              <a:ext uri="{FF2B5EF4-FFF2-40B4-BE49-F238E27FC236}">
                <a16:creationId xmlns:a16="http://schemas.microsoft.com/office/drawing/2014/main" id="{FACDCED5-B9D3-D448-550C-857B1EC29E44}"/>
              </a:ext>
            </a:extLst>
          </p:cNvPr>
          <p:cNvSpPr txBox="1"/>
          <p:nvPr/>
        </p:nvSpPr>
        <p:spPr>
          <a:xfrm>
            <a:off x="579422" y="1638677"/>
            <a:ext cx="11688023" cy="2481898"/>
          </a:xfrm>
          <a:prstGeom prst="rect">
            <a:avLst/>
          </a:prstGeom>
          <a:noFill/>
        </p:spPr>
        <p:txBody>
          <a:bodyPr wrap="square">
            <a:spAutoFit/>
          </a:bodyPr>
          <a:lstStyle/>
          <a:p>
            <a:pPr>
              <a:lnSpc>
                <a:spcPct val="107000"/>
              </a:lnSpc>
              <a:spcAft>
                <a:spcPts val="800"/>
              </a:spcAft>
              <a:buNone/>
            </a:pP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1.What is punctuation? </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2.Name four common punctuation marks and state their uses. </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3.Why is punctuation important in written communication? </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GB" sz="3200" dirty="0">
                <a:effectLst/>
                <a:latin typeface="Times New Roman" panose="02020603050405020304" pitchFamily="18" charset="0"/>
                <a:ea typeface="Calibri" panose="020F0502020204030204" pitchFamily="34" charset="0"/>
                <a:cs typeface="Times New Roman" panose="02020603050405020304" pitchFamily="18" charset="0"/>
              </a:rPr>
              <a:t>4.How can a comma change the meaning of a sentence?</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633971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1325366" y="93891"/>
            <a:ext cx="10243335" cy="107372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REFERENCES FOR FURTHER LEARNING OF THE SESSION</a:t>
            </a:r>
            <a:endParaRPr lang="en-US" sz="3200" b="1" dirty="0">
              <a:solidFill>
                <a:schemeClr val="bg1"/>
              </a:solidFill>
              <a:latin typeface="Poppins" panose="00000500000000000000" pitchFamily="2" charset="0"/>
              <a:cs typeface="Poppins" panose="00000500000000000000" pitchFamily="2" charset="0"/>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a:extLst>
              <a:ext uri="{FF2B5EF4-FFF2-40B4-BE49-F238E27FC236}">
                <a16:creationId xmlns:a16="http://schemas.microsoft.com/office/drawing/2014/main" id="{37E76048-7203-9411-74BA-708E6B7C76D0}"/>
              </a:ext>
            </a:extLst>
          </p:cNvPr>
          <p:cNvSpPr>
            <a:spLocks noGrp="1"/>
          </p:cNvSpPr>
          <p:nvPr>
            <p:ph/>
          </p:nvPr>
        </p:nvSpPr>
        <p:spPr>
          <a:xfrm>
            <a:off x="410966" y="1315093"/>
            <a:ext cx="11085816" cy="4738581"/>
          </a:xfrm>
        </p:spPr>
        <p:txBody>
          <a:bodyPr/>
          <a:lstStyle/>
          <a:p>
            <a:pPr marL="0" indent="0" algn="just">
              <a:lnSpc>
                <a:spcPct val="150000"/>
              </a:lnSpc>
              <a:spcAft>
                <a:spcPts val="800"/>
              </a:spcAft>
              <a:buNone/>
            </a:pPr>
            <a:r>
              <a:rPr lang="en-US" b="1" kern="100" dirty="0">
                <a:effectLst/>
                <a:latin typeface="Times New Roman" panose="02020603050405020304" pitchFamily="18" charset="0"/>
                <a:ea typeface="Calibri" panose="020F0502020204030204" pitchFamily="34" charset="0"/>
                <a:cs typeface="Arial" panose="020B0604020202020204" pitchFamily="34" charset="0"/>
              </a:rPr>
              <a:t>e-References:</a:t>
            </a:r>
            <a:endParaRPr lang="en-GB" dirty="0"/>
          </a:p>
          <a:p>
            <a:r>
              <a:rPr lang="en-GB" dirty="0"/>
              <a:t>https://www.twinkl.co.in/teaching-wiki/punctuation  </a:t>
            </a:r>
          </a:p>
          <a:p>
            <a:r>
              <a:rPr lang="en-GB" u="sng" dirty="0">
                <a:hlinkClick r:id="rId3"/>
              </a:rPr>
              <a:t>https://tvtropes.org/pmwiki/pmwiki.php/Main/PunctuationChangesTheMeaning</a:t>
            </a:r>
            <a:endParaRPr lang="en-GB" dirty="0"/>
          </a:p>
          <a:p>
            <a:endParaRPr lang="en-GB" dirty="0"/>
          </a:p>
          <a:p>
            <a:pPr marL="0" indent="0">
              <a:buNone/>
            </a:pPr>
            <a:r>
              <a:rPr lang="en-GB" b="1" dirty="0"/>
              <a:t>Video links:</a:t>
            </a:r>
          </a:p>
          <a:p>
            <a:r>
              <a:rPr lang="en-GB" dirty="0"/>
              <a:t>https://www.youtube.com/watch?v=gfYq2ng9s4E</a:t>
            </a:r>
          </a:p>
          <a:p>
            <a:pPr marL="0" indent="0">
              <a:buNone/>
            </a:pPr>
            <a:r>
              <a:rPr lang="en-GB" dirty="0"/>
              <a:t> </a:t>
            </a:r>
          </a:p>
          <a:p>
            <a:pPr marL="0" indent="0">
              <a:buNone/>
            </a:pPr>
            <a:endParaRPr lang="en-GB" dirty="0"/>
          </a:p>
          <a:p>
            <a:pPr marL="0" indent="0" algn="just">
              <a:lnSpc>
                <a:spcPct val="150000"/>
              </a:lnSpc>
              <a:spcAft>
                <a:spcPts val="800"/>
              </a:spcAft>
              <a:buNone/>
            </a:pPr>
            <a:endParaRPr lang="en-IN"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263476" y="180556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0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Language Skills for Engineers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BD0A98-E68B-4DAA-8964-2F739D6D4075}">
  <ds:schemaRefs>
    <ds:schemaRef ds:uri="http://schemas.openxmlformats.org/package/2006/metadata/core-properties"/>
    <ds:schemaRef ds:uri="http://purl.org/dc/dcmitype/"/>
    <ds:schemaRef ds:uri="http://purl.org/dc/terms/"/>
    <ds:schemaRef ds:uri="http://purl.org/dc/elements/1.1/"/>
    <ds:schemaRef ds:uri="d43ee83c-3e71-4748-8ebc-8eaadf793425"/>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0125a647-8023-46ae-ae6e-85cf36d841bd"/>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DA00F5F-5366-4B1C-9406-30DECA796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3548</TotalTime>
  <Words>1745</Words>
  <Application>Microsoft Office PowerPoint</Application>
  <PresentationFormat>Widescreen</PresentationFormat>
  <Paragraphs>194</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BioRhyme ExtraBold</vt:lpstr>
      <vt:lpstr>Calibri</vt:lpstr>
      <vt:lpstr>Poppins</vt:lpstr>
      <vt:lpstr>Segoe UI</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Punctuation Marks in Effective  Communication </vt:lpstr>
      <vt:lpstr>PowerPoint Presentation</vt:lpstr>
      <vt:lpstr>Uses of Comma ( , ) &amp; Semicolon( ; ) </vt:lpstr>
      <vt:lpstr>Uses of &amp; Colon ( : ) &amp; Apostrophe ( ’ )  </vt:lpstr>
      <vt:lpstr>PowerPoint Presentation</vt:lpstr>
      <vt:lpstr>PowerPoint Presentation</vt:lpstr>
      <vt:lpstr>PowerPoint Presentation</vt:lpstr>
      <vt:lpstr>PowerPoint Presentation</vt:lpstr>
      <vt:lpstr>Let’s Watch</vt:lpstr>
      <vt:lpstr>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DHANYAMOL CT</cp:lastModifiedBy>
  <cp:revision>514</cp:revision>
  <dcterms:created xsi:type="dcterms:W3CDTF">2020-02-08T09:57:44Z</dcterms:created>
  <dcterms:modified xsi:type="dcterms:W3CDTF">2026-08-07T09:20:54Z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