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1" r:id="rId2"/>
    <p:sldId id="367" r:id="rId3"/>
    <p:sldId id="379" r:id="rId4"/>
    <p:sldId id="384" r:id="rId5"/>
    <p:sldId id="368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83" r:id="rId14"/>
    <p:sldId id="376" r:id="rId15"/>
    <p:sldId id="377" r:id="rId16"/>
    <p:sldId id="378" r:id="rId17"/>
    <p:sldId id="380" r:id="rId18"/>
    <p:sldId id="381" r:id="rId19"/>
    <p:sldId id="3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67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EBEA1-99D4-9045-85B8-3C2795D4031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2D615-B71A-E74C-B229-01953B811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41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435FD-06AE-C907-6414-D658B4E3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73BFC-E19D-9DA9-6381-5AB519E88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30035-4D5D-BA97-E7FA-10613C46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8512F-A064-AF62-C990-07C8A914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2AA34-F9D3-C52F-D2D3-99BDC5413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20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1FC4-0325-B1BD-3472-0128F2AB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F6EF0-CED7-93C0-65F4-1284AD9E8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82D06-E625-8AE0-614C-6081F16A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5C315-72D8-966F-B2FC-21C6A7C5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BCAE2-7328-9A3D-C5DA-E551A4E8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02CE6-C082-119F-58AD-D55D71D4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78E6-E171-BC09-C208-64372DD49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9634C-089D-D6B5-3928-9E9DEAF9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35F95-33D1-FC7E-1731-12C05BBD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421F2-FA92-D6B6-0B96-B57C5663B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6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4679A-F77E-1BBE-E005-E5461DCF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BE29E-BDA4-5ED6-1172-D8C3349BF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0C4BA-B0E8-7607-9045-A9DA885B4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F3BC6-14D6-9072-8AFA-99774132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06464-1EAF-8A63-C710-12EC607E8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C6774-50C8-7B7A-BF64-1212F077D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67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E9E8-1B37-B926-C4C9-83269DCB1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D2ED9-2C00-4395-0388-37C04BCCF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CE234-ACDA-BC29-680B-D2529E3E1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F8298-F357-0225-5FA2-DF9FE3DA0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03081-E27A-36BC-69B5-0ECD1638CA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633E4-C618-DB2A-0E77-DED6FFE6C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C7B6B-B687-0BD8-5851-1412DEA4F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EF5946-14BF-5133-046A-A636DB3CA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6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6361-8E7D-2F33-C161-85DBECF0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F9AA9-7EDA-7334-6C19-E56A73B5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5104E-3426-7C23-AD5F-9B55AABD9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6650A-9DF2-71BB-74EE-BAD0BE3D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1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7B8689-8AA7-1362-4B57-5F423CDF9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61D9C0-523C-8939-1569-E5C02611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FD847-AF62-D9F2-38CD-F89C9AE4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50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E2B11-5E05-3130-7A79-E2698685D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C648D-D2AA-79D1-277D-6025643A7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CC238-EDB3-64B3-7957-0FE034571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79279-7B39-7C30-1086-4541A90A9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6B661-533A-DC2E-D1A5-865B1DC24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4920E-31BB-95CE-3718-D195E7A2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0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3E7AF-AA45-AB1E-92DB-72F8C7331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A6BD9-C9E7-C0EF-3DEA-03C181C79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3A4A1-E590-CF7A-C728-494493ECE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663BA-173C-9C39-76A2-B481136DA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373F6-1724-FEAF-2536-BB5DFD883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4D3D6-ED43-E04B-799E-AEECB1BD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75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7095F-532E-BA76-451A-92206622B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2D045-328F-F2C1-2E6C-CADCA87F1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F895-C6BE-F0C3-E35D-2299EDCB0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763F7-1DDF-D8C7-B8FE-620753D17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EE9CC-1138-34B6-0B2C-C93324D4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75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7CC7E-62ED-220B-4F9C-B90473EA2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8191D-7CF1-6F76-582A-1AB5183B9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8CD42-05AE-AD3C-5839-EF2E0C9DC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4910C-7E2E-48F7-2FED-D9E8947B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4584E-2CD5-5592-AE14-E0F12DD5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33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875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8/14/2026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833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FF44E-DB19-BC01-8601-BD73F98B4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FA0BF-3C36-D702-29C6-1EF2D9353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6B509-0868-D59D-3D1A-D245F657C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C48033-C166-2C4F-83C3-EF6202F2181F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08BD9-FBFB-0D02-4FF1-B8B7C893D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19973-B1BC-2258-6A07-C025B54F84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F3AF8-DED0-2145-9167-3033821A3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11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171768" y="2828855"/>
            <a:ext cx="6892413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en-IN" sz="2400" b="1" dirty="0"/>
          </a:p>
          <a:p>
            <a:endParaRPr lang="en-IN" sz="2400" b="1" dirty="0"/>
          </a:p>
          <a:p>
            <a:endParaRPr lang="en-IN" sz="2400" b="1" dirty="0"/>
          </a:p>
          <a:p>
            <a:pPr algn="ctr"/>
            <a:r>
              <a:rPr lang="en-IN" sz="3000" b="1" dirty="0"/>
              <a:t>Session 5:</a:t>
            </a:r>
          </a:p>
          <a:p>
            <a:pPr algn="ctr"/>
            <a:r>
              <a:rPr lang="en-IN" sz="2400" b="1" dirty="0"/>
              <a:t>How Professional Vocabulary is Built?</a:t>
            </a:r>
          </a:p>
          <a:p>
            <a:pPr algn="ctr"/>
            <a:r>
              <a:rPr lang="en-IN" sz="2400" b="1" dirty="0"/>
              <a:t>Precision in Word Choice</a:t>
            </a:r>
          </a:p>
          <a:p>
            <a:pPr algn="ctr"/>
            <a:r>
              <a:rPr lang="en-IN" sz="2400" b="1" dirty="0"/>
              <a:t>&amp;</a:t>
            </a:r>
          </a:p>
          <a:p>
            <a:pPr algn="ctr"/>
            <a:r>
              <a:rPr lang="en-IN" sz="2400" b="1" dirty="0"/>
              <a:t>Professional and Corporate Vocabulary</a:t>
            </a:r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8" y="332258"/>
            <a:ext cx="53782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English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5299587" y="1326643"/>
            <a:ext cx="6892413" cy="1151086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Module 2: Vocabulary  and Word Precision</a:t>
            </a:r>
            <a:endParaRPr sz="28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6F6EA5A-23FF-7137-7321-D65D47B07B88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590496" y="142758"/>
            <a:ext cx="7011008" cy="8900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024F03-7CD5-09CF-BCFF-D32AF87A4AE1}"/>
              </a:ext>
            </a:extLst>
          </p:cNvPr>
          <p:cNvSpPr txBox="1"/>
          <p:nvPr/>
        </p:nvSpPr>
        <p:spPr>
          <a:xfrm>
            <a:off x="796974" y="1115951"/>
            <a:ext cx="10955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help students understand how words are formed and how knowledge of roots, prefixes, and suffixes can improve vocabulary development and comprehension.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833C2A-E778-4ED9-09CA-82DD75F50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953" y="1743333"/>
            <a:ext cx="5816088" cy="795041"/>
          </a:xfrm>
          <a:prstGeom prst="rect">
            <a:avLst/>
          </a:prstGeom>
        </p:spPr>
      </p:pic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251AFF26-FA02-78AA-70E1-5468435E0A6B}"/>
              </a:ext>
            </a:extLst>
          </p:cNvPr>
          <p:cNvSpPr/>
          <p:nvPr/>
        </p:nvSpPr>
        <p:spPr>
          <a:xfrm>
            <a:off x="3367545" y="4175486"/>
            <a:ext cx="5456903" cy="53094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BDF4C-096C-0628-012E-325213B38EC5}"/>
              </a:ext>
            </a:extLst>
          </p:cNvPr>
          <p:cNvSpPr txBox="1"/>
          <p:nvPr/>
        </p:nvSpPr>
        <p:spPr>
          <a:xfrm>
            <a:off x="796974" y="4818720"/>
            <a:ext cx="1059804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Students will be able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decode unfamiliar vocabulary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understand technical terms more easily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 reading comprehension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use vocabulary more confidently in communication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EDFEE-DD06-189F-A277-ABDCD7A61868}"/>
              </a:ext>
            </a:extLst>
          </p:cNvPr>
          <p:cNvSpPr txBox="1"/>
          <p:nvPr/>
        </p:nvSpPr>
        <p:spPr>
          <a:xfrm>
            <a:off x="796974" y="2431979"/>
            <a:ext cx="1074545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By the end of this lesson, students will be able to:</a:t>
            </a:r>
          </a:p>
          <a:p>
            <a:r>
              <a:rPr lang="en-IN" sz="2000" dirty="0"/>
              <a:t>Identify common roots, prefixes, and suffixes. </a:t>
            </a:r>
          </a:p>
          <a:p>
            <a:r>
              <a:rPr lang="en-IN" sz="2000" dirty="0"/>
              <a:t>Infer the meaning of unfamiliar words. </a:t>
            </a:r>
          </a:p>
          <a:p>
            <a:r>
              <a:rPr lang="en-IN" sz="2000" dirty="0"/>
              <a:t>Recognize word formation patterns. </a:t>
            </a:r>
          </a:p>
          <a:p>
            <a:r>
              <a:rPr lang="en-IN" sz="2000" dirty="0"/>
              <a:t>Apply vocabulary knowledge in academic and professional contexts.</a:t>
            </a:r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9FE0CAB4-9264-4426-EDC3-1E7F0FE41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0633" y="5700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136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5719-876A-C7E7-31AA-CBF3C8E93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BCB56-35B5-DE4C-A659-8DF4CBA58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6"/>
            <a:ext cx="9412458" cy="813508"/>
          </a:xfrm>
        </p:spPr>
        <p:txBody>
          <a:bodyPr/>
          <a:lstStyle/>
          <a:p>
            <a:pPr algn="ctr"/>
            <a:r>
              <a:rPr lang="en-IN" b="1" dirty="0"/>
              <a:t>This session deals with…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64855-D284-2A98-DB0C-C0E970644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professional vocabulary is built: Roots, Prefixes, Suffixes, Learning Words in Context rather than in isolation.                                                 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Precision in word choice:  Denotation vs Connotation; Commonly Confused Words; near-synonyms with different shades.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Professional &amp; Corporate Vocabulary: the everyday lexicon of the workplace (meetings, deadlines, deliverables, stakeholders) used correctly.</a:t>
            </a:r>
            <a:endParaRPr lang="en-IN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55116640-15E8-5D6E-FF49-DF0B66F0E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5768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11789-B3FC-4F7B-D3A2-5DA1FDBA9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CAED0-2C8F-41B8-62D6-A6C684525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/>
          <a:lstStyle/>
          <a:p>
            <a:pPr algn="ctr"/>
            <a:r>
              <a:rPr lang="en-IN" b="1" dirty="0"/>
              <a:t>Watching the Video!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A524-E1AD-C9DF-CD80-2AA9A0074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By watching the video, you will learn how words are formed using:</a:t>
            </a:r>
          </a:p>
          <a:p>
            <a:r>
              <a:rPr lang="en-IN" dirty="0"/>
              <a:t>Roots </a:t>
            </a:r>
          </a:p>
          <a:p>
            <a:r>
              <a:rPr lang="en-IN" dirty="0"/>
              <a:t>Prefixes </a:t>
            </a:r>
          </a:p>
          <a:p>
            <a:r>
              <a:rPr lang="en-IN" dirty="0"/>
              <a:t>Suffixes </a:t>
            </a:r>
          </a:p>
          <a:p>
            <a:pPr marL="0" indent="0">
              <a:buNone/>
            </a:pPr>
            <a:r>
              <a:rPr lang="en-IN" dirty="0"/>
              <a:t>Understanding word parts helps you:</a:t>
            </a:r>
          </a:p>
          <a:p>
            <a:r>
              <a:rPr lang="en-IN" dirty="0"/>
              <a:t>understand technical vocabulary</a:t>
            </a:r>
          </a:p>
          <a:p>
            <a:r>
              <a:rPr lang="en-IN" dirty="0"/>
              <a:t>learn new words independently</a:t>
            </a:r>
          </a:p>
          <a:p>
            <a:r>
              <a:rPr lang="en-IN" dirty="0"/>
              <a:t>improve communication skills</a:t>
            </a:r>
          </a:p>
          <a:p>
            <a:r>
              <a:rPr lang="en-IN" dirty="0"/>
              <a:t>understand engineering terminology more easily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6396BE62-8304-EF12-144E-C48ADF63C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6648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F844-68B8-597D-D8DF-E97AE4090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/>
          <a:lstStyle/>
          <a:p>
            <a:pPr algn="ctr"/>
            <a:r>
              <a:rPr lang="en-IN" b="1" dirty="0"/>
              <a:t>Case Scenario - Situation Task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0B5D6-7BA7-5250-12C1-48856E2C5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Ravi, a first-year engineering student, is reading a technical article. He encounters the following words:</a:t>
            </a:r>
          </a:p>
          <a:p>
            <a:r>
              <a:rPr lang="en-IN" dirty="0"/>
              <a:t>automation </a:t>
            </a:r>
          </a:p>
          <a:p>
            <a:r>
              <a:rPr lang="en-IN" dirty="0"/>
              <a:t>telecommunication </a:t>
            </a:r>
          </a:p>
          <a:p>
            <a:r>
              <a:rPr lang="en-IN" dirty="0"/>
              <a:t>biotechnology </a:t>
            </a:r>
          </a:p>
          <a:p>
            <a:r>
              <a:rPr lang="en-IN" dirty="0"/>
              <a:t>productivity </a:t>
            </a:r>
          </a:p>
          <a:p>
            <a:r>
              <a:rPr lang="en-IN" dirty="0"/>
              <a:t>stakeholder </a:t>
            </a:r>
          </a:p>
          <a:p>
            <a:pPr marL="0" indent="0">
              <a:buNone/>
            </a:pPr>
            <a:r>
              <a:rPr lang="en-IN" dirty="0"/>
              <a:t>He does not know their meanings and frequently consults a dictionary.</a:t>
            </a:r>
          </a:p>
          <a:p>
            <a:r>
              <a:rPr lang="en-IN" b="1" dirty="0"/>
              <a:t>Question: </a:t>
            </a:r>
            <a:r>
              <a:rPr lang="en-IN" dirty="0"/>
              <a:t>Can Ravi understand these words without using a dictionary?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26850FBA-77D7-EAA8-3698-4340C21D7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2946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CDED1-554D-BAA7-35CB-AF0C00E25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A3F0-52AD-EA53-0481-D6C3ED0BF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/>
          <a:lstStyle/>
          <a:p>
            <a:pPr algn="ctr"/>
            <a:r>
              <a:rPr lang="en-IN" b="1" dirty="0"/>
              <a:t>Building Vocabulary Through Word Parts</a:t>
            </a:r>
            <a:endParaRPr lang="en-US" b="1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B5765B-E91A-F1E1-B4C8-1F134899A1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692854"/>
              </p:ext>
            </p:extLst>
          </p:nvPr>
        </p:nvGraphicFramePr>
        <p:xfrm>
          <a:off x="1082566" y="1938778"/>
          <a:ext cx="10058400" cy="24766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45020">
                  <a:extLst>
                    <a:ext uri="{9D8B030D-6E8A-4147-A177-3AD203B41FA5}">
                      <a16:colId xmlns:a16="http://schemas.microsoft.com/office/drawing/2014/main" val="2854752258"/>
                    </a:ext>
                  </a:extLst>
                </a:gridCol>
                <a:gridCol w="2806262">
                  <a:extLst>
                    <a:ext uri="{9D8B030D-6E8A-4147-A177-3AD203B41FA5}">
                      <a16:colId xmlns:a16="http://schemas.microsoft.com/office/drawing/2014/main" val="2835409536"/>
                    </a:ext>
                  </a:extLst>
                </a:gridCol>
                <a:gridCol w="5707118">
                  <a:extLst>
                    <a:ext uri="{9D8B030D-6E8A-4147-A177-3AD203B41FA5}">
                      <a16:colId xmlns:a16="http://schemas.microsoft.com/office/drawing/2014/main" val="2276805323"/>
                    </a:ext>
                  </a:extLst>
                </a:gridCol>
              </a:tblGrid>
              <a:tr h="6464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>
                          <a:effectLst/>
                        </a:rPr>
                        <a:t>Word Part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>
                          <a:effectLst/>
                        </a:rPr>
                        <a:t>Meaning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 dirty="0">
                          <a:effectLst/>
                        </a:rPr>
                        <a:t>Examples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02849215"/>
                  </a:ext>
                </a:extLst>
              </a:tr>
              <a:tr h="54683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>
                          <a:effectLst/>
                        </a:rPr>
                        <a:t>Root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Core meaning of a word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bio = life (biology), geo = earth (geology)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83715830"/>
                  </a:ext>
                </a:extLst>
              </a:tr>
              <a:tr h="54904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>
                          <a:effectLst/>
                        </a:rPr>
                        <a:t>Prefix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Added before a word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re- = again (rewrite), inter- = between (international)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83958141"/>
                  </a:ext>
                </a:extLst>
              </a:tr>
              <a:tr h="7343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 dirty="0">
                          <a:effectLst/>
                        </a:rPr>
                        <a:t>Suffix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>
                          <a:effectLst/>
                        </a:rPr>
                        <a:t>Added after a word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-</a:t>
                      </a:r>
                      <a:r>
                        <a:rPr lang="en-IN" sz="2000" u="none" strike="noStrike" dirty="0" err="1">
                          <a:effectLst/>
                        </a:rPr>
                        <a:t>tion</a:t>
                      </a:r>
                      <a:r>
                        <a:rPr lang="en-IN" sz="2000" u="none" strike="noStrike" dirty="0">
                          <a:effectLst/>
                        </a:rPr>
                        <a:t> = process (communication), -</a:t>
                      </a:r>
                      <a:r>
                        <a:rPr lang="en-IN" sz="2000" u="none" strike="noStrike" dirty="0" err="1">
                          <a:effectLst/>
                        </a:rPr>
                        <a:t>ment</a:t>
                      </a:r>
                      <a:r>
                        <a:rPr lang="en-IN" sz="2000" u="none" strike="noStrike" dirty="0">
                          <a:effectLst/>
                        </a:rPr>
                        <a:t> = result (development)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1616997"/>
                  </a:ext>
                </a:extLst>
              </a:tr>
            </a:tbl>
          </a:graphicData>
        </a:graphic>
      </p:graphicFrame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CB404909-A01F-CED8-20F5-62E41103B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97754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ED81F-02DC-8D40-2358-BE0DEABA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629E-52C2-337F-881E-89361DB57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/>
          <a:lstStyle/>
          <a:p>
            <a:pPr algn="ctr"/>
            <a:r>
              <a:rPr lang="en-IN" b="1" dirty="0"/>
              <a:t>Content Activity 1 </a:t>
            </a:r>
            <a:br>
              <a:rPr lang="en-IN" b="1" dirty="0"/>
            </a:br>
            <a:r>
              <a:rPr lang="en-IN" b="1" dirty="0"/>
              <a:t>Vocabulary-in-Context Activity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8E217-D7EE-E315-9F27-595ED314C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Choose the correct word.</a:t>
            </a:r>
          </a:p>
          <a:p>
            <a:pPr marL="0" indent="0">
              <a:buNone/>
            </a:pPr>
            <a:r>
              <a:rPr lang="en-IN" b="1" dirty="0"/>
              <a:t>Example 1: </a:t>
            </a:r>
            <a:r>
              <a:rPr lang="en-IN" dirty="0"/>
              <a:t>The project reached an important ______.</a:t>
            </a:r>
          </a:p>
          <a:p>
            <a:pPr marL="0" indent="0">
              <a:buNone/>
            </a:pPr>
            <a:r>
              <a:rPr lang="en-IN" dirty="0"/>
              <a:t>a) rock</a:t>
            </a:r>
          </a:p>
          <a:p>
            <a:pPr marL="0" indent="0">
              <a:buNone/>
            </a:pPr>
            <a:r>
              <a:rPr lang="en-IN" dirty="0"/>
              <a:t>b) milestone</a:t>
            </a:r>
          </a:p>
          <a:p>
            <a:pPr marL="0" indent="0">
              <a:buNone/>
            </a:pPr>
            <a:r>
              <a:rPr lang="en-IN" dirty="0"/>
              <a:t>c) stone</a:t>
            </a:r>
          </a:p>
          <a:p>
            <a:pPr marL="0" indent="0">
              <a:buNone/>
            </a:pPr>
            <a:r>
              <a:rPr lang="en-IN" dirty="0"/>
              <a:t>d) target</a:t>
            </a:r>
          </a:p>
          <a:p>
            <a:pPr marL="0" indent="0">
              <a:buNone/>
            </a:pPr>
            <a:r>
              <a:rPr lang="en-IN" b="1" dirty="0"/>
              <a:t>Example 2: </a:t>
            </a:r>
            <a:r>
              <a:rPr lang="en-IN" dirty="0"/>
              <a:t>The team worked together to meet the project ______.</a:t>
            </a:r>
          </a:p>
          <a:p>
            <a:pPr marL="0" indent="0">
              <a:buNone/>
            </a:pPr>
            <a:r>
              <a:rPr lang="en-IN" dirty="0"/>
              <a:t>a) deadline</a:t>
            </a:r>
          </a:p>
          <a:p>
            <a:pPr marL="0" indent="0">
              <a:buNone/>
            </a:pPr>
            <a:r>
              <a:rPr lang="en-IN" dirty="0"/>
              <a:t>b) schedule</a:t>
            </a:r>
          </a:p>
          <a:p>
            <a:pPr marL="0" indent="0">
              <a:buNone/>
            </a:pPr>
            <a:r>
              <a:rPr lang="en-IN" dirty="0"/>
              <a:t>c) agenda</a:t>
            </a:r>
          </a:p>
          <a:p>
            <a:pPr marL="0" indent="0">
              <a:buNone/>
            </a:pPr>
            <a:r>
              <a:rPr lang="en-IN" dirty="0"/>
              <a:t>d) proposal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BFE9F12C-BAEB-C032-B592-73BD39E676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75874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BCD7-8F0A-B5A5-D2EC-266D41B7D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E5E8-FFD7-EE9F-97D8-186109DDD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/>
          <a:lstStyle/>
          <a:p>
            <a:pPr algn="ctr"/>
            <a:r>
              <a:rPr lang="en-IN" b="1" dirty="0"/>
              <a:t>Content Activity 2 </a:t>
            </a:r>
            <a:br>
              <a:rPr lang="en-IN" b="1" dirty="0"/>
            </a:br>
            <a:r>
              <a:rPr lang="en-IN" b="1" dirty="0"/>
              <a:t>Denotation vs Connotation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F0F7C-22DD-EDE3-5E13-F1F5B85F4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: </a:t>
            </a:r>
            <a:r>
              <a:rPr lang="en-IN" dirty="0"/>
              <a:t>Choose the most suitable word.</a:t>
            </a:r>
          </a:p>
          <a:p>
            <a:pPr marL="0" indent="0">
              <a:buNone/>
            </a:pPr>
            <a:r>
              <a:rPr lang="en-IN" b="1" dirty="0"/>
              <a:t>Situation: </a:t>
            </a:r>
            <a:r>
              <a:rPr lang="en-IN" dirty="0"/>
              <a:t>A recommendation letter describes a student.</a:t>
            </a:r>
          </a:p>
          <a:p>
            <a:r>
              <a:rPr lang="en-IN" dirty="0"/>
              <a:t>Options:</a:t>
            </a:r>
          </a:p>
          <a:p>
            <a:pPr marL="0" indent="0">
              <a:buNone/>
            </a:pPr>
            <a:r>
              <a:rPr lang="en-IN" dirty="0"/>
              <a:t>confident </a:t>
            </a:r>
          </a:p>
          <a:p>
            <a:pPr marL="0" indent="0">
              <a:buNone/>
            </a:pPr>
            <a:r>
              <a:rPr lang="en-IN" dirty="0"/>
              <a:t>self-assured </a:t>
            </a:r>
          </a:p>
          <a:p>
            <a:pPr marL="0" indent="0">
              <a:buNone/>
            </a:pPr>
            <a:r>
              <a:rPr lang="en-IN" dirty="0"/>
              <a:t>arrogant </a:t>
            </a:r>
          </a:p>
          <a:p>
            <a:r>
              <a:rPr lang="en-IN" b="1" dirty="0"/>
              <a:t>Discussion: </a:t>
            </a:r>
            <a:r>
              <a:rPr lang="en-IN" dirty="0"/>
              <a:t>Which word creates the most positive impression? Why?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CA52C2FD-8912-685D-5ADE-C4BF19A00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9981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DB1D6-8A84-747A-9C9A-13FC7193A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F79A-D48C-6137-F7F1-5CE5DD2F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Content Activity 3</a:t>
            </a:r>
            <a:br>
              <a:rPr lang="en-IN" b="1" dirty="0"/>
            </a:br>
            <a:r>
              <a:rPr lang="en-IN" b="1" dirty="0"/>
              <a:t>Commonly Confused Words Audit</a:t>
            </a:r>
            <a:br>
              <a:rPr lang="en-IN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2A53F-D792-B27E-C8C1-FD362988A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Identify and correct the errors.</a:t>
            </a:r>
          </a:p>
          <a:p>
            <a:r>
              <a:rPr lang="en-IN" dirty="0"/>
              <a:t>The principal objective of the project was to effect positive change.</a:t>
            </a:r>
          </a:p>
          <a:p>
            <a:r>
              <a:rPr lang="en-IN" dirty="0"/>
              <a:t>The manager excepted the proposal and advised the team to proceed.</a:t>
            </a:r>
          </a:p>
          <a:p>
            <a:pPr marL="0" indent="0">
              <a:buNone/>
            </a:pPr>
            <a:r>
              <a:rPr lang="en-IN" b="1" dirty="0"/>
              <a:t>Discuss</a:t>
            </a:r>
          </a:p>
          <a:p>
            <a:r>
              <a:rPr lang="en-IN" dirty="0"/>
              <a:t>Which words are incorrect?</a:t>
            </a:r>
          </a:p>
          <a:p>
            <a:r>
              <a:rPr lang="en-IN" dirty="0"/>
              <a:t>What should they be?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8D967052-7FF6-53CB-A36B-A55104B9A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054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3624-0F54-DAD0-5663-9BA76EDAC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5126-98D8-D605-0D75-020AC1740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6"/>
            <a:ext cx="9412458" cy="111944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Content Activity 4</a:t>
            </a:r>
            <a:br>
              <a:rPr lang="en-IN" b="1" dirty="0"/>
            </a:br>
            <a:r>
              <a:rPr lang="en-IN" b="1" dirty="0"/>
              <a:t>Professional Vocabulary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8EF0E09-56D0-F7D0-11BE-73A61B1D76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646004"/>
              </p:ext>
            </p:extLst>
          </p:nvPr>
        </p:nvGraphicFramePr>
        <p:xfrm>
          <a:off x="4141076" y="2752631"/>
          <a:ext cx="4143924" cy="2251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1962">
                  <a:extLst>
                    <a:ext uri="{9D8B030D-6E8A-4147-A177-3AD203B41FA5}">
                      <a16:colId xmlns:a16="http://schemas.microsoft.com/office/drawing/2014/main" val="1654012354"/>
                    </a:ext>
                  </a:extLst>
                </a:gridCol>
                <a:gridCol w="2071962">
                  <a:extLst>
                    <a:ext uri="{9D8B030D-6E8A-4147-A177-3AD203B41FA5}">
                      <a16:colId xmlns:a16="http://schemas.microsoft.com/office/drawing/2014/main" val="4063024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>
                          <a:effectLst/>
                        </a:rPr>
                        <a:t>Term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effectLst/>
                        </a:rPr>
                        <a:t>Meaning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9873184"/>
                  </a:ext>
                </a:extLst>
              </a:tr>
              <a:tr h="183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stakeholder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?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8038631"/>
                  </a:ext>
                </a:extLst>
              </a:tr>
              <a:tr h="183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deadline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?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6067901"/>
                  </a:ext>
                </a:extLst>
              </a:tr>
              <a:tr h="183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deliverable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?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42321713"/>
                  </a:ext>
                </a:extLst>
              </a:tr>
              <a:tr h="183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milestone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?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0303183"/>
                  </a:ext>
                </a:extLst>
              </a:tr>
              <a:tr h="3387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accountability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?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97254101"/>
                  </a:ext>
                </a:extLst>
              </a:tr>
            </a:tbl>
          </a:graphicData>
        </a:graphic>
      </p:graphicFrame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E019C6E3-B7D5-FCD7-5C64-52AC3EBBF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8965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60155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7F1AE-F155-AFA7-C222-AD72345F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B44A-5AEC-FF7A-2A4A-C39A1CC57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Content Activity 5</a:t>
            </a:r>
            <a:br>
              <a:rPr lang="en-IN" b="1" dirty="0"/>
            </a:br>
            <a:r>
              <a:rPr lang="en-IN" b="1" dirty="0"/>
              <a:t>Vocabulary Builder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86C7EC9-95D3-3508-2F3E-97CE1F7D40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441236"/>
              </p:ext>
            </p:extLst>
          </p:nvPr>
        </p:nvGraphicFramePr>
        <p:xfrm>
          <a:off x="2995449" y="2174466"/>
          <a:ext cx="7546428" cy="15777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2882">
                  <a:extLst>
                    <a:ext uri="{9D8B030D-6E8A-4147-A177-3AD203B41FA5}">
                      <a16:colId xmlns:a16="http://schemas.microsoft.com/office/drawing/2014/main" val="2824701765"/>
                    </a:ext>
                  </a:extLst>
                </a:gridCol>
                <a:gridCol w="1818290">
                  <a:extLst>
                    <a:ext uri="{9D8B030D-6E8A-4147-A177-3AD203B41FA5}">
                      <a16:colId xmlns:a16="http://schemas.microsoft.com/office/drawing/2014/main" val="1217669475"/>
                    </a:ext>
                  </a:extLst>
                </a:gridCol>
                <a:gridCol w="3815256">
                  <a:extLst>
                    <a:ext uri="{9D8B030D-6E8A-4147-A177-3AD203B41FA5}">
                      <a16:colId xmlns:a16="http://schemas.microsoft.com/office/drawing/2014/main" val="994589743"/>
                    </a:ext>
                  </a:extLst>
                </a:gridCol>
              </a:tblGrid>
              <a:tr h="40039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>
                          <a:effectLst/>
                        </a:rPr>
                        <a:t>Word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>
                          <a:effectLst/>
                        </a:rPr>
                        <a:t>Meaning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400" b="1" u="none" strike="noStrike" dirty="0">
                          <a:effectLst/>
                        </a:rPr>
                        <a:t>Example Sentence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64308891"/>
                  </a:ext>
                </a:extLst>
              </a:tr>
              <a:tr h="4081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stakeholder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 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 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4993346"/>
                  </a:ext>
                </a:extLst>
              </a:tr>
              <a:tr h="3473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deadline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>
                          <a:effectLst/>
                        </a:rPr>
                        <a:t> 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 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5156277"/>
                  </a:ext>
                </a:extLst>
              </a:tr>
              <a:tr h="3939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productivity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 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u="none" strike="noStrike" dirty="0">
                          <a:effectLst/>
                        </a:rPr>
                        <a:t> 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05498581"/>
                  </a:ext>
                </a:extLst>
              </a:tr>
            </a:tbl>
          </a:graphicData>
        </a:graphic>
      </p:graphicFrame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289357F1-ED07-07F5-796A-A3FE8B84A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7657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BD09D-DEA5-62D0-FC90-AF028B60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01436-E855-EA4F-B72E-3AFB0E43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/>
          <a:lstStyle/>
          <a:p>
            <a:pPr algn="ctr"/>
            <a:r>
              <a:rPr lang="en-IN" b="1" dirty="0"/>
              <a:t>Problem / Case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6F1CC-27A6-0CB2-2551-211663A97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Solving Ravi's Problem</a:t>
            </a:r>
          </a:p>
          <a:p>
            <a:pPr marL="0" indent="0">
              <a:buNone/>
            </a:pPr>
            <a:r>
              <a:rPr lang="en-IN" dirty="0"/>
              <a:t>Can we decode these words?</a:t>
            </a:r>
          </a:p>
          <a:p>
            <a:pPr marL="0" indent="0">
              <a:buNone/>
            </a:pPr>
            <a:r>
              <a:rPr lang="en-IN" b="1" dirty="0"/>
              <a:t>Telecommunication</a:t>
            </a:r>
          </a:p>
          <a:p>
            <a:r>
              <a:rPr lang="en-IN" dirty="0"/>
              <a:t>tele = distance</a:t>
            </a:r>
          </a:p>
          <a:p>
            <a:r>
              <a:rPr lang="en-IN" dirty="0"/>
              <a:t>communication = exchange of information</a:t>
            </a:r>
          </a:p>
          <a:p>
            <a:pPr marL="0" indent="0">
              <a:buNone/>
            </a:pPr>
            <a:r>
              <a:rPr lang="en-IN" dirty="0"/>
              <a:t>Meaning: Communication over a distance.</a:t>
            </a:r>
          </a:p>
          <a:p>
            <a:pPr marL="0" indent="0">
              <a:buNone/>
            </a:pPr>
            <a:r>
              <a:rPr lang="en-IN" b="1" dirty="0"/>
              <a:t>Automation</a:t>
            </a:r>
          </a:p>
          <a:p>
            <a:r>
              <a:rPr lang="en-IN" dirty="0"/>
              <a:t>auto = self</a:t>
            </a:r>
          </a:p>
          <a:p>
            <a:r>
              <a:rPr lang="en-IN" dirty="0" err="1"/>
              <a:t>tion</a:t>
            </a:r>
            <a:r>
              <a:rPr lang="en-IN" dirty="0"/>
              <a:t> = process</a:t>
            </a:r>
          </a:p>
          <a:p>
            <a:pPr marL="0" indent="0">
              <a:buNone/>
            </a:pPr>
            <a:r>
              <a:rPr lang="en-IN" dirty="0"/>
              <a:t>Meaning: A process that operates by itself.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D1C88935-6C6B-F2E1-8DF3-4A4A59ED99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06315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AEAAF-710F-4F75-E031-FF143A84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A0580-C60D-BE8E-A61E-0435EF71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1"/>
            <a:ext cx="9412458" cy="825909"/>
          </a:xfrm>
        </p:spPr>
        <p:txBody>
          <a:bodyPr/>
          <a:lstStyle/>
          <a:p>
            <a:pPr algn="ctr"/>
            <a:r>
              <a:rPr lang="en-IN" b="1" dirty="0"/>
              <a:t>Portfolio Activity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016C-995E-44BF-7626-99B71D8BF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427" y="1178633"/>
            <a:ext cx="11110450" cy="47502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b="1" dirty="0">
                <a:solidFill>
                  <a:srgbClr val="C00000"/>
                </a:solidFill>
              </a:rPr>
              <a:t>Personal Professional Word Bank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b="1" dirty="0"/>
              <a:t>Refer Portfolio Activity 2 and complete Tasks 1-5.</a:t>
            </a:r>
          </a:p>
          <a:p>
            <a:pPr marL="0" indent="0">
              <a:buNone/>
            </a:pPr>
            <a:endParaRPr lang="en-IN" sz="3200" b="1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18111B00-8506-3F2F-5D97-D4018C910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7571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BB1E8-1677-3223-6EF5-DB96F47C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9176-E917-3FFA-1074-8B664CF3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Complex Problems</a:t>
            </a:r>
            <a:br>
              <a:rPr lang="en-IN" b="1" dirty="0"/>
            </a:br>
            <a:r>
              <a:rPr lang="en-IN" b="1" dirty="0"/>
              <a:t>Self-Assessment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4B91A-E185-5C2E-8576-612E73869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000" dirty="0"/>
              <a:t>Decode the word "microbiology." </a:t>
            </a:r>
          </a:p>
          <a:p>
            <a:r>
              <a:rPr lang="en-IN" sz="3000" dirty="0"/>
              <a:t>Identify the prefix, root, and suffix in "internationalization." </a:t>
            </a:r>
          </a:p>
          <a:p>
            <a:r>
              <a:rPr lang="en-IN" sz="3000" dirty="0"/>
              <a:t>Explain the meaning of "miscommunication." </a:t>
            </a:r>
          </a:p>
          <a:p>
            <a:r>
              <a:rPr lang="en-IN" sz="3000" dirty="0"/>
              <a:t>Use "stakeholder" in a workplace sentence. </a:t>
            </a:r>
          </a:p>
          <a:p>
            <a:r>
              <a:rPr lang="en-IN" sz="3000" dirty="0"/>
              <a:t>Why is "self-assured" preferable to "arrogant" in a recommendation letter? </a:t>
            </a:r>
          </a:p>
          <a:p>
            <a:endParaRPr lang="en-US" sz="3000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A196377D-8F59-0F8F-9234-859726144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0069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0445-3144-8A66-0425-73911E0C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318EB-7F01-8AC6-6985-E077DB9C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Complex Problems</a:t>
            </a:r>
            <a:br>
              <a:rPr lang="en-IN" b="1" dirty="0"/>
            </a:br>
            <a:r>
              <a:rPr lang="en-IN" b="1" dirty="0"/>
              <a:t>Workplace Vocabulary Challenge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12BBB-88DB-BA9D-94DF-79A20E3B8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Choose the most suitable word.</a:t>
            </a:r>
          </a:p>
          <a:p>
            <a:pPr marL="0" indent="0">
              <a:buNone/>
            </a:pPr>
            <a:r>
              <a:rPr lang="en-IN" dirty="0"/>
              <a:t>The project has been:</a:t>
            </a:r>
          </a:p>
          <a:p>
            <a:r>
              <a:rPr lang="en-IN" dirty="0"/>
              <a:t>delayed </a:t>
            </a:r>
          </a:p>
          <a:p>
            <a:r>
              <a:rPr lang="en-IN" dirty="0"/>
              <a:t>postponed </a:t>
            </a:r>
          </a:p>
          <a:p>
            <a:r>
              <a:rPr lang="en-IN" dirty="0"/>
              <a:t>slipped </a:t>
            </a:r>
          </a:p>
          <a:p>
            <a:pPr marL="0" indent="0">
              <a:buNone/>
            </a:pPr>
            <a:r>
              <a:rPr lang="en-IN" dirty="0"/>
              <a:t>Which word would you use in:</a:t>
            </a:r>
          </a:p>
          <a:p>
            <a:r>
              <a:rPr lang="en-IN" dirty="0"/>
              <a:t>A client email? </a:t>
            </a:r>
          </a:p>
          <a:p>
            <a:r>
              <a:rPr lang="en-IN" dirty="0"/>
              <a:t>A report? </a:t>
            </a:r>
          </a:p>
          <a:p>
            <a:r>
              <a:rPr lang="en-IN" dirty="0"/>
              <a:t>A casual conversation? </a:t>
            </a:r>
          </a:p>
          <a:p>
            <a:pPr marL="0" indent="0">
              <a:buNone/>
            </a:pPr>
            <a:r>
              <a:rPr lang="en-IN" b="1" dirty="0"/>
              <a:t>Justify your answer.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3128B25A-C736-9743-4D52-3B6EC933F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82882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23F7-0E4C-AE33-0848-98EF30DD0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27621-52A7-E0CB-C880-4DED3D09B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/>
          <a:lstStyle/>
          <a:p>
            <a:pPr algn="ctr"/>
            <a:r>
              <a:rPr lang="en-IN" b="1" dirty="0"/>
              <a:t>Terminal 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33E6C-902D-433D-8051-6F279B511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is a root? </a:t>
            </a:r>
          </a:p>
          <a:p>
            <a:r>
              <a:rPr lang="en-IN" dirty="0"/>
              <a:t>What is a prefix? </a:t>
            </a:r>
          </a:p>
          <a:p>
            <a:r>
              <a:rPr lang="en-IN" dirty="0"/>
              <a:t>What is a suffix? </a:t>
            </a:r>
          </a:p>
          <a:p>
            <a:r>
              <a:rPr lang="en-IN" dirty="0"/>
              <a:t>Differentiate between denotation and connotation. </a:t>
            </a:r>
          </a:p>
          <a:p>
            <a:r>
              <a:rPr lang="en-IN" dirty="0"/>
              <a:t>Give two examples of commonly confused words. </a:t>
            </a:r>
          </a:p>
          <a:p>
            <a:r>
              <a:rPr lang="en-IN" dirty="0"/>
              <a:t>Define stakeholder. </a:t>
            </a:r>
          </a:p>
          <a:p>
            <a:r>
              <a:rPr lang="en-IN" dirty="0"/>
              <a:t>Define deliverable.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C94C37EE-FF7B-DE5D-A3D1-694C65F9B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15460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5E24D-8F29-D5FD-82C0-A264E7E03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ACAD-4DED-581C-AC9F-DA991DB6E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Further Reading</a:t>
            </a:r>
            <a:br>
              <a:rPr lang="en-IN" b="1" dirty="0"/>
            </a:br>
            <a:r>
              <a:rPr lang="en-IN" b="1" dirty="0"/>
              <a:t>Recommended Resources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89E19-60B5-002B-D613-A0B888819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Academic Word List (AWL) </a:t>
            </a:r>
          </a:p>
          <a:p>
            <a:r>
              <a:rPr lang="en-IN" dirty="0"/>
              <a:t>Oxford Learner's Dictionary </a:t>
            </a:r>
          </a:p>
          <a:p>
            <a:r>
              <a:rPr lang="en-IN" dirty="0"/>
              <a:t>Cambridge Dictionary </a:t>
            </a:r>
          </a:p>
          <a:p>
            <a:r>
              <a:rPr lang="en-IN" dirty="0" err="1"/>
              <a:t>Vocabulary.com</a:t>
            </a:r>
            <a:r>
              <a:rPr lang="en-IN" dirty="0"/>
              <a:t> </a:t>
            </a:r>
          </a:p>
          <a:p>
            <a:r>
              <a:rPr lang="en-IN" dirty="0"/>
              <a:t>Engineering Communication Textbooks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C9033DF1-F412-355D-FD78-D5243280E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2132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6172-34C0-389D-8BA7-F5119B4B3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DDD4-BC4B-7877-A515-47DED864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E-References</a:t>
            </a:r>
            <a:br>
              <a:rPr lang="en-IN" b="1" dirty="0"/>
            </a:br>
            <a:r>
              <a:rPr lang="en-IN" b="1" dirty="0"/>
              <a:t>Online Resources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C6E89-93A8-9993-5DD4-205821BCE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Oxford Learner's Dictionaries </a:t>
            </a:r>
          </a:p>
          <a:p>
            <a:r>
              <a:rPr lang="en-IN" dirty="0"/>
              <a:t>Cambridge Dictionary </a:t>
            </a:r>
          </a:p>
          <a:p>
            <a:r>
              <a:rPr lang="en-IN" dirty="0"/>
              <a:t>Merriam-Webster Dictionary </a:t>
            </a:r>
          </a:p>
          <a:p>
            <a:r>
              <a:rPr lang="en-IN" dirty="0" err="1"/>
              <a:t>Vocabulary.com</a:t>
            </a:r>
            <a:r>
              <a:rPr lang="en-IN" dirty="0"/>
              <a:t> </a:t>
            </a:r>
          </a:p>
          <a:p>
            <a:r>
              <a:rPr lang="en-IN" dirty="0" err="1"/>
              <a:t>Etymonline</a:t>
            </a:r>
            <a:r>
              <a:rPr lang="en-IN" dirty="0"/>
              <a:t> (Word Origins)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7FAEF966-4DBA-DD82-5A1A-C2652F55F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7063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9A1EA-9CB5-5870-EB5A-020422C0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4C875-C816-7EF8-D3F1-38250773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342" y="365125"/>
            <a:ext cx="9412458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Before the Next Session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23BA8-02EC-85B8-F493-5CE57BCEF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Complete LMS Quiz 1. </a:t>
            </a:r>
          </a:p>
          <a:p>
            <a:r>
              <a:rPr lang="en-IN" dirty="0"/>
              <a:t>Select: </a:t>
            </a:r>
          </a:p>
          <a:p>
            <a:pPr lvl="1"/>
            <a:r>
              <a:rPr lang="en-IN" dirty="0"/>
              <a:t>3 roots </a:t>
            </a:r>
          </a:p>
          <a:p>
            <a:pPr lvl="1"/>
            <a:r>
              <a:rPr lang="en-IN" dirty="0"/>
              <a:t>3 prefixes </a:t>
            </a:r>
          </a:p>
          <a:p>
            <a:pPr lvl="1"/>
            <a:r>
              <a:rPr lang="en-IN" dirty="0"/>
              <a:t>3 suffixes </a:t>
            </a:r>
          </a:p>
          <a:p>
            <a:r>
              <a:rPr lang="en-IN" dirty="0"/>
              <a:t>Write: </a:t>
            </a:r>
          </a:p>
          <a:p>
            <a:pPr lvl="1"/>
            <a:r>
              <a:rPr lang="en-IN" dirty="0"/>
              <a:t>meaning </a:t>
            </a:r>
          </a:p>
          <a:p>
            <a:pPr lvl="1"/>
            <a:r>
              <a:rPr lang="en-IN" dirty="0"/>
              <a:t>example </a:t>
            </a:r>
          </a:p>
          <a:p>
            <a:pPr lvl="1"/>
            <a:r>
              <a:rPr lang="en-IN" dirty="0"/>
              <a:t>one sentence </a:t>
            </a:r>
          </a:p>
          <a:p>
            <a:pPr marL="0" indent="0">
              <a:buNone/>
            </a:pPr>
            <a:r>
              <a:rPr lang="en-IN" dirty="0"/>
              <a:t>Bring your responses to class.</a:t>
            </a:r>
          </a:p>
          <a:p>
            <a:endParaRPr lang="en-US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CB2B7989-8D29-97E8-E37F-A87AD8A56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382" y="117034"/>
            <a:ext cx="2509863" cy="10615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4204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793</Words>
  <Application>Microsoft Office PowerPoint</Application>
  <PresentationFormat>Widescreen</PresentationFormat>
  <Paragraphs>177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Calibri</vt:lpstr>
      <vt:lpstr>Poppins</vt:lpstr>
      <vt:lpstr>Office Theme</vt:lpstr>
      <vt:lpstr>PowerPoint Presentation</vt:lpstr>
      <vt:lpstr>PowerPoint Presentation</vt:lpstr>
      <vt:lpstr>This session deals with…</vt:lpstr>
      <vt:lpstr>Watching the Video!</vt:lpstr>
      <vt:lpstr>Case Scenario - Situation Task</vt:lpstr>
      <vt:lpstr>Building Vocabulary Through Word Parts</vt:lpstr>
      <vt:lpstr>Content Activity 1  Vocabulary-in-Context Activity</vt:lpstr>
      <vt:lpstr>Content Activity 2  Denotation vs Connotation</vt:lpstr>
      <vt:lpstr>Content Activity 3 Commonly Confused Words Audit </vt:lpstr>
      <vt:lpstr>Content Activity 4 Professional Vocabulary</vt:lpstr>
      <vt:lpstr>Content Activity 5 Vocabulary Builder</vt:lpstr>
      <vt:lpstr>Problem / Case Analysis</vt:lpstr>
      <vt:lpstr>Portfolio Activity 2</vt:lpstr>
      <vt:lpstr>Complex Problems Self-Assessment Questions</vt:lpstr>
      <vt:lpstr>Complex Problems Workplace Vocabulary Challenge</vt:lpstr>
      <vt:lpstr>Terminal Questions</vt:lpstr>
      <vt:lpstr>Further Reading Recommended Resources</vt:lpstr>
      <vt:lpstr>E-References Online Resources</vt:lpstr>
      <vt:lpstr>Before the Next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MADHU MUNAGALA</dc:creator>
  <cp:lastModifiedBy>DHANYAMOL CT</cp:lastModifiedBy>
  <cp:revision>15</cp:revision>
  <dcterms:created xsi:type="dcterms:W3CDTF">2026-06-17T05:24:26Z</dcterms:created>
  <dcterms:modified xsi:type="dcterms:W3CDTF">2026-08-14T10:46:09Z</dcterms:modified>
</cp:coreProperties>
</file>