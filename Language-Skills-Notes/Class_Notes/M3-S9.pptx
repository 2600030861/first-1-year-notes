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71" r:id="rId5"/>
    <p:sldId id="300" r:id="rId6"/>
    <p:sldId id="258" r:id="rId7"/>
    <p:sldId id="361" r:id="rId8"/>
    <p:sldId id="273" r:id="rId9"/>
    <p:sldId id="362" r:id="rId10"/>
    <p:sldId id="262" r:id="rId11"/>
    <p:sldId id="263" r:id="rId12"/>
    <p:sldId id="363" r:id="rId13"/>
    <p:sldId id="265" r:id="rId14"/>
    <p:sldId id="364" r:id="rId15"/>
    <p:sldId id="365" r:id="rId16"/>
    <p:sldId id="366" r:id="rId17"/>
    <p:sldId id="320" r:id="rId18"/>
    <p:sldId id="299" r:id="rId19"/>
    <p:sldId id="360" r:id="rId20"/>
    <p:sldId id="318" r:id="rId21"/>
    <p:sldId id="303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dma Lata" initials="PL" lastIdx="2" clrIdx="0">
    <p:extLst>
      <p:ext uri="{19B8F6BF-5375-455C-9EA6-DF929625EA0E}">
        <p15:presenceInfo xmlns:p15="http://schemas.microsoft.com/office/powerpoint/2012/main" userId="b355b3e4c8493e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1E24"/>
    <a:srgbClr val="77FB25"/>
    <a:srgbClr val="BA2532"/>
    <a:srgbClr val="FF9900"/>
    <a:srgbClr val="E84845"/>
    <a:srgbClr val="FAD2D2"/>
    <a:srgbClr val="F89E4C"/>
    <a:srgbClr val="FFF2CC"/>
    <a:srgbClr val="CF2F33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89"/>
  </p:normalViewPr>
  <p:slideViewPr>
    <p:cSldViewPr snapToGrid="0">
      <p:cViewPr varScale="1">
        <p:scale>
          <a:sx n="59" d="100"/>
          <a:sy n="59" d="100"/>
        </p:scale>
        <p:origin x="95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0835" y="0"/>
            <a:ext cx="8201165" cy="5818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51940" y="2403752"/>
            <a:ext cx="8251745" cy="64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67" b="0" i="0">
                <a:solidFill>
                  <a:srgbClr val="0D0D0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001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67" b="1" i="0">
                <a:solidFill>
                  <a:srgbClr val="0D0D0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7515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25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lainlanguage.gov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grammarly.com/blog" TargetMode="External"/><Relationship Id="rId5" Type="http://schemas.openxmlformats.org/officeDocument/2006/relationships/hyperlink" Target="https://hbr.org/" TargetMode="External"/><Relationship Id="rId4" Type="http://schemas.openxmlformats.org/officeDocument/2006/relationships/hyperlink" Target="https://owl.purdue.edu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9831" y="6795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Competency -3 -  Reading Skills</a:t>
            </a:r>
            <a:endParaRPr lang="en-IN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300"/>
              </a:spcAft>
            </a:pPr>
            <a:r>
              <a:rPr lang="en-IN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c. Identifying Tone, Themes &amp; Ideas</a:t>
            </a:r>
            <a:endParaRPr lang="en-IN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 txBox="1"/>
          <p:nvPr/>
        </p:nvSpPr>
        <p:spPr>
          <a:xfrm>
            <a:off x="6095998" y="332258"/>
            <a:ext cx="53782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cs typeface="Poppins" pitchFamily="2" charset="77"/>
              </a:rPr>
              <a:t>Department of English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6620100" y="1504503"/>
            <a:ext cx="3948803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-9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4" name="Google Shape;476;p16">
            <a:extLst>
              <a:ext uri="{FF2B5EF4-FFF2-40B4-BE49-F238E27FC236}">
                <a16:creationId xmlns:a16="http://schemas.microsoft.com/office/drawing/2014/main" id="{F2ABFB87-2192-1618-280C-C170709F4AA1}"/>
              </a:ext>
            </a:extLst>
          </p:cNvPr>
          <p:cNvSpPr txBox="1"/>
          <p:nvPr/>
        </p:nvSpPr>
        <p:spPr>
          <a:xfrm>
            <a:off x="4523624" y="2358217"/>
            <a:ext cx="7103754" cy="421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Module 3</a:t>
            </a:r>
          </a:p>
          <a:p>
            <a:pPr algn="ctr"/>
            <a:r>
              <a:rPr lang="en-US" sz="3600" b="1" dirty="0">
                <a:solidFill>
                  <a:srgbClr val="C00000"/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r>
              <a:rPr lang="en-US" sz="3200" spc="750" dirty="0"/>
              <a:t>STRUCTURING</a:t>
            </a:r>
            <a:r>
              <a:rPr lang="en-US" sz="3200" spc="35" dirty="0"/>
              <a:t> </a:t>
            </a:r>
            <a:r>
              <a:rPr lang="en-US" sz="3200" spc="680" dirty="0"/>
              <a:t>WRITING </a:t>
            </a:r>
            <a:r>
              <a:rPr lang="en-US" sz="3200" spc="440" dirty="0"/>
              <a:t>&amp;</a:t>
            </a:r>
            <a:r>
              <a:rPr lang="en-US" sz="3200" spc="-10" dirty="0"/>
              <a:t> </a:t>
            </a:r>
            <a:r>
              <a:rPr lang="en-US" sz="3200" spc="409" dirty="0"/>
              <a:t>PLAIN</a:t>
            </a:r>
            <a:r>
              <a:rPr lang="en-US" sz="3200" spc="-10" dirty="0"/>
              <a:t> </a:t>
            </a:r>
            <a:r>
              <a:rPr lang="en-US" sz="3200" spc="875" dirty="0"/>
              <a:t>-</a:t>
            </a:r>
            <a:r>
              <a:rPr lang="en-US" sz="3200" spc="-5" dirty="0"/>
              <a:t> </a:t>
            </a:r>
            <a:r>
              <a:rPr lang="en-US" sz="3200" spc="775" dirty="0"/>
              <a:t>LANGUAGE </a:t>
            </a:r>
            <a:r>
              <a:rPr lang="en-US" sz="3200" spc="680" dirty="0"/>
              <a:t>WRITING</a:t>
            </a:r>
          </a:p>
          <a:p>
            <a:pPr algn="ctr"/>
            <a:r>
              <a:rPr lang="en-US" sz="3200" spc="95" dirty="0">
                <a:solidFill>
                  <a:srgbClr val="0D0D0D"/>
                </a:solidFill>
                <a:cs typeface="Cambria"/>
              </a:rPr>
              <a:t>The</a:t>
            </a:r>
            <a:r>
              <a:rPr lang="en-US" sz="3200" spc="-114" dirty="0">
                <a:solidFill>
                  <a:srgbClr val="0D0D0D"/>
                </a:solidFill>
                <a:cs typeface="Cambria"/>
              </a:rPr>
              <a:t> </a:t>
            </a:r>
            <a:r>
              <a:rPr lang="en-US" sz="3200" spc="-180" dirty="0">
                <a:solidFill>
                  <a:srgbClr val="0D0D0D"/>
                </a:solidFill>
                <a:cs typeface="Cambria"/>
              </a:rPr>
              <a:t>foundation</a:t>
            </a:r>
            <a:r>
              <a:rPr lang="en-US" sz="3200" spc="-60" dirty="0">
                <a:solidFill>
                  <a:srgbClr val="0D0D0D"/>
                </a:solidFill>
                <a:cs typeface="Cambria"/>
              </a:rPr>
              <a:t> </a:t>
            </a:r>
            <a:r>
              <a:rPr lang="en-US" sz="3200" dirty="0">
                <a:solidFill>
                  <a:srgbClr val="0D0D0D"/>
                </a:solidFill>
                <a:cs typeface="Cambria"/>
              </a:rPr>
              <a:t>of</a:t>
            </a:r>
            <a:r>
              <a:rPr lang="en-US" sz="3200" spc="-60" dirty="0">
                <a:solidFill>
                  <a:srgbClr val="0D0D0D"/>
                </a:solidFill>
                <a:cs typeface="Cambria"/>
              </a:rPr>
              <a:t> </a:t>
            </a:r>
            <a:r>
              <a:rPr lang="en-US" sz="3200" spc="-225" dirty="0">
                <a:solidFill>
                  <a:srgbClr val="0D0D0D"/>
                </a:solidFill>
                <a:cs typeface="Cambria"/>
              </a:rPr>
              <a:t>organizational</a:t>
            </a:r>
            <a:r>
              <a:rPr lang="en-US" sz="3200" spc="-60" dirty="0">
                <a:solidFill>
                  <a:srgbClr val="0D0D0D"/>
                </a:solidFill>
                <a:cs typeface="Cambria"/>
              </a:rPr>
              <a:t> </a:t>
            </a:r>
            <a:r>
              <a:rPr lang="en-US" sz="3200" spc="-325" dirty="0">
                <a:solidFill>
                  <a:srgbClr val="0D0D0D"/>
                </a:solidFill>
                <a:cs typeface="Cambria"/>
              </a:rPr>
              <a:t>paragraph</a:t>
            </a:r>
            <a:r>
              <a:rPr lang="en-US" sz="3200" spc="-20" dirty="0">
                <a:solidFill>
                  <a:srgbClr val="0D0D0D"/>
                </a:solidFill>
                <a:cs typeface="Cambria"/>
              </a:rPr>
              <a:t> </a:t>
            </a:r>
            <a:r>
              <a:rPr lang="en-US" sz="3200" spc="-145" dirty="0">
                <a:solidFill>
                  <a:srgbClr val="0D0D0D"/>
                </a:solidFill>
                <a:cs typeface="Cambria"/>
              </a:rPr>
              <a:t>mechanics</a:t>
            </a:r>
            <a:endParaRPr lang="en-US" sz="3200" dirty="0">
              <a:cs typeface="Cambria"/>
            </a:endParaRPr>
          </a:p>
          <a:p>
            <a:pPr algn="ctr"/>
            <a:endParaRPr lang="en-US" sz="3600" b="1" dirty="0">
              <a:solidFill>
                <a:srgbClr val="C00000"/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600" b="1" dirty="0">
                <a:solidFill>
                  <a:srgbClr val="C00000"/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267326" y="567625"/>
            <a:ext cx="10804809" cy="163121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To</a:t>
            </a:r>
            <a:r>
              <a:rPr lang="en-US" sz="2000" spc="680" dirty="0">
                <a:solidFill>
                  <a:srgbClr val="312E2D"/>
                </a:solidFill>
                <a:latin typeface="Trebuchet MS"/>
                <a:cs typeface="Trebuchet MS"/>
              </a:rPr>
              <a:t>  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develop</a:t>
            </a:r>
            <a:r>
              <a:rPr lang="en-US" sz="2000" spc="690" dirty="0">
                <a:solidFill>
                  <a:srgbClr val="312E2D"/>
                </a:solidFill>
                <a:latin typeface="Trebuchet MS"/>
                <a:cs typeface="Trebuchet MS"/>
              </a:rPr>
              <a:t>   </a:t>
            </a:r>
            <a:r>
              <a:rPr lang="en-US" sz="2000" spc="40" dirty="0">
                <a:solidFill>
                  <a:srgbClr val="312E2D"/>
                </a:solidFill>
                <a:latin typeface="Trebuchet MS"/>
                <a:cs typeface="Trebuchet MS"/>
              </a:rPr>
              <a:t>learners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ability</a:t>
            </a:r>
            <a:r>
              <a:rPr lang="en-US" sz="2000" spc="-65" dirty="0">
                <a:solidFill>
                  <a:srgbClr val="312E2D"/>
                </a:solidFill>
                <a:latin typeface="Trebuchet MS"/>
                <a:cs typeface="Trebuchet MS"/>
              </a:rPr>
              <a:t> 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to</a:t>
            </a:r>
            <a:r>
              <a:rPr lang="en-US" sz="2000" spc="-65" dirty="0">
                <a:solidFill>
                  <a:srgbClr val="312E2D"/>
                </a:solidFill>
                <a:latin typeface="Trebuchet MS"/>
                <a:cs typeface="Trebuchet MS"/>
              </a:rPr>
              <a:t>  </a:t>
            </a:r>
            <a:r>
              <a:rPr lang="en-US" sz="2000" spc="-10" dirty="0">
                <a:solidFill>
                  <a:srgbClr val="312E2D"/>
                </a:solidFill>
                <a:latin typeface="Trebuchet MS"/>
                <a:cs typeface="Trebuchet MS"/>
              </a:rPr>
              <a:t>systematically </a:t>
            </a:r>
            <a:r>
              <a:rPr lang="en-US" sz="2000" spc="75" dirty="0">
                <a:solidFill>
                  <a:srgbClr val="312E2D"/>
                </a:solidFill>
                <a:latin typeface="Trebuchet MS"/>
                <a:cs typeface="Trebuchet MS"/>
              </a:rPr>
              <a:t>organize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	</a:t>
            </a:r>
            <a:r>
              <a:rPr lang="en-US" sz="2000" spc="-10" dirty="0">
                <a:solidFill>
                  <a:srgbClr val="312E2D"/>
                </a:solidFill>
                <a:latin typeface="Trebuchet MS"/>
                <a:cs typeface="Trebuchet MS"/>
              </a:rPr>
              <a:t>complex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written</a:t>
            </a:r>
            <a:r>
              <a:rPr lang="en-US" sz="2000" spc="80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information</a:t>
            </a:r>
            <a:r>
              <a:rPr lang="en-US" sz="2000" spc="81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spc="85" dirty="0">
                <a:solidFill>
                  <a:srgbClr val="312E2D"/>
                </a:solidFill>
                <a:latin typeface="Trebuchet MS"/>
                <a:cs typeface="Trebuchet MS"/>
              </a:rPr>
              <a:t>and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communicate</a:t>
            </a:r>
            <a:r>
              <a:rPr lang="en-US" sz="2000" spc="370" dirty="0">
                <a:solidFill>
                  <a:srgbClr val="312E2D"/>
                </a:solidFill>
                <a:latin typeface="Trebuchet MS"/>
                <a:cs typeface="Trebuchet MS"/>
              </a:rPr>
              <a:t>   </a:t>
            </a:r>
            <a:r>
              <a:rPr lang="en-US" sz="2000" spc="160" dirty="0">
                <a:solidFill>
                  <a:srgbClr val="312E2D"/>
                </a:solidFill>
                <a:latin typeface="Trebuchet MS"/>
                <a:cs typeface="Trebuchet MS"/>
              </a:rPr>
              <a:t>business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or</a:t>
            </a:r>
            <a:r>
              <a:rPr lang="en-US" sz="2000" spc="3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spc="80" dirty="0">
                <a:solidFill>
                  <a:srgbClr val="312E2D"/>
                </a:solidFill>
                <a:latin typeface="Trebuchet MS"/>
                <a:cs typeface="Trebuchet MS"/>
              </a:rPr>
              <a:t>academic</a:t>
            </a:r>
            <a:r>
              <a:rPr lang="en-US" sz="2000" spc="3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spc="150" dirty="0">
                <a:solidFill>
                  <a:srgbClr val="312E2D"/>
                </a:solidFill>
                <a:latin typeface="Trebuchet MS"/>
                <a:cs typeface="Trebuchet MS"/>
              </a:rPr>
              <a:t>ideas</a:t>
            </a:r>
            <a:r>
              <a:rPr lang="en-US" sz="2000" spc="3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spc="150" dirty="0">
                <a:solidFill>
                  <a:srgbClr val="312E2D"/>
                </a:solidFill>
                <a:latin typeface="Trebuchet MS"/>
                <a:cs typeface="Trebuchet MS"/>
              </a:rPr>
              <a:t>using </a:t>
            </a:r>
            <a:r>
              <a:rPr lang="en-US" sz="2000" dirty="0" err="1">
                <a:solidFill>
                  <a:srgbClr val="312E2D"/>
                </a:solidFill>
                <a:latin typeface="Trebuchet MS"/>
                <a:cs typeface="Trebuchet MS"/>
              </a:rPr>
              <a:t>plain,</a:t>
            </a:r>
            <a:r>
              <a:rPr lang="en-US" sz="2000" spc="70" dirty="0" err="1">
                <a:solidFill>
                  <a:srgbClr val="312E2D"/>
                </a:solidFill>
                <a:latin typeface="Trebuchet MS"/>
                <a:cs typeface="Trebuchet MS"/>
              </a:rPr>
              <a:t>reader</a:t>
            </a:r>
            <a:r>
              <a:rPr lang="en-US" sz="2000" spc="70" dirty="0">
                <a:solidFill>
                  <a:srgbClr val="312E2D"/>
                </a:solidFill>
                <a:latin typeface="Trebuchet MS"/>
                <a:cs typeface="Trebuchet MS"/>
              </a:rPr>
              <a:t>-</a:t>
            </a:r>
            <a:r>
              <a:rPr lang="en-US" sz="2000" spc="-10" dirty="0">
                <a:solidFill>
                  <a:srgbClr val="312E2D"/>
                </a:solidFill>
                <a:latin typeface="Trebuchet MS"/>
                <a:cs typeface="Trebuchet MS"/>
              </a:rPr>
              <a:t>centric </a:t>
            </a:r>
            <a:r>
              <a:rPr lang="en-US" sz="2000" spc="60" dirty="0">
                <a:solidFill>
                  <a:srgbClr val="312E2D"/>
                </a:solidFill>
                <a:latin typeface="Trebuchet MS"/>
                <a:cs typeface="Trebuchet MS"/>
              </a:rPr>
              <a:t>language.</a:t>
            </a:r>
            <a:endParaRPr lang="en-US" sz="2000" dirty="0">
              <a:latin typeface="Trebuchet MS"/>
              <a:cs typeface="Trebuchet MS"/>
            </a:endParaRPr>
          </a:p>
          <a:p>
            <a:endParaRPr lang="en-US" sz="2000" dirty="0">
              <a:latin typeface="Trebuchet MS"/>
              <a:cs typeface="Trebuchet MS"/>
            </a:endParaRPr>
          </a:p>
          <a:p>
            <a:endParaRPr lang="en-IN" sz="2000" dirty="0"/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41743" y="1624629"/>
            <a:ext cx="3870831" cy="41102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267326" y="2291360"/>
            <a:ext cx="10411327" cy="39808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dirty="0">
                <a:solidFill>
                  <a:srgbClr val="312E2D"/>
                </a:solidFill>
                <a:latin typeface="Trebuchet MS"/>
                <a:cs typeface="Trebuchet MS"/>
              </a:rPr>
              <a:t>Learn</a:t>
            </a:r>
            <a:r>
              <a:rPr lang="en-IN" sz="2000" spc="-6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IN" sz="2000" spc="-50" dirty="0">
                <a:solidFill>
                  <a:srgbClr val="312E2D"/>
                </a:solidFill>
                <a:latin typeface="Trebuchet MS"/>
                <a:cs typeface="Trebuchet MS"/>
              </a:rPr>
              <a:t>to</a:t>
            </a:r>
            <a:r>
              <a:rPr lang="en-IN" sz="2000" spc="-6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IN" sz="2000" spc="-25" dirty="0">
                <a:solidFill>
                  <a:srgbClr val="312E2D"/>
                </a:solidFill>
                <a:latin typeface="Trebuchet MS"/>
                <a:cs typeface="Trebuchet MS"/>
              </a:rPr>
              <a:t>craft</a:t>
            </a:r>
            <a:r>
              <a:rPr lang="en-IN" sz="2000" spc="-6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IN" sz="2000" spc="-25" dirty="0">
                <a:solidFill>
                  <a:srgbClr val="312E2D"/>
                </a:solidFill>
                <a:latin typeface="Trebuchet MS"/>
                <a:cs typeface="Trebuchet MS"/>
              </a:rPr>
              <a:t>bulletproof, </a:t>
            </a:r>
            <a:r>
              <a:rPr lang="en-IN" sz="2000" spc="130" dirty="0">
                <a:solidFill>
                  <a:srgbClr val="312E2D"/>
                </a:solidFill>
                <a:latin typeface="Trebuchet MS"/>
                <a:cs typeface="Trebuchet MS"/>
              </a:rPr>
              <a:t>paragraph</a:t>
            </a:r>
            <a:r>
              <a:rPr lang="en-IN" sz="2000" dirty="0">
                <a:solidFill>
                  <a:srgbClr val="312E2D"/>
                </a:solidFill>
                <a:latin typeface="Trebuchet MS"/>
                <a:cs typeface="Trebuchet MS"/>
              </a:rPr>
              <a:t>	</a:t>
            </a:r>
            <a:r>
              <a:rPr lang="en-IN" sz="2000" spc="-20" dirty="0">
                <a:solidFill>
                  <a:srgbClr val="312E2D"/>
                </a:solidFill>
                <a:latin typeface="Trebuchet MS"/>
                <a:cs typeface="Trebuchet MS"/>
              </a:rPr>
              <a:t>structures, </a:t>
            </a:r>
            <a:r>
              <a:rPr lang="en-US" sz="2000" spc="-10" dirty="0">
                <a:solidFill>
                  <a:srgbClr val="312E2D"/>
                </a:solidFill>
                <a:latin typeface="Trebuchet MS"/>
                <a:cs typeface="Trebuchet MS"/>
              </a:rPr>
              <a:t>apply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	</a:t>
            </a:r>
            <a:r>
              <a:rPr lang="en-US" sz="2000" spc="-10" dirty="0">
                <a:solidFill>
                  <a:srgbClr val="312E2D"/>
                </a:solidFill>
                <a:latin typeface="Trebuchet MS"/>
                <a:cs typeface="Trebuchet MS"/>
              </a:rPr>
              <a:t>executive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	</a:t>
            </a:r>
            <a:r>
              <a:rPr lang="en-US" sz="2000" spc="-20" dirty="0">
                <a:solidFill>
                  <a:srgbClr val="312E2D"/>
                </a:solidFill>
                <a:latin typeface="Trebuchet MS"/>
                <a:cs typeface="Trebuchet MS"/>
              </a:rPr>
              <a:t>BLUF </a:t>
            </a:r>
            <a:r>
              <a:rPr lang="en-US" sz="2000" spc="-10" dirty="0">
                <a:solidFill>
                  <a:srgbClr val="312E2D"/>
                </a:solidFill>
                <a:latin typeface="Trebuchet MS"/>
                <a:cs typeface="Trebuchet MS"/>
              </a:rPr>
              <a:t>strategies,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	</a:t>
            </a:r>
            <a:r>
              <a:rPr lang="en-US" sz="2000" spc="-10" dirty="0">
                <a:solidFill>
                  <a:srgbClr val="312E2D"/>
                </a:solidFill>
                <a:latin typeface="Trebuchet MS"/>
                <a:cs typeface="Trebuchet MS"/>
              </a:rPr>
              <a:t>strip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		</a:t>
            </a:r>
            <a:r>
              <a:rPr lang="en-US" sz="2000" spc="-95" dirty="0">
                <a:solidFill>
                  <a:srgbClr val="312E2D"/>
                </a:solidFill>
                <a:latin typeface="Trebuchet MS"/>
                <a:cs typeface="Trebuchet MS"/>
              </a:rPr>
              <a:t>out </a:t>
            </a:r>
            <a:r>
              <a:rPr lang="en-IN" sz="2000" spc="110" dirty="0">
                <a:solidFill>
                  <a:srgbClr val="312E2D"/>
                </a:solidFill>
                <a:latin typeface="Trebuchet MS"/>
                <a:cs typeface="Trebuchet MS"/>
              </a:rPr>
              <a:t>dense</a:t>
            </a:r>
            <a:r>
              <a:rPr lang="en-IN" sz="2000" spc="84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IN" sz="2000" dirty="0">
                <a:solidFill>
                  <a:srgbClr val="312E2D"/>
                </a:solidFill>
                <a:latin typeface="Trebuchet MS"/>
                <a:cs typeface="Trebuchet MS"/>
              </a:rPr>
              <a:t>corporate</a:t>
            </a:r>
            <a:r>
              <a:rPr lang="en-IN" sz="2000" spc="83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IN" sz="2000" spc="-20" dirty="0">
                <a:solidFill>
                  <a:srgbClr val="312E2D"/>
                </a:solidFill>
                <a:latin typeface="Trebuchet MS"/>
                <a:cs typeface="Trebuchet MS"/>
              </a:rPr>
              <a:t>jargon, </a:t>
            </a:r>
            <a:r>
              <a:rPr lang="en-US" sz="2000" spc="85" dirty="0">
                <a:solidFill>
                  <a:srgbClr val="312E2D"/>
                </a:solidFill>
                <a:latin typeface="Trebuchet MS"/>
                <a:cs typeface="Trebuchet MS"/>
              </a:rPr>
              <a:t>and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	</a:t>
            </a:r>
            <a:r>
              <a:rPr lang="en-US" sz="2000" spc="-25" dirty="0">
                <a:solidFill>
                  <a:srgbClr val="312E2D"/>
                </a:solidFill>
                <a:latin typeface="Trebuchet MS"/>
                <a:cs typeface="Trebuchet MS"/>
              </a:rPr>
              <a:t>intentionally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structure</a:t>
            </a:r>
            <a:r>
              <a:rPr lang="en-US" sz="2000" spc="83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files</a:t>
            </a:r>
            <a:r>
              <a:rPr lang="en-US" sz="2000" spc="83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dirty="0">
                <a:solidFill>
                  <a:srgbClr val="312E2D"/>
                </a:solidFill>
                <a:latin typeface="Trebuchet MS"/>
                <a:cs typeface="Trebuchet MS"/>
              </a:rPr>
              <a:t>for</a:t>
            </a:r>
            <a:r>
              <a:rPr lang="en-US" sz="2000" spc="84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z="2000" spc="75" dirty="0">
                <a:solidFill>
                  <a:srgbClr val="312E2D"/>
                </a:solidFill>
                <a:latin typeface="Trebuchet MS"/>
                <a:cs typeface="Trebuchet MS"/>
              </a:rPr>
              <a:t>rapid </a:t>
            </a:r>
            <a:r>
              <a:rPr lang="en-US" sz="2000" spc="70" dirty="0">
                <a:solidFill>
                  <a:srgbClr val="312E2D"/>
                </a:solidFill>
                <a:latin typeface="Trebuchet MS"/>
                <a:cs typeface="Trebuchet MS"/>
              </a:rPr>
              <a:t>scanning.</a:t>
            </a:r>
            <a:endParaRPr lang="en-US" sz="2000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IN" sz="2000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US" sz="2000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IN" sz="2000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IN" sz="2000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US" sz="1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83" y="2644053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041744" y="4105113"/>
            <a:ext cx="3870831" cy="5965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246" y="5020445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079645" y="4701706"/>
            <a:ext cx="10448818" cy="30777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pc="-10" dirty="0">
                <a:solidFill>
                  <a:srgbClr val="312E2D"/>
                </a:solidFill>
                <a:latin typeface="Trebuchet MS"/>
                <a:cs typeface="Trebuchet MS"/>
              </a:rPr>
              <a:t>At the end of the session students will learn to construct highly, </a:t>
            </a:r>
            <a:r>
              <a:rPr lang="en-IN" spc="-10" dirty="0">
                <a:solidFill>
                  <a:srgbClr val="312E2D"/>
                </a:solidFill>
                <a:latin typeface="Trebuchet MS"/>
                <a:cs typeface="Trebuchet MS"/>
              </a:rPr>
              <a:t>logical</a:t>
            </a:r>
            <a:r>
              <a:rPr lang="en-IN" dirty="0">
                <a:solidFill>
                  <a:srgbClr val="312E2D"/>
                </a:solidFill>
                <a:latin typeface="Trebuchet MS"/>
                <a:cs typeface="Trebuchet MS"/>
              </a:rPr>
              <a:t>	</a:t>
            </a:r>
            <a:r>
              <a:rPr lang="en-IN" spc="55" dirty="0">
                <a:solidFill>
                  <a:srgbClr val="312E2D"/>
                </a:solidFill>
                <a:latin typeface="Trebuchet MS"/>
                <a:cs typeface="Trebuchet MS"/>
              </a:rPr>
              <a:t>sequences </a:t>
            </a:r>
            <a:r>
              <a:rPr lang="en-US" dirty="0">
                <a:solidFill>
                  <a:srgbClr val="312E2D"/>
                </a:solidFill>
                <a:latin typeface="Trebuchet MS"/>
                <a:cs typeface="Trebuchet MS"/>
              </a:rPr>
              <a:t>simplify</a:t>
            </a:r>
            <a:r>
              <a:rPr lang="en-US" spc="-95" dirty="0">
                <a:solidFill>
                  <a:srgbClr val="312E2D"/>
                </a:solidFill>
                <a:latin typeface="Trebuchet MS"/>
                <a:cs typeface="Trebuchet MS"/>
              </a:rPr>
              <a:t>  </a:t>
            </a:r>
            <a:r>
              <a:rPr lang="en-US" dirty="0">
                <a:solidFill>
                  <a:srgbClr val="312E2D"/>
                </a:solidFill>
                <a:latin typeface="Trebuchet MS"/>
                <a:cs typeface="Trebuchet MS"/>
              </a:rPr>
              <a:t>heavy</a:t>
            </a:r>
            <a:r>
              <a:rPr lang="en-US" spc="-90" dirty="0">
                <a:solidFill>
                  <a:srgbClr val="312E2D"/>
                </a:solidFill>
                <a:latin typeface="Trebuchet MS"/>
                <a:cs typeface="Trebuchet MS"/>
              </a:rPr>
              <a:t>  </a:t>
            </a:r>
            <a:r>
              <a:rPr lang="en-US" spc="40" dirty="0">
                <a:solidFill>
                  <a:srgbClr val="312E2D"/>
                </a:solidFill>
                <a:latin typeface="Trebuchet MS"/>
                <a:cs typeface="Trebuchet MS"/>
              </a:rPr>
              <a:t>concepts </a:t>
            </a:r>
            <a:r>
              <a:rPr lang="en-US" dirty="0">
                <a:solidFill>
                  <a:srgbClr val="312E2D"/>
                </a:solidFill>
                <a:latin typeface="Trebuchet MS"/>
                <a:cs typeface="Trebuchet MS"/>
              </a:rPr>
              <a:t>without</a:t>
            </a:r>
            <a:r>
              <a:rPr lang="en-US" spc="9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pc="114" dirty="0">
                <a:solidFill>
                  <a:srgbClr val="312E2D"/>
                </a:solidFill>
                <a:latin typeface="Trebuchet MS"/>
                <a:cs typeface="Trebuchet MS"/>
              </a:rPr>
              <a:t>loss</a:t>
            </a:r>
            <a:r>
              <a:rPr lang="en-US" spc="9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dirty="0">
                <a:solidFill>
                  <a:srgbClr val="312E2D"/>
                </a:solidFill>
                <a:latin typeface="Trebuchet MS"/>
                <a:cs typeface="Trebuchet MS"/>
              </a:rPr>
              <a:t>of</a:t>
            </a:r>
            <a:r>
              <a:rPr lang="en-US" spc="95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pc="-10" dirty="0">
                <a:solidFill>
                  <a:srgbClr val="312E2D"/>
                </a:solidFill>
                <a:latin typeface="Trebuchet MS"/>
                <a:cs typeface="Trebuchet MS"/>
              </a:rPr>
              <a:t>meaning, </a:t>
            </a:r>
            <a:r>
              <a:rPr lang="en-US" spc="110" dirty="0">
                <a:solidFill>
                  <a:srgbClr val="312E2D"/>
                </a:solidFill>
                <a:latin typeface="Trebuchet MS"/>
                <a:cs typeface="Trebuchet MS"/>
              </a:rPr>
              <a:t>and</a:t>
            </a:r>
            <a:r>
              <a:rPr lang="en-US" spc="16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dirty="0">
                <a:solidFill>
                  <a:srgbClr val="312E2D"/>
                </a:solidFill>
                <a:latin typeface="Trebuchet MS"/>
                <a:cs typeface="Trebuchet MS"/>
              </a:rPr>
              <a:t>dramatically</a:t>
            </a:r>
            <a:r>
              <a:rPr lang="en-US" spc="17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lang="en-US" spc="-10" dirty="0">
                <a:solidFill>
                  <a:srgbClr val="312E2D"/>
                </a:solidFill>
                <a:latin typeface="Trebuchet MS"/>
                <a:cs typeface="Trebuchet MS"/>
              </a:rPr>
              <a:t>elevate </a:t>
            </a:r>
            <a:r>
              <a:rPr lang="en-IN" spc="-10" dirty="0">
                <a:solidFill>
                  <a:srgbClr val="312E2D"/>
                </a:solidFill>
                <a:latin typeface="Trebuchet MS"/>
                <a:cs typeface="Trebuchet MS"/>
              </a:rPr>
              <a:t>workplace </a:t>
            </a:r>
            <a:r>
              <a:rPr lang="en-IN" spc="100" dirty="0">
                <a:solidFill>
                  <a:srgbClr val="312E2D"/>
                </a:solidFill>
                <a:latin typeface="Trebuchet MS"/>
                <a:cs typeface="Trebuchet MS"/>
              </a:rPr>
              <a:t>reading </a:t>
            </a:r>
            <a:r>
              <a:rPr lang="en-IN" spc="150" dirty="0">
                <a:solidFill>
                  <a:srgbClr val="312E2D"/>
                </a:solidFill>
                <a:latin typeface="Trebuchet MS"/>
                <a:cs typeface="Trebuchet MS"/>
              </a:rPr>
              <a:t>speeds.</a:t>
            </a:r>
            <a:endParaRPr lang="en-IN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US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US" dirty="0">
              <a:latin typeface="Trebuchet MS"/>
              <a:cs typeface="Trebuchet MS"/>
            </a:endParaRPr>
          </a:p>
          <a:p>
            <a:pPr>
              <a:lnSpc>
                <a:spcPct val="200000"/>
              </a:lnSpc>
            </a:pPr>
            <a:endParaRPr lang="en-US" i="0" dirty="0">
              <a:effectLst/>
              <a:latin typeface="Arial"/>
              <a:cs typeface="Arial"/>
            </a:endParaRPr>
          </a:p>
          <a:p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489753" y="84673"/>
            <a:ext cx="9955657" cy="131150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Session deals with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DC1C8-4A2E-08F0-48CF-ACACD2D4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7" y="1561672"/>
            <a:ext cx="11835830" cy="4664467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spc="340" dirty="0">
                <a:solidFill>
                  <a:srgbClr val="312E2D"/>
                </a:solidFill>
                <a:latin typeface="Trebuchet MS"/>
                <a:cs typeface="Trebuchet MS"/>
              </a:rPr>
              <a:t>I</a:t>
            </a:r>
            <a:r>
              <a:rPr lang="en-US" spc="340" dirty="0">
                <a:solidFill>
                  <a:srgbClr val="312E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spc="340" dirty="0">
                <a:solidFill>
                  <a:srgbClr val="312E2D"/>
                </a:solidFill>
                <a:cs typeface="Times New Roman" panose="02020603050405020304" pitchFamily="18" charset="0"/>
              </a:rPr>
              <a:t>Developing</a:t>
            </a:r>
            <a:r>
              <a:rPr lang="en-US" b="1" spc="555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50" dirty="0">
                <a:solidFill>
                  <a:srgbClr val="312E2D"/>
                </a:solidFill>
                <a:cs typeface="Times New Roman" panose="02020603050405020304" pitchFamily="18" charset="0"/>
              </a:rPr>
              <a:t>the</a:t>
            </a:r>
            <a:r>
              <a:rPr lang="en-US" b="1" spc="560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80" dirty="0">
                <a:solidFill>
                  <a:srgbClr val="312E2D"/>
                </a:solidFill>
                <a:cs typeface="Times New Roman" panose="02020603050405020304" pitchFamily="18" charset="0"/>
              </a:rPr>
              <a:t>art</a:t>
            </a:r>
            <a:r>
              <a:rPr lang="en-US" b="1" spc="560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312E2D"/>
                </a:solidFill>
                <a:cs typeface="Times New Roman" panose="02020603050405020304" pitchFamily="18" charset="0"/>
              </a:rPr>
              <a:t>of</a:t>
            </a:r>
            <a:r>
              <a:rPr lang="en-US" b="1" spc="555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285" dirty="0">
                <a:solidFill>
                  <a:srgbClr val="312E2D"/>
                </a:solidFill>
                <a:cs typeface="Times New Roman" panose="02020603050405020304" pitchFamily="18" charset="0"/>
              </a:rPr>
              <a:t>logical</a:t>
            </a:r>
            <a:r>
              <a:rPr lang="en-US" b="1" spc="560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110" dirty="0">
                <a:solidFill>
                  <a:srgbClr val="312E2D"/>
                </a:solidFill>
                <a:cs typeface="Times New Roman" panose="02020603050405020304" pitchFamily="18" charset="0"/>
              </a:rPr>
              <a:t>clarity,</a:t>
            </a:r>
            <a:r>
              <a:rPr lang="en-US" b="1" spc="560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365" dirty="0">
                <a:solidFill>
                  <a:srgbClr val="312E2D"/>
                </a:solidFill>
                <a:cs typeface="Times New Roman" panose="02020603050405020304" pitchFamily="18" charset="0"/>
              </a:rPr>
              <a:t>scannable </a:t>
            </a:r>
            <a:r>
              <a:rPr lang="en-US" b="1" spc="240" dirty="0">
                <a:solidFill>
                  <a:srgbClr val="312E2D"/>
                </a:solidFill>
                <a:cs typeface="Times New Roman" panose="02020603050405020304" pitchFamily="18" charset="0"/>
              </a:rPr>
              <a:t>document</a:t>
            </a:r>
            <a:r>
              <a:rPr lang="en-US" b="1" spc="540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310" dirty="0">
                <a:solidFill>
                  <a:srgbClr val="312E2D"/>
                </a:solidFill>
                <a:cs typeface="Times New Roman" panose="02020603050405020304" pitchFamily="18" charset="0"/>
              </a:rPr>
              <a:t>design,</a:t>
            </a:r>
            <a:r>
              <a:rPr lang="en-US" b="1" spc="545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325" dirty="0">
                <a:solidFill>
                  <a:srgbClr val="312E2D"/>
                </a:solidFill>
                <a:cs typeface="Times New Roman" panose="02020603050405020304" pitchFamily="18" charset="0"/>
              </a:rPr>
              <a:t>and</a:t>
            </a:r>
            <a:r>
              <a:rPr lang="en-US" b="1" spc="540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190" dirty="0">
                <a:solidFill>
                  <a:srgbClr val="312E2D"/>
                </a:solidFill>
                <a:cs typeface="Times New Roman" panose="02020603050405020304" pitchFamily="18" charset="0"/>
              </a:rPr>
              <a:t>direct</a:t>
            </a:r>
            <a:r>
              <a:rPr lang="en-US" b="1" spc="545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  <a:r>
              <a:rPr lang="en-US" b="1" spc="250" dirty="0">
                <a:solidFill>
                  <a:srgbClr val="312E2D"/>
                </a:solidFill>
                <a:cs typeface="Times New Roman" panose="02020603050405020304" pitchFamily="18" charset="0"/>
              </a:rPr>
              <a:t>leader</a:t>
            </a:r>
            <a:r>
              <a:rPr lang="en-US" b="1" spc="540" dirty="0">
                <a:solidFill>
                  <a:srgbClr val="312E2D"/>
                </a:solidFill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200000"/>
              </a:lnSpc>
            </a:pPr>
            <a:r>
              <a:rPr lang="en-US" b="1" spc="540" dirty="0">
                <a:solidFill>
                  <a:srgbClr val="312E2D"/>
                </a:solidFill>
                <a:cs typeface="Times New Roman" panose="02020603050405020304" pitchFamily="18" charset="0"/>
              </a:rPr>
              <a:t>II. </a:t>
            </a:r>
            <a:r>
              <a:rPr lang="en-IN" b="1" spc="265" dirty="0">
                <a:cs typeface="Times New Roman" panose="02020603050405020304" pitchFamily="18" charset="0"/>
              </a:rPr>
              <a:t>Logical</a:t>
            </a:r>
            <a:r>
              <a:rPr lang="en-IN" b="1" spc="455" dirty="0">
                <a:cs typeface="Times New Roman" panose="02020603050405020304" pitchFamily="18" charset="0"/>
              </a:rPr>
              <a:t> </a:t>
            </a:r>
            <a:r>
              <a:rPr lang="en-IN" b="1" spc="-355" dirty="0">
                <a:cs typeface="Times New Roman" panose="02020603050405020304" pitchFamily="18" charset="0"/>
              </a:rPr>
              <a:t>f</a:t>
            </a:r>
            <a:r>
              <a:rPr lang="en-IN" b="1" spc="-740" dirty="0">
                <a:cs typeface="Times New Roman" panose="02020603050405020304" pitchFamily="18" charset="0"/>
              </a:rPr>
              <a:t> </a:t>
            </a:r>
            <a:r>
              <a:rPr lang="en-IN" b="1" spc="80" dirty="0">
                <a:cs typeface="Times New Roman" panose="02020603050405020304" pitchFamily="18" charset="0"/>
              </a:rPr>
              <a:t>low</a:t>
            </a:r>
            <a:r>
              <a:rPr lang="en-IN" b="1" spc="455" dirty="0">
                <a:cs typeface="Times New Roman" panose="02020603050405020304" pitchFamily="18" charset="0"/>
              </a:rPr>
              <a:t> </a:t>
            </a:r>
            <a:r>
              <a:rPr lang="en-IN" b="1" spc="-655" dirty="0">
                <a:cs typeface="Times New Roman" panose="02020603050405020304" pitchFamily="18" charset="0"/>
              </a:rPr>
              <a:t>&amp;</a:t>
            </a:r>
            <a:r>
              <a:rPr lang="en-IN" b="1" spc="459" dirty="0">
                <a:cs typeface="Times New Roman" panose="02020603050405020304" pitchFamily="18" charset="0"/>
              </a:rPr>
              <a:t> </a:t>
            </a:r>
            <a:r>
              <a:rPr lang="en-IN" b="1" spc="160" dirty="0">
                <a:cs typeface="Times New Roman" panose="02020603050405020304" pitchFamily="18" charset="0"/>
              </a:rPr>
              <a:t>BLUF</a:t>
            </a:r>
          </a:p>
          <a:p>
            <a:pPr algn="just">
              <a:lnSpc>
                <a:spcPct val="200000"/>
              </a:lnSpc>
            </a:pPr>
            <a:r>
              <a:rPr lang="en-IN" b="1" spc="204" dirty="0">
                <a:cs typeface="Times New Roman" panose="02020603050405020304" pitchFamily="18" charset="0"/>
              </a:rPr>
              <a:t>III. Plain</a:t>
            </a:r>
            <a:r>
              <a:rPr lang="en-IN" b="1" spc="470" dirty="0">
                <a:cs typeface="Times New Roman" panose="02020603050405020304" pitchFamily="18" charset="0"/>
              </a:rPr>
              <a:t> </a:t>
            </a:r>
            <a:r>
              <a:rPr lang="en-IN" b="1" spc="360" dirty="0">
                <a:cs typeface="Times New Roman" panose="02020603050405020304" pitchFamily="18" charset="0"/>
              </a:rPr>
              <a:t>Language</a:t>
            </a:r>
            <a:r>
              <a:rPr lang="en-IN" b="1" spc="470" dirty="0">
                <a:cs typeface="Times New Roman" panose="02020603050405020304" pitchFamily="18" charset="0"/>
              </a:rPr>
              <a:t> </a:t>
            </a:r>
            <a:r>
              <a:rPr lang="en-IN" b="1" spc="275" dirty="0">
                <a:cs typeface="Times New Roman" panose="02020603050405020304" pitchFamily="18" charset="0"/>
              </a:rPr>
              <a:t>Techniques</a:t>
            </a:r>
          </a:p>
          <a:p>
            <a:pPr algn="just">
              <a:lnSpc>
                <a:spcPct val="200000"/>
              </a:lnSpc>
            </a:pPr>
            <a:r>
              <a:rPr lang="en-IN" b="1" spc="275" dirty="0">
                <a:cs typeface="Times New Roman" panose="02020603050405020304" pitchFamily="18" charset="0"/>
              </a:rPr>
              <a:t>IV. Designing for </a:t>
            </a:r>
            <a:r>
              <a:rPr lang="en-IN" b="1" spc="275" dirty="0" err="1">
                <a:cs typeface="Times New Roman" panose="02020603050405020304" pitchFamily="18" charset="0"/>
              </a:rPr>
              <a:t>Scannability</a:t>
            </a:r>
            <a:endParaRPr lang="en-IN" b="1" spc="275" dirty="0"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Scannability</a:t>
            </a:r>
            <a:endParaRPr lang="en-US" dirty="0"/>
          </a:p>
          <a:p>
            <a:pPr algn="just">
              <a:lnSpc>
                <a:spcPct val="200000"/>
              </a:lnSpc>
            </a:pPr>
            <a:endParaRPr lang="en-IN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7286" y="228600"/>
            <a:ext cx="9660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2400" b="1" kern="0" spc="2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1- PARAGRAPH MECHANICS: Structuring Writing </a:t>
            </a:r>
            <a:endParaRPr lang="en-US" sz="2400" b="1" dirty="0"/>
          </a:p>
        </p:txBody>
      </p:sp>
      <p:sp>
        <p:nvSpPr>
          <p:cNvPr id="3" name="Text 1"/>
          <p:cNvSpPr/>
          <p:nvPr/>
        </p:nvSpPr>
        <p:spPr>
          <a:xfrm>
            <a:off x="631370" y="960120"/>
            <a:ext cx="104328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a Paragraph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77824" y="1252728"/>
            <a:ext cx="10744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structured writing functions like architectural pillars. A high-performance paragraph relies on three distinct pillars to support the reader’s understanding</a:t>
            </a: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88820" y="2423160"/>
            <a:ext cx="640080" cy="640080"/>
          </a:xfrm>
          <a:prstGeom prst="ellipse">
            <a:avLst/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9888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Sentence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77647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the core focus immediately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480560"/>
            <a:ext cx="2606040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“Remote work improves employee productivity.”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25112" y="214884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F4E5F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65292" y="2423160"/>
            <a:ext cx="640080" cy="640080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65292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53712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Details</a:t>
            </a:r>
            <a:endParaRPr lang="en-US" sz="2000" b="1" dirty="0"/>
          </a:p>
        </p:txBody>
      </p:sp>
      <p:sp>
        <p:nvSpPr>
          <p:cNvPr id="16" name="Text 14"/>
          <p:cNvSpPr/>
          <p:nvPr/>
        </p:nvSpPr>
        <p:spPr>
          <a:xfrm>
            <a:off x="4599432" y="377647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Explains, proves, or illustrates the claim.</a:t>
            </a:r>
            <a:endParaRPr lang="en-US" b="1" dirty="0"/>
          </a:p>
        </p:txBody>
      </p:sp>
      <p:sp>
        <p:nvSpPr>
          <p:cNvPr id="17" name="Shape 15"/>
          <p:cNvSpPr/>
          <p:nvPr/>
        </p:nvSpPr>
        <p:spPr>
          <a:xfrm>
            <a:off x="4782312" y="4480560"/>
            <a:ext cx="2606040" cy="0"/>
          </a:xfrm>
          <a:prstGeom prst="line">
            <a:avLst/>
          </a:prstGeom>
          <a:noFill/>
          <a:ln w="12700">
            <a:solidFill>
              <a:srgbClr val="3E7B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99432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“Fewer interruptions and zero commute time allow deep-work concentration.”</a:t>
            </a:r>
            <a:endParaRPr lang="en-US" sz="1600" b="1" dirty="0"/>
          </a:p>
        </p:txBody>
      </p:sp>
      <p:sp>
        <p:nvSpPr>
          <p:cNvPr id="19" name="Shape 17"/>
          <p:cNvSpPr/>
          <p:nvPr/>
        </p:nvSpPr>
        <p:spPr>
          <a:xfrm>
            <a:off x="8101584" y="214884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541764" y="2423160"/>
            <a:ext cx="640080" cy="640080"/>
          </a:xfrm>
          <a:prstGeom prst="ellipse">
            <a:avLst/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541764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30184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Sentence</a:t>
            </a:r>
            <a:endParaRPr lang="en-US" sz="2400" b="1" dirty="0"/>
          </a:p>
        </p:txBody>
      </p:sp>
      <p:sp>
        <p:nvSpPr>
          <p:cNvPr id="23" name="Text 21"/>
          <p:cNvSpPr/>
          <p:nvPr/>
        </p:nvSpPr>
        <p:spPr>
          <a:xfrm>
            <a:off x="8375904" y="377647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cleanly to the next concept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58784" y="4480560"/>
            <a:ext cx="2606040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375904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2000" i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“However, improvements rely on clear collaboration tools.”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8" name="Picture 2" descr="KL Deemed to be University Logo">
            <a:extLst>
              <a:ext uri="{FF2B5EF4-FFF2-40B4-BE49-F238E27FC236}">
                <a16:creationId xmlns:a16="http://schemas.microsoft.com/office/drawing/2014/main" id="{374312CA-8881-0149-9F22-DAA6A1888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D7557-D119-7BBC-3662-DC28F832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13D54E-71D6-6148-6164-3ED7FF800F14}"/>
              </a:ext>
            </a:extLst>
          </p:cNvPr>
          <p:cNvSpPr txBox="1"/>
          <p:nvPr/>
        </p:nvSpPr>
        <p:spPr>
          <a:xfrm>
            <a:off x="401718" y="3899481"/>
            <a:ext cx="11274637" cy="56254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3600" spc="83" dirty="0">
                <a:solidFill>
                  <a:srgbClr val="312E2D"/>
                </a:solidFill>
                <a:latin typeface="Trebuchet MS"/>
                <a:cs typeface="Trebuchet MS"/>
              </a:rPr>
              <a:t>Guiding</a:t>
            </a:r>
            <a:r>
              <a:rPr sz="3600" spc="-4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3600" spc="-13" dirty="0">
                <a:solidFill>
                  <a:srgbClr val="312E2D"/>
                </a:solidFill>
                <a:latin typeface="Trebuchet MS"/>
                <a:cs typeface="Trebuchet MS"/>
              </a:rPr>
              <a:t>the</a:t>
            </a:r>
            <a:r>
              <a:rPr sz="3600" spc="-4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312E2D"/>
                </a:solidFill>
                <a:latin typeface="Trebuchet MS"/>
                <a:cs typeface="Trebuchet MS"/>
              </a:rPr>
              <a:t>reader’s</a:t>
            </a:r>
            <a:r>
              <a:rPr sz="3600" spc="-4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312E2D"/>
                </a:solidFill>
                <a:latin typeface="Trebuchet MS"/>
                <a:cs typeface="Trebuchet MS"/>
              </a:rPr>
              <a:t>eye</a:t>
            </a:r>
            <a:r>
              <a:rPr sz="3600" spc="-4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312E2D"/>
                </a:solidFill>
                <a:latin typeface="Trebuchet MS"/>
                <a:cs typeface="Trebuchet MS"/>
              </a:rPr>
              <a:t>smoothly</a:t>
            </a:r>
            <a:r>
              <a:rPr sz="3600" spc="-4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3600" spc="33" dirty="0">
                <a:solidFill>
                  <a:srgbClr val="312E2D"/>
                </a:solidFill>
                <a:latin typeface="Trebuchet MS"/>
                <a:cs typeface="Trebuchet MS"/>
              </a:rPr>
              <a:t>through</a:t>
            </a:r>
            <a:r>
              <a:rPr sz="3600" spc="-4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3600" spc="63" dirty="0">
                <a:solidFill>
                  <a:srgbClr val="312E2D"/>
                </a:solidFill>
                <a:latin typeface="Trebuchet MS"/>
                <a:cs typeface="Trebuchet MS"/>
              </a:rPr>
              <a:t>arguments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E5B9F1A9-7860-A391-250C-29474E8207E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67961" y="1602501"/>
            <a:ext cx="5501163" cy="1896502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sz="6134" spc="-247" dirty="0"/>
              <a:t>Establishing</a:t>
            </a:r>
            <a:r>
              <a:rPr sz="6134" spc="-93" dirty="0"/>
              <a:t> </a:t>
            </a:r>
            <a:r>
              <a:rPr sz="6134" spc="-30" dirty="0"/>
              <a:t>Logical</a:t>
            </a:r>
            <a:r>
              <a:rPr sz="6134" spc="-207" dirty="0"/>
              <a:t> </a:t>
            </a:r>
            <a:r>
              <a:rPr sz="6134" spc="-13" dirty="0"/>
              <a:t>Flow</a:t>
            </a:r>
            <a:endParaRPr sz="6134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01B5479-C83D-BC6D-600C-10CD096349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4863" y="1923750"/>
            <a:ext cx="2705099" cy="82549"/>
          </a:xfrm>
          <a:prstGeom prst="rect">
            <a:avLst/>
          </a:prstGeom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A8CDEF36-EB96-CAEC-C4C4-56A126FC159C}"/>
              </a:ext>
            </a:extLst>
          </p:cNvPr>
          <p:cNvSpPr/>
          <p:nvPr/>
        </p:nvSpPr>
        <p:spPr>
          <a:xfrm>
            <a:off x="1489753" y="84673"/>
            <a:ext cx="9955657" cy="131150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PART 2</a:t>
            </a:r>
          </a:p>
        </p:txBody>
      </p:sp>
      <p:pic>
        <p:nvPicPr>
          <p:cNvPr id="8" name="Picture 2" descr="KL Deemed to be University Logo">
            <a:extLst>
              <a:ext uri="{FF2B5EF4-FFF2-40B4-BE49-F238E27FC236}">
                <a16:creationId xmlns:a16="http://schemas.microsoft.com/office/drawing/2014/main" id="{14D4191A-D45A-7214-E781-B9D308284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643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1148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SEQUENCING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of Minimal Cognitive Friction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logical sequence reduces confusion, improves understanding, and strengthens arguments by leading the reader through a natural progression of ideas.</a:t>
            </a:r>
            <a:endParaRPr lang="en-US" sz="20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68096" y="220370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asset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3134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87752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320040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premise upfront</a:t>
            </a:r>
            <a:r>
              <a:rPr lang="en-US" sz="2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9808" y="3931920"/>
            <a:ext cx="2139696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49808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2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Reading regularly improves vocabulary</a:t>
            </a:r>
            <a:r>
              <a:rPr lang="en-US" sz="1100" i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90672" y="33604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9184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511296" y="220370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assets/icon_help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231343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30952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93008" y="288036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2000" b="1" dirty="0"/>
          </a:p>
        </p:txBody>
      </p:sp>
      <p:sp>
        <p:nvSpPr>
          <p:cNvPr id="19" name="Text 15"/>
          <p:cNvSpPr/>
          <p:nvPr/>
        </p:nvSpPr>
        <p:spPr>
          <a:xfrm>
            <a:off x="3493008" y="320040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mechanics of how and why</a:t>
            </a: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493008" y="3931920"/>
            <a:ext cx="2139696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3493008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diverse texts introduces new words.</a:t>
            </a:r>
            <a:endParaRPr lang="en-US" b="1" dirty="0"/>
          </a:p>
        </p:txBody>
      </p:sp>
      <p:sp>
        <p:nvSpPr>
          <p:cNvPr id="22" name="Text 18"/>
          <p:cNvSpPr/>
          <p:nvPr/>
        </p:nvSpPr>
        <p:spPr>
          <a:xfrm>
            <a:off x="5833872" y="33604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03504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254496" y="220370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2" descr="assets/icon_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313432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074152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236208" y="288036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b="1" dirty="0"/>
          </a:p>
        </p:txBody>
      </p:sp>
      <p:sp>
        <p:nvSpPr>
          <p:cNvPr id="28" name="Text 23"/>
          <p:cNvSpPr/>
          <p:nvPr/>
        </p:nvSpPr>
        <p:spPr>
          <a:xfrm>
            <a:off x="6236208" y="320040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 the claim with data or proof</a:t>
            </a: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36208" y="3931920"/>
            <a:ext cx="2139696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6236208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Regular readers show a 40% larger lexicon.</a:t>
            </a:r>
            <a:endParaRPr lang="en-US" b="1" dirty="0"/>
          </a:p>
        </p:txBody>
      </p:sp>
      <p:sp>
        <p:nvSpPr>
          <p:cNvPr id="31" name="Text 26"/>
          <p:cNvSpPr/>
          <p:nvPr/>
        </p:nvSpPr>
        <p:spPr>
          <a:xfrm>
            <a:off x="8577072" y="33604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877824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8997696" y="220370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3" descr="assets/icon_thumbs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2313432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817352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8979408" y="2880360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7" name="Text 31"/>
          <p:cNvSpPr/>
          <p:nvPr/>
        </p:nvSpPr>
        <p:spPr>
          <a:xfrm>
            <a:off x="8979408" y="3200400"/>
            <a:ext cx="21396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Summarize value and close the loop.</a:t>
            </a:r>
            <a:endParaRPr lang="en-US" b="1" dirty="0"/>
          </a:p>
        </p:txBody>
      </p:sp>
      <p:sp>
        <p:nvSpPr>
          <p:cNvPr id="38" name="Shape 32"/>
          <p:cNvSpPr/>
          <p:nvPr/>
        </p:nvSpPr>
        <p:spPr>
          <a:xfrm>
            <a:off x="8979408" y="3931920"/>
            <a:ext cx="2139696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8979408" y="4069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Thus, regular reading fuels language power.</a:t>
            </a:r>
            <a:endParaRPr lang="en-US" b="1" dirty="0"/>
          </a:p>
        </p:txBody>
      </p:sp>
      <p:sp>
        <p:nvSpPr>
          <p:cNvPr id="40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42" name="Picture 2" descr="KL Deemed to be University Logo">
            <a:extLst>
              <a:ext uri="{FF2B5EF4-FFF2-40B4-BE49-F238E27FC236}">
                <a16:creationId xmlns:a16="http://schemas.microsoft.com/office/drawing/2014/main" id="{409B9E25-7418-A119-1074-7F7DEEFCD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78342"/>
            <a:ext cx="1730829" cy="5217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62200" y="228600"/>
            <a:ext cx="550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74914" y="777240"/>
            <a:ext cx="10389326" cy="696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b="1" dirty="0">
              <a:solidFill>
                <a:srgbClr val="1B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BLUF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5F7F8"/>
          </a:solidFill>
          <a:ln w="12700">
            <a:solidFill>
              <a:srgbClr val="E3E8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WRITING STYLE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Buries the conclusion at the bottom of long, winding background narratives — busy executives lose interest before arriving at the point.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674914" y="3063240"/>
            <a:ext cx="4617720" cy="868680"/>
          </a:xfrm>
          <a:prstGeom prst="rect">
            <a:avLst/>
          </a:prstGeom>
          <a:solidFill>
            <a:srgbClr val="AEB9BE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4069080" cy="868680"/>
          </a:xfrm>
          <a:prstGeom prst="rect">
            <a:avLst/>
          </a:prstGeom>
          <a:solidFill>
            <a:srgbClr val="AEB9BE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43000" y="41148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000" b="1" dirty="0"/>
          </a:p>
        </p:txBody>
      </p:sp>
      <p:sp>
        <p:nvSpPr>
          <p:cNvPr id="11" name="Shape 9"/>
          <p:cNvSpPr/>
          <p:nvPr/>
        </p:nvSpPr>
        <p:spPr>
          <a:xfrm>
            <a:off x="1143000" y="5097780"/>
            <a:ext cx="3337560" cy="868680"/>
          </a:xfrm>
          <a:prstGeom prst="rect">
            <a:avLst/>
          </a:prstGeom>
          <a:solidFill>
            <a:srgbClr val="D97B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508760" y="50749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b="1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 STYLE (INVERTED PYRAMID)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the action or decision immediately — in under 3 seconds — followed by high-level reasons, then optional background detail.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492240" y="3154680"/>
            <a:ext cx="4800600" cy="868680"/>
          </a:xfrm>
          <a:prstGeom prst="rect">
            <a:avLst/>
          </a:prstGeom>
          <a:solidFill>
            <a:srgbClr val="D97B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 (Up Front)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766560" y="4114800"/>
            <a:ext cx="4251960" cy="8686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66560" y="41148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132320" y="5074920"/>
            <a:ext cx="3520440" cy="8686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0" y="5074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24" name="Picture 2" descr="KL Deemed to be University Logo">
            <a:extLst>
              <a:ext uri="{FF2B5EF4-FFF2-40B4-BE49-F238E27FC236}">
                <a16:creationId xmlns:a16="http://schemas.microsoft.com/office/drawing/2014/main" id="{73352550-8B54-254B-E184-E8D43B5B7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274" y="67076"/>
            <a:ext cx="1607898" cy="484678"/>
          </a:xfrm>
          <a:prstGeom prst="rect">
            <a:avLst/>
          </a:prstGeom>
          <a:noFill/>
        </p:spPr>
      </p:pic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ABF76E74-0619-B077-2F59-754C01949414}"/>
              </a:ext>
            </a:extLst>
          </p:cNvPr>
          <p:cNvSpPr/>
          <p:nvPr/>
        </p:nvSpPr>
        <p:spPr>
          <a:xfrm>
            <a:off x="1797978" y="70605"/>
            <a:ext cx="9795308" cy="69631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spc="-140" dirty="0"/>
              <a:t>PART 2: Executive</a:t>
            </a:r>
            <a:r>
              <a:rPr lang="en-US" sz="4000" spc="-80" dirty="0"/>
              <a:t> </a:t>
            </a:r>
            <a:r>
              <a:rPr lang="en-US" sz="4000" spc="-105" dirty="0"/>
              <a:t>writing:</a:t>
            </a:r>
            <a:r>
              <a:rPr lang="en-US" sz="4000" spc="-80" dirty="0"/>
              <a:t> </a:t>
            </a:r>
            <a:r>
              <a:rPr lang="en-US" sz="4000" spc="90" dirty="0"/>
              <a:t>The</a:t>
            </a:r>
            <a:r>
              <a:rPr lang="en-US" sz="4000" spc="-80" dirty="0"/>
              <a:t> </a:t>
            </a:r>
            <a:r>
              <a:rPr lang="en-US" sz="4000" spc="385" dirty="0"/>
              <a:t>BLUF</a:t>
            </a:r>
            <a:r>
              <a:rPr lang="en-US" sz="4000" spc="-80" dirty="0"/>
              <a:t> </a:t>
            </a:r>
            <a:r>
              <a:rPr lang="en-US" sz="4000" spc="-130" dirty="0"/>
              <a:t>Approach</a:t>
            </a:r>
            <a:endParaRPr lang="en-IN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31772" y="320040"/>
            <a:ext cx="40320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BLUF: Actionable Case Study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8"/>
          </a:solidFill>
          <a:ln w="19050">
            <a:solidFill>
              <a:srgbClr val="E5A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NARRATIVE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400" b="1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carefully reviewing the survey results, customer feedback, and program alignment — and debating multiple resource constraints and options — the committee recommends revising the training program.”</a:t>
            </a:r>
            <a:endParaRPr lang="en-US" sz="2400" b="1" dirty="0"/>
          </a:p>
        </p:txBody>
      </p:sp>
      <p:sp>
        <p:nvSpPr>
          <p:cNvPr id="7" name="Shape 5"/>
          <p:cNvSpPr/>
          <p:nvPr/>
        </p:nvSpPr>
        <p:spPr>
          <a:xfrm>
            <a:off x="868680" y="4297680"/>
            <a:ext cx="4709160" cy="0"/>
          </a:xfrm>
          <a:prstGeom prst="line">
            <a:avLst/>
          </a:prstGeom>
          <a:noFill/>
          <a:ln w="12700">
            <a:solidFill>
              <a:srgbClr val="E5A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b="1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recommendation is buried at the absolute end.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BLUF STYLE</a:t>
            </a:r>
            <a:endParaRPr lang="en-US" b="1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 recommends revising the training program because survey results indicate low participant satisfaction.”</a:t>
            </a:r>
            <a:endParaRPr lang="en-US" sz="1350" b="1" dirty="0"/>
          </a:p>
        </p:txBody>
      </p:sp>
      <p:sp>
        <p:nvSpPr>
          <p:cNvPr id="13" name="Shape 11"/>
          <p:cNvSpPr/>
          <p:nvPr/>
        </p:nvSpPr>
        <p:spPr>
          <a:xfrm>
            <a:off x="6583680" y="4297680"/>
            <a:ext cx="4709160" cy="0"/>
          </a:xfrm>
          <a:prstGeom prst="line">
            <a:avLst/>
          </a:prstGeom>
          <a:noFill/>
          <a:ln w="12700">
            <a:solidFill>
              <a:srgbClr val="3E7B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44348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6583680" y="47091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2000" b="1" dirty="0">
                <a:solidFill>
                  <a:srgbClr val="D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action is understood instantly — in under 3 seconds.</a:t>
            </a:r>
            <a:endParaRPr lang="en-US" sz="2000" b="1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18" name="Picture 2" descr="KL Deemed to be University Logo">
            <a:extLst>
              <a:ext uri="{FF2B5EF4-FFF2-40B4-BE49-F238E27FC236}">
                <a16:creationId xmlns:a16="http://schemas.microsoft.com/office/drawing/2014/main" id="{C61A6C03-9D6D-9853-AD3F-227D1CFD2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21615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plain-language strategy is replacing dense, academic phrasing with direct, everyday alternatives that speed up reading time.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/ DENSE CHOICE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1874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ALTERNATIVE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strike="sngStrike" dirty="0">
                <a:solidFill>
                  <a:srgbClr val="9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</a:t>
            </a:r>
            <a:endParaRPr lang="en-US" sz="1350" dirty="0"/>
          </a:p>
        </p:txBody>
      </p:sp>
      <p:pic>
        <p:nvPicPr>
          <p:cNvPr id="11" name="Image 0" descr="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63804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480560" y="2377440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498080" y="2377440"/>
            <a:ext cx="38404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overcomplicate basic, functional actions.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172968"/>
            <a:ext cx="11064240" cy="795528"/>
          </a:xfrm>
          <a:prstGeom prst="rect">
            <a:avLst/>
          </a:prstGeom>
          <a:solidFill>
            <a:srgbClr val="F5F7F8"/>
          </a:solidFill>
          <a:ln w="9525">
            <a:solidFill>
              <a:srgbClr val="E7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22960" y="3172968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strike="sngStrike" dirty="0">
                <a:solidFill>
                  <a:srgbClr val="9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to</a:t>
            </a:r>
            <a:endParaRPr lang="en-US" sz="1350" dirty="0"/>
          </a:p>
        </p:txBody>
      </p:sp>
      <p:pic>
        <p:nvPicPr>
          <p:cNvPr id="16" name="Image 1" descr="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43357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0560" y="3172968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498080" y="3172968"/>
            <a:ext cx="38404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prepositional phrases decrease cognitive load.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3968496"/>
            <a:ext cx="1106424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22960" y="3968496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strike="sngStrike" dirty="0">
                <a:solidFill>
                  <a:srgbClr val="9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</a:t>
            </a:r>
            <a:endParaRPr lang="en-US" sz="1350" dirty="0"/>
          </a:p>
        </p:txBody>
      </p:sp>
      <p:pic>
        <p:nvPicPr>
          <p:cNvPr id="21" name="Image 2" descr="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422910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0560" y="3968496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498080" y="3968496"/>
            <a:ext cx="38404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overly bureaucratic support verbs.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4764024"/>
            <a:ext cx="11064240" cy="795528"/>
          </a:xfrm>
          <a:prstGeom prst="rect">
            <a:avLst/>
          </a:prstGeom>
          <a:solidFill>
            <a:srgbClr val="F5F7F8"/>
          </a:solidFill>
          <a:ln w="9525">
            <a:solidFill>
              <a:srgbClr val="E7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822960" y="4764024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strike="sngStrike" dirty="0">
                <a:solidFill>
                  <a:srgbClr val="9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</a:t>
            </a:r>
            <a:endParaRPr lang="en-US" sz="1350" dirty="0"/>
          </a:p>
        </p:txBody>
      </p:sp>
      <p:pic>
        <p:nvPicPr>
          <p:cNvPr id="26" name="Image 3" descr="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02462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480560" y="4764024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498080" y="4764024"/>
            <a:ext cx="38404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chronological markers as clear as possible.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5559552"/>
            <a:ext cx="11064240" cy="795528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822960" y="5559552"/>
            <a:ext cx="3291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strike="sngStrike" dirty="0">
                <a:solidFill>
                  <a:srgbClr val="9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event that</a:t>
            </a:r>
            <a:endParaRPr lang="en-US" sz="1350" dirty="0"/>
          </a:p>
        </p:txBody>
      </p:sp>
      <p:pic>
        <p:nvPicPr>
          <p:cNvPr id="31" name="Image 4" descr="assets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82015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480560" y="5559552"/>
            <a:ext cx="27432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7498080" y="5559552"/>
            <a:ext cx="38404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multi-word conditional statements to a single word.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Rounded Rectangle 17">
            <a:extLst>
              <a:ext uri="{FF2B5EF4-FFF2-40B4-BE49-F238E27FC236}">
                <a16:creationId xmlns:a16="http://schemas.microsoft.com/office/drawing/2014/main" id="{E8836D39-D682-8F50-1A58-198713CA936B}"/>
              </a:ext>
            </a:extLst>
          </p:cNvPr>
          <p:cNvSpPr txBox="1">
            <a:spLocks/>
          </p:cNvSpPr>
          <p:nvPr/>
        </p:nvSpPr>
        <p:spPr>
          <a:xfrm>
            <a:off x="1763484" y="195548"/>
            <a:ext cx="9103393" cy="901732"/>
          </a:xfrm>
          <a:prstGeom prst="roundRect">
            <a:avLst/>
          </a:prstGeom>
          <a:solidFill>
            <a:srgbClr val="BA2532"/>
          </a:solidFill>
          <a:ln w="19050" cap="flat" cmpd="sng" algn="ctr">
            <a:noFill/>
            <a:prstDash val="solid"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spc="43" dirty="0"/>
              <a:t>Part-III Word</a:t>
            </a:r>
            <a:r>
              <a:rPr lang="en-IN" sz="4000" spc="-53" dirty="0"/>
              <a:t> </a:t>
            </a:r>
            <a:r>
              <a:rPr lang="en-IN" sz="4000" spc="37" dirty="0"/>
              <a:t>Choice</a:t>
            </a:r>
            <a:r>
              <a:rPr lang="en-IN" sz="4000" spc="-50" dirty="0"/>
              <a:t> </a:t>
            </a:r>
            <a:r>
              <a:rPr lang="en-IN" sz="4000" spc="-40" dirty="0"/>
              <a:t>Optimization</a:t>
            </a:r>
            <a:r>
              <a:rPr lang="en-IN" sz="4000" spc="-53" dirty="0"/>
              <a:t> </a:t>
            </a:r>
            <a:r>
              <a:rPr lang="en-IN" sz="4000" spc="-23" dirty="0"/>
              <a:t>Matrix</a:t>
            </a:r>
            <a:endParaRPr lang="en-IN" sz="4000" b="1" dirty="0"/>
          </a:p>
        </p:txBody>
      </p:sp>
      <p:pic>
        <p:nvPicPr>
          <p:cNvPr id="38" name="Picture 2" descr="KL Deemed to be University Logo">
            <a:extLst>
              <a:ext uri="{FF2B5EF4-FFF2-40B4-BE49-F238E27FC236}">
                <a16:creationId xmlns:a16="http://schemas.microsoft.com/office/drawing/2014/main" id="{2E27A703-86BE-A598-8CBB-4D46CBCDA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273" y="47388"/>
            <a:ext cx="1673211" cy="50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95373" y="2371749"/>
            <a:ext cx="11237383" cy="1609937"/>
            <a:chOff x="893058" y="3557623"/>
            <a:chExt cx="16856075" cy="2414905"/>
          </a:xfrm>
        </p:grpSpPr>
        <p:sp>
          <p:nvSpPr>
            <p:cNvPr id="4" name="object 4"/>
            <p:cNvSpPr/>
            <p:nvPr/>
          </p:nvSpPr>
          <p:spPr>
            <a:xfrm>
              <a:off x="893058" y="4872324"/>
              <a:ext cx="16856075" cy="1099820"/>
            </a:xfrm>
            <a:custGeom>
              <a:avLst/>
              <a:gdLst/>
              <a:ahLst/>
              <a:cxnLst/>
              <a:rect l="l" t="t" r="r" b="b"/>
              <a:pathLst>
                <a:path w="16856075" h="1099820">
                  <a:moveTo>
                    <a:pt x="0" y="1099690"/>
                  </a:moveTo>
                  <a:lnTo>
                    <a:pt x="16855535" y="1099690"/>
                  </a:lnTo>
                  <a:lnTo>
                    <a:pt x="16855535" y="0"/>
                  </a:lnTo>
                  <a:lnTo>
                    <a:pt x="0" y="0"/>
                  </a:lnTo>
                  <a:lnTo>
                    <a:pt x="0" y="109969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5" name="object 5"/>
            <p:cNvSpPr/>
            <p:nvPr/>
          </p:nvSpPr>
          <p:spPr>
            <a:xfrm>
              <a:off x="893058" y="3557623"/>
              <a:ext cx="16855440" cy="1315085"/>
            </a:xfrm>
            <a:custGeom>
              <a:avLst/>
              <a:gdLst/>
              <a:ahLst/>
              <a:cxnLst/>
              <a:rect l="l" t="t" r="r" b="b"/>
              <a:pathLst>
                <a:path w="16855440" h="1315085">
                  <a:moveTo>
                    <a:pt x="16854891" y="1314702"/>
                  </a:moveTo>
                  <a:lnTo>
                    <a:pt x="0" y="1314702"/>
                  </a:lnTo>
                  <a:lnTo>
                    <a:pt x="0" y="0"/>
                  </a:lnTo>
                  <a:lnTo>
                    <a:pt x="16854891" y="0"/>
                  </a:lnTo>
                  <a:lnTo>
                    <a:pt x="16854891" y="131470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0734" y="2424483"/>
            <a:ext cx="3384550" cy="357428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67" b="1" spc="87" dirty="0">
                <a:solidFill>
                  <a:srgbClr val="345EB4"/>
                </a:solidFill>
                <a:latin typeface="Cambria"/>
                <a:cs typeface="Cambria"/>
              </a:rPr>
              <a:t>Complex/Dense</a:t>
            </a:r>
            <a:r>
              <a:rPr sz="2267" b="1" spc="323" dirty="0">
                <a:solidFill>
                  <a:srgbClr val="345EB4"/>
                </a:solidFill>
                <a:latin typeface="Cambria"/>
                <a:cs typeface="Cambria"/>
              </a:rPr>
              <a:t> </a:t>
            </a:r>
            <a:r>
              <a:rPr sz="2267" b="1" spc="147" dirty="0">
                <a:solidFill>
                  <a:srgbClr val="345EB4"/>
                </a:solidFill>
                <a:latin typeface="Cambria"/>
                <a:cs typeface="Cambria"/>
              </a:rPr>
              <a:t>Choice</a:t>
            </a:r>
            <a:endParaRPr sz="2267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334" y="976349"/>
            <a:ext cx="10596457" cy="1110262"/>
          </a:xfrm>
          <a:prstGeom prst="rect">
            <a:avLst/>
          </a:prstGeom>
        </p:spPr>
        <p:txBody>
          <a:bodyPr vert="horz" wrap="square" lIns="0" tIns="57997" rIns="0" bIns="0" rtlCol="0">
            <a:spAutoFit/>
          </a:bodyPr>
          <a:lstStyle/>
          <a:p>
            <a:pPr marL="8467">
              <a:spcBef>
                <a:spcPts val="457"/>
              </a:spcBef>
            </a:pPr>
            <a:r>
              <a:rPr sz="2133" dirty="0">
                <a:solidFill>
                  <a:srgbClr val="312E2D"/>
                </a:solidFill>
                <a:latin typeface="Trebuchet MS"/>
                <a:cs typeface="Trebuchet MS"/>
              </a:rPr>
              <a:t>A</a:t>
            </a:r>
            <a:r>
              <a:rPr sz="2133" spc="26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00" dirty="0">
                <a:solidFill>
                  <a:srgbClr val="312E2D"/>
                </a:solidFill>
                <a:latin typeface="Trebuchet MS"/>
                <a:cs typeface="Trebuchet MS"/>
              </a:rPr>
              <a:t>core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30" dirty="0">
                <a:solidFill>
                  <a:srgbClr val="312E2D"/>
                </a:solidFill>
                <a:latin typeface="Trebuchet MS"/>
                <a:cs typeface="Trebuchet MS"/>
              </a:rPr>
              <a:t>plain-</a:t>
            </a:r>
            <a:r>
              <a:rPr sz="2133" spc="-42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90" dirty="0">
                <a:solidFill>
                  <a:srgbClr val="312E2D"/>
                </a:solidFill>
                <a:latin typeface="Trebuchet MS"/>
                <a:cs typeface="Trebuchet MS"/>
              </a:rPr>
              <a:t>language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23" dirty="0">
                <a:solidFill>
                  <a:srgbClr val="312E2D"/>
                </a:solidFill>
                <a:latin typeface="Trebuchet MS"/>
                <a:cs typeface="Trebuchet MS"/>
              </a:rPr>
              <a:t>strategy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43" dirty="0">
                <a:solidFill>
                  <a:srgbClr val="312E2D"/>
                </a:solidFill>
                <a:latin typeface="Trebuchet MS"/>
                <a:cs typeface="Trebuchet MS"/>
              </a:rPr>
              <a:t>is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53" dirty="0">
                <a:solidFill>
                  <a:srgbClr val="312E2D"/>
                </a:solidFill>
                <a:latin typeface="Trebuchet MS"/>
                <a:cs typeface="Trebuchet MS"/>
              </a:rPr>
              <a:t>replacing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83" dirty="0">
                <a:solidFill>
                  <a:srgbClr val="312E2D"/>
                </a:solidFill>
                <a:latin typeface="Trebuchet MS"/>
                <a:cs typeface="Trebuchet MS"/>
              </a:rPr>
              <a:t>overly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17" dirty="0">
                <a:solidFill>
                  <a:srgbClr val="312E2D"/>
                </a:solidFill>
                <a:latin typeface="Trebuchet MS"/>
                <a:cs typeface="Trebuchet MS"/>
              </a:rPr>
              <a:t>dense,</a:t>
            </a:r>
            <a:r>
              <a:rPr sz="2133" spc="26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03" dirty="0">
                <a:solidFill>
                  <a:srgbClr val="312E2D"/>
                </a:solidFill>
                <a:latin typeface="Trebuchet MS"/>
                <a:cs typeface="Trebuchet MS"/>
              </a:rPr>
              <a:t>pretentions,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23" dirty="0">
                <a:solidFill>
                  <a:srgbClr val="312E2D"/>
                </a:solidFill>
                <a:latin typeface="Trebuchet MS"/>
                <a:cs typeface="Trebuchet MS"/>
              </a:rPr>
              <a:t>or</a:t>
            </a:r>
            <a:endParaRPr sz="2133">
              <a:latin typeface="Trebuchet MS"/>
              <a:cs typeface="Trebuchet MS"/>
            </a:endParaRPr>
          </a:p>
          <a:p>
            <a:pPr marL="8467" marR="3387">
              <a:lnSpc>
                <a:spcPct val="115199"/>
              </a:lnSpc>
            </a:pPr>
            <a:r>
              <a:rPr sz="2133" spc="160" dirty="0">
                <a:solidFill>
                  <a:srgbClr val="312E2D"/>
                </a:solidFill>
                <a:latin typeface="Trebuchet MS"/>
                <a:cs typeface="Trebuchet MS"/>
              </a:rPr>
              <a:t>academic</a:t>
            </a:r>
            <a:r>
              <a:rPr sz="2133" spc="263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93" dirty="0">
                <a:solidFill>
                  <a:srgbClr val="312E2D"/>
                </a:solidFill>
                <a:latin typeface="Trebuchet MS"/>
                <a:cs typeface="Trebuchet MS"/>
              </a:rPr>
              <a:t>phrasing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53" dirty="0">
                <a:solidFill>
                  <a:srgbClr val="312E2D"/>
                </a:solidFill>
                <a:latin typeface="Trebuchet MS"/>
                <a:cs typeface="Trebuchet MS"/>
              </a:rPr>
              <a:t>with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87" dirty="0">
                <a:solidFill>
                  <a:srgbClr val="312E2D"/>
                </a:solidFill>
                <a:latin typeface="Trebuchet MS"/>
                <a:cs typeface="Trebuchet MS"/>
              </a:rPr>
              <a:t>direct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30" dirty="0">
                <a:solidFill>
                  <a:srgbClr val="312E2D"/>
                </a:solidFill>
                <a:latin typeface="Trebuchet MS"/>
                <a:cs typeface="Trebuchet MS"/>
              </a:rPr>
              <a:t>everyday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23" dirty="0">
                <a:solidFill>
                  <a:srgbClr val="312E2D"/>
                </a:solidFill>
                <a:latin typeface="Trebuchet MS"/>
                <a:cs typeface="Trebuchet MS"/>
              </a:rPr>
              <a:t>alternatives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33" dirty="0">
                <a:solidFill>
                  <a:srgbClr val="312E2D"/>
                </a:solidFill>
                <a:latin typeface="Trebuchet MS"/>
                <a:cs typeface="Trebuchet MS"/>
              </a:rPr>
              <a:t>that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73" dirty="0">
                <a:solidFill>
                  <a:srgbClr val="312E2D"/>
                </a:solidFill>
                <a:latin typeface="Trebuchet MS"/>
                <a:cs typeface="Trebuchet MS"/>
              </a:rPr>
              <a:t>speed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93" dirty="0">
                <a:solidFill>
                  <a:srgbClr val="312E2D"/>
                </a:solidFill>
                <a:latin typeface="Trebuchet MS"/>
                <a:cs typeface="Trebuchet MS"/>
              </a:rPr>
              <a:t>up</a:t>
            </a:r>
            <a:r>
              <a:rPr sz="2133" spc="267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167" dirty="0">
                <a:solidFill>
                  <a:srgbClr val="312E2D"/>
                </a:solidFill>
                <a:latin typeface="Trebuchet MS"/>
                <a:cs typeface="Trebuchet MS"/>
              </a:rPr>
              <a:t>reading </a:t>
            </a:r>
            <a:r>
              <a:rPr sz="2133" spc="-267" dirty="0">
                <a:solidFill>
                  <a:srgbClr val="312E2D"/>
                </a:solidFill>
                <a:latin typeface="Trebuchet MS"/>
                <a:cs typeface="Trebuchet MS"/>
              </a:rPr>
              <a:t>t</a:t>
            </a:r>
            <a:r>
              <a:rPr sz="2133" spc="-430" dirty="0">
                <a:solidFill>
                  <a:srgbClr val="312E2D"/>
                </a:solidFill>
                <a:latin typeface="Trebuchet MS"/>
                <a:cs typeface="Trebuchet MS"/>
              </a:rPr>
              <a:t> </a:t>
            </a:r>
            <a:r>
              <a:rPr sz="2133" spc="73" dirty="0">
                <a:solidFill>
                  <a:srgbClr val="312E2D"/>
                </a:solidFill>
                <a:latin typeface="Trebuchet MS"/>
                <a:cs typeface="Trebuchet MS"/>
              </a:rPr>
              <a:t>imes:</a:t>
            </a:r>
            <a:endParaRPr sz="2133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0619" y="3981344"/>
            <a:ext cx="11264053" cy="2855807"/>
            <a:chOff x="855928" y="5972016"/>
            <a:chExt cx="16896080" cy="4283710"/>
          </a:xfrm>
        </p:grpSpPr>
        <p:sp>
          <p:nvSpPr>
            <p:cNvPr id="9" name="object 9"/>
            <p:cNvSpPr/>
            <p:nvPr/>
          </p:nvSpPr>
          <p:spPr>
            <a:xfrm>
              <a:off x="893058" y="8265966"/>
              <a:ext cx="16858615" cy="1023619"/>
            </a:xfrm>
            <a:custGeom>
              <a:avLst/>
              <a:gdLst/>
              <a:ahLst/>
              <a:cxnLst/>
              <a:rect l="l" t="t" r="r" b="b"/>
              <a:pathLst>
                <a:path w="16858615" h="1023620">
                  <a:moveTo>
                    <a:pt x="16858445" y="1023177"/>
                  </a:moveTo>
                  <a:lnTo>
                    <a:pt x="0" y="1023177"/>
                  </a:lnTo>
                  <a:lnTo>
                    <a:pt x="0" y="0"/>
                  </a:lnTo>
                  <a:lnTo>
                    <a:pt x="16858445" y="0"/>
                  </a:lnTo>
                  <a:lnTo>
                    <a:pt x="16858445" y="1023177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855928" y="9257814"/>
              <a:ext cx="16858615" cy="998219"/>
            </a:xfrm>
            <a:custGeom>
              <a:avLst/>
              <a:gdLst/>
              <a:ahLst/>
              <a:cxnLst/>
              <a:rect l="l" t="t" r="r" b="b"/>
              <a:pathLst>
                <a:path w="16858615" h="998220">
                  <a:moveTo>
                    <a:pt x="16858302" y="997855"/>
                  </a:moveTo>
                  <a:lnTo>
                    <a:pt x="0" y="997855"/>
                  </a:lnTo>
                  <a:lnTo>
                    <a:pt x="0" y="0"/>
                  </a:lnTo>
                  <a:lnTo>
                    <a:pt x="16858302" y="0"/>
                  </a:lnTo>
                  <a:lnTo>
                    <a:pt x="16858302" y="99785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058" y="5972016"/>
              <a:ext cx="16857345" cy="1141095"/>
            </a:xfrm>
            <a:custGeom>
              <a:avLst/>
              <a:gdLst/>
              <a:ahLst/>
              <a:cxnLst/>
              <a:rect l="l" t="t" r="r" b="b"/>
              <a:pathLst>
                <a:path w="16857345" h="1141095">
                  <a:moveTo>
                    <a:pt x="16857148" y="1141044"/>
                  </a:moveTo>
                  <a:lnTo>
                    <a:pt x="0" y="1141044"/>
                  </a:lnTo>
                  <a:lnTo>
                    <a:pt x="0" y="0"/>
                  </a:lnTo>
                  <a:lnTo>
                    <a:pt x="16857148" y="0"/>
                  </a:lnTo>
                  <a:lnTo>
                    <a:pt x="16857148" y="114104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058" y="7141635"/>
              <a:ext cx="16856710" cy="1124585"/>
            </a:xfrm>
            <a:custGeom>
              <a:avLst/>
              <a:gdLst/>
              <a:ahLst/>
              <a:cxnLst/>
              <a:rect l="l" t="t" r="r" b="b"/>
              <a:pathLst>
                <a:path w="16856710" h="1124584">
                  <a:moveTo>
                    <a:pt x="16856179" y="1124330"/>
                  </a:moveTo>
                  <a:lnTo>
                    <a:pt x="0" y="1124330"/>
                  </a:lnTo>
                  <a:lnTo>
                    <a:pt x="0" y="0"/>
                  </a:lnTo>
                  <a:lnTo>
                    <a:pt x="16856179" y="0"/>
                  </a:lnTo>
                  <a:lnTo>
                    <a:pt x="16856179" y="112433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09773" y="3425339"/>
            <a:ext cx="944880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93" dirty="0">
                <a:solidFill>
                  <a:srgbClr val="0D0D0D"/>
                </a:solidFill>
                <a:latin typeface="Cambria"/>
                <a:cs typeface="Cambria"/>
              </a:rPr>
              <a:t>Utilize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4841" y="4092939"/>
            <a:ext cx="1512570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103" dirty="0">
                <a:solidFill>
                  <a:srgbClr val="0D0D0D"/>
                </a:solidFill>
                <a:latin typeface="Cambria"/>
                <a:cs typeface="Cambria"/>
              </a:rPr>
              <a:t>Commerce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0121" y="4883116"/>
            <a:ext cx="1289897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47" dirty="0">
                <a:solidFill>
                  <a:srgbClr val="0D0D0D"/>
                </a:solidFill>
                <a:latin typeface="Cambria"/>
                <a:cs typeface="Cambria"/>
              </a:rPr>
              <a:t>Facilitate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41922" y="5581870"/>
            <a:ext cx="1086273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Prior</a:t>
            </a:r>
            <a:r>
              <a:rPr sz="2200" b="1" spc="41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27" dirty="0">
                <a:solidFill>
                  <a:srgbClr val="0D0D0D"/>
                </a:solidFill>
                <a:latin typeface="Cambria"/>
                <a:cs typeface="Cambria"/>
              </a:rPr>
              <a:t>to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4231" y="6333839"/>
            <a:ext cx="2337647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120" dirty="0">
                <a:solidFill>
                  <a:srgbClr val="0D0D0D"/>
                </a:solidFill>
                <a:latin typeface="Cambria"/>
                <a:cs typeface="Cambria"/>
              </a:rPr>
              <a:t>In</a:t>
            </a:r>
            <a:r>
              <a:rPr sz="2200" b="1" spc="28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40" dirty="0">
                <a:solidFill>
                  <a:srgbClr val="0D0D0D"/>
                </a:solidFill>
                <a:latin typeface="Cambria"/>
                <a:cs typeface="Cambria"/>
              </a:rPr>
              <a:t>the</a:t>
            </a:r>
            <a:r>
              <a:rPr sz="2200" b="1" spc="28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57" dirty="0">
                <a:solidFill>
                  <a:srgbClr val="0D0D0D"/>
                </a:solidFill>
                <a:latin typeface="Cambria"/>
                <a:cs typeface="Cambria"/>
              </a:rPr>
              <a:t>event</a:t>
            </a:r>
            <a:r>
              <a:rPr sz="2200" b="1" spc="28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27" dirty="0">
                <a:solidFill>
                  <a:srgbClr val="0D0D0D"/>
                </a:solidFill>
                <a:latin typeface="Cambria"/>
                <a:cs typeface="Cambria"/>
              </a:rPr>
              <a:t>that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3332" y="2424484"/>
            <a:ext cx="2340186" cy="70403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/>
          <a:p>
            <a:pPr marL="370859" marR="3387" indent="-362815">
              <a:lnSpc>
                <a:spcPts val="2553"/>
              </a:lnSpc>
              <a:spcBef>
                <a:spcPts val="289"/>
              </a:spcBef>
            </a:pPr>
            <a:r>
              <a:rPr sz="2267" b="1" spc="110" dirty="0">
                <a:solidFill>
                  <a:srgbClr val="345EB4"/>
                </a:solidFill>
                <a:latin typeface="Cambria"/>
                <a:cs typeface="Cambria"/>
              </a:rPr>
              <a:t>Optimized</a:t>
            </a:r>
            <a:r>
              <a:rPr sz="2267" b="1" spc="289" dirty="0">
                <a:solidFill>
                  <a:srgbClr val="345EB4"/>
                </a:solidFill>
                <a:latin typeface="Cambria"/>
                <a:cs typeface="Cambria"/>
              </a:rPr>
              <a:t> </a:t>
            </a:r>
            <a:r>
              <a:rPr sz="2267" b="1" spc="33" dirty="0">
                <a:solidFill>
                  <a:srgbClr val="345EB4"/>
                </a:solidFill>
                <a:latin typeface="Cambria"/>
                <a:cs typeface="Cambria"/>
              </a:rPr>
              <a:t>plain </a:t>
            </a:r>
            <a:r>
              <a:rPr sz="2267" b="1" spc="57" dirty="0">
                <a:solidFill>
                  <a:srgbClr val="345EB4"/>
                </a:solidFill>
                <a:latin typeface="Cambria"/>
                <a:cs typeface="Cambria"/>
              </a:rPr>
              <a:t>Alternative</a:t>
            </a:r>
            <a:endParaRPr sz="2267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16404" y="2424483"/>
            <a:ext cx="3184313" cy="704038"/>
          </a:xfrm>
          <a:prstGeom prst="rect">
            <a:avLst/>
          </a:prstGeom>
        </p:spPr>
        <p:txBody>
          <a:bodyPr vert="horz" wrap="square" lIns="0" tIns="36829" rIns="0" bIns="0" rtlCol="0">
            <a:spAutoFit/>
          </a:bodyPr>
          <a:lstStyle/>
          <a:p>
            <a:pPr marL="1270910" marR="3387" indent="-1262866">
              <a:lnSpc>
                <a:spcPts val="2553"/>
              </a:lnSpc>
              <a:spcBef>
                <a:spcPts val="289"/>
              </a:spcBef>
            </a:pPr>
            <a:r>
              <a:rPr sz="2267" b="1" spc="67" dirty="0">
                <a:solidFill>
                  <a:srgbClr val="345EB4"/>
                </a:solidFill>
                <a:latin typeface="Cambria"/>
                <a:cs typeface="Cambria"/>
              </a:rPr>
              <a:t>Plain</a:t>
            </a:r>
            <a:r>
              <a:rPr sz="2267" b="1" spc="300" dirty="0">
                <a:solidFill>
                  <a:srgbClr val="345EB4"/>
                </a:solidFill>
                <a:latin typeface="Cambria"/>
                <a:cs typeface="Cambria"/>
              </a:rPr>
              <a:t> </a:t>
            </a:r>
            <a:r>
              <a:rPr sz="2267" b="1" spc="117" dirty="0">
                <a:solidFill>
                  <a:srgbClr val="345EB4"/>
                </a:solidFill>
                <a:latin typeface="Cambria"/>
                <a:cs typeface="Cambria"/>
              </a:rPr>
              <a:t>Language</a:t>
            </a:r>
            <a:r>
              <a:rPr sz="2267" b="1" spc="303" dirty="0">
                <a:solidFill>
                  <a:srgbClr val="345EB4"/>
                </a:solidFill>
                <a:latin typeface="Cambria"/>
                <a:cs typeface="Cambria"/>
              </a:rPr>
              <a:t> </a:t>
            </a:r>
            <a:r>
              <a:rPr sz="2267" b="1" spc="83" dirty="0">
                <a:solidFill>
                  <a:srgbClr val="345EB4"/>
                </a:solidFill>
                <a:latin typeface="Cambria"/>
                <a:cs typeface="Cambria"/>
              </a:rPr>
              <a:t>Usage </a:t>
            </a:r>
            <a:r>
              <a:rPr sz="2267" b="1" spc="57" dirty="0">
                <a:solidFill>
                  <a:srgbClr val="345EB4"/>
                </a:solidFill>
                <a:latin typeface="Cambria"/>
                <a:cs typeface="Cambria"/>
              </a:rPr>
              <a:t>Rule</a:t>
            </a:r>
            <a:endParaRPr sz="2267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41347" y="3425339"/>
            <a:ext cx="509270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43" dirty="0">
                <a:solidFill>
                  <a:srgbClr val="0D0D0D"/>
                </a:solidFill>
                <a:latin typeface="Cambria"/>
                <a:cs typeface="Cambria"/>
              </a:rPr>
              <a:t>Use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05000" y="3286824"/>
            <a:ext cx="3966210" cy="654879"/>
          </a:xfrm>
          <a:prstGeom prst="rect">
            <a:avLst/>
          </a:prstGeom>
        </p:spPr>
        <p:txBody>
          <a:bodyPr vert="horz" wrap="square" lIns="0" tIns="38946" rIns="0" bIns="0" rtlCol="0">
            <a:spAutoFit/>
          </a:bodyPr>
          <a:lstStyle/>
          <a:p>
            <a:pPr marL="678637" marR="3387" indent="-670594">
              <a:lnSpc>
                <a:spcPts val="2447"/>
              </a:lnSpc>
              <a:spcBef>
                <a:spcPts val="306"/>
              </a:spcBef>
            </a:pPr>
            <a:r>
              <a:rPr sz="2200" b="1" spc="217" dirty="0">
                <a:solidFill>
                  <a:srgbClr val="0D0D0D"/>
                </a:solidFill>
                <a:latin typeface="Cambria"/>
                <a:cs typeface="Cambria"/>
              </a:rPr>
              <a:t>Do</a:t>
            </a:r>
            <a:r>
              <a:rPr sz="2200" b="1" spc="28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83" dirty="0">
                <a:solidFill>
                  <a:srgbClr val="0D0D0D"/>
                </a:solidFill>
                <a:latin typeface="Cambria"/>
                <a:cs typeface="Cambria"/>
              </a:rPr>
              <a:t>not</a:t>
            </a:r>
            <a:r>
              <a:rPr sz="2200" b="1" spc="28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57" dirty="0">
                <a:solidFill>
                  <a:srgbClr val="0D0D0D"/>
                </a:solidFill>
                <a:latin typeface="Cambria"/>
                <a:cs typeface="Cambria"/>
              </a:rPr>
              <a:t>overcomplicate</a:t>
            </a:r>
            <a:r>
              <a:rPr sz="2200" b="1" spc="28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-7" dirty="0">
                <a:solidFill>
                  <a:srgbClr val="0D0D0D"/>
                </a:solidFill>
                <a:latin typeface="Cambria"/>
                <a:cs typeface="Cambria"/>
              </a:rPr>
              <a:t>basic </a:t>
            </a:r>
            <a:r>
              <a:rPr sz="2200" b="1" spc="83" dirty="0">
                <a:solidFill>
                  <a:srgbClr val="0D0D0D"/>
                </a:solidFill>
                <a:latin typeface="Cambria"/>
                <a:cs typeface="Cambria"/>
              </a:rPr>
              <a:t>funvtional</a:t>
            </a:r>
            <a:r>
              <a:rPr sz="2200" b="1" spc="30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60" dirty="0">
                <a:solidFill>
                  <a:srgbClr val="0D0D0D"/>
                </a:solidFill>
                <a:latin typeface="Cambria"/>
                <a:cs typeface="Cambria"/>
              </a:rPr>
              <a:t>actions.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94470" y="4084256"/>
            <a:ext cx="837777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127" dirty="0">
                <a:solidFill>
                  <a:srgbClr val="0D0D0D"/>
                </a:solidFill>
                <a:latin typeface="Cambria"/>
                <a:cs typeface="Cambria"/>
              </a:rPr>
              <a:t>Begin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69332" y="3997625"/>
            <a:ext cx="3928110" cy="680100"/>
          </a:xfrm>
          <a:prstGeom prst="rect">
            <a:avLst/>
          </a:prstGeom>
        </p:spPr>
        <p:txBody>
          <a:bodyPr vert="horz" wrap="square" lIns="0" tIns="38523" rIns="0" bIns="0" rtlCol="0">
            <a:spAutoFit/>
          </a:bodyPr>
          <a:lstStyle/>
          <a:p>
            <a:pPr marL="654929" marR="3387" indent="-646886">
              <a:lnSpc>
                <a:spcPts val="2453"/>
              </a:lnSpc>
              <a:spcBef>
                <a:spcPts val="303"/>
              </a:spcBef>
            </a:pPr>
            <a:r>
              <a:rPr sz="2200" b="1" spc="73" dirty="0">
                <a:solidFill>
                  <a:srgbClr val="0D0D0D"/>
                </a:solidFill>
                <a:latin typeface="Cambria"/>
                <a:cs typeface="Cambria"/>
              </a:rPr>
              <a:t>Keep</a:t>
            </a:r>
            <a:r>
              <a:rPr sz="2200" b="1" spc="30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87" dirty="0">
                <a:solidFill>
                  <a:srgbClr val="0D0D0D"/>
                </a:solidFill>
                <a:latin typeface="Cambria"/>
                <a:cs typeface="Cambria"/>
              </a:rPr>
              <a:t>chronological</a:t>
            </a:r>
            <a:r>
              <a:rPr sz="2200" b="1" spc="30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-7" dirty="0">
                <a:solidFill>
                  <a:srgbClr val="0D0D0D"/>
                </a:solidFill>
                <a:latin typeface="Cambria"/>
                <a:cs typeface="Cambria"/>
              </a:rPr>
              <a:t>markers </a:t>
            </a: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as</a:t>
            </a:r>
            <a:r>
              <a:rPr sz="2200" b="1" spc="14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clear</a:t>
            </a:r>
            <a:r>
              <a:rPr sz="2200" b="1" spc="14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as</a:t>
            </a:r>
            <a:r>
              <a:rPr sz="2200" b="1" spc="14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-7" dirty="0">
                <a:solidFill>
                  <a:srgbClr val="0D0D0D"/>
                </a:solidFill>
                <a:latin typeface="Cambria"/>
                <a:cs typeface="Cambria"/>
              </a:rPr>
              <a:t>possible.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30960" y="4768753"/>
            <a:ext cx="3604683" cy="680100"/>
          </a:xfrm>
          <a:prstGeom prst="rect">
            <a:avLst/>
          </a:prstGeom>
        </p:spPr>
        <p:txBody>
          <a:bodyPr vert="horz" wrap="square" lIns="0" tIns="38523" rIns="0" bIns="0" rtlCol="0">
            <a:spAutoFit/>
          </a:bodyPr>
          <a:lstStyle/>
          <a:p>
            <a:pPr marL="837395" marR="3387" indent="-829351">
              <a:lnSpc>
                <a:spcPts val="2453"/>
              </a:lnSpc>
              <a:spcBef>
                <a:spcPts val="303"/>
              </a:spcBef>
            </a:pPr>
            <a:r>
              <a:rPr sz="2200" b="1" spc="113" dirty="0">
                <a:solidFill>
                  <a:srgbClr val="0D0D0D"/>
                </a:solidFill>
                <a:latin typeface="Cambria"/>
                <a:cs typeface="Cambria"/>
              </a:rPr>
              <a:t>Avoid</a:t>
            </a:r>
            <a:r>
              <a:rPr sz="2200" b="1" spc="280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53" dirty="0">
                <a:solidFill>
                  <a:srgbClr val="0D0D0D"/>
                </a:solidFill>
                <a:latin typeface="Cambria"/>
                <a:cs typeface="Cambria"/>
              </a:rPr>
              <a:t>overly</a:t>
            </a:r>
            <a:r>
              <a:rPr sz="2200" b="1" spc="289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-7" dirty="0">
                <a:solidFill>
                  <a:srgbClr val="0D0D0D"/>
                </a:solidFill>
                <a:latin typeface="Cambria"/>
                <a:cs typeface="Cambria"/>
              </a:rPr>
              <a:t>bureaucratic </a:t>
            </a: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support</a:t>
            </a:r>
            <a:r>
              <a:rPr sz="2200" b="1" spc="28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-7" dirty="0">
                <a:solidFill>
                  <a:srgbClr val="0D0D0D"/>
                </a:solidFill>
                <a:latin typeface="Cambria"/>
                <a:cs typeface="Cambria"/>
              </a:rPr>
              <a:t>verbs.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75730" y="4921153"/>
            <a:ext cx="675217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87" dirty="0">
                <a:solidFill>
                  <a:srgbClr val="0D0D0D"/>
                </a:solidFill>
                <a:latin typeface="Cambria"/>
                <a:cs typeface="Cambria"/>
              </a:rPr>
              <a:t>Help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51904" y="5632768"/>
            <a:ext cx="922867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47" dirty="0">
                <a:solidFill>
                  <a:srgbClr val="0D0D0D"/>
                </a:solidFill>
                <a:latin typeface="Cambria"/>
                <a:cs typeface="Cambria"/>
              </a:rPr>
              <a:t>Before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29214" y="5487204"/>
            <a:ext cx="3758777" cy="680100"/>
          </a:xfrm>
          <a:prstGeom prst="rect">
            <a:avLst/>
          </a:prstGeom>
        </p:spPr>
        <p:txBody>
          <a:bodyPr vert="horz" wrap="square" lIns="0" tIns="38523" rIns="0" bIns="0" rtlCol="0">
            <a:spAutoFit/>
          </a:bodyPr>
          <a:lstStyle/>
          <a:p>
            <a:pPr marL="271370" marR="3387" indent="-263326">
              <a:lnSpc>
                <a:spcPts val="2453"/>
              </a:lnSpc>
              <a:spcBef>
                <a:spcPts val="303"/>
              </a:spcBef>
            </a:pPr>
            <a:r>
              <a:rPr sz="2200" b="1" spc="57" dirty="0">
                <a:solidFill>
                  <a:srgbClr val="0D0D0D"/>
                </a:solidFill>
                <a:latin typeface="Cambria"/>
                <a:cs typeface="Cambria"/>
              </a:rPr>
              <a:t>Short</a:t>
            </a:r>
            <a:r>
              <a:rPr sz="2200" b="1" spc="30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33" dirty="0">
                <a:solidFill>
                  <a:srgbClr val="0D0D0D"/>
                </a:solidFill>
                <a:latin typeface="Cambria"/>
                <a:cs typeface="Cambria"/>
              </a:rPr>
              <a:t>prepositional</a:t>
            </a:r>
            <a:r>
              <a:rPr sz="2200" b="1" spc="30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-13" dirty="0">
                <a:solidFill>
                  <a:srgbClr val="0D0D0D"/>
                </a:solidFill>
                <a:latin typeface="Cambria"/>
                <a:cs typeface="Cambria"/>
              </a:rPr>
              <a:t>phrases </a:t>
            </a: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decrease</a:t>
            </a:r>
            <a:r>
              <a:rPr sz="2200" b="1" spc="22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103" dirty="0">
                <a:solidFill>
                  <a:srgbClr val="0D0D0D"/>
                </a:solidFill>
                <a:latin typeface="Cambria"/>
                <a:cs typeface="Cambria"/>
              </a:rPr>
              <a:t>cognitive</a:t>
            </a:r>
            <a:r>
              <a:rPr sz="2200" b="1" spc="22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-13" dirty="0">
                <a:solidFill>
                  <a:srgbClr val="0D0D0D"/>
                </a:solidFill>
                <a:latin typeface="Cambria"/>
                <a:cs typeface="Cambria"/>
              </a:rPr>
              <a:t>load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80353" y="6296003"/>
            <a:ext cx="231563" cy="347104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z="2200" b="1" spc="76" dirty="0">
                <a:solidFill>
                  <a:srgbClr val="0D0D0D"/>
                </a:solidFill>
                <a:latin typeface="Cambria"/>
                <a:cs typeface="Cambria"/>
              </a:rPr>
              <a:t>If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91644" y="6178199"/>
            <a:ext cx="4083473" cy="680100"/>
          </a:xfrm>
          <a:prstGeom prst="rect">
            <a:avLst/>
          </a:prstGeom>
        </p:spPr>
        <p:txBody>
          <a:bodyPr vert="horz" wrap="square" lIns="0" tIns="38523" rIns="0" bIns="0" rtlCol="0">
            <a:spAutoFit/>
          </a:bodyPr>
          <a:lstStyle/>
          <a:p>
            <a:pPr marL="107955" marR="3387" indent="-99912">
              <a:lnSpc>
                <a:spcPts val="2453"/>
              </a:lnSpc>
              <a:spcBef>
                <a:spcPts val="303"/>
              </a:spcBef>
            </a:pP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Slash</a:t>
            </a:r>
            <a:r>
              <a:rPr sz="2200" b="1" spc="33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130" dirty="0">
                <a:solidFill>
                  <a:srgbClr val="0D0D0D"/>
                </a:solidFill>
                <a:latin typeface="Cambria"/>
                <a:cs typeface="Cambria"/>
              </a:rPr>
              <a:t>multi-</a:t>
            </a:r>
            <a:r>
              <a:rPr sz="2200" b="1" spc="40" dirty="0">
                <a:solidFill>
                  <a:srgbClr val="0D0D0D"/>
                </a:solidFill>
                <a:latin typeface="Cambria"/>
                <a:cs typeface="Cambria"/>
              </a:rPr>
              <a:t>word</a:t>
            </a:r>
            <a:r>
              <a:rPr sz="2200" b="1" spc="337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73" dirty="0">
                <a:solidFill>
                  <a:srgbClr val="0D0D0D"/>
                </a:solidFill>
                <a:latin typeface="Cambria"/>
                <a:cs typeface="Cambria"/>
              </a:rPr>
              <a:t>conditional </a:t>
            </a: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statements</a:t>
            </a:r>
            <a:r>
              <a:rPr sz="2200" b="1" spc="303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43" dirty="0">
                <a:solidFill>
                  <a:srgbClr val="0D0D0D"/>
                </a:solidFill>
                <a:latin typeface="Cambria"/>
                <a:cs typeface="Cambria"/>
              </a:rPr>
              <a:t>to</a:t>
            </a:r>
            <a:r>
              <a:rPr sz="2200" b="1" spc="306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dirty="0">
                <a:solidFill>
                  <a:srgbClr val="0D0D0D"/>
                </a:solidFill>
                <a:latin typeface="Cambria"/>
                <a:cs typeface="Cambria"/>
              </a:rPr>
              <a:t>a</a:t>
            </a:r>
            <a:r>
              <a:rPr sz="2200" b="1" spc="306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60" dirty="0">
                <a:solidFill>
                  <a:srgbClr val="0D0D0D"/>
                </a:solidFill>
                <a:latin typeface="Cambria"/>
                <a:cs typeface="Cambria"/>
              </a:rPr>
              <a:t>single</a:t>
            </a:r>
            <a:r>
              <a:rPr sz="2200" b="1" spc="306" dirty="0">
                <a:solidFill>
                  <a:srgbClr val="0D0D0D"/>
                </a:solidFill>
                <a:latin typeface="Cambria"/>
                <a:cs typeface="Cambria"/>
              </a:rPr>
              <a:t> </a:t>
            </a:r>
            <a:r>
              <a:rPr sz="2200" b="1" spc="67" dirty="0">
                <a:solidFill>
                  <a:srgbClr val="0D0D0D"/>
                </a:solidFill>
                <a:latin typeface="Cambria"/>
                <a:cs typeface="Cambria"/>
              </a:rPr>
              <a:t>word.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2B764AA3-FD9C-98D8-F905-386925AD31A5}"/>
              </a:ext>
            </a:extLst>
          </p:cNvPr>
          <p:cNvSpPr txBox="1">
            <a:spLocks/>
          </p:cNvSpPr>
          <p:nvPr/>
        </p:nvSpPr>
        <p:spPr>
          <a:xfrm>
            <a:off x="2002970" y="177057"/>
            <a:ext cx="9103393" cy="901732"/>
          </a:xfrm>
          <a:prstGeom prst="roundRect">
            <a:avLst/>
          </a:prstGeom>
          <a:solidFill>
            <a:srgbClr val="BA2532"/>
          </a:solidFill>
          <a:ln w="19050" cap="flat" cmpd="sng" algn="ctr">
            <a:noFill/>
            <a:prstDash val="solid"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pc="43" dirty="0"/>
              <a:t>Word</a:t>
            </a:r>
            <a:r>
              <a:rPr lang="en-IN" spc="-53" dirty="0"/>
              <a:t> </a:t>
            </a:r>
            <a:r>
              <a:rPr lang="en-IN" spc="37" dirty="0"/>
              <a:t>Choice</a:t>
            </a:r>
            <a:r>
              <a:rPr lang="en-IN" spc="-50" dirty="0"/>
              <a:t> </a:t>
            </a:r>
            <a:r>
              <a:rPr lang="en-IN" spc="-40" dirty="0"/>
              <a:t>Optimization</a:t>
            </a:r>
            <a:r>
              <a:rPr lang="en-IN" spc="-53" dirty="0"/>
              <a:t> </a:t>
            </a:r>
            <a:r>
              <a:rPr lang="en-IN" spc="-23" dirty="0"/>
              <a:t>Matrix</a:t>
            </a:r>
            <a:endParaRPr lang="en-IN" b="1" dirty="0"/>
          </a:p>
        </p:txBody>
      </p:sp>
      <p:pic>
        <p:nvPicPr>
          <p:cNvPr id="32" name="Picture 2" descr="KL Deemed to be University Logo">
            <a:extLst>
              <a:ext uri="{FF2B5EF4-FFF2-40B4-BE49-F238E27FC236}">
                <a16:creationId xmlns:a16="http://schemas.microsoft.com/office/drawing/2014/main" id="{8B7FEAFE-8033-0ADF-5ED6-3210378F0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273" y="-4832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59684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CRAFT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the Active Voice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8"/>
          </a:solidFill>
          <a:ln w="19050">
            <a:solidFill>
              <a:srgbClr val="E5A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PASSIVE TRAP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219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is placed at the end of the clause — or hidden entirely. Sounds evasive, clinical, or overly bureaucratic.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Recipient ]  ←  [ Action ]  ←  [ Actor 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51560" y="3566160"/>
            <a:ext cx="47091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5A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370332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report was prepared and thoroughly analyzed by the consulting team.”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STANDARD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22219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acts directly. Highly readable, saves character space, and drives accountability.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Actor ]  →  [ Action ]  →  [ Recipient ]</a:t>
            </a:r>
            <a:endParaRPr lang="en-US" b="1" dirty="0"/>
          </a:p>
        </p:txBody>
      </p:sp>
      <p:sp>
        <p:nvSpPr>
          <p:cNvPr id="14" name="Shape 12"/>
          <p:cNvSpPr/>
          <p:nvPr/>
        </p:nvSpPr>
        <p:spPr>
          <a:xfrm>
            <a:off x="6583680" y="3566160"/>
            <a:ext cx="4709160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7B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66560" y="3703320"/>
            <a:ext cx="4343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consulting team prepared and analyzed the report.”</a:t>
            </a:r>
            <a:endParaRPr lang="en-US" sz="1350" b="1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8" name="Picture 2" descr="KL Deemed to be University Logo">
            <a:extLst>
              <a:ext uri="{FF2B5EF4-FFF2-40B4-BE49-F238E27FC236}">
                <a16:creationId xmlns:a16="http://schemas.microsoft.com/office/drawing/2014/main" id="{DC2CB8CB-3CFC-A323-2D90-FE2F930A3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273" y="-48322"/>
            <a:ext cx="1990725" cy="8255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871510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IV: VISUAL LAYOUT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Scannability: The F-Pattern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assets/icon_align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79222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642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Section Headings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88720" y="1984248"/>
            <a:ext cx="448056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 as clear navigational anchor-points for targeted information searches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b="1" dirty="0"/>
          </a:p>
        </p:txBody>
      </p:sp>
      <p:sp>
        <p:nvSpPr>
          <p:cNvPr id="8" name="Shape 5"/>
          <p:cNvSpPr/>
          <p:nvPr/>
        </p:nvSpPr>
        <p:spPr>
          <a:xfrm>
            <a:off x="548640" y="299008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assets/icon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090672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96265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Bulleted &amp; Ordered Lists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188720" y="328269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Break up dense paragraph chunks, making content scannable in under 2 seconds.</a:t>
            </a:r>
            <a:endParaRPr lang="en-US" b="1" dirty="0"/>
          </a:p>
        </p:txBody>
      </p:sp>
      <p:sp>
        <p:nvSpPr>
          <p:cNvPr id="12" name="Shape 8"/>
          <p:cNvSpPr/>
          <p:nvPr/>
        </p:nvSpPr>
        <p:spPr>
          <a:xfrm>
            <a:off x="548640" y="4288536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assets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389120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2611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White-Space Strategy</a:t>
            </a:r>
            <a:endParaRPr lang="en-US" sz="2000" b="1" dirty="0"/>
          </a:p>
        </p:txBody>
      </p:sp>
      <p:sp>
        <p:nvSpPr>
          <p:cNvPr id="15" name="Text 10"/>
          <p:cNvSpPr/>
          <p:nvPr/>
        </p:nvSpPr>
        <p:spPr>
          <a:xfrm>
            <a:off x="1188720" y="458114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Gives breathing room to paragraphs; stops cognitive overload and eye fatigue.</a:t>
            </a:r>
            <a:endParaRPr lang="en-US" b="1" dirty="0"/>
          </a:p>
        </p:txBody>
      </p:sp>
      <p:sp>
        <p:nvSpPr>
          <p:cNvPr id="16" name="Shape 11"/>
          <p:cNvSpPr/>
          <p:nvPr/>
        </p:nvSpPr>
        <p:spPr>
          <a:xfrm>
            <a:off x="5943600" y="1143000"/>
            <a:ext cx="5669280" cy="4709160"/>
          </a:xfrm>
          <a:prstGeom prst="roundRect">
            <a:avLst>
              <a:gd name="adj" fmla="val 5944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6217920" y="1426464"/>
            <a:ext cx="51206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F-PATTERN EYE-TRACKING MOCKUP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17920" y="2331720"/>
            <a:ext cx="512064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217920" y="2743200"/>
            <a:ext cx="484632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217920" y="3017520"/>
            <a:ext cx="420624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217920" y="3291840"/>
            <a:ext cx="356616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217920" y="3749040"/>
            <a:ext cx="502920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217920" y="4114800"/>
            <a:ext cx="448056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6217920" y="4389120"/>
            <a:ext cx="329184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217920" y="4663440"/>
            <a:ext cx="2560320" cy="164592"/>
          </a:xfrm>
          <a:prstGeom prst="rect">
            <a:avLst/>
          </a:prstGeom>
          <a:solidFill>
            <a:srgbClr val="D97B3F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6217920" y="493776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Headings — 100% look rate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217920" y="512978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First lines of bullets scanned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17920" y="532180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Middle-block scanning tapers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17920" y="551383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Fast scan down the left margin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2" name="Picture 2" descr="KL Deemed to be University Logo">
            <a:extLst>
              <a:ext uri="{FF2B5EF4-FFF2-40B4-BE49-F238E27FC236}">
                <a16:creationId xmlns:a16="http://schemas.microsoft.com/office/drawing/2014/main" id="{4DDF8A7D-1F1F-9EC3-1803-713C293D3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0273" y="-4832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79123" y="356616"/>
            <a:ext cx="760911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D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Modernizing Email Floods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5F7F8"/>
          </a:solidFill>
          <a:ln w="19050">
            <a:solidFill>
              <a:srgbClr val="E5A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BLOATED NARRATIVE (33 WORDS)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09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400" b="1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accordance with the implementation schedule associated with the organizational modernization initiative, all personnel are hereby advised to complete the mandatory training modules prior to commencement of the new operational procedures.”</a:t>
            </a:r>
            <a:endParaRPr lang="en-US" sz="2400" b="1" dirty="0"/>
          </a:p>
        </p:txBody>
      </p:sp>
      <p:sp>
        <p:nvSpPr>
          <p:cNvPr id="7" name="Shape 5"/>
          <p:cNvSpPr/>
          <p:nvPr/>
        </p:nvSpPr>
        <p:spPr>
          <a:xfrm>
            <a:off x="868680" y="4663440"/>
            <a:ext cx="4709160" cy="0"/>
          </a:xfrm>
          <a:prstGeom prst="line">
            <a:avLst/>
          </a:prstGeom>
          <a:noFill/>
          <a:ln w="12700">
            <a:solidFill>
              <a:srgbClr val="E5A7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Heavy jargon, convoluted timeline, low accessibility score.</a:t>
            </a:r>
            <a:endParaRPr lang="en-US" sz="2400" b="1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F4E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" dirty="0">
                <a:solidFill>
                  <a:srgbClr val="F2C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ACTIONABLE OPTIMIZATION (12 WORDS)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“Complete the mandatory training before the new procedures begin next month.”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583680" y="4663440"/>
            <a:ext cx="4709160" cy="0"/>
          </a:xfrm>
          <a:prstGeom prst="line">
            <a:avLst/>
          </a:prstGeom>
          <a:noFill/>
          <a:ln w="12700">
            <a:solidFill>
              <a:srgbClr val="3E7B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0" y="48006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D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visibility, zero fluff, immediate user action.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6" name="Picture 2" descr="KL Deemed to be University Logo">
            <a:extLst>
              <a:ext uri="{FF2B5EF4-FFF2-40B4-BE49-F238E27FC236}">
                <a16:creationId xmlns:a16="http://schemas.microsoft.com/office/drawing/2014/main" id="{BA83DA2B-892D-3BD1-0F28-023870F18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273" y="-48322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1990725" y="94372"/>
            <a:ext cx="8160142" cy="7789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Summary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3143F-B5EC-3A12-2D4A-FA7666B2AB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97951" y="967675"/>
            <a:ext cx="11733087" cy="5710527"/>
          </a:xfrm>
        </p:spPr>
        <p:txBody>
          <a:bodyPr/>
          <a:lstStyle/>
          <a:p>
            <a:r>
              <a:rPr lang="en-IN" sz="2400" dirty="0"/>
              <a:t>Organize every paragraph using:</a:t>
            </a:r>
          </a:p>
          <a:p>
            <a:r>
              <a:rPr lang="en-IN" sz="2400" dirty="0"/>
              <a:t>Topic Sentence </a:t>
            </a:r>
          </a:p>
          <a:p>
            <a:r>
              <a:rPr lang="en-IN" sz="2400" dirty="0"/>
              <a:t>Supporting Details </a:t>
            </a:r>
          </a:p>
          <a:p>
            <a:r>
              <a:rPr lang="en-IN" sz="2400" dirty="0"/>
              <a:t>Transition Sentence </a:t>
            </a:r>
          </a:p>
          <a:p>
            <a:r>
              <a:rPr lang="en-IN" sz="2400" dirty="0"/>
              <a:t>✔ Maintain logical flow throughout the document.</a:t>
            </a:r>
          </a:p>
          <a:p>
            <a:r>
              <a:rPr lang="en-IN" sz="2400" dirty="0"/>
              <a:t>✔ Use the </a:t>
            </a:r>
            <a:r>
              <a:rPr lang="en-IN" sz="2400" b="1" dirty="0"/>
              <a:t>BLUF</a:t>
            </a:r>
            <a:r>
              <a:rPr lang="en-IN" sz="2400" dirty="0"/>
              <a:t> approach for professional writing.</a:t>
            </a:r>
          </a:p>
          <a:p>
            <a:r>
              <a:rPr lang="en-IN" sz="2400" dirty="0"/>
              <a:t>✔ Replace jargon with plain, reader-friendly language.</a:t>
            </a:r>
          </a:p>
          <a:p>
            <a:r>
              <a:rPr lang="en-IN" sz="2400" dirty="0"/>
              <a:t>✔ Prefer active voice over passive voice.</a:t>
            </a:r>
          </a:p>
          <a:p>
            <a:r>
              <a:rPr lang="en-IN" sz="2400" dirty="0"/>
              <a:t>✔ Design documents for quick scanning using headings, lists, and white space.</a:t>
            </a:r>
          </a:p>
          <a:p>
            <a:r>
              <a:rPr lang="en-IN" sz="2400" dirty="0"/>
              <a:t>✔ Clear writing increases understanding, efficiency, and professional credibility</a:t>
            </a:r>
          </a:p>
          <a:p>
            <a:pPr algn="just"/>
            <a:endParaRPr lang="en-US" sz="2500" b="1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051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64C34-B66F-0F5F-7156-5704E814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350" y="941536"/>
            <a:ext cx="11291299" cy="5057080"/>
          </a:xfrm>
        </p:spPr>
        <p:txBody>
          <a:bodyPr/>
          <a:lstStyle/>
          <a:p>
            <a:r>
              <a:rPr lang="en-IN" b="1" dirty="0"/>
              <a:t>Choose the Correct Answer</a:t>
            </a:r>
          </a:p>
          <a:p>
            <a:r>
              <a:rPr lang="en-IN" sz="1800" b="1" dirty="0"/>
              <a:t>1. Which sentence presents the main idea of a paragraph?</a:t>
            </a:r>
            <a:endParaRPr lang="en-IN" sz="1800" dirty="0"/>
          </a:p>
          <a:p>
            <a:r>
              <a:rPr lang="en-IN" sz="1800" dirty="0"/>
              <a:t>a) Transition sentence</a:t>
            </a:r>
          </a:p>
          <a:p>
            <a:r>
              <a:rPr lang="en-IN" sz="1800" dirty="0"/>
              <a:t>b) Supporting detail</a:t>
            </a:r>
          </a:p>
          <a:p>
            <a:r>
              <a:rPr lang="en-IN" sz="1800" dirty="0"/>
              <a:t>c) Topic sentence</a:t>
            </a:r>
          </a:p>
          <a:p>
            <a:r>
              <a:rPr lang="en-IN" sz="1800" dirty="0"/>
              <a:t>d) Conclusion</a:t>
            </a:r>
          </a:p>
          <a:p>
            <a:r>
              <a:rPr lang="en-IN" sz="1800" b="1" dirty="0"/>
              <a:t>Answer:</a:t>
            </a:r>
            <a:r>
              <a:rPr lang="en-IN" sz="1800" dirty="0"/>
              <a:t> c</a:t>
            </a:r>
          </a:p>
          <a:p>
            <a:r>
              <a:rPr lang="en-IN" sz="1800" b="1" dirty="0"/>
              <a:t>2. BLUF stands for</a:t>
            </a:r>
            <a:endParaRPr lang="en-IN" sz="1800" dirty="0"/>
          </a:p>
          <a:p>
            <a:r>
              <a:rPr lang="en-IN" sz="1800" dirty="0"/>
              <a:t>a) Basic Language Used Frequently</a:t>
            </a:r>
          </a:p>
          <a:p>
            <a:r>
              <a:rPr lang="en-IN" sz="1800" dirty="0"/>
              <a:t>b) Bottom Line Up Front</a:t>
            </a:r>
          </a:p>
          <a:p>
            <a:r>
              <a:rPr lang="en-IN" sz="1800" dirty="0"/>
              <a:t>c) Brief Logical Unified Format</a:t>
            </a:r>
          </a:p>
          <a:p>
            <a:r>
              <a:rPr lang="en-IN" sz="1800" dirty="0"/>
              <a:t>d) Business Language Usage Framework</a:t>
            </a:r>
          </a:p>
          <a:p>
            <a:r>
              <a:rPr lang="en-IN" sz="1800" b="1" dirty="0"/>
              <a:t>Answer:</a:t>
            </a:r>
            <a:r>
              <a:rPr lang="en-IN" sz="1800" dirty="0"/>
              <a:t> b</a:t>
            </a:r>
          </a:p>
          <a:p>
            <a:pPr algn="just">
              <a:lnSpc>
                <a:spcPct val="100000"/>
              </a:lnSpc>
              <a:buSzPct val="100000"/>
            </a:pP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1428109" y="164387"/>
            <a:ext cx="9770722" cy="777149"/>
          </a:xfrm>
          <a:prstGeom prst="roundRect">
            <a:avLst>
              <a:gd name="adj" fmla="val 50000"/>
            </a:avLst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SELF-ASSESSMENT QUESTIONS</a:t>
            </a:r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B3B2-1242-F207-6DBA-8E3DBABD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>
            <a:extLst>
              <a:ext uri="{FF2B5EF4-FFF2-40B4-BE49-F238E27FC236}">
                <a16:creationId xmlns:a16="http://schemas.microsoft.com/office/drawing/2014/main" id="{D9EB3ADC-8EE4-550E-DEB1-D39E244D3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7F9F1-0E79-1654-F38C-513AD777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52" y="1023771"/>
            <a:ext cx="11291299" cy="5057080"/>
          </a:xfrm>
        </p:spPr>
        <p:txBody>
          <a:bodyPr/>
          <a:lstStyle/>
          <a:p>
            <a:r>
              <a:rPr lang="en-IN" sz="3600" b="1" dirty="0"/>
              <a:t>Practice Activities</a:t>
            </a:r>
          </a:p>
          <a:p>
            <a:r>
              <a:rPr lang="en-IN" sz="3600" b="1" dirty="0"/>
              <a:t>Rewrite in Plain Language</a:t>
            </a:r>
          </a:p>
          <a:p>
            <a:r>
              <a:rPr lang="en-IN" sz="3600" dirty="0"/>
              <a:t>Utilize the available resources. </a:t>
            </a:r>
          </a:p>
          <a:p>
            <a:r>
              <a:rPr lang="en-IN" sz="3600" dirty="0"/>
              <a:t>Prior to submission, verify your document. </a:t>
            </a:r>
          </a:p>
          <a:p>
            <a:r>
              <a:rPr lang="en-IN" sz="3600" dirty="0"/>
              <a:t>Facilitate communication among employees.</a:t>
            </a:r>
          </a:p>
          <a:p>
            <a:pPr marL="0" indent="0">
              <a:buNone/>
            </a:pPr>
            <a:endParaRPr lang="en-IN" sz="3600" dirty="0"/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E55344AE-D04F-229C-9D67-F6F35DE0D0BF}"/>
              </a:ext>
            </a:extLst>
          </p:cNvPr>
          <p:cNvSpPr/>
          <p:nvPr/>
        </p:nvSpPr>
        <p:spPr>
          <a:xfrm>
            <a:off x="1479480" y="123311"/>
            <a:ext cx="9770722" cy="777149"/>
          </a:xfrm>
          <a:prstGeom prst="roundRect">
            <a:avLst>
              <a:gd name="adj" fmla="val 50000"/>
            </a:avLst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SELF-ASSESSMENT QUESTIONS</a:t>
            </a:r>
          </a:p>
        </p:txBody>
      </p:sp>
    </p:spTree>
    <p:extLst>
      <p:ext uri="{BB962C8B-B14F-4D97-AF65-F5344CB8AC3E}">
        <p14:creationId xmlns:p14="http://schemas.microsoft.com/office/powerpoint/2010/main" val="2827086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390294" y="106917"/>
            <a:ext cx="7541231" cy="72756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Terminal Questions 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BC5279-88CD-C714-C8CE-AA942732F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735" y="600076"/>
            <a:ext cx="8619136" cy="5576887"/>
          </a:xfrm>
        </p:spPr>
        <p:txBody>
          <a:bodyPr/>
          <a:lstStyle/>
          <a:p>
            <a:pPr algn="just"/>
            <a:endParaRPr lang="en-IN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dirty="0"/>
              <a:t>Explain the three pillars of an effective paragraph with examples. </a:t>
            </a:r>
          </a:p>
          <a:p>
            <a:pPr algn="just"/>
            <a:r>
              <a:rPr lang="en-IN" dirty="0"/>
              <a:t>Discuss the importance of logical flow in professional writing. </a:t>
            </a:r>
          </a:p>
          <a:p>
            <a:pPr algn="just"/>
            <a:r>
              <a:rPr lang="en-IN" dirty="0"/>
              <a:t>Explain the BLUF approach and its advantages. </a:t>
            </a:r>
          </a:p>
          <a:p>
            <a:pPr algn="just"/>
            <a:r>
              <a:rPr lang="en-IN" dirty="0"/>
              <a:t>How does plain language improve workplace communication? </a:t>
            </a:r>
          </a:p>
          <a:p>
            <a:pPr algn="just"/>
            <a:r>
              <a:rPr lang="en-IN" dirty="0"/>
              <a:t>Compare active voice and passive voice with suitable examples. </a:t>
            </a:r>
          </a:p>
          <a:p>
            <a:pPr algn="just"/>
            <a:r>
              <a:rPr lang="en-IN" dirty="0"/>
              <a:t>Explain the importance of visual </a:t>
            </a:r>
            <a:r>
              <a:rPr lang="en-IN" dirty="0" err="1"/>
              <a:t>scannability</a:t>
            </a:r>
            <a:r>
              <a:rPr lang="en-IN" dirty="0"/>
              <a:t> in document design. </a:t>
            </a:r>
            <a:endParaRPr lang="en-IN" sz="18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397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1325366" y="93891"/>
            <a:ext cx="10243335" cy="107372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REFERENCES FOR FURTHER LEARNING OF THE SESSION</a:t>
            </a:r>
            <a:endParaRPr lang="en-US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E76048-7203-9411-74BA-708E6B7C76D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10966" y="1315093"/>
            <a:ext cx="11085816" cy="4738581"/>
          </a:xfrm>
        </p:spPr>
        <p:txBody>
          <a:bodyPr/>
          <a:lstStyle/>
          <a:p>
            <a:r>
              <a:rPr lang="en-IN" b="1" dirty="0"/>
              <a:t>Books</a:t>
            </a:r>
          </a:p>
          <a:p>
            <a:r>
              <a:rPr lang="en-IN" dirty="0"/>
              <a:t>Strunk, W., &amp; White, E. B. </a:t>
            </a:r>
            <a:r>
              <a:rPr lang="en-IN" i="1" dirty="0"/>
              <a:t>The Elements of Style.</a:t>
            </a:r>
            <a:r>
              <a:rPr lang="en-IN" dirty="0"/>
              <a:t> </a:t>
            </a:r>
          </a:p>
          <a:p>
            <a:r>
              <a:rPr lang="en-IN" dirty="0"/>
              <a:t>Williams, Joseph M. </a:t>
            </a:r>
            <a:r>
              <a:rPr lang="en-IN" i="1" dirty="0"/>
              <a:t>Style: Lessons in Clarity and Grace.</a:t>
            </a:r>
            <a:r>
              <a:rPr lang="en-IN" dirty="0"/>
              <a:t> </a:t>
            </a:r>
          </a:p>
          <a:p>
            <a:r>
              <a:rPr lang="en-IN" dirty="0"/>
              <a:t>Guffey, Mary Ellen. </a:t>
            </a:r>
            <a:r>
              <a:rPr lang="en-IN" i="1" dirty="0"/>
              <a:t>Business Communication: Process and Product.</a:t>
            </a:r>
            <a:r>
              <a:rPr lang="en-IN" dirty="0"/>
              <a:t> </a:t>
            </a:r>
          </a:p>
          <a:p>
            <a:r>
              <a:rPr lang="en-IN" dirty="0"/>
              <a:t>Locker, Kitty O., &amp; Kaczmarek, Stephen. </a:t>
            </a:r>
            <a:r>
              <a:rPr lang="en-IN" i="1" dirty="0"/>
              <a:t>Business Communication.</a:t>
            </a:r>
            <a:r>
              <a:rPr lang="en-IN" dirty="0"/>
              <a:t> </a:t>
            </a:r>
          </a:p>
          <a:p>
            <a:r>
              <a:rPr lang="en-IN" b="1" dirty="0"/>
              <a:t>e-References</a:t>
            </a:r>
          </a:p>
          <a:p>
            <a:r>
              <a:rPr lang="en-IN" dirty="0"/>
              <a:t>Plain Language Guidelines – </a:t>
            </a:r>
            <a:r>
              <a:rPr lang="en-IN" dirty="0">
                <a:hlinkClick r:id="rId3"/>
              </a:rPr>
              <a:t>https://www.plainlanguage.gov</a:t>
            </a:r>
            <a:r>
              <a:rPr lang="en-IN" dirty="0"/>
              <a:t> </a:t>
            </a:r>
          </a:p>
          <a:p>
            <a:r>
              <a:rPr lang="en-IN" dirty="0"/>
              <a:t>Purdue Online Writing Lab – </a:t>
            </a:r>
            <a:r>
              <a:rPr lang="en-IN" dirty="0">
                <a:hlinkClick r:id="rId4"/>
              </a:rPr>
              <a:t>https://owl.purdue.edu</a:t>
            </a:r>
            <a:r>
              <a:rPr lang="en-IN" dirty="0"/>
              <a:t> </a:t>
            </a:r>
          </a:p>
          <a:p>
            <a:r>
              <a:rPr lang="en-IN" dirty="0"/>
              <a:t>Harvard Business Review Writing Resources – </a:t>
            </a:r>
            <a:r>
              <a:rPr lang="en-IN" dirty="0">
                <a:hlinkClick r:id="rId5"/>
              </a:rPr>
              <a:t>https://hbr.org</a:t>
            </a:r>
            <a:r>
              <a:rPr lang="en-IN" dirty="0"/>
              <a:t> </a:t>
            </a:r>
          </a:p>
          <a:p>
            <a:r>
              <a:rPr lang="en-IN" dirty="0"/>
              <a:t>Grammarly Writing Handbook – </a:t>
            </a:r>
            <a:r>
              <a:rPr lang="en-IN" dirty="0">
                <a:hlinkClick r:id="rId6"/>
              </a:rPr>
              <a:t>https://www.grammarly.com/blog</a:t>
            </a:r>
            <a:endParaRPr lang="en-IN" dirty="0"/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263476" y="180556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0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Language Skills for Engineers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d43ee83c-3e71-4748-8ebc-8eaadf793425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0125a647-8023-46ae-ae6e-85cf36d841bd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2839</TotalTime>
  <Words>1358</Words>
  <Application>Microsoft Office PowerPoint</Application>
  <PresentationFormat>Widescreen</PresentationFormat>
  <Paragraphs>239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BioRhyme ExtraBold</vt:lpstr>
      <vt:lpstr>Calibri</vt:lpstr>
      <vt:lpstr>Cambria</vt:lpstr>
      <vt:lpstr>Poppins</vt:lpstr>
      <vt:lpstr>Times New Roman</vt:lpstr>
      <vt:lpstr>Trebuchet MS</vt:lpstr>
      <vt:lpstr>1_Office Theme</vt:lpstr>
      <vt:lpstr>PowerPoint Presentation</vt:lpstr>
      <vt:lpstr>PowerPoint Presentation</vt:lpstr>
      <vt:lpstr>PowerPoint Presentation</vt:lpstr>
      <vt:lpstr>PowerPoint Presentation</vt:lpstr>
      <vt:lpstr>Establishing Logical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SHAIDA FARHAD</cp:lastModifiedBy>
  <cp:revision>370</cp:revision>
  <dcterms:created xsi:type="dcterms:W3CDTF">2020-02-08T09:57:44Z</dcterms:created>
  <dcterms:modified xsi:type="dcterms:W3CDTF">2026-07-22T16:17:41Z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