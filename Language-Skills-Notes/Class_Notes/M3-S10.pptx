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71" r:id="rId5"/>
    <p:sldId id="300" r:id="rId6"/>
    <p:sldId id="365" r:id="rId7"/>
    <p:sldId id="379" r:id="rId8"/>
    <p:sldId id="314" r:id="rId9"/>
    <p:sldId id="363" r:id="rId10"/>
    <p:sldId id="258" r:id="rId11"/>
    <p:sldId id="367" r:id="rId12"/>
    <p:sldId id="375" r:id="rId13"/>
    <p:sldId id="368" r:id="rId14"/>
    <p:sldId id="376" r:id="rId15"/>
    <p:sldId id="369" r:id="rId16"/>
    <p:sldId id="377" r:id="rId17"/>
    <p:sldId id="378" r:id="rId18"/>
    <p:sldId id="380" r:id="rId19"/>
    <p:sldId id="322" r:id="rId20"/>
    <p:sldId id="361" r:id="rId21"/>
    <p:sldId id="362" r:id="rId22"/>
    <p:sldId id="360" r:id="rId23"/>
    <p:sldId id="318" r:id="rId24"/>
    <p:sldId id="303"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dma Lata" initials="PL" lastIdx="2" clrIdx="0">
    <p:extLst>
      <p:ext uri="{19B8F6BF-5375-455C-9EA6-DF929625EA0E}">
        <p15:presenceInfo xmlns:p15="http://schemas.microsoft.com/office/powerpoint/2012/main" userId="b355b3e4c8493e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77FB25"/>
    <a:srgbClr val="BA2532"/>
    <a:srgbClr val="FF9900"/>
    <a:srgbClr val="E84845"/>
    <a:srgbClr val="FAD2D2"/>
    <a:srgbClr val="F89E4C"/>
    <a:srgbClr val="FFF2CC"/>
    <a:srgbClr val="CF2F33"/>
    <a:srgbClr val="E329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AF927B-BFA1-6C7C-B035-C1BBC8E01459}" v="4" dt="2026-08-25T09:07:16.003"/>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89"/>
  </p:normalViewPr>
  <p:slideViewPr>
    <p:cSldViewPr snapToGrid="0">
      <p:cViewPr varScale="1">
        <p:scale>
          <a:sx n="78" d="100"/>
          <a:sy n="78" d="100"/>
        </p:scale>
        <p:origin x="78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8/28/2026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KGImUx4zg64" TargetMode="External"/><Relationship Id="rId2" Type="http://schemas.openxmlformats.org/officeDocument/2006/relationships/hyperlink" Target="https://www.youtube.com/watch?v=uHYuDDHvU64"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aperpal.com/blog/academic-writing-guides/what-is-report-writing-format-types-examples" TargetMode="External"/><Relationship Id="rId2" Type="http://schemas.openxmlformats.org/officeDocument/2006/relationships/image" Target="../media/image4.png"/><Relationship Id="rId1" Type="http://schemas.openxmlformats.org/officeDocument/2006/relationships/slideLayout" Target="../slideLayouts/slideLayout10.xml"/><Relationship Id="rId5" Type="http://schemas.openxmlformats.org/officeDocument/2006/relationships/hyperlink" Target="https://methodologyhub.com/writing/writing-process/" TargetMode="External"/><Relationship Id="rId4" Type="http://schemas.openxmlformats.org/officeDocument/2006/relationships/hyperlink" Target="https://www.successcds.net/learn-english/writing-skills/note-making-and-summarising-format.html"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34271" y="81945"/>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lnSpc>
                <a:spcPct val="150000"/>
              </a:lnSpc>
              <a:spcAft>
                <a:spcPts val="800"/>
              </a:spcAft>
            </a:pPr>
            <a:r>
              <a:rPr lang="en-IN" sz="1800" b="1" kern="100">
                <a:effectLst/>
                <a:latin typeface="Times New Roman" panose="02020603050405020304" pitchFamily="18" charset="0"/>
                <a:ea typeface="Calibri" panose="020F0502020204030204" pitchFamily="34" charset="0"/>
                <a:cs typeface="Arial" panose="020B0604020202020204" pitchFamily="34" charset="0"/>
              </a:rPr>
              <a:t>Competency -3 -  Reading Skills</a:t>
            </a:r>
            <a:endParaRPr lang="en-IN" sz="1800" kern="10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300"/>
              </a:spcAft>
            </a:pPr>
            <a:r>
              <a:rPr lang="en-IN" sz="1800" b="1" kern="100">
                <a:effectLst/>
                <a:latin typeface="Times New Roman" panose="02020603050405020304" pitchFamily="18" charset="0"/>
                <a:ea typeface="Calibri" panose="020F0502020204030204" pitchFamily="34" charset="0"/>
                <a:cs typeface="Arial" panose="020B0604020202020204" pitchFamily="34" charset="0"/>
              </a:rPr>
              <a:t>c. Identifying Tone, Themes &amp; Ideas</a:t>
            </a:r>
            <a:endParaRPr lang="en-IN" sz="1800" kern="100">
              <a:effectLst/>
              <a:latin typeface="Calibri" panose="020F0502020204030204" pitchFamily="34" charset="0"/>
              <a:ea typeface="Calibri" panose="020F0502020204030204" pitchFamily="34" charset="0"/>
              <a:cs typeface="Arial" panose="020B0604020202020204" pitchFamily="34" charset="0"/>
            </a:endParaRPr>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1" y="117034"/>
            <a:ext cx="4881716" cy="6165779"/>
          </a:xfrm>
          <a:prstGeom prst="rect">
            <a:avLst/>
          </a:prstGeom>
          <a:noFill/>
          <a:ln>
            <a:noFill/>
          </a:ln>
        </p:spPr>
      </p:pic>
      <p:sp>
        <p:nvSpPr>
          <p:cNvPr id="475" name="Google Shape;475;p16"/>
          <p:cNvSpPr txBox="1"/>
          <p:nvPr/>
        </p:nvSpPr>
        <p:spPr>
          <a:xfrm>
            <a:off x="6095998" y="332258"/>
            <a:ext cx="5378247"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cs typeface="Poppins" pitchFamily="2" charset="77"/>
              </a:rPr>
              <a:t>Department of English</a:t>
            </a:r>
          </a:p>
        </p:txBody>
      </p:sp>
      <p:sp>
        <p:nvSpPr>
          <p:cNvPr id="8" name="Google Shape;502;p17">
            <a:extLst>
              <a:ext uri="{FF2B5EF4-FFF2-40B4-BE49-F238E27FC236}">
                <a16:creationId xmlns:a16="http://schemas.microsoft.com/office/drawing/2014/main" id="{7153E61F-4441-DBE3-3DFF-6E9EF6C48D23}"/>
              </a:ext>
            </a:extLst>
          </p:cNvPr>
          <p:cNvSpPr/>
          <p:nvPr/>
        </p:nvSpPr>
        <p:spPr>
          <a:xfrm>
            <a:off x="5820697" y="1111420"/>
            <a:ext cx="5938684" cy="938606"/>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dirty="0">
                <a:solidFill>
                  <a:schemeClr val="lt1"/>
                </a:solidFill>
                <a:ea typeface="Calibri"/>
                <a:cs typeface="Poppins" panose="00000500000000000000" pitchFamily="2" charset="0"/>
                <a:sym typeface="Calibri"/>
              </a:rPr>
              <a:t>Module 3: Session -10</a:t>
            </a:r>
            <a:endParaRPr sz="48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
        <p:nvSpPr>
          <p:cNvPr id="4" name="Google Shape;476;p16">
            <a:extLst>
              <a:ext uri="{FF2B5EF4-FFF2-40B4-BE49-F238E27FC236}">
                <a16:creationId xmlns:a16="http://schemas.microsoft.com/office/drawing/2014/main" id="{F2ABFB87-2192-1618-280C-C170709F4AA1}"/>
              </a:ext>
            </a:extLst>
          </p:cNvPr>
          <p:cNvSpPr txBox="1"/>
          <p:nvPr/>
        </p:nvSpPr>
        <p:spPr>
          <a:xfrm>
            <a:off x="4523624" y="2358217"/>
            <a:ext cx="7103754" cy="2677616"/>
          </a:xfrm>
          <a:prstGeom prst="rect">
            <a:avLst/>
          </a:prstGeom>
          <a:noFill/>
          <a:ln>
            <a:noFill/>
          </a:ln>
        </p:spPr>
        <p:txBody>
          <a:bodyPr spcFirstLastPara="1" wrap="square" lIns="91425" tIns="45700" rIns="91425" bIns="45700" anchor="t" anchorCtr="0">
            <a:spAutoFit/>
          </a:bodyPr>
          <a:lstStyle/>
          <a:p>
            <a:pPr algn="ctr"/>
            <a:endParaRPr lang="en-US" sz="3600" b="1" dirty="0"/>
          </a:p>
          <a:p>
            <a:pPr algn="ctr"/>
            <a:r>
              <a:rPr lang="en-US" sz="4400" b="1" dirty="0"/>
              <a:t>Professional Writing : Common Short Professional Documents </a:t>
            </a:r>
            <a:endParaRPr lang="en-US" sz="4400" b="1" dirty="0">
              <a:solidFill>
                <a:srgbClr val="C00000"/>
              </a:solidFill>
              <a:ea typeface="BioRhyme ExtraBold"/>
              <a:cs typeface="Poppins" panose="00000500000000000000" pitchFamily="2" charset="0"/>
              <a:sym typeface="BioRhyme Extra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567625"/>
            <a:ext cx="11157735" cy="75469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285750" indent="-285750">
              <a:lnSpc>
                <a:spcPct val="150000"/>
              </a:lnSpc>
              <a:buFont typeface="Wingdings" panose="05000000000000000000" pitchFamily="2" charset="2"/>
              <a:buChar char="§"/>
            </a:pPr>
            <a:r>
              <a:rPr lang="en-IN" sz="2000" dirty="0">
                <a:solidFill>
                  <a:prstClr val="black"/>
                </a:solidFill>
              </a:rPr>
              <a:t> </a:t>
            </a:r>
            <a:r>
              <a:rPr lang="en-IN" sz="3200" dirty="0">
                <a:solidFill>
                  <a:prstClr val="black"/>
                </a:solidFill>
              </a:rPr>
              <a:t>To train the students in professional writing skills.</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041743" y="1624629"/>
            <a:ext cx="3870831" cy="4110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253613" y="2544561"/>
            <a:ext cx="10809103"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285750" indent="-285750">
              <a:buFont typeface="Wingdings" panose="05000000000000000000" pitchFamily="2" charset="2"/>
              <a:buChar char="§"/>
            </a:pPr>
            <a:r>
              <a:rPr lang="en-IN" sz="3200" dirty="0">
                <a:solidFill>
                  <a:prstClr val="black"/>
                </a:solidFill>
              </a:rPr>
              <a:t>To encourage the students to draft technical reports, memos,  etc., </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9283" y="2644053"/>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041744" y="4105113"/>
            <a:ext cx="3870831" cy="5965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5246" y="5020445"/>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079645" y="4701706"/>
            <a:ext cx="10448818" cy="138499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sz="2800" dirty="0">
                <a:solidFill>
                  <a:prstClr val="black"/>
                </a:solidFill>
                <a:latin typeface="Arial" panose="020B0604020202020204"/>
                <a:cs typeface="Arial" panose="020B0604020202020204"/>
              </a:rPr>
              <a:t>At the end of this session, students will be able to:: </a:t>
            </a:r>
          </a:p>
          <a:p>
            <a:pPr marL="285750" indent="-285750">
              <a:buFont typeface="Wingdings" panose="05000000000000000000" pitchFamily="2" charset="2"/>
              <a:buChar char="§"/>
            </a:pPr>
            <a:r>
              <a:rPr lang="en-IN" sz="2800" dirty="0">
                <a:solidFill>
                  <a:prstClr val="black"/>
                </a:solidFill>
              </a:rPr>
              <a:t>Identify various purposes of professional writing skills .</a:t>
            </a:r>
          </a:p>
          <a:p>
            <a:pPr marL="285750" indent="-285750">
              <a:buFont typeface="Wingdings" panose="05000000000000000000" pitchFamily="2" charset="2"/>
              <a:buChar char="§"/>
            </a:pPr>
            <a:r>
              <a:rPr lang="en-US" sz="2800" dirty="0">
                <a:solidFill>
                  <a:prstClr val="black"/>
                </a:solidFill>
                <a:cs typeface="Arial" panose="020B0604020202020204"/>
              </a:rPr>
              <a:t>The students will be able to draft reports, memos </a:t>
            </a:r>
            <a:r>
              <a:rPr lang="en-US" sz="2800" dirty="0" err="1">
                <a:solidFill>
                  <a:prstClr val="black"/>
                </a:solidFill>
                <a:cs typeface="Arial" panose="020B0604020202020204"/>
              </a:rPr>
              <a:t>etc</a:t>
            </a:r>
            <a:r>
              <a:rPr lang="en-US" sz="2800" dirty="0">
                <a:solidFill>
                  <a:prstClr val="black"/>
                </a:solidFill>
                <a:cs typeface="Arial" panose="020B0604020202020204"/>
              </a:rPr>
              <a:t>,, </a:t>
            </a:r>
            <a:endParaRPr lang="en-IN" sz="2800" dirty="0">
              <a:solidFill>
                <a:prstClr val="black"/>
              </a:solidFill>
            </a:endParaRPr>
          </a:p>
        </p:txBody>
      </p:sp>
      <p:pic>
        <p:nvPicPr>
          <p:cNvPr id="12"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019C-A9B6-E4F6-D325-2C60AD100C64}"/>
            </a:ext>
          </a:extLst>
        </p:cNvPr>
        <p:cNvGrpSpPr/>
        <p:nvPr/>
      </p:nvGrpSpPr>
      <p:grpSpPr>
        <a:xfrm>
          <a:off x="0" y="0"/>
          <a:ext cx="0" cy="0"/>
          <a:chOff x="0" y="0"/>
          <a:chExt cx="0" cy="0"/>
        </a:xfrm>
      </p:grpSpPr>
      <p:pic>
        <p:nvPicPr>
          <p:cNvPr id="12" name="Picture 2" descr="KL Deemed to be University Logo">
            <a:extLst>
              <a:ext uri="{FF2B5EF4-FFF2-40B4-BE49-F238E27FC236}">
                <a16:creationId xmlns:a16="http://schemas.microsoft.com/office/drawing/2014/main" id="{8E9526D3-B54F-4DE8-E2C6-836EFD5D702B}"/>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a:extLst>
              <a:ext uri="{FF2B5EF4-FFF2-40B4-BE49-F238E27FC236}">
                <a16:creationId xmlns:a16="http://schemas.microsoft.com/office/drawing/2014/main" id="{F90FD164-50A5-FE2F-2E0C-3D13D861CA23}"/>
              </a:ext>
            </a:extLst>
          </p:cNvPr>
          <p:cNvPicPr>
            <a:picLocks noChangeAspect="1"/>
          </p:cNvPicPr>
          <p:nvPr/>
        </p:nvPicPr>
        <p:blipFill>
          <a:blip r:embed="rId3"/>
          <a:stretch>
            <a:fillRect/>
          </a:stretch>
        </p:blipFill>
        <p:spPr>
          <a:xfrm>
            <a:off x="2204719" y="1365040"/>
            <a:ext cx="8139928" cy="4572598"/>
          </a:xfrm>
          <a:prstGeom prst="rect">
            <a:avLst/>
          </a:prstGeom>
        </p:spPr>
      </p:pic>
      <p:sp>
        <p:nvSpPr>
          <p:cNvPr id="3" name="Rounded Rectangle 17">
            <a:extLst>
              <a:ext uri="{FF2B5EF4-FFF2-40B4-BE49-F238E27FC236}">
                <a16:creationId xmlns:a16="http://schemas.microsoft.com/office/drawing/2014/main" id="{DCA75A9B-226C-983F-5531-3A464FAC9FA3}"/>
              </a:ext>
            </a:extLst>
          </p:cNvPr>
          <p:cNvSpPr/>
          <p:nvPr/>
        </p:nvSpPr>
        <p:spPr>
          <a:xfrm>
            <a:off x="3469668" y="415708"/>
            <a:ext cx="7424474" cy="5965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Principles of Written Communication</a:t>
            </a:r>
          </a:p>
        </p:txBody>
      </p:sp>
    </p:spTree>
    <p:extLst>
      <p:ext uri="{BB962C8B-B14F-4D97-AF65-F5344CB8AC3E}">
        <p14:creationId xmlns:p14="http://schemas.microsoft.com/office/powerpoint/2010/main" val="36707436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2F2A0-54BA-CE9E-3B19-8AC757D0D234}"/>
            </a:ext>
          </a:extLst>
        </p:cNvPr>
        <p:cNvGrpSpPr/>
        <p:nvPr/>
      </p:nvGrpSpPr>
      <p:grpSpPr>
        <a:xfrm>
          <a:off x="0" y="0"/>
          <a:ext cx="0" cy="0"/>
          <a:chOff x="0" y="0"/>
          <a:chExt cx="0" cy="0"/>
        </a:xfrm>
      </p:grpSpPr>
      <p:pic>
        <p:nvPicPr>
          <p:cNvPr id="24" name="Picture 2" descr="KL Deemed to be University Logo">
            <a:extLst>
              <a:ext uri="{FF2B5EF4-FFF2-40B4-BE49-F238E27FC236}">
                <a16:creationId xmlns:a16="http://schemas.microsoft.com/office/drawing/2014/main" id="{EDBDC575-6994-B714-32F6-7174E6DF7BB4}"/>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5E36C8D5-AFB0-2D5A-930A-7C709F9B355F}"/>
              </a:ext>
            </a:extLst>
          </p:cNvPr>
          <p:cNvSpPr>
            <a:spLocks noGrp="1"/>
          </p:cNvSpPr>
          <p:nvPr>
            <p:ph/>
          </p:nvPr>
        </p:nvSpPr>
        <p:spPr>
          <a:xfrm>
            <a:off x="195209" y="1279920"/>
            <a:ext cx="11712539" cy="5408556"/>
          </a:xfrm>
        </p:spPr>
        <p:txBody>
          <a:bodyPr/>
          <a:lstStyle/>
          <a:p>
            <a:pPr marL="0" indent="0" algn="just">
              <a:buNone/>
            </a:pPr>
            <a:r>
              <a:rPr lang="en-US" sz="4400" b="1" dirty="0">
                <a:solidFill>
                  <a:srgbClr val="FF0000"/>
                </a:solidFill>
              </a:rPr>
              <a:t> </a:t>
            </a:r>
            <a:endParaRPr lang="en-IN" sz="44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endParaRPr>
          </a:p>
          <a:p>
            <a:pPr algn="just"/>
            <a:endParaRPr lang="en-IN" kern="100" dirty="0">
              <a:effectLst/>
              <a:latin typeface="Calibri" panose="020F0502020204030204" pitchFamily="34" charset="0"/>
              <a:ea typeface="Calibri" panose="020F0502020204030204" pitchFamily="34" charset="0"/>
              <a:cs typeface="Arial" panose="020B0604020202020204" pitchFamily="34" charset="0"/>
            </a:endParaRPr>
          </a:p>
          <a:p>
            <a:pPr algn="just"/>
            <a:endParaRPr lang="en-IN" sz="2400" dirty="0"/>
          </a:p>
        </p:txBody>
      </p:sp>
      <p:pic>
        <p:nvPicPr>
          <p:cNvPr id="7" name="Picture 6">
            <a:extLst>
              <a:ext uri="{FF2B5EF4-FFF2-40B4-BE49-F238E27FC236}">
                <a16:creationId xmlns:a16="http://schemas.microsoft.com/office/drawing/2014/main" id="{2916B155-FB37-A06F-3E60-B3F506E84719}"/>
              </a:ext>
            </a:extLst>
          </p:cNvPr>
          <p:cNvPicPr>
            <a:picLocks noChangeAspect="1"/>
          </p:cNvPicPr>
          <p:nvPr/>
        </p:nvPicPr>
        <p:blipFill>
          <a:blip r:embed="rId3"/>
          <a:stretch>
            <a:fillRect/>
          </a:stretch>
        </p:blipFill>
        <p:spPr>
          <a:xfrm>
            <a:off x="717755" y="169524"/>
            <a:ext cx="10776155" cy="6688475"/>
          </a:xfrm>
          <a:prstGeom prst="rect">
            <a:avLst/>
          </a:prstGeom>
        </p:spPr>
      </p:pic>
    </p:spTree>
    <p:extLst>
      <p:ext uri="{BB962C8B-B14F-4D97-AF65-F5344CB8AC3E}">
        <p14:creationId xmlns:p14="http://schemas.microsoft.com/office/powerpoint/2010/main" val="17523148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818113" y="189729"/>
            <a:ext cx="5018315" cy="69631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Tone in writing</a:t>
            </a:r>
            <a:endParaRPr lang="en-IN" sz="5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294A9F8A-18BC-7668-CCC4-5C60BC46A168}"/>
              </a:ext>
            </a:extLst>
          </p:cNvPr>
          <p:cNvSpPr>
            <a:spLocks noGrp="1"/>
          </p:cNvSpPr>
          <p:nvPr>
            <p:ph/>
          </p:nvPr>
        </p:nvSpPr>
        <p:spPr>
          <a:xfrm>
            <a:off x="250723" y="1172005"/>
            <a:ext cx="12153096" cy="4978072"/>
          </a:xfrm>
        </p:spPr>
        <p:txBody>
          <a:bodyPr/>
          <a:lstStyle/>
          <a:p>
            <a:pPr marL="0" indent="0">
              <a:buNone/>
            </a:pPr>
            <a:r>
              <a:rPr lang="en-US" sz="3200" dirty="0">
                <a:latin typeface="Times New Roman" panose="02020603050405020304" pitchFamily="18" charset="0"/>
                <a:cs typeface="Times New Roman" panose="02020603050405020304" pitchFamily="18" charset="0"/>
              </a:rPr>
              <a:t>Professional courtesy </a:t>
            </a:r>
          </a:p>
          <a:p>
            <a:pPr marL="0" indent="0">
              <a:buNone/>
            </a:pPr>
            <a:r>
              <a:rPr lang="en-US" sz="3200" dirty="0">
                <a:latin typeface="Times New Roman" panose="02020603050405020304" pitchFamily="18" charset="0"/>
                <a:cs typeface="Times New Roman" panose="02020603050405020304" pitchFamily="18" charset="0"/>
              </a:rPr>
              <a:t>‘You-attitude', and positive phrasing of negative messages.     </a:t>
            </a:r>
          </a:p>
          <a:p>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You-Attitude</a:t>
            </a:r>
            <a:r>
              <a:rPr lang="en-US" sz="3200" dirty="0">
                <a:latin typeface="Times New Roman" panose="02020603050405020304" pitchFamily="18" charset="0"/>
                <a:cs typeface="Times New Roman" panose="02020603050405020304" pitchFamily="18" charset="0"/>
              </a:rPr>
              <a:t> is a writing style that looks at things from the reader’s point of view rather than the writer's. It focuses on what the reader wants to know, how they are affected, and what they stand to gain.</a:t>
            </a:r>
          </a:p>
          <a:p>
            <a:r>
              <a:rPr lang="en-US" sz="3200" b="1" dirty="0">
                <a:latin typeface="Times New Roman" panose="02020603050405020304" pitchFamily="18" charset="0"/>
                <a:cs typeface="Times New Roman" panose="02020603050405020304" pitchFamily="18" charset="0"/>
              </a:rPr>
              <a:t>The Shift:</a:t>
            </a:r>
            <a:r>
              <a:rPr lang="en-US" sz="3200" dirty="0">
                <a:latin typeface="Times New Roman" panose="02020603050405020304" pitchFamily="18" charset="0"/>
                <a:cs typeface="Times New Roman" panose="02020603050405020304" pitchFamily="18" charset="0"/>
              </a:rPr>
              <a:t> Move away from "I," "me," "we," and "our" (writer-centric) and focus on "you" and "your" (reader-centric).</a:t>
            </a:r>
          </a:p>
          <a:p>
            <a:r>
              <a:rPr lang="en-US" sz="3200" b="1" dirty="0"/>
              <a:t>The Goal:</a:t>
            </a:r>
            <a:r>
              <a:rPr lang="en-US" sz="3200" dirty="0"/>
              <a:t> Show the reader how the information protects their time, solves their problem, or benefits them directly.</a:t>
            </a:r>
          </a:p>
          <a:p>
            <a:pPr marL="0" indent="0">
              <a:buNone/>
            </a:pPr>
            <a:r>
              <a:rPr lang="en-US" sz="3200" dirty="0"/>
              <a:t>                                                           </a:t>
            </a:r>
          </a:p>
          <a:p>
            <a:pPr marL="0" indent="0">
              <a:buNone/>
            </a:pPr>
            <a:endParaRPr lang="en-US" sz="4000" dirty="0"/>
          </a:p>
        </p:txBody>
      </p:sp>
    </p:spTree>
    <p:extLst>
      <p:ext uri="{BB962C8B-B14F-4D97-AF65-F5344CB8AC3E}">
        <p14:creationId xmlns:p14="http://schemas.microsoft.com/office/powerpoint/2010/main" val="25666127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BBBB18A9-66C6-80DA-9264-CAADCA5A5C91}"/>
              </a:ext>
            </a:extLst>
          </p:cNvPr>
          <p:cNvGraphicFramePr>
            <a:graphicFrameLocks noGrp="1"/>
          </p:cNvGraphicFramePr>
          <p:nvPr>
            <p:ph/>
            <p:extLst>
              <p:ext uri="{D42A27DB-BD31-4B8C-83A1-F6EECF244321}">
                <p14:modId xmlns:p14="http://schemas.microsoft.com/office/powerpoint/2010/main" val="34887692"/>
              </p:ext>
            </p:extLst>
          </p:nvPr>
        </p:nvGraphicFramePr>
        <p:xfrm>
          <a:off x="840658" y="1097402"/>
          <a:ext cx="10513142" cy="5415338"/>
        </p:xfrm>
        <a:graphic>
          <a:graphicData uri="http://schemas.openxmlformats.org/drawingml/2006/table">
            <a:tbl>
              <a:tblPr/>
              <a:tblGrid>
                <a:gridCol w="3475332">
                  <a:extLst>
                    <a:ext uri="{9D8B030D-6E8A-4147-A177-3AD203B41FA5}">
                      <a16:colId xmlns:a16="http://schemas.microsoft.com/office/drawing/2014/main" val="2071051778"/>
                    </a:ext>
                  </a:extLst>
                </a:gridCol>
                <a:gridCol w="3518905">
                  <a:extLst>
                    <a:ext uri="{9D8B030D-6E8A-4147-A177-3AD203B41FA5}">
                      <a16:colId xmlns:a16="http://schemas.microsoft.com/office/drawing/2014/main" val="1497374750"/>
                    </a:ext>
                  </a:extLst>
                </a:gridCol>
                <a:gridCol w="3518905">
                  <a:extLst>
                    <a:ext uri="{9D8B030D-6E8A-4147-A177-3AD203B41FA5}">
                      <a16:colId xmlns:a16="http://schemas.microsoft.com/office/drawing/2014/main" val="2598894099"/>
                    </a:ext>
                  </a:extLst>
                </a:gridCol>
              </a:tblGrid>
              <a:tr h="838335">
                <a:tc>
                  <a:txBody>
                    <a:bodyPr/>
                    <a:lstStyle/>
                    <a:p>
                      <a:pPr>
                        <a:buNone/>
                      </a:pPr>
                      <a:r>
                        <a:rPr lang="en-US" sz="2800" dirty="0"/>
                        <a:t>Writer-Centric (Me-Attitude)</a:t>
                      </a:r>
                    </a:p>
                  </a:txBody>
                  <a:tcPr anchor="ctr">
                    <a:lnL>
                      <a:noFill/>
                    </a:lnL>
                    <a:lnR>
                      <a:noFill/>
                    </a:lnR>
                    <a:lnT>
                      <a:noFill/>
                    </a:lnT>
                    <a:lnB>
                      <a:noFill/>
                    </a:lnB>
                    <a:noFill/>
                  </a:tcPr>
                </a:tc>
                <a:tc>
                  <a:txBody>
                    <a:bodyPr/>
                    <a:lstStyle/>
                    <a:p>
                      <a:pPr>
                        <a:buNone/>
                      </a:pPr>
                      <a:r>
                        <a:rPr lang="en-US" sz="2800"/>
                        <a:t>Reader-Centric (You-Attitude)</a:t>
                      </a:r>
                    </a:p>
                  </a:txBody>
                  <a:tcPr anchor="ctr">
                    <a:lnL>
                      <a:noFill/>
                    </a:lnL>
                    <a:lnR>
                      <a:noFill/>
                    </a:lnR>
                    <a:lnT>
                      <a:noFill/>
                    </a:lnT>
                    <a:lnB>
                      <a:noFill/>
                    </a:lnB>
                    <a:noFill/>
                  </a:tcPr>
                </a:tc>
                <a:tc>
                  <a:txBody>
                    <a:bodyPr/>
                    <a:lstStyle/>
                    <a:p>
                      <a:pPr>
                        <a:buNone/>
                      </a:pPr>
                      <a:r>
                        <a:rPr lang="en-US" sz="2800"/>
                        <a:t>Why it Works</a:t>
                      </a:r>
                    </a:p>
                  </a:txBody>
                  <a:tcPr anchor="ctr">
                    <a:lnL>
                      <a:noFill/>
                    </a:lnL>
                    <a:lnR>
                      <a:noFill/>
                    </a:lnR>
                    <a:lnT>
                      <a:noFill/>
                    </a:lnT>
                    <a:lnB>
                      <a:noFill/>
                    </a:lnB>
                    <a:noFill/>
                  </a:tcPr>
                </a:tc>
                <a:extLst>
                  <a:ext uri="{0D108BD9-81ED-4DB2-BD59-A6C34878D82A}">
                    <a16:rowId xmlns:a16="http://schemas.microsoft.com/office/drawing/2014/main" val="435478791"/>
                  </a:ext>
                </a:extLst>
              </a:tr>
              <a:tr h="2672138">
                <a:tc>
                  <a:txBody>
                    <a:bodyPr/>
                    <a:lstStyle/>
                    <a:p>
                      <a:pPr>
                        <a:buNone/>
                      </a:pPr>
                      <a:r>
                        <a:rPr lang="en-US" sz="2800" dirty="0"/>
                        <a:t>We are pleased to announce that we have upgraded our server capacity.</a:t>
                      </a:r>
                    </a:p>
                  </a:txBody>
                  <a:tcPr anchor="ctr">
                    <a:lnL>
                      <a:noFill/>
                    </a:lnL>
                    <a:lnR>
                      <a:noFill/>
                    </a:lnR>
                    <a:lnT>
                      <a:noFill/>
                    </a:lnT>
                    <a:lnB>
                      <a:noFill/>
                    </a:lnB>
                    <a:noFill/>
                  </a:tcPr>
                </a:tc>
                <a:tc>
                  <a:txBody>
                    <a:bodyPr/>
                    <a:lstStyle/>
                    <a:p>
                      <a:pPr>
                        <a:buNone/>
                      </a:pPr>
                      <a:r>
                        <a:rPr lang="en-US" sz="2800" dirty="0"/>
                        <a:t>You can now experience faster page load times and zero downtime due to our recent server upgrades.</a:t>
                      </a:r>
                    </a:p>
                  </a:txBody>
                  <a:tcPr anchor="ctr">
                    <a:lnL>
                      <a:noFill/>
                    </a:lnL>
                    <a:lnR>
                      <a:noFill/>
                    </a:lnR>
                    <a:lnT>
                      <a:noFill/>
                    </a:lnT>
                    <a:lnB>
                      <a:noFill/>
                    </a:lnB>
                    <a:noFill/>
                  </a:tcPr>
                </a:tc>
                <a:tc>
                  <a:txBody>
                    <a:bodyPr/>
                    <a:lstStyle/>
                    <a:p>
                      <a:pPr>
                        <a:buNone/>
                      </a:pPr>
                      <a:r>
                        <a:rPr lang="en-US" sz="2800" dirty="0"/>
                        <a:t>Connects the feature directly to a benefit the user actually cares about.</a:t>
                      </a:r>
                    </a:p>
                  </a:txBody>
                  <a:tcPr anchor="ctr">
                    <a:lnL>
                      <a:noFill/>
                    </a:lnL>
                    <a:lnR>
                      <a:noFill/>
                    </a:lnR>
                    <a:lnT>
                      <a:noFill/>
                    </a:lnT>
                    <a:lnB>
                      <a:noFill/>
                    </a:lnB>
                    <a:noFill/>
                  </a:tcPr>
                </a:tc>
                <a:extLst>
                  <a:ext uri="{0D108BD9-81ED-4DB2-BD59-A6C34878D82A}">
                    <a16:rowId xmlns:a16="http://schemas.microsoft.com/office/drawing/2014/main" val="2847249777"/>
                  </a:ext>
                </a:extLst>
              </a:tr>
              <a:tr h="1595541">
                <a:tc>
                  <a:txBody>
                    <a:bodyPr/>
                    <a:lstStyle/>
                    <a:p>
                      <a:pPr>
                        <a:buNone/>
                      </a:pPr>
                      <a:r>
                        <a:rPr lang="en-US" sz="2800"/>
                        <a:t>I need you to fill out this form so I can process the application.</a:t>
                      </a:r>
                    </a:p>
                  </a:txBody>
                  <a:tcPr anchor="ctr">
                    <a:lnL>
                      <a:noFill/>
                    </a:lnL>
                    <a:lnR>
                      <a:noFill/>
                    </a:lnR>
                    <a:lnT>
                      <a:noFill/>
                    </a:lnT>
                    <a:lnB>
                      <a:noFill/>
                    </a:lnB>
                    <a:noFill/>
                  </a:tcPr>
                </a:tc>
                <a:tc>
                  <a:txBody>
                    <a:bodyPr/>
                    <a:lstStyle/>
                    <a:p>
                      <a:pPr>
                        <a:buNone/>
                      </a:pPr>
                      <a:r>
                        <a:rPr lang="en-US" sz="2800"/>
                        <a:t>To process your application quickly, please complete the attached form.</a:t>
                      </a:r>
                    </a:p>
                  </a:txBody>
                  <a:tcPr anchor="ctr">
                    <a:lnL>
                      <a:noFill/>
                    </a:lnL>
                    <a:lnR>
                      <a:noFill/>
                    </a:lnR>
                    <a:lnT>
                      <a:noFill/>
                    </a:lnT>
                    <a:lnB>
                      <a:noFill/>
                    </a:lnB>
                    <a:noFill/>
                  </a:tcPr>
                </a:tc>
                <a:tc>
                  <a:txBody>
                    <a:bodyPr/>
                    <a:lstStyle/>
                    <a:p>
                      <a:pPr>
                        <a:buNone/>
                      </a:pPr>
                      <a:r>
                        <a:rPr lang="en-US" sz="2800" dirty="0"/>
                        <a:t>Framed as a way to speed up </a:t>
                      </a:r>
                      <a:r>
                        <a:rPr lang="en-US" sz="2800" i="1" dirty="0"/>
                        <a:t>their</a:t>
                      </a:r>
                      <a:r>
                        <a:rPr lang="en-US" sz="2800" dirty="0"/>
                        <a:t> results, not a chore for the writer.</a:t>
                      </a:r>
                    </a:p>
                  </a:txBody>
                  <a:tcPr anchor="ctr">
                    <a:lnL>
                      <a:noFill/>
                    </a:lnL>
                    <a:lnR>
                      <a:noFill/>
                    </a:lnR>
                    <a:lnT>
                      <a:noFill/>
                    </a:lnT>
                    <a:lnB>
                      <a:noFill/>
                    </a:lnB>
                    <a:noFill/>
                  </a:tcPr>
                </a:tc>
                <a:extLst>
                  <a:ext uri="{0D108BD9-81ED-4DB2-BD59-A6C34878D82A}">
                    <a16:rowId xmlns:a16="http://schemas.microsoft.com/office/drawing/2014/main" val="2900620201"/>
                  </a:ext>
                </a:extLst>
              </a:tr>
            </a:tbl>
          </a:graphicData>
        </a:graphic>
      </p:graphicFrame>
      <p:pic>
        <p:nvPicPr>
          <p:cNvPr id="5" name="Picture 2" descr="KL Deemed to be University Logo">
            <a:extLst>
              <a:ext uri="{FF2B5EF4-FFF2-40B4-BE49-F238E27FC236}">
                <a16:creationId xmlns:a16="http://schemas.microsoft.com/office/drawing/2014/main" id="{F1052083-F7A7-C819-2F09-A988E1621E94}"/>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Rounded Rectangle 17">
            <a:extLst>
              <a:ext uri="{FF2B5EF4-FFF2-40B4-BE49-F238E27FC236}">
                <a16:creationId xmlns:a16="http://schemas.microsoft.com/office/drawing/2014/main" id="{F41FE92D-6200-01D3-ED4D-F46543BEC82C}"/>
              </a:ext>
            </a:extLst>
          </p:cNvPr>
          <p:cNvSpPr/>
          <p:nvPr/>
        </p:nvSpPr>
        <p:spPr>
          <a:xfrm>
            <a:off x="3800724" y="210610"/>
            <a:ext cx="4354366" cy="7789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continuation., </a:t>
            </a:r>
          </a:p>
        </p:txBody>
      </p:sp>
    </p:spTree>
    <p:extLst>
      <p:ext uri="{BB962C8B-B14F-4D97-AF65-F5344CB8AC3E}">
        <p14:creationId xmlns:p14="http://schemas.microsoft.com/office/powerpoint/2010/main" val="284973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497394" y="467637"/>
            <a:ext cx="8524567" cy="56906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Common Short Professional Documents</a:t>
            </a:r>
            <a:endParaRPr lang="en-US" sz="4000" b="1" dirty="0">
              <a:solidFill>
                <a:schemeClr val="bg1"/>
              </a:solidFill>
            </a:endParaRP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Content Placeholder 3">
            <a:extLst>
              <a:ext uri="{FF2B5EF4-FFF2-40B4-BE49-F238E27FC236}">
                <a16:creationId xmlns:a16="http://schemas.microsoft.com/office/drawing/2014/main" id="{ADEDC1C8-4A2E-08F0-48CF-ACACD2D4A0BF}"/>
              </a:ext>
            </a:extLst>
          </p:cNvPr>
          <p:cNvSpPr>
            <a:spLocks noGrp="1"/>
          </p:cNvSpPr>
          <p:nvPr>
            <p:ph idx="1"/>
          </p:nvPr>
        </p:nvSpPr>
        <p:spPr>
          <a:xfrm>
            <a:off x="722670" y="1356851"/>
            <a:ext cx="11328916" cy="4144297"/>
          </a:xfrm>
        </p:spPr>
        <p:txBody>
          <a:bodyPr/>
          <a:lstStyle/>
          <a:p>
            <a:pPr marL="0" indent="0" algn="just">
              <a:buNone/>
            </a:pPr>
            <a:endParaRPr lang="en-US" dirty="0"/>
          </a:p>
          <a:p>
            <a:pPr marL="0" indent="0" algn="just">
              <a:buNone/>
            </a:pPr>
            <a:r>
              <a:rPr lang="en-US" dirty="0"/>
              <a:t> 1</a:t>
            </a:r>
            <a:r>
              <a:rPr lang="en-US" sz="3200" b="1" dirty="0"/>
              <a:t>. Notes</a:t>
            </a:r>
          </a:p>
          <a:p>
            <a:pPr marL="0" indent="0" algn="just">
              <a:buNone/>
            </a:pPr>
            <a:r>
              <a:rPr lang="en-US" sz="3200" b="1" dirty="0"/>
              <a:t> 2. Memo </a:t>
            </a:r>
          </a:p>
          <a:p>
            <a:pPr marL="0" indent="0" algn="just">
              <a:buNone/>
            </a:pPr>
            <a:r>
              <a:rPr lang="en-US" sz="3200" b="1" dirty="0"/>
              <a:t> 4. Short Reports</a:t>
            </a:r>
          </a:p>
          <a:p>
            <a:pPr marL="0" indent="0" algn="just">
              <a:buNone/>
            </a:pPr>
            <a:r>
              <a:rPr lang="en-US" sz="3200" b="1" dirty="0"/>
              <a:t> </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96CF-F4DE-6F6E-C1A3-A99B9A192ABA}"/>
              </a:ext>
            </a:extLst>
          </p:cNvPr>
          <p:cNvSpPr>
            <a:spLocks noGrp="1"/>
          </p:cNvSpPr>
          <p:nvPr>
            <p:ph type="title"/>
          </p:nvPr>
        </p:nvSpPr>
        <p:spPr>
          <a:xfrm>
            <a:off x="4738978" y="293564"/>
            <a:ext cx="2241604" cy="628788"/>
          </a:xfrm>
          <a:solidFill>
            <a:srgbClr val="C00000"/>
          </a:solidFill>
        </p:spPr>
        <p:txBody>
          <a:bodyPr/>
          <a:lstStyle/>
          <a:p>
            <a:pPr algn="ctr"/>
            <a:r>
              <a:rPr lang="en-US" b="1" dirty="0">
                <a:solidFill>
                  <a:schemeClr val="bg1"/>
                </a:solidFill>
              </a:rPr>
              <a:t>Notes</a:t>
            </a:r>
            <a:endParaRPr lang="en-IN" b="1" dirty="0">
              <a:solidFill>
                <a:schemeClr val="bg1"/>
              </a:solidFill>
            </a:endParaRPr>
          </a:p>
        </p:txBody>
      </p:sp>
      <p:sp>
        <p:nvSpPr>
          <p:cNvPr id="3" name="Content Placeholder 2">
            <a:extLst>
              <a:ext uri="{FF2B5EF4-FFF2-40B4-BE49-F238E27FC236}">
                <a16:creationId xmlns:a16="http://schemas.microsoft.com/office/drawing/2014/main" id="{ED27E0E1-6FFA-7940-4020-08A5A7DECFF8}"/>
              </a:ext>
            </a:extLst>
          </p:cNvPr>
          <p:cNvSpPr>
            <a:spLocks noGrp="1"/>
          </p:cNvSpPr>
          <p:nvPr>
            <p:ph idx="1"/>
          </p:nvPr>
        </p:nvSpPr>
        <p:spPr>
          <a:xfrm>
            <a:off x="838200" y="1081377"/>
            <a:ext cx="10182308" cy="5095586"/>
          </a:xfrm>
        </p:spPr>
        <p:txBody>
          <a:bodyPr/>
          <a:lstStyle/>
          <a:p>
            <a:pPr marL="0" lvl="0" indent="0">
              <a:buNone/>
            </a:pPr>
            <a:r>
              <a:rPr lang="en-IN" b="1" dirty="0"/>
              <a:t>Purpose:</a:t>
            </a:r>
            <a:r>
              <a:rPr lang="en-IN" dirty="0"/>
              <a:t> To capture an accurate, objective record of meetings, lab discussions, or project reviews for tracking progress and accountability.</a:t>
            </a:r>
          </a:p>
          <a:p>
            <a:pPr marL="0" lvl="0" indent="0">
              <a:buNone/>
            </a:pPr>
            <a:r>
              <a:rPr lang="en-IN" b="1" dirty="0"/>
              <a:t>Principles:</a:t>
            </a:r>
            <a:endParaRPr lang="en-IN" dirty="0"/>
          </a:p>
          <a:p>
            <a:pPr lvl="1"/>
            <a:r>
              <a:rPr lang="en-IN" dirty="0"/>
              <a:t>Absolute objectivity—record facts, decisions, and assignments, not personal opinions. </a:t>
            </a:r>
          </a:p>
          <a:p>
            <a:pPr lvl="1"/>
            <a:r>
              <a:rPr lang="en-IN" dirty="0"/>
              <a:t>Conciseness—eliminate conversational filler and focus purely on action items.</a:t>
            </a:r>
          </a:p>
          <a:p>
            <a:pPr marL="0" lvl="0" indent="0">
              <a:buNone/>
            </a:pPr>
            <a:r>
              <a:rPr lang="en-IN" b="1" dirty="0"/>
              <a:t>Conventions:</a:t>
            </a:r>
            <a:endParaRPr lang="en-IN" dirty="0"/>
          </a:p>
          <a:p>
            <a:pPr lvl="1"/>
            <a:r>
              <a:rPr lang="en-IN" dirty="0"/>
              <a:t>Written in clear past tense and passive voice.</a:t>
            </a:r>
          </a:p>
          <a:p>
            <a:pPr lvl="1"/>
            <a:r>
              <a:rPr lang="en-IN" dirty="0"/>
              <a:t>Structured with metadata (Date, Time, Attendees) followed by a designated </a:t>
            </a:r>
            <a:r>
              <a:rPr lang="en-IN" b="1" dirty="0"/>
              <a:t>Action Matrix</a:t>
            </a:r>
            <a:r>
              <a:rPr lang="en-IN" dirty="0"/>
              <a:t> listing: </a:t>
            </a:r>
            <a:r>
              <a:rPr lang="en-IN" i="1" dirty="0"/>
              <a:t>Task | Responsible Person | Deadline</a:t>
            </a:r>
            <a:r>
              <a:rPr lang="en-IN" dirty="0"/>
              <a:t>.</a:t>
            </a:r>
          </a:p>
          <a:p>
            <a:endParaRPr lang="en-IN" dirty="0"/>
          </a:p>
        </p:txBody>
      </p:sp>
      <p:pic>
        <p:nvPicPr>
          <p:cNvPr id="5" name="Picture 2" descr="KL Deemed to be University Logo">
            <a:extLst>
              <a:ext uri="{FF2B5EF4-FFF2-40B4-BE49-F238E27FC236}">
                <a16:creationId xmlns:a16="http://schemas.microsoft.com/office/drawing/2014/main" id="{C83812E9-EC1F-C4CB-0857-9D28D707D28A}"/>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471471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F884-2AB0-F26F-AAD5-5AB01D153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15E86-AEAB-2567-5930-FF6E689F6F84}"/>
              </a:ext>
            </a:extLst>
          </p:cNvPr>
          <p:cNvSpPr>
            <a:spLocks noGrp="1"/>
          </p:cNvSpPr>
          <p:nvPr>
            <p:ph type="title"/>
          </p:nvPr>
        </p:nvSpPr>
        <p:spPr>
          <a:xfrm>
            <a:off x="4627658" y="322911"/>
            <a:ext cx="2217751" cy="716252"/>
          </a:xfrm>
        </p:spPr>
        <p:txBody>
          <a:bodyPr/>
          <a:lstStyle/>
          <a:p>
            <a:r>
              <a:rPr lang="en-US" dirty="0"/>
              <a:t>Memo</a:t>
            </a:r>
            <a:endParaRPr lang="en-IN" dirty="0"/>
          </a:p>
        </p:txBody>
      </p:sp>
      <p:pic>
        <p:nvPicPr>
          <p:cNvPr id="5" name="Picture 2" descr="KL Deemed to be University Logo">
            <a:extLst>
              <a:ext uri="{FF2B5EF4-FFF2-40B4-BE49-F238E27FC236}">
                <a16:creationId xmlns:a16="http://schemas.microsoft.com/office/drawing/2014/main" id="{72D46E52-90DB-8BC3-8BD7-F83866C945A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D611B8C8-A680-2866-B729-FFA19440A36D}"/>
              </a:ext>
            </a:extLst>
          </p:cNvPr>
          <p:cNvSpPr txBox="1">
            <a:spLocks/>
          </p:cNvSpPr>
          <p:nvPr/>
        </p:nvSpPr>
        <p:spPr>
          <a:xfrm>
            <a:off x="4738977" y="293564"/>
            <a:ext cx="3677435"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Notes  </a:t>
            </a:r>
            <a:endParaRPr lang="en-IN" b="1" dirty="0">
              <a:solidFill>
                <a:schemeClr val="bg1"/>
              </a:solidFill>
            </a:endParaRPr>
          </a:p>
        </p:txBody>
      </p:sp>
      <p:sp>
        <p:nvSpPr>
          <p:cNvPr id="10" name="Content Placeholder 9">
            <a:extLst>
              <a:ext uri="{FF2B5EF4-FFF2-40B4-BE49-F238E27FC236}">
                <a16:creationId xmlns:a16="http://schemas.microsoft.com/office/drawing/2014/main" id="{FECFF4A9-8E26-06B5-E97E-A9BADA85014E}"/>
              </a:ext>
            </a:extLst>
          </p:cNvPr>
          <p:cNvSpPr>
            <a:spLocks noGrp="1"/>
          </p:cNvSpPr>
          <p:nvPr>
            <p:ph idx="1"/>
          </p:nvPr>
        </p:nvSpPr>
        <p:spPr>
          <a:xfrm>
            <a:off x="717755" y="1068510"/>
            <a:ext cx="11366090" cy="5873064"/>
          </a:xfrm>
        </p:spPr>
        <p:txBody>
          <a:bodyPr/>
          <a:lstStyle/>
          <a:p>
            <a:pPr marL="0" indent="0">
              <a:buNone/>
            </a:pPr>
            <a:r>
              <a:rPr lang="en-IN" sz="3200" b="1" dirty="0"/>
              <a:t>Example: A Project Review</a:t>
            </a:r>
          </a:p>
          <a:p>
            <a:pPr marL="0" indent="0">
              <a:buNone/>
            </a:pPr>
            <a:r>
              <a:rPr lang="en-IN" sz="2400" b="1" i="0" dirty="0">
                <a:solidFill>
                  <a:srgbClr val="0F1115"/>
                </a:solidFill>
                <a:effectLst/>
                <a:latin typeface="quote-cjk-patch"/>
              </a:rPr>
              <a:t>Date:</a:t>
            </a:r>
            <a:r>
              <a:rPr lang="en-IN" sz="2400" b="0" i="0" dirty="0">
                <a:solidFill>
                  <a:srgbClr val="0F1115"/>
                </a:solidFill>
                <a:effectLst/>
                <a:latin typeface="quote-cjk-patch"/>
              </a:rPr>
              <a:t> 2026-08-27</a:t>
            </a:r>
            <a:br>
              <a:rPr lang="en-IN" sz="1600" dirty="0"/>
            </a:br>
            <a:r>
              <a:rPr lang="en-IN" sz="2400" b="1" i="0" dirty="0">
                <a:solidFill>
                  <a:srgbClr val="0F1115"/>
                </a:solidFill>
                <a:effectLst/>
                <a:latin typeface="quote-cjk-patch"/>
              </a:rPr>
              <a:t>Time:</a:t>
            </a:r>
            <a:r>
              <a:rPr lang="en-IN" sz="2400" b="0" i="0" dirty="0">
                <a:solidFill>
                  <a:srgbClr val="0F1115"/>
                </a:solidFill>
                <a:effectLst/>
                <a:latin typeface="quote-cjk-patch"/>
              </a:rPr>
              <a:t> 10:00 – 10:30 AM</a:t>
            </a:r>
            <a:br>
              <a:rPr lang="en-IN" sz="1600" dirty="0"/>
            </a:br>
            <a:r>
              <a:rPr lang="en-IN" sz="2400" b="1" i="0" dirty="0">
                <a:solidFill>
                  <a:srgbClr val="0F1115"/>
                </a:solidFill>
                <a:effectLst/>
                <a:latin typeface="quote-cjk-patch"/>
              </a:rPr>
              <a:t>Attendees:</a:t>
            </a:r>
            <a:r>
              <a:rPr lang="en-IN" sz="2400" b="0" i="0" dirty="0">
                <a:solidFill>
                  <a:srgbClr val="0F1115"/>
                </a:solidFill>
                <a:effectLst/>
                <a:latin typeface="quote-cjk-patch"/>
              </a:rPr>
              <a:t> Dr. A. Lee, Dr. B. Smith, Technician C. Jones</a:t>
            </a:r>
            <a:br>
              <a:rPr lang="en-IN" sz="1600" dirty="0"/>
            </a:br>
            <a:r>
              <a:rPr lang="en-IN" sz="2400" b="1" i="0" dirty="0">
                <a:solidFill>
                  <a:srgbClr val="0F1115"/>
                </a:solidFill>
                <a:effectLst/>
                <a:latin typeface="quote-cjk-patch"/>
              </a:rPr>
              <a:t>Subject:</a:t>
            </a:r>
            <a:r>
              <a:rPr lang="en-IN" sz="2400" b="0" i="0" dirty="0">
                <a:solidFill>
                  <a:srgbClr val="0F1115"/>
                </a:solidFill>
                <a:effectLst/>
                <a:latin typeface="quote-cjk-patch"/>
              </a:rPr>
              <a:t> Weekly Project X Progress Review</a:t>
            </a:r>
            <a:endParaRPr lang="en-IN" sz="2200" b="1" i="0" dirty="0">
              <a:solidFill>
                <a:srgbClr val="0F1115"/>
              </a:solidFill>
              <a:effectLst/>
              <a:latin typeface="quote-cjk-patch"/>
            </a:endParaRPr>
          </a:p>
          <a:p>
            <a:pPr marL="0" indent="0">
              <a:buNone/>
            </a:pPr>
            <a:r>
              <a:rPr lang="en-IN" sz="2400" b="1" i="0" dirty="0">
                <a:solidFill>
                  <a:srgbClr val="0F1115"/>
                </a:solidFill>
                <a:effectLst/>
                <a:latin typeface="quote-cjk-patch"/>
              </a:rPr>
              <a:t>Summary:</a:t>
            </a:r>
            <a:br>
              <a:rPr lang="en-IN" sz="2400" dirty="0"/>
            </a:br>
            <a:r>
              <a:rPr lang="en-IN" sz="2400" b="0" i="0" dirty="0">
                <a:solidFill>
                  <a:srgbClr val="0F1115"/>
                </a:solidFill>
                <a:effectLst/>
                <a:latin typeface="quote-cjk-patch"/>
              </a:rPr>
              <a:t>Project X status was reviewed.</a:t>
            </a:r>
            <a:r>
              <a:rPr lang="en-US" sz="2400" b="0" i="0" dirty="0">
                <a:solidFill>
                  <a:srgbClr val="0F1115"/>
                </a:solidFill>
                <a:effectLst/>
                <a:latin typeface="quote-cjk-patch"/>
              </a:rPr>
              <a:t>Three equipment calibration issues were identified and discussed.</a:t>
            </a:r>
            <a:endParaRPr lang="en-IN" sz="2400" b="1" dirty="0"/>
          </a:p>
          <a:p>
            <a:pPr marL="0" indent="0">
              <a:buNone/>
            </a:pPr>
            <a:r>
              <a:rPr lang="en-IN" sz="2400" b="1" dirty="0"/>
              <a:t>Action Matrix:</a:t>
            </a:r>
          </a:p>
          <a:p>
            <a:pPr marL="0" indent="0">
              <a:buNone/>
            </a:pPr>
            <a:r>
              <a:rPr lang="en-US" sz="2400" b="1" dirty="0"/>
              <a:t>Task							Responsible Person	Deadline</a:t>
            </a:r>
          </a:p>
          <a:p>
            <a:pPr marL="0" indent="0">
              <a:buNone/>
            </a:pPr>
            <a:r>
              <a:rPr lang="en-US" sz="2400" dirty="0"/>
              <a:t>Calibration logs were requested for review.			C. Jones	2026-08-29</a:t>
            </a:r>
          </a:p>
          <a:p>
            <a:pPr marL="0" indent="0">
              <a:buNone/>
            </a:pPr>
            <a:r>
              <a:rPr lang="en-US" sz="2400" dirty="0"/>
              <a:t>New reagent was ordered.					B. Smith	2026-08-28</a:t>
            </a:r>
          </a:p>
          <a:p>
            <a:pPr marL="0" indent="0">
              <a:buNone/>
            </a:pPr>
            <a:r>
              <a:rPr lang="en-US" sz="2400" dirty="0"/>
              <a:t>The protocol draft was sent to Dr. Lee for approval.		A. Lee		2026-09-01</a:t>
            </a:r>
            <a:endParaRPr lang="en-IN" sz="2400" dirty="0"/>
          </a:p>
          <a:p>
            <a:pPr marL="0" indent="0">
              <a:buNone/>
            </a:pPr>
            <a:endParaRPr lang="en-IN" dirty="0"/>
          </a:p>
        </p:txBody>
      </p:sp>
    </p:spTree>
    <p:extLst>
      <p:ext uri="{BB962C8B-B14F-4D97-AF65-F5344CB8AC3E}">
        <p14:creationId xmlns:p14="http://schemas.microsoft.com/office/powerpoint/2010/main" val="329604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52168-9E98-3BA5-A834-A22751228DBB}"/>
              </a:ext>
            </a:extLst>
          </p:cNvPr>
          <p:cNvSpPr>
            <a:spLocks noGrp="1"/>
          </p:cNvSpPr>
          <p:nvPr>
            <p:ph type="title"/>
          </p:nvPr>
        </p:nvSpPr>
        <p:spPr>
          <a:xfrm>
            <a:off x="4627658" y="322911"/>
            <a:ext cx="2217751" cy="716252"/>
          </a:xfrm>
        </p:spPr>
        <p:txBody>
          <a:bodyPr/>
          <a:lstStyle/>
          <a:p>
            <a:r>
              <a:rPr lang="en-US" dirty="0"/>
              <a:t>Memo</a:t>
            </a:r>
            <a:endParaRPr lang="en-IN" dirty="0"/>
          </a:p>
        </p:txBody>
      </p:sp>
      <p:sp>
        <p:nvSpPr>
          <p:cNvPr id="3" name="Content Placeholder 2">
            <a:extLst>
              <a:ext uri="{FF2B5EF4-FFF2-40B4-BE49-F238E27FC236}">
                <a16:creationId xmlns:a16="http://schemas.microsoft.com/office/drawing/2014/main" id="{53305CBF-FAB6-2AAE-1F78-950702B13B6A}"/>
              </a:ext>
            </a:extLst>
          </p:cNvPr>
          <p:cNvSpPr>
            <a:spLocks noGrp="1"/>
          </p:cNvSpPr>
          <p:nvPr>
            <p:ph idx="1"/>
          </p:nvPr>
        </p:nvSpPr>
        <p:spPr>
          <a:xfrm>
            <a:off x="838200" y="1144988"/>
            <a:ext cx="9977284" cy="5031975"/>
          </a:xfrm>
        </p:spPr>
        <p:txBody>
          <a:bodyPr/>
          <a:lstStyle/>
          <a:p>
            <a:pPr marL="0" lvl="0" indent="0">
              <a:buNone/>
            </a:pPr>
            <a:r>
              <a:rPr lang="en-IN" b="1" dirty="0"/>
              <a:t>Purpose:</a:t>
            </a:r>
            <a:r>
              <a:rPr lang="en-IN" dirty="0"/>
              <a:t> To communicate internal updates, policy changes, or operational instructions within an organization or department.</a:t>
            </a:r>
          </a:p>
          <a:p>
            <a:pPr marL="0" lvl="0" indent="0">
              <a:buNone/>
            </a:pPr>
            <a:r>
              <a:rPr lang="en-IN" b="1" dirty="0"/>
              <a:t>Principles:</a:t>
            </a:r>
            <a:endParaRPr lang="en-IN" dirty="0"/>
          </a:p>
          <a:p>
            <a:pPr lvl="1"/>
            <a:r>
              <a:rPr lang="en-IN" dirty="0"/>
              <a:t>Directness—use the "Bottom Line Up Front" (BLUF) approach to state the main point immediately.</a:t>
            </a:r>
          </a:p>
          <a:p>
            <a:pPr lvl="1"/>
            <a:r>
              <a:rPr lang="en-IN" dirty="0"/>
              <a:t>Clarity—use professional, single-topic focus to prevent confusion.</a:t>
            </a:r>
          </a:p>
          <a:p>
            <a:pPr marL="0" lvl="0" indent="0">
              <a:buNone/>
            </a:pPr>
            <a:r>
              <a:rPr lang="en-IN" b="1" dirty="0"/>
              <a:t>Conventions:</a:t>
            </a:r>
            <a:endParaRPr lang="en-IN" dirty="0"/>
          </a:p>
          <a:p>
            <a:pPr lvl="1"/>
            <a:r>
              <a:rPr lang="en-IN" dirty="0"/>
              <a:t>Standard formal header block: TO:, FROM:, DATE:, SUBJECT:.</a:t>
            </a:r>
          </a:p>
          <a:p>
            <a:pPr lvl="1"/>
            <a:r>
              <a:rPr lang="en-IN" dirty="0"/>
              <a:t>Avoid formal salutations (e.g., "Dear Sir") or sign-offs; use bullet points and bold headers for quick readability.</a:t>
            </a:r>
          </a:p>
          <a:p>
            <a:endParaRPr lang="en-IN" dirty="0"/>
          </a:p>
        </p:txBody>
      </p:sp>
      <p:pic>
        <p:nvPicPr>
          <p:cNvPr id="5" name="Picture 2" descr="KL Deemed to be University Logo">
            <a:extLst>
              <a:ext uri="{FF2B5EF4-FFF2-40B4-BE49-F238E27FC236}">
                <a16:creationId xmlns:a16="http://schemas.microsoft.com/office/drawing/2014/main" id="{C7C790C0-712E-FFC5-DA14-9B01541AC258}"/>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6C8DB3D3-B443-C720-1A40-ACA01056AEDB}"/>
              </a:ext>
            </a:extLst>
          </p:cNvPr>
          <p:cNvSpPr txBox="1">
            <a:spLocks/>
          </p:cNvSpPr>
          <p:nvPr/>
        </p:nvSpPr>
        <p:spPr>
          <a:xfrm>
            <a:off x="4738978" y="293564"/>
            <a:ext cx="2241604"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Memo</a:t>
            </a:r>
            <a:endParaRPr lang="en-IN" b="1" dirty="0">
              <a:solidFill>
                <a:schemeClr val="bg1"/>
              </a:solidFill>
            </a:endParaRPr>
          </a:p>
        </p:txBody>
      </p:sp>
    </p:spTree>
    <p:extLst>
      <p:ext uri="{BB962C8B-B14F-4D97-AF65-F5344CB8AC3E}">
        <p14:creationId xmlns:p14="http://schemas.microsoft.com/office/powerpoint/2010/main" val="668732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AF214-402D-491A-EEEB-C16638262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2C154-BFA9-A640-6113-F1F700DF02E8}"/>
              </a:ext>
            </a:extLst>
          </p:cNvPr>
          <p:cNvSpPr>
            <a:spLocks noGrp="1"/>
          </p:cNvSpPr>
          <p:nvPr>
            <p:ph type="title"/>
          </p:nvPr>
        </p:nvSpPr>
        <p:spPr>
          <a:xfrm>
            <a:off x="4627658" y="322911"/>
            <a:ext cx="2217751" cy="716252"/>
          </a:xfrm>
        </p:spPr>
        <p:txBody>
          <a:bodyPr/>
          <a:lstStyle/>
          <a:p>
            <a:r>
              <a:rPr lang="en-US" dirty="0"/>
              <a:t>Memo</a:t>
            </a:r>
            <a:endParaRPr lang="en-IN" dirty="0"/>
          </a:p>
        </p:txBody>
      </p:sp>
      <p:sp>
        <p:nvSpPr>
          <p:cNvPr id="3" name="Content Placeholder 2">
            <a:extLst>
              <a:ext uri="{FF2B5EF4-FFF2-40B4-BE49-F238E27FC236}">
                <a16:creationId xmlns:a16="http://schemas.microsoft.com/office/drawing/2014/main" id="{0C888ED0-DF63-6B93-71E6-37BB611D715C}"/>
              </a:ext>
            </a:extLst>
          </p:cNvPr>
          <p:cNvSpPr>
            <a:spLocks noGrp="1"/>
          </p:cNvSpPr>
          <p:nvPr>
            <p:ph idx="1"/>
          </p:nvPr>
        </p:nvSpPr>
        <p:spPr>
          <a:xfrm>
            <a:off x="855406" y="922351"/>
            <a:ext cx="11336594" cy="6137209"/>
          </a:xfrm>
        </p:spPr>
        <p:txBody>
          <a:bodyPr/>
          <a:lstStyle/>
          <a:p>
            <a:pPr marL="0" marR="0" indent="0" algn="l">
              <a:spcBef>
                <a:spcPts val="1200"/>
              </a:spcBef>
              <a:spcAft>
                <a:spcPts val="1200"/>
              </a:spcAft>
              <a:buNone/>
            </a:pPr>
            <a:r>
              <a:rPr lang="en-IN" b="1" i="0" dirty="0">
                <a:solidFill>
                  <a:srgbClr val="0F1115"/>
                </a:solidFill>
                <a:effectLst/>
                <a:latin typeface="quote-cjk-patch"/>
              </a:rPr>
              <a:t>Example: IT System Upgrade</a:t>
            </a:r>
          </a:p>
          <a:p>
            <a:pPr marL="0" marR="0" indent="0" algn="l">
              <a:spcBef>
                <a:spcPts val="1200"/>
              </a:spcBef>
              <a:spcAft>
                <a:spcPts val="1200"/>
              </a:spcAft>
              <a:buNone/>
            </a:pPr>
            <a:r>
              <a:rPr lang="en-IN" sz="2000" b="1" i="0" dirty="0">
                <a:solidFill>
                  <a:srgbClr val="0F1115"/>
                </a:solidFill>
                <a:effectLst/>
                <a:latin typeface="quote-cjk-patch"/>
              </a:rPr>
              <a:t>MEMORANDUM</a:t>
            </a:r>
          </a:p>
          <a:p>
            <a:pPr marL="0" marR="0" indent="0" algn="l">
              <a:spcBef>
                <a:spcPts val="1200"/>
              </a:spcBef>
              <a:spcAft>
                <a:spcPts val="1200"/>
              </a:spcAft>
              <a:buNone/>
            </a:pPr>
            <a:r>
              <a:rPr lang="en-IN" sz="2000" b="1" i="0" dirty="0">
                <a:solidFill>
                  <a:srgbClr val="0F1115"/>
                </a:solidFill>
                <a:effectLst/>
                <a:latin typeface="quote-cjk-patch"/>
              </a:rPr>
              <a:t>TO:</a:t>
            </a:r>
            <a:r>
              <a:rPr lang="en-IN" sz="2000" b="0" i="0" dirty="0">
                <a:solidFill>
                  <a:srgbClr val="0F1115"/>
                </a:solidFill>
                <a:effectLst/>
                <a:latin typeface="quote-cjk-patch"/>
              </a:rPr>
              <a:t> All Department Heads</a:t>
            </a:r>
            <a:br>
              <a:rPr lang="en-IN" sz="2000" b="0" i="0" dirty="0">
                <a:solidFill>
                  <a:srgbClr val="0F1115"/>
                </a:solidFill>
                <a:effectLst/>
                <a:latin typeface="quote-cjk-patch"/>
              </a:rPr>
            </a:br>
            <a:r>
              <a:rPr lang="en-IN" sz="2000" b="1" i="0" dirty="0">
                <a:solidFill>
                  <a:srgbClr val="0F1115"/>
                </a:solidFill>
                <a:effectLst/>
                <a:latin typeface="quote-cjk-patch"/>
              </a:rPr>
              <a:t>FROM:</a:t>
            </a:r>
            <a:r>
              <a:rPr lang="en-IN" sz="2000" b="0" i="0" dirty="0">
                <a:solidFill>
                  <a:srgbClr val="0F1115"/>
                </a:solidFill>
                <a:effectLst/>
                <a:latin typeface="quote-cjk-patch"/>
              </a:rPr>
              <a:t> IT Support Team</a:t>
            </a:r>
            <a:br>
              <a:rPr lang="en-IN" sz="2000" b="0" i="0" dirty="0">
                <a:solidFill>
                  <a:srgbClr val="0F1115"/>
                </a:solidFill>
                <a:effectLst/>
                <a:latin typeface="quote-cjk-patch"/>
              </a:rPr>
            </a:br>
            <a:r>
              <a:rPr lang="en-IN" sz="2000" b="1" i="0" dirty="0">
                <a:solidFill>
                  <a:srgbClr val="0F1115"/>
                </a:solidFill>
                <a:effectLst/>
                <a:latin typeface="quote-cjk-patch"/>
              </a:rPr>
              <a:t>DATE:</a:t>
            </a:r>
            <a:r>
              <a:rPr lang="en-IN" sz="2000" b="0" i="0" dirty="0">
                <a:solidFill>
                  <a:srgbClr val="0F1115"/>
                </a:solidFill>
                <a:effectLst/>
                <a:latin typeface="quote-cjk-patch"/>
              </a:rPr>
              <a:t> August 27, 2026</a:t>
            </a:r>
            <a:br>
              <a:rPr lang="en-IN" sz="2000" b="0" i="0" dirty="0">
                <a:solidFill>
                  <a:srgbClr val="0F1115"/>
                </a:solidFill>
                <a:effectLst/>
                <a:latin typeface="quote-cjk-patch"/>
              </a:rPr>
            </a:br>
            <a:r>
              <a:rPr lang="en-IN" sz="2000" b="1" i="0" dirty="0">
                <a:solidFill>
                  <a:srgbClr val="0F1115"/>
                </a:solidFill>
                <a:effectLst/>
                <a:latin typeface="quote-cjk-patch"/>
              </a:rPr>
              <a:t>SUBJECT:</a:t>
            </a:r>
            <a:r>
              <a:rPr lang="en-IN" sz="2000" b="0" i="0" dirty="0">
                <a:solidFill>
                  <a:srgbClr val="0F1115"/>
                </a:solidFill>
                <a:effectLst/>
                <a:latin typeface="quote-cjk-patch"/>
              </a:rPr>
              <a:t> Mandatory Software Update This Friday</a:t>
            </a:r>
          </a:p>
          <a:p>
            <a:pPr marL="0" marR="0" indent="0" algn="l">
              <a:spcBef>
                <a:spcPts val="1200"/>
              </a:spcBef>
              <a:spcAft>
                <a:spcPts val="1200"/>
              </a:spcAft>
              <a:buNone/>
            </a:pPr>
            <a:r>
              <a:rPr lang="en-IN" sz="2000" b="0" i="0" dirty="0">
                <a:solidFill>
                  <a:srgbClr val="0F1115"/>
                </a:solidFill>
                <a:effectLst/>
                <a:latin typeface="quote-cjk-patch"/>
              </a:rPr>
              <a:t>All company laptops must be updated to the new security patch by 5:00 PM this Friday, August 30. Unpatched devices will lose network access on Monday.</a:t>
            </a:r>
          </a:p>
          <a:p>
            <a:pPr marL="0" marR="0" indent="0" algn="l">
              <a:spcBef>
                <a:spcPts val="600"/>
              </a:spcBef>
              <a:spcAft>
                <a:spcPts val="1200"/>
              </a:spcAft>
              <a:buNone/>
            </a:pPr>
            <a:r>
              <a:rPr lang="en-IN" sz="2000" b="1" i="0" dirty="0">
                <a:solidFill>
                  <a:srgbClr val="0F1115"/>
                </a:solidFill>
                <a:effectLst/>
                <a:latin typeface="quote-cjk-patch"/>
              </a:rPr>
              <a:t>Details:</a:t>
            </a:r>
            <a:endParaRPr lang="en-IN" sz="2000" b="0" i="0" dirty="0">
              <a:solidFill>
                <a:srgbClr val="0F1115"/>
              </a:solidFill>
              <a:effectLst/>
              <a:latin typeface="quote-cjk-patch"/>
            </a:endParaRPr>
          </a:p>
          <a:p>
            <a:pPr marL="0" marR="0" lvl="0" indent="-342900" algn="l">
              <a:lnSpc>
                <a:spcPct val="100000"/>
              </a:lnSpc>
              <a:spcBef>
                <a:spcPts val="600"/>
              </a:spcBef>
              <a:buFont typeface="Arial" panose="020B0604020202020204" pitchFamily="34" charset="0"/>
              <a:buChar char="•"/>
            </a:pPr>
            <a:r>
              <a:rPr lang="en-IN" sz="2000" b="1" i="0" dirty="0">
                <a:solidFill>
                  <a:srgbClr val="0F1115"/>
                </a:solidFill>
                <a:effectLst/>
                <a:latin typeface="quote-cjk-patch"/>
              </a:rPr>
              <a:t>What to do:</a:t>
            </a:r>
            <a:r>
              <a:rPr lang="en-IN" sz="2000" b="0" i="0" dirty="0">
                <a:solidFill>
                  <a:srgbClr val="0F1115"/>
                </a:solidFill>
                <a:effectLst/>
                <a:latin typeface="quote-cjk-patch"/>
              </a:rPr>
              <a:t> Run the "Update Now" icon on your desktop. The install takes 20 minutes.</a:t>
            </a:r>
          </a:p>
          <a:p>
            <a:pPr marL="0" marR="0" lvl="0" indent="-342900" algn="l">
              <a:lnSpc>
                <a:spcPct val="100000"/>
              </a:lnSpc>
              <a:spcBef>
                <a:spcPts val="450"/>
              </a:spcBef>
              <a:buFont typeface="Arial" panose="020B0604020202020204" pitchFamily="34" charset="0"/>
              <a:buChar char="•"/>
            </a:pPr>
            <a:r>
              <a:rPr lang="en-IN" sz="2000" b="1" i="0" dirty="0">
                <a:solidFill>
                  <a:srgbClr val="0F1115"/>
                </a:solidFill>
                <a:effectLst/>
                <a:latin typeface="quote-cjk-patch"/>
              </a:rPr>
              <a:t>Schedule:</a:t>
            </a:r>
            <a:r>
              <a:rPr lang="en-IN" sz="2000" b="0" i="0" dirty="0">
                <a:solidFill>
                  <a:srgbClr val="0F1115"/>
                </a:solidFill>
                <a:effectLst/>
                <a:latin typeface="quote-cjk-patch"/>
              </a:rPr>
              <a:t> Run the update during lunch or after your last meeting.</a:t>
            </a:r>
          </a:p>
          <a:p>
            <a:pPr marL="0" marR="0" lvl="0" indent="-342900" algn="l">
              <a:lnSpc>
                <a:spcPct val="100000"/>
              </a:lnSpc>
              <a:spcBef>
                <a:spcPts val="450"/>
              </a:spcBef>
              <a:buFont typeface="Arial" panose="020B0604020202020204" pitchFamily="34" charset="0"/>
              <a:buChar char="•"/>
            </a:pPr>
            <a:r>
              <a:rPr lang="en-IN" sz="2000" b="1" i="0" dirty="0">
                <a:solidFill>
                  <a:srgbClr val="0F1115"/>
                </a:solidFill>
                <a:effectLst/>
                <a:latin typeface="quote-cjk-patch"/>
              </a:rPr>
              <a:t>Exceptions:</a:t>
            </a:r>
            <a:r>
              <a:rPr lang="en-IN" sz="2000" b="0" i="0" dirty="0">
                <a:solidFill>
                  <a:srgbClr val="0F1115"/>
                </a:solidFill>
                <a:effectLst/>
                <a:latin typeface="quote-cjk-patch"/>
              </a:rPr>
              <a:t> Marketing and Finance teams – run the update </a:t>
            </a:r>
            <a:r>
              <a:rPr lang="en-IN" sz="2000" b="0" i="1" dirty="0">
                <a:solidFill>
                  <a:srgbClr val="0F1115"/>
                </a:solidFill>
                <a:effectLst/>
                <a:latin typeface="quote-cjk-patch"/>
              </a:rPr>
              <a:t>before</a:t>
            </a:r>
            <a:r>
              <a:rPr lang="en-IN" sz="2000" b="0" i="0" dirty="0">
                <a:solidFill>
                  <a:srgbClr val="0F1115"/>
                </a:solidFill>
                <a:effectLst/>
                <a:latin typeface="quote-cjk-patch"/>
              </a:rPr>
              <a:t> 3:00 PM due to batch processing.</a:t>
            </a:r>
          </a:p>
          <a:p>
            <a:pPr marL="0" marR="0" lvl="0" indent="-342900" algn="l">
              <a:lnSpc>
                <a:spcPct val="100000"/>
              </a:lnSpc>
              <a:spcBef>
                <a:spcPts val="450"/>
              </a:spcBef>
              <a:buFont typeface="Arial" panose="020B0604020202020204" pitchFamily="34" charset="0"/>
              <a:buChar char="•"/>
            </a:pPr>
            <a:r>
              <a:rPr lang="en-IN" sz="2000" b="1" i="0" dirty="0">
                <a:solidFill>
                  <a:srgbClr val="0F1115"/>
                </a:solidFill>
                <a:effectLst/>
                <a:latin typeface="quote-cjk-patch"/>
              </a:rPr>
              <a:t>Support:</a:t>
            </a:r>
            <a:r>
              <a:rPr lang="en-IN" sz="2000" b="0" i="0" dirty="0">
                <a:solidFill>
                  <a:srgbClr val="0F1115"/>
                </a:solidFill>
                <a:effectLst/>
                <a:latin typeface="quote-cjk-patch"/>
              </a:rPr>
              <a:t> Call IT hotline (ext. 5678) if you see error code X-401.</a:t>
            </a:r>
          </a:p>
          <a:p>
            <a:pPr marL="0" marR="0" indent="0" algn="l">
              <a:spcBef>
                <a:spcPts val="1200"/>
              </a:spcBef>
              <a:buNone/>
            </a:pPr>
            <a:r>
              <a:rPr lang="en-IN" sz="2000" b="1" i="0" dirty="0">
                <a:solidFill>
                  <a:srgbClr val="0F1115"/>
                </a:solidFill>
                <a:effectLst/>
                <a:latin typeface="quote-cjk-patch"/>
              </a:rPr>
              <a:t>No action is needed if</a:t>
            </a:r>
            <a:r>
              <a:rPr lang="en-IN" sz="2000" b="0" i="0" dirty="0">
                <a:solidFill>
                  <a:srgbClr val="0F1115"/>
                </a:solidFill>
                <a:effectLst/>
                <a:latin typeface="quote-cjk-patch"/>
              </a:rPr>
              <a:t> you already received the confirmation email from IT this morning.</a:t>
            </a:r>
          </a:p>
          <a:p>
            <a:pPr marL="0" indent="0">
              <a:buNone/>
            </a:pPr>
            <a:endParaRPr lang="en-IN" sz="2000" dirty="0"/>
          </a:p>
        </p:txBody>
      </p:sp>
      <p:pic>
        <p:nvPicPr>
          <p:cNvPr id="5" name="Picture 2" descr="KL Deemed to be University Logo">
            <a:extLst>
              <a:ext uri="{FF2B5EF4-FFF2-40B4-BE49-F238E27FC236}">
                <a16:creationId xmlns:a16="http://schemas.microsoft.com/office/drawing/2014/main" id="{4B617A0A-A6E4-1AFA-0130-CFB54FE5B578}"/>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DFBFC781-7E96-A591-3640-973CBDB06B2C}"/>
              </a:ext>
            </a:extLst>
          </p:cNvPr>
          <p:cNvSpPr txBox="1">
            <a:spLocks/>
          </p:cNvSpPr>
          <p:nvPr/>
        </p:nvSpPr>
        <p:spPr>
          <a:xfrm>
            <a:off x="4738978" y="293564"/>
            <a:ext cx="2241604"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Memo</a:t>
            </a:r>
            <a:endParaRPr lang="en-IN" b="1" dirty="0">
              <a:solidFill>
                <a:schemeClr val="bg1"/>
              </a:solidFill>
            </a:endParaRPr>
          </a:p>
        </p:txBody>
      </p:sp>
    </p:spTree>
    <p:extLst>
      <p:ext uri="{BB962C8B-B14F-4D97-AF65-F5344CB8AC3E}">
        <p14:creationId xmlns:p14="http://schemas.microsoft.com/office/powerpoint/2010/main" val="1048463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BBC108-A9E3-7D29-93B5-482B9F4FCE1B}"/>
              </a:ext>
            </a:extLst>
          </p:cNvPr>
          <p:cNvSpPr>
            <a:spLocks noGrp="1"/>
          </p:cNvSpPr>
          <p:nvPr>
            <p:ph idx="1"/>
          </p:nvPr>
        </p:nvSpPr>
        <p:spPr>
          <a:xfrm>
            <a:off x="1124447" y="1049572"/>
            <a:ext cx="10280972" cy="4928608"/>
          </a:xfrm>
        </p:spPr>
        <p:txBody>
          <a:bodyPr/>
          <a:lstStyle/>
          <a:p>
            <a:pPr marL="0" lvl="0" indent="0">
              <a:buNone/>
            </a:pPr>
            <a:r>
              <a:rPr lang="en-IN" b="1" dirty="0"/>
              <a:t>Purpose:</a:t>
            </a:r>
            <a:r>
              <a:rPr lang="en-IN" dirty="0"/>
              <a:t> To present technical data, feasibility studies, inspection outcomes, or project status updates for decision-making.</a:t>
            </a:r>
          </a:p>
          <a:p>
            <a:pPr marL="0" lvl="0" indent="0">
              <a:buNone/>
            </a:pPr>
            <a:r>
              <a:rPr lang="en-IN" b="1" dirty="0"/>
              <a:t>Principles:</a:t>
            </a:r>
            <a:endParaRPr lang="en-IN" dirty="0"/>
          </a:p>
          <a:p>
            <a:pPr lvl="1"/>
            <a:r>
              <a:rPr lang="en-IN" dirty="0"/>
              <a:t>Data-driven analysis—base all conclusions strictly on verifiable evidence, testing, or factual measurements.</a:t>
            </a:r>
          </a:p>
          <a:p>
            <a:pPr lvl="1"/>
            <a:r>
              <a:rPr lang="en-IN" dirty="0"/>
              <a:t>Structural organization—guide the reader logically from problem statement to resolution.</a:t>
            </a:r>
          </a:p>
          <a:p>
            <a:pPr marL="0" lvl="0" indent="0">
              <a:buNone/>
            </a:pPr>
            <a:r>
              <a:rPr lang="en-IN" b="1" dirty="0"/>
              <a:t>Conventions:</a:t>
            </a:r>
            <a:endParaRPr lang="en-IN" dirty="0"/>
          </a:p>
          <a:p>
            <a:pPr lvl="1"/>
            <a:r>
              <a:rPr lang="en-IN" dirty="0"/>
              <a:t>Standardized technical layout: </a:t>
            </a:r>
            <a:r>
              <a:rPr lang="en-IN" i="1" dirty="0"/>
              <a:t>Title/Header → Introduction → Findings/Data → Conclusions → Recommendations</a:t>
            </a:r>
            <a:r>
              <a:rPr lang="en-IN" dirty="0"/>
              <a:t>.</a:t>
            </a:r>
          </a:p>
          <a:p>
            <a:pPr lvl="1"/>
            <a:r>
              <a:rPr lang="en-IN" dirty="0"/>
              <a:t>Uses visuals (charts, tables, schematics) labelled with captions and clear unit metrics.</a:t>
            </a:r>
          </a:p>
          <a:p>
            <a:endParaRPr lang="en-IN" dirty="0"/>
          </a:p>
        </p:txBody>
      </p:sp>
      <p:pic>
        <p:nvPicPr>
          <p:cNvPr id="5" name="Picture 2" descr="KL Deemed to be University Logo">
            <a:extLst>
              <a:ext uri="{FF2B5EF4-FFF2-40B4-BE49-F238E27FC236}">
                <a16:creationId xmlns:a16="http://schemas.microsoft.com/office/drawing/2014/main" id="{8712FCD4-4F1A-621D-12BA-6DED5A064F3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245E7F3D-AF86-6AE4-E294-7CAE21A4830D}"/>
              </a:ext>
            </a:extLst>
          </p:cNvPr>
          <p:cNvSpPr txBox="1">
            <a:spLocks/>
          </p:cNvSpPr>
          <p:nvPr/>
        </p:nvSpPr>
        <p:spPr>
          <a:xfrm>
            <a:off x="4340773" y="285682"/>
            <a:ext cx="3922072"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Short Report</a:t>
            </a:r>
            <a:endParaRPr lang="en-IN" b="1" dirty="0">
              <a:solidFill>
                <a:schemeClr val="bg1"/>
              </a:solidFill>
            </a:endParaRPr>
          </a:p>
        </p:txBody>
      </p:sp>
    </p:spTree>
    <p:extLst>
      <p:ext uri="{BB962C8B-B14F-4D97-AF65-F5344CB8AC3E}">
        <p14:creationId xmlns:p14="http://schemas.microsoft.com/office/powerpoint/2010/main" val="2029431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5AC2E-7E62-3B5B-6CC9-D6F645B78F6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342D0-E2DC-F7FA-F625-DB76CC23537C}"/>
              </a:ext>
            </a:extLst>
          </p:cNvPr>
          <p:cNvSpPr>
            <a:spLocks noGrp="1"/>
          </p:cNvSpPr>
          <p:nvPr>
            <p:ph idx="1"/>
          </p:nvPr>
        </p:nvSpPr>
        <p:spPr>
          <a:xfrm>
            <a:off x="599768" y="914471"/>
            <a:ext cx="11759380" cy="5791130"/>
          </a:xfrm>
        </p:spPr>
        <p:txBody>
          <a:bodyPr/>
          <a:lstStyle/>
          <a:p>
            <a:pPr marL="0" marR="0" indent="0" algn="l">
              <a:spcBef>
                <a:spcPts val="1200"/>
              </a:spcBef>
              <a:spcAft>
                <a:spcPts val="1200"/>
              </a:spcAft>
              <a:buNone/>
            </a:pPr>
            <a:r>
              <a:rPr lang="en-IN" sz="2400" b="1" i="0" dirty="0">
                <a:solidFill>
                  <a:srgbClr val="0F1115"/>
                </a:solidFill>
                <a:effectLst/>
                <a:latin typeface="quote-cjk-patch"/>
              </a:rPr>
              <a:t>EXAMPLE: A Short Report on Student Portal Login Service</a:t>
            </a:r>
            <a:endParaRPr lang="en-IN" sz="2400" dirty="0">
              <a:solidFill>
                <a:srgbClr val="0F1115"/>
              </a:solidFill>
              <a:latin typeface="quote-cjk-patch"/>
            </a:endParaRPr>
          </a:p>
          <a:p>
            <a:pPr marL="0" marR="0" indent="0" algn="l">
              <a:spcBef>
                <a:spcPts val="1200"/>
              </a:spcBef>
              <a:spcAft>
                <a:spcPts val="1200"/>
              </a:spcAft>
              <a:buNone/>
            </a:pPr>
            <a:r>
              <a:rPr lang="en-IN" sz="2400" b="1" i="0" dirty="0">
                <a:solidFill>
                  <a:srgbClr val="0F1115"/>
                </a:solidFill>
                <a:effectLst/>
                <a:latin typeface="quote-cjk-patch"/>
              </a:rPr>
              <a:t>Title:</a:t>
            </a:r>
            <a:r>
              <a:rPr lang="en-IN" sz="2400" b="0" i="0" dirty="0">
                <a:solidFill>
                  <a:srgbClr val="0F1115"/>
                </a:solidFill>
                <a:effectLst/>
                <a:latin typeface="quote-cjk-patch"/>
              </a:rPr>
              <a:t> Load Test Results – Student Portal Login Service</a:t>
            </a:r>
            <a:br>
              <a:rPr lang="en-IN" sz="2400" b="0" i="0" dirty="0">
                <a:solidFill>
                  <a:srgbClr val="0F1115"/>
                </a:solidFill>
                <a:effectLst/>
                <a:latin typeface="quote-cjk-patch"/>
              </a:rPr>
            </a:br>
            <a:r>
              <a:rPr lang="en-IN" sz="2400" b="1" i="0" dirty="0">
                <a:solidFill>
                  <a:srgbClr val="0F1115"/>
                </a:solidFill>
                <a:effectLst/>
                <a:latin typeface="quote-cjk-patch"/>
              </a:rPr>
              <a:t>Date:</a:t>
            </a:r>
            <a:r>
              <a:rPr lang="en-IN" sz="2400" b="0" i="0" dirty="0">
                <a:solidFill>
                  <a:srgbClr val="0F1115"/>
                </a:solidFill>
                <a:effectLst/>
                <a:latin typeface="quote-cjk-patch"/>
              </a:rPr>
              <a:t> August 27, 2026</a:t>
            </a:r>
            <a:br>
              <a:rPr lang="en-IN" sz="2400" b="0" i="0" dirty="0">
                <a:solidFill>
                  <a:srgbClr val="0F1115"/>
                </a:solidFill>
                <a:effectLst/>
                <a:latin typeface="quote-cjk-patch"/>
              </a:rPr>
            </a:br>
            <a:r>
              <a:rPr lang="en-IN" sz="2400" b="1" i="0" dirty="0">
                <a:solidFill>
                  <a:srgbClr val="0F1115"/>
                </a:solidFill>
                <a:effectLst/>
                <a:latin typeface="quote-cjk-patch"/>
              </a:rPr>
              <a:t>Prepared by:</a:t>
            </a:r>
            <a:r>
              <a:rPr lang="en-IN" sz="2400" b="0" i="0" dirty="0">
                <a:solidFill>
                  <a:srgbClr val="0F1115"/>
                </a:solidFill>
                <a:effectLst/>
                <a:latin typeface="quote-cjk-patch"/>
              </a:rPr>
              <a:t> CSE Infrastructure Team</a:t>
            </a:r>
          </a:p>
          <a:p>
            <a:pPr marL="0" marR="0" indent="0" algn="l">
              <a:spcBef>
                <a:spcPts val="1200"/>
              </a:spcBef>
              <a:spcAft>
                <a:spcPts val="1200"/>
              </a:spcAft>
              <a:buNone/>
            </a:pPr>
            <a:r>
              <a:rPr lang="en-IN" sz="2400" b="1" i="0" dirty="0">
                <a:solidFill>
                  <a:srgbClr val="0F1115"/>
                </a:solidFill>
                <a:effectLst/>
                <a:latin typeface="quote-cjk-patch"/>
              </a:rPr>
              <a:t>1. Introduction</a:t>
            </a:r>
            <a:br>
              <a:rPr lang="en-IN" sz="2400" b="0" i="0" dirty="0">
                <a:solidFill>
                  <a:srgbClr val="0F1115"/>
                </a:solidFill>
                <a:effectLst/>
                <a:latin typeface="quote-cjk-patch"/>
              </a:rPr>
            </a:br>
            <a:r>
              <a:rPr lang="en-IN" sz="2400" b="0" i="0" dirty="0">
                <a:solidFill>
                  <a:srgbClr val="0F1115"/>
                </a:solidFill>
                <a:effectLst/>
                <a:latin typeface="quote-cjk-patch"/>
              </a:rPr>
              <a:t>The student portal crashed twice last week during exam result announcements. We ran a load test on August 26 to measure maximum concurrent users the login service can handle before failing.</a:t>
            </a:r>
          </a:p>
          <a:p>
            <a:pPr marL="0" marR="0" indent="0" algn="l">
              <a:spcBef>
                <a:spcPts val="1200"/>
              </a:spcBef>
              <a:spcAft>
                <a:spcPts val="1200"/>
              </a:spcAft>
              <a:buNone/>
            </a:pPr>
            <a:r>
              <a:rPr lang="en-IN" sz="2400" b="1" i="0" dirty="0">
                <a:solidFill>
                  <a:srgbClr val="0F1115"/>
                </a:solidFill>
                <a:effectLst/>
                <a:latin typeface="quote-cjk-patch"/>
              </a:rPr>
              <a:t>2. Findings / Data</a:t>
            </a:r>
            <a:endParaRPr lang="en-IN" sz="2400" b="0" i="0" dirty="0">
              <a:solidFill>
                <a:srgbClr val="0F1115"/>
              </a:solidFill>
              <a:effectLst/>
              <a:latin typeface="quote-cjk-patch"/>
            </a:endParaRPr>
          </a:p>
          <a:p>
            <a:pPr marL="0" marR="0" lvl="0" indent="-342900" algn="l">
              <a:spcBef>
                <a:spcPts val="1200"/>
              </a:spcBef>
              <a:spcAft>
                <a:spcPts val="1200"/>
              </a:spcAft>
              <a:buFont typeface="Arial" panose="020B0604020202020204" pitchFamily="34" charset="0"/>
              <a:buChar char="•"/>
            </a:pPr>
            <a:r>
              <a:rPr lang="en-IN" sz="2400" b="0" i="0" dirty="0">
                <a:solidFill>
                  <a:srgbClr val="0F1115"/>
                </a:solidFill>
                <a:effectLst/>
                <a:latin typeface="quote-cjk-patch"/>
              </a:rPr>
              <a:t>Test tool: Apache JMeter (simulated users).</a:t>
            </a:r>
          </a:p>
          <a:p>
            <a:pPr marL="0" marR="0" lvl="0" indent="-342900" algn="l">
              <a:spcBef>
                <a:spcPts val="450"/>
              </a:spcBef>
              <a:spcAft>
                <a:spcPts val="1200"/>
              </a:spcAft>
              <a:buFont typeface="Arial" panose="020B0604020202020204" pitchFamily="34" charset="0"/>
              <a:buChar char="•"/>
            </a:pPr>
            <a:r>
              <a:rPr lang="en-IN" sz="2400" b="0" i="0" dirty="0">
                <a:solidFill>
                  <a:srgbClr val="0F1115"/>
                </a:solidFill>
                <a:effectLst/>
                <a:latin typeface="quote-cjk-patch"/>
              </a:rPr>
              <a:t>Server: 4 vCPUs, 16 GB RAM.</a:t>
            </a:r>
          </a:p>
          <a:p>
            <a:pPr marL="0" marR="0" lvl="0" indent="-342900" algn="l">
              <a:spcBef>
                <a:spcPts val="450"/>
              </a:spcBef>
              <a:spcAft>
                <a:spcPts val="1200"/>
              </a:spcAft>
              <a:buFont typeface="Arial" panose="020B0604020202020204" pitchFamily="34" charset="0"/>
              <a:buChar char="•"/>
            </a:pPr>
            <a:r>
              <a:rPr lang="en-IN" sz="2400" b="0" i="0" dirty="0">
                <a:solidFill>
                  <a:srgbClr val="0F1115"/>
                </a:solidFill>
                <a:effectLst/>
                <a:latin typeface="quote-cjk-patch"/>
              </a:rPr>
              <a:t>Results table:</a:t>
            </a:r>
          </a:p>
          <a:p>
            <a:pPr marL="0" marR="0" indent="0" algn="l">
              <a:spcBef>
                <a:spcPts val="1200"/>
              </a:spcBef>
              <a:spcAft>
                <a:spcPts val="1200"/>
              </a:spcAft>
              <a:buNone/>
            </a:pPr>
            <a:endParaRPr lang="en-IN" sz="2400" b="0" i="0" dirty="0">
              <a:solidFill>
                <a:srgbClr val="0F1115"/>
              </a:solidFill>
              <a:effectLst/>
              <a:latin typeface="quote-cjk-patch"/>
            </a:endParaRPr>
          </a:p>
          <a:p>
            <a:pPr marL="0" marR="0" indent="0" algn="l">
              <a:spcBef>
                <a:spcPts val="1200"/>
              </a:spcBef>
              <a:spcAft>
                <a:spcPts val="1200"/>
              </a:spcAft>
              <a:buNone/>
            </a:pPr>
            <a:endParaRPr lang="en-IN" sz="1800" b="0" i="0" dirty="0">
              <a:solidFill>
                <a:srgbClr val="0F1115"/>
              </a:solidFill>
              <a:effectLst/>
              <a:latin typeface="quote-cjk-patch"/>
            </a:endParaRPr>
          </a:p>
          <a:p>
            <a:pPr marL="0" lvl="0" indent="0">
              <a:buNone/>
            </a:pPr>
            <a:endParaRPr lang="en-IN" sz="1800" dirty="0"/>
          </a:p>
          <a:p>
            <a:pPr marL="0" lvl="0" indent="0">
              <a:buNone/>
            </a:pPr>
            <a:br>
              <a:rPr lang="en-IN" dirty="0"/>
            </a:br>
            <a:endParaRPr lang="en-IN" dirty="0"/>
          </a:p>
        </p:txBody>
      </p:sp>
      <p:pic>
        <p:nvPicPr>
          <p:cNvPr id="5" name="Picture 2" descr="KL Deemed to be University Logo">
            <a:extLst>
              <a:ext uri="{FF2B5EF4-FFF2-40B4-BE49-F238E27FC236}">
                <a16:creationId xmlns:a16="http://schemas.microsoft.com/office/drawing/2014/main" id="{779FEC31-DE03-AD9A-C610-0C1BE53A4988}"/>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B0741F7B-5DF5-AEEC-B212-EF127D6FC708}"/>
              </a:ext>
            </a:extLst>
          </p:cNvPr>
          <p:cNvSpPr txBox="1">
            <a:spLocks/>
          </p:cNvSpPr>
          <p:nvPr/>
        </p:nvSpPr>
        <p:spPr>
          <a:xfrm>
            <a:off x="3716594" y="285682"/>
            <a:ext cx="6213987"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Short Report </a:t>
            </a:r>
            <a:endParaRPr lang="en-IN" b="1" dirty="0">
              <a:solidFill>
                <a:schemeClr val="bg1"/>
              </a:solidFill>
            </a:endParaRPr>
          </a:p>
        </p:txBody>
      </p:sp>
    </p:spTree>
    <p:extLst>
      <p:ext uri="{BB962C8B-B14F-4D97-AF65-F5344CB8AC3E}">
        <p14:creationId xmlns:p14="http://schemas.microsoft.com/office/powerpoint/2010/main" val="2340789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022F-142B-B4CC-2D1C-7D56A612FA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A12754-58C7-DCF0-DAE8-F21AB3546E93}"/>
              </a:ext>
            </a:extLst>
          </p:cNvPr>
          <p:cNvSpPr>
            <a:spLocks noGrp="1"/>
          </p:cNvSpPr>
          <p:nvPr>
            <p:ph idx="1"/>
          </p:nvPr>
        </p:nvSpPr>
        <p:spPr>
          <a:xfrm>
            <a:off x="589936" y="1049572"/>
            <a:ext cx="11375922" cy="5380725"/>
          </a:xfrm>
        </p:spPr>
        <p:txBody>
          <a:bodyPr/>
          <a:lstStyle/>
          <a:p>
            <a:pPr marL="0" marR="0" indent="0" algn="l">
              <a:spcBef>
                <a:spcPts val="1200"/>
              </a:spcBef>
              <a:spcAft>
                <a:spcPts val="1200"/>
              </a:spcAft>
              <a:buNone/>
            </a:pPr>
            <a:endParaRPr lang="en-IN" sz="1800" b="0" i="0" dirty="0">
              <a:solidFill>
                <a:srgbClr val="0F1115"/>
              </a:solidFill>
              <a:effectLst/>
              <a:latin typeface="quote-cjk-patch"/>
            </a:endParaRPr>
          </a:p>
          <a:p>
            <a:pPr marL="0" lvl="0" indent="0">
              <a:buNone/>
            </a:pPr>
            <a:endParaRPr lang="en-IN" sz="1800" dirty="0"/>
          </a:p>
          <a:p>
            <a:pPr marL="0" lvl="0" indent="0">
              <a:buNone/>
            </a:pPr>
            <a:br>
              <a:rPr lang="en-IN" dirty="0"/>
            </a:br>
            <a:endParaRPr lang="en-IN" dirty="0"/>
          </a:p>
        </p:txBody>
      </p:sp>
      <p:pic>
        <p:nvPicPr>
          <p:cNvPr id="5" name="Picture 2" descr="KL Deemed to be University Logo">
            <a:extLst>
              <a:ext uri="{FF2B5EF4-FFF2-40B4-BE49-F238E27FC236}">
                <a16:creationId xmlns:a16="http://schemas.microsoft.com/office/drawing/2014/main" id="{6B974A4D-AC34-2E1E-4AF0-749253515F4A}"/>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B49B451F-4729-479F-DD3A-13F58B6EFB1E}"/>
              </a:ext>
            </a:extLst>
          </p:cNvPr>
          <p:cNvSpPr txBox="1">
            <a:spLocks/>
          </p:cNvSpPr>
          <p:nvPr/>
        </p:nvSpPr>
        <p:spPr>
          <a:xfrm>
            <a:off x="3716594" y="285682"/>
            <a:ext cx="6213987"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Short Report </a:t>
            </a:r>
            <a:endParaRPr lang="en-IN" b="1" dirty="0">
              <a:solidFill>
                <a:schemeClr val="bg1"/>
              </a:solidFill>
            </a:endParaRPr>
          </a:p>
        </p:txBody>
      </p:sp>
      <p:sp>
        <p:nvSpPr>
          <p:cNvPr id="10" name="TextBox 9">
            <a:extLst>
              <a:ext uri="{FF2B5EF4-FFF2-40B4-BE49-F238E27FC236}">
                <a16:creationId xmlns:a16="http://schemas.microsoft.com/office/drawing/2014/main" id="{D1878D5C-3BEF-1645-62DB-BEDDF2092C2D}"/>
              </a:ext>
            </a:extLst>
          </p:cNvPr>
          <p:cNvSpPr txBox="1"/>
          <p:nvPr/>
        </p:nvSpPr>
        <p:spPr>
          <a:xfrm>
            <a:off x="589936" y="914470"/>
            <a:ext cx="11169445" cy="5847755"/>
          </a:xfrm>
          <a:prstGeom prst="rect">
            <a:avLst/>
          </a:prstGeom>
          <a:noFill/>
        </p:spPr>
        <p:txBody>
          <a:bodyPr wrap="square">
            <a:spAutoFit/>
          </a:bodyPr>
          <a:lstStyle/>
          <a:p>
            <a:r>
              <a:rPr lang="en-US" sz="2200" b="1" dirty="0"/>
              <a:t>Concurrent Users			Avg Response Time (</a:t>
            </a:r>
            <a:r>
              <a:rPr lang="en-US" sz="2200" b="1" dirty="0" err="1"/>
              <a:t>ms</a:t>
            </a:r>
            <a:r>
              <a:rPr lang="en-US" sz="2200" b="1" dirty="0"/>
              <a:t>)	      Error Rate (%)</a:t>
            </a:r>
          </a:p>
          <a:p>
            <a:r>
              <a:rPr lang="en-US" sz="2200" dirty="0"/>
              <a:t>100					120					0.0</a:t>
            </a:r>
          </a:p>
          <a:p>
            <a:r>
              <a:rPr lang="en-US" sz="2200" dirty="0"/>
              <a:t>500					340					0.2</a:t>
            </a:r>
          </a:p>
          <a:p>
            <a:r>
              <a:rPr lang="en-US" sz="2200" dirty="0"/>
              <a:t>1,000					890					3.5</a:t>
            </a:r>
          </a:p>
          <a:p>
            <a:r>
              <a:rPr lang="en-US" sz="2200" dirty="0"/>
              <a:t>1,500					2,100					12.8 (timeout)</a:t>
            </a:r>
          </a:p>
          <a:p>
            <a:endParaRPr lang="en-US" sz="2200" dirty="0"/>
          </a:p>
          <a:p>
            <a:pPr marL="342900" indent="-342900">
              <a:buFont typeface="Arial" panose="020B0604020202020204" pitchFamily="34" charset="0"/>
              <a:buChar char="•"/>
            </a:pPr>
            <a:r>
              <a:rPr lang="en-US" sz="2200" dirty="0"/>
              <a:t>CPU usage at 1,500 users: 94% (peak).</a:t>
            </a:r>
          </a:p>
          <a:p>
            <a:pPr marL="342900" indent="-342900">
              <a:buFont typeface="Arial" panose="020B0604020202020204" pitchFamily="34" charset="0"/>
              <a:buChar char="•"/>
            </a:pPr>
            <a:r>
              <a:rPr lang="en-US" sz="2200" dirty="0"/>
              <a:t>Memory usage at 1,500 users: 88%.</a:t>
            </a:r>
          </a:p>
          <a:p>
            <a:endParaRPr lang="en-US" sz="2200" dirty="0"/>
          </a:p>
          <a:p>
            <a:r>
              <a:rPr lang="en-US" sz="2200" b="1" dirty="0"/>
              <a:t>3. Conclusion</a:t>
            </a:r>
            <a:br>
              <a:rPr lang="en-US" sz="2200" dirty="0"/>
            </a:br>
            <a:r>
              <a:rPr lang="en-US" sz="2200" dirty="0"/>
              <a:t>The service works well up to 500 users. At 1,000 users, response time slows and errors start. At 1,500 users, the system becomes nearly unresponsive due to CPU and memory exhaustion.</a:t>
            </a:r>
          </a:p>
          <a:p>
            <a:endParaRPr lang="en-US" sz="2200" dirty="0"/>
          </a:p>
          <a:p>
            <a:r>
              <a:rPr lang="en-US" sz="2200" b="1" dirty="0"/>
              <a:t>4. Recommendations</a:t>
            </a:r>
          </a:p>
          <a:p>
            <a:pPr marL="342900" indent="-342900">
              <a:buFont typeface="Arial" panose="020B0604020202020204" pitchFamily="34" charset="0"/>
              <a:buChar char="•"/>
            </a:pPr>
            <a:r>
              <a:rPr lang="en-US" sz="2200" dirty="0"/>
              <a:t>Add one more server (scale horizontally) before the next exam period.</a:t>
            </a:r>
          </a:p>
          <a:p>
            <a:pPr marL="342900" indent="-342900">
              <a:buFont typeface="Arial" panose="020B0604020202020204" pitchFamily="34" charset="0"/>
              <a:buChar char="•"/>
            </a:pPr>
            <a:r>
              <a:rPr lang="en-US" sz="2200" dirty="0"/>
              <a:t>Implement a queue system to limit login requests to 500 per minute.</a:t>
            </a:r>
          </a:p>
          <a:p>
            <a:pPr marL="342900" indent="-342900">
              <a:buFont typeface="Arial" panose="020B0604020202020204" pitchFamily="34" charset="0"/>
              <a:buChar char="•"/>
            </a:pPr>
            <a:r>
              <a:rPr lang="en-US" sz="2200" dirty="0"/>
              <a:t>Retest after changes with the same load profile.</a:t>
            </a:r>
          </a:p>
        </p:txBody>
      </p:sp>
    </p:spTree>
    <p:extLst>
      <p:ext uri="{BB962C8B-B14F-4D97-AF65-F5344CB8AC3E}">
        <p14:creationId xmlns:p14="http://schemas.microsoft.com/office/powerpoint/2010/main" val="2571415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8920-A46F-51B3-7A64-451F396CEA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32643-980B-8F67-E463-3AE6A74EC3C9}"/>
              </a:ext>
            </a:extLst>
          </p:cNvPr>
          <p:cNvSpPr>
            <a:spLocks noGrp="1"/>
          </p:cNvSpPr>
          <p:nvPr>
            <p:ph idx="1"/>
          </p:nvPr>
        </p:nvSpPr>
        <p:spPr>
          <a:xfrm>
            <a:off x="589936" y="914470"/>
            <a:ext cx="11375922" cy="5515827"/>
          </a:xfrm>
        </p:spPr>
        <p:txBody>
          <a:bodyPr/>
          <a:lstStyle/>
          <a:p>
            <a:pPr marL="0" marR="0" indent="0" algn="l">
              <a:spcBef>
                <a:spcPts val="1200"/>
              </a:spcBef>
              <a:spcAft>
                <a:spcPts val="1200"/>
              </a:spcAft>
              <a:buNone/>
            </a:pPr>
            <a:endParaRPr lang="en-IN" sz="1800" b="0" i="0" dirty="0">
              <a:solidFill>
                <a:srgbClr val="0F1115"/>
              </a:solidFill>
              <a:effectLst/>
              <a:latin typeface="quote-cjk-patch"/>
            </a:endParaRPr>
          </a:p>
          <a:p>
            <a:pPr marL="0" lvl="0" indent="0">
              <a:buNone/>
            </a:pPr>
            <a:endParaRPr lang="en-IN" sz="1800" dirty="0"/>
          </a:p>
          <a:p>
            <a:pPr marL="0" lvl="0" indent="0">
              <a:buNone/>
            </a:pPr>
            <a:br>
              <a:rPr lang="en-IN" dirty="0"/>
            </a:br>
            <a:endParaRPr lang="en-IN" dirty="0"/>
          </a:p>
        </p:txBody>
      </p:sp>
      <p:pic>
        <p:nvPicPr>
          <p:cNvPr id="5" name="Picture 2" descr="KL Deemed to be University Logo">
            <a:extLst>
              <a:ext uri="{FF2B5EF4-FFF2-40B4-BE49-F238E27FC236}">
                <a16:creationId xmlns:a16="http://schemas.microsoft.com/office/drawing/2014/main" id="{FA629750-1C0D-DED4-561B-52D0C4369C69}"/>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itle 1">
            <a:extLst>
              <a:ext uri="{FF2B5EF4-FFF2-40B4-BE49-F238E27FC236}">
                <a16:creationId xmlns:a16="http://schemas.microsoft.com/office/drawing/2014/main" id="{66232B52-CAAB-393E-EF40-1F31F756CF49}"/>
              </a:ext>
            </a:extLst>
          </p:cNvPr>
          <p:cNvSpPr txBox="1">
            <a:spLocks/>
          </p:cNvSpPr>
          <p:nvPr/>
        </p:nvSpPr>
        <p:spPr>
          <a:xfrm>
            <a:off x="3716594" y="285682"/>
            <a:ext cx="6213987" cy="628788"/>
          </a:xfrm>
          <a:prstGeom prst="rect">
            <a:avLst/>
          </a:prstGeom>
          <a:solidFill>
            <a:srgbClr val="C00000"/>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Portfolio Activity 3</a:t>
            </a:r>
            <a:endParaRPr lang="en-IN" b="1" dirty="0">
              <a:solidFill>
                <a:schemeClr val="bg1"/>
              </a:solidFill>
            </a:endParaRPr>
          </a:p>
        </p:txBody>
      </p:sp>
      <p:sp>
        <p:nvSpPr>
          <p:cNvPr id="10" name="TextBox 9">
            <a:extLst>
              <a:ext uri="{FF2B5EF4-FFF2-40B4-BE49-F238E27FC236}">
                <a16:creationId xmlns:a16="http://schemas.microsoft.com/office/drawing/2014/main" id="{799F4C9B-FE63-7D85-1422-048092F34A79}"/>
              </a:ext>
            </a:extLst>
          </p:cNvPr>
          <p:cNvSpPr txBox="1"/>
          <p:nvPr/>
        </p:nvSpPr>
        <p:spPr>
          <a:xfrm>
            <a:off x="521110" y="1228864"/>
            <a:ext cx="11238271" cy="2923877"/>
          </a:xfrm>
          <a:prstGeom prst="rect">
            <a:avLst/>
          </a:prstGeom>
          <a:noFill/>
        </p:spPr>
        <p:txBody>
          <a:bodyPr wrap="square">
            <a:spAutoFit/>
          </a:bodyPr>
          <a:lstStyle/>
          <a:p>
            <a:endParaRPr kumimoji="0" lang="en-IN" sz="3600" b="1" i="0" u="none" strike="noStrike" kern="1200" cap="none" spc="0" normalizeH="0" baseline="0" noProof="0" dirty="0">
              <a:ln>
                <a:noFill/>
              </a:ln>
              <a:solidFill>
                <a:prstClr val="black"/>
              </a:solidFill>
              <a:effectLst/>
              <a:uLnTx/>
              <a:uFillTx/>
              <a:latin typeface="Calibri"/>
              <a:ea typeface="+mn-ea"/>
              <a:cs typeface="+mn-cs"/>
            </a:endParaRPr>
          </a:p>
          <a:p>
            <a:endParaRPr lang="en-IN" sz="3600" b="1" dirty="0">
              <a:solidFill>
                <a:prstClr val="black"/>
              </a:solidFill>
              <a:latin typeface="Calibri"/>
            </a:endParaRPr>
          </a:p>
          <a:p>
            <a:pPr algn="ctr"/>
            <a:r>
              <a:rPr kumimoji="0" lang="en-IN" sz="3600" b="1" i="0" u="none" strike="noStrike" kern="1200" cap="none" spc="0" normalizeH="0" baseline="0" noProof="0" dirty="0">
                <a:ln>
                  <a:noFill/>
                </a:ln>
                <a:solidFill>
                  <a:prstClr val="black"/>
                </a:solidFill>
                <a:effectLst/>
                <a:uLnTx/>
                <a:uFillTx/>
                <a:latin typeface="Calibri"/>
                <a:ea typeface="+mn-ea"/>
                <a:cs typeface="+mn-cs"/>
              </a:rPr>
              <a:t>Project Use-Case: A Professional Document</a:t>
            </a:r>
            <a:endParaRPr lang="en-US" sz="2200" dirty="0"/>
          </a:p>
          <a:p>
            <a:endParaRPr lang="en-US" sz="2200" dirty="0"/>
          </a:p>
          <a:p>
            <a:endParaRPr lang="en-US" sz="2200" dirty="0"/>
          </a:p>
          <a:p>
            <a:pPr algn="ctr"/>
            <a:r>
              <a:rPr lang="en-US" sz="3200" dirty="0"/>
              <a:t>Refer to Portfolio Activity 3 for instructions.</a:t>
            </a:r>
          </a:p>
        </p:txBody>
      </p:sp>
    </p:spTree>
    <p:extLst>
      <p:ext uri="{BB962C8B-B14F-4D97-AF65-F5344CB8AC3E}">
        <p14:creationId xmlns:p14="http://schemas.microsoft.com/office/powerpoint/2010/main" val="2267865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E8D68-8094-B1BE-82AC-3DF0D88F746E}"/>
              </a:ext>
            </a:extLst>
          </p:cNvPr>
          <p:cNvSpPr>
            <a:spLocks noGrp="1"/>
          </p:cNvSpPr>
          <p:nvPr>
            <p:ph idx="1"/>
          </p:nvPr>
        </p:nvSpPr>
        <p:spPr>
          <a:xfrm>
            <a:off x="560438" y="2639961"/>
            <a:ext cx="10926069" cy="2861968"/>
          </a:xfrm>
        </p:spPr>
        <p:txBody>
          <a:bodyPr/>
          <a:lstStyle/>
          <a:p>
            <a:pPr algn="just">
              <a:lnSpc>
                <a:spcPct val="107000"/>
              </a:lnSpc>
              <a:spcAft>
                <a:spcPts val="800"/>
              </a:spcAft>
            </a:pPr>
            <a:r>
              <a:rPr lang="en-IN" sz="2600" kern="100" dirty="0">
                <a:ea typeface="Calibri" panose="020F0502020204030204" pitchFamily="34" charset="0"/>
                <a:cs typeface="Arial" panose="020B0604020202020204" pitchFamily="34" charset="0"/>
                <a:hlinkClick r:id="rId2"/>
              </a:rPr>
              <a:t>https://www.youtube.com/watch?v=ZQaNPzzT3yE         </a:t>
            </a:r>
          </a:p>
          <a:p>
            <a:pPr algn="just">
              <a:lnSpc>
                <a:spcPct val="107000"/>
              </a:lnSpc>
              <a:spcAft>
                <a:spcPts val="800"/>
              </a:spcAft>
            </a:pPr>
            <a:r>
              <a:rPr lang="en-IN" sz="2600" kern="100" dirty="0">
                <a:ea typeface="Calibri" panose="020F0502020204030204" pitchFamily="34" charset="0"/>
                <a:cs typeface="Arial" panose="020B0604020202020204" pitchFamily="34" charset="0"/>
                <a:hlinkClick r:id="rId2"/>
              </a:rPr>
              <a:t>https://www.youtube.com/watch?v=860LtRxP3rw</a:t>
            </a:r>
          </a:p>
          <a:p>
            <a:pPr algn="just">
              <a:lnSpc>
                <a:spcPct val="107000"/>
              </a:lnSpc>
              <a:spcAft>
                <a:spcPts val="800"/>
              </a:spcAft>
            </a:pPr>
            <a:r>
              <a:rPr lang="en-IN" sz="2600" kern="100" dirty="0">
                <a:ea typeface="Calibri" panose="020F0502020204030204" pitchFamily="34" charset="0"/>
                <a:cs typeface="Arial" panose="020B0604020202020204" pitchFamily="34" charset="0"/>
                <a:hlinkClick r:id="rId3"/>
              </a:rPr>
              <a:t>https://www.youtube.com/watch?v=KGImUx4zg64</a:t>
            </a:r>
            <a:r>
              <a:rPr lang="en-IN" sz="2600" kern="100" dirty="0">
                <a:ea typeface="Calibri" panose="020F0502020204030204" pitchFamily="34" charset="0"/>
                <a:cs typeface="Arial" panose="020B0604020202020204" pitchFamily="34" charset="0"/>
                <a:hlinkClick r:id="rId2"/>
              </a:rPr>
              <a:t>           </a:t>
            </a:r>
          </a:p>
          <a:p>
            <a:pPr algn="just">
              <a:lnSpc>
                <a:spcPct val="107000"/>
              </a:lnSpc>
              <a:spcAft>
                <a:spcPts val="800"/>
              </a:spcAft>
            </a:pPr>
            <a:r>
              <a:rPr lang="en-IN" sz="2600" kern="100" dirty="0">
                <a:ea typeface="Calibri" panose="020F0502020204030204" pitchFamily="34" charset="0"/>
                <a:cs typeface="Arial" panose="020B0604020202020204" pitchFamily="34" charset="0"/>
                <a:hlinkClick r:id="rId2"/>
              </a:rPr>
              <a:t>https://www.youtube.com/watch?v=l3yWmXbC36s</a:t>
            </a:r>
            <a:endParaRPr lang="en-IN" sz="2600" kern="100" dirty="0">
              <a:effectLst/>
              <a:ea typeface="Calibri" panose="020F0502020204030204" pitchFamily="34" charset="0"/>
              <a:cs typeface="Arial" panose="020B0604020202020204" pitchFamily="34" charset="0"/>
              <a:hlinkClick r:id="rId2"/>
            </a:endParaRPr>
          </a:p>
        </p:txBody>
      </p:sp>
      <p:sp>
        <p:nvSpPr>
          <p:cNvPr id="4" name="Rounded Rectangle 17">
            <a:extLst>
              <a:ext uri="{FF2B5EF4-FFF2-40B4-BE49-F238E27FC236}">
                <a16:creationId xmlns:a16="http://schemas.microsoft.com/office/drawing/2014/main" id="{6E48150F-81D2-4255-EF87-E903BCD38282}"/>
              </a:ext>
            </a:extLst>
          </p:cNvPr>
          <p:cNvSpPr>
            <a:spLocks noGrp="1"/>
          </p:cNvSpPr>
          <p:nvPr>
            <p:ph type="title"/>
          </p:nvPr>
        </p:nvSpPr>
        <p:spPr>
          <a:xfrm>
            <a:off x="838200" y="67177"/>
            <a:ext cx="10268164" cy="10116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effectLst/>
                <a:ea typeface="Calibri" panose="020F0502020204030204" pitchFamily="34" charset="0"/>
              </a:rPr>
              <a:t>Let’s Watch…</a:t>
            </a:r>
            <a:endParaRPr lang="en-IN" sz="8000" b="1" dirty="0"/>
          </a:p>
        </p:txBody>
      </p:sp>
    </p:spTree>
    <p:extLst>
      <p:ext uri="{BB962C8B-B14F-4D97-AF65-F5344CB8AC3E}">
        <p14:creationId xmlns:p14="http://schemas.microsoft.com/office/powerpoint/2010/main" val="93288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3DC33-B701-3904-4F38-4F7C9F5B1922}"/>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id="{4E028847-7005-2C9B-A042-3429F1B10DB7}"/>
              </a:ext>
            </a:extLst>
          </p:cNvPr>
          <p:cNvSpPr/>
          <p:nvPr/>
        </p:nvSpPr>
        <p:spPr>
          <a:xfrm>
            <a:off x="1990725" y="300038"/>
            <a:ext cx="8593393" cy="7789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The Writing</a:t>
            </a:r>
            <a:r>
              <a:rPr lang="en-US" sz="5400" dirty="0"/>
              <a:t> </a:t>
            </a:r>
            <a:r>
              <a:rPr lang="en-US" sz="3600" dirty="0"/>
              <a:t>Process</a:t>
            </a:r>
            <a:r>
              <a:rPr lang="en-US" sz="5400" dirty="0"/>
              <a:t> </a:t>
            </a:r>
            <a:r>
              <a:rPr lang="en-US" sz="3600" dirty="0"/>
              <a:t>(For Reference)</a:t>
            </a:r>
          </a:p>
        </p:txBody>
      </p:sp>
      <p:pic>
        <p:nvPicPr>
          <p:cNvPr id="31" name="Picture 2" descr="KL Deemed to be University Logo">
            <a:extLst>
              <a:ext uri="{FF2B5EF4-FFF2-40B4-BE49-F238E27FC236}">
                <a16:creationId xmlns:a16="http://schemas.microsoft.com/office/drawing/2014/main" id="{146DE2CA-4846-AD27-0FB0-6179A52AFA6B}"/>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DC39BF48-CB69-0338-E651-8C77BCD0FA3D}"/>
              </a:ext>
            </a:extLst>
          </p:cNvPr>
          <p:cNvSpPr>
            <a:spLocks noGrp="1"/>
          </p:cNvSpPr>
          <p:nvPr>
            <p:ph/>
          </p:nvPr>
        </p:nvSpPr>
        <p:spPr>
          <a:xfrm>
            <a:off x="297951" y="967675"/>
            <a:ext cx="11733087" cy="5710527"/>
          </a:xfrm>
        </p:spPr>
        <p:txBody>
          <a:bodyPr/>
          <a:lstStyle/>
          <a:p>
            <a:endParaRPr lang="en-US" sz="2400" dirty="0"/>
          </a:p>
          <a:p>
            <a:pPr algn="just"/>
            <a:endParaRPr lang="en-US" sz="2500" kern="100" dirty="0">
              <a:effectLst/>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765DBADE-46BC-EEDE-B693-A18805B0D194}"/>
              </a:ext>
            </a:extLst>
          </p:cNvPr>
          <p:cNvSpPr txBox="1"/>
          <p:nvPr/>
        </p:nvSpPr>
        <p:spPr>
          <a:xfrm>
            <a:off x="297951" y="1170039"/>
            <a:ext cx="12169351" cy="6001643"/>
          </a:xfrm>
          <a:prstGeom prst="rect">
            <a:avLst/>
          </a:prstGeom>
          <a:noFill/>
        </p:spPr>
        <p:txBody>
          <a:bodyPr wrap="square">
            <a:spAutoFit/>
          </a:bodyPr>
          <a:lstStyle/>
          <a:p>
            <a:pPr algn="just"/>
            <a:r>
              <a:rPr lang="en-US" sz="2400" b="1" dirty="0"/>
              <a:t>Planning is t</a:t>
            </a:r>
            <a:r>
              <a:rPr lang="en-US" sz="2400" dirty="0"/>
              <a:t>he brainstorming and research phase where you define your purpose, analyze your target audience, and gather relevant information or data. It sets a clear direction for the project, ensuring you know </a:t>
            </a:r>
            <a:r>
              <a:rPr lang="en-US" sz="2400" i="1" dirty="0"/>
              <a:t>why</a:t>
            </a:r>
            <a:r>
              <a:rPr lang="en-US" sz="2400" dirty="0"/>
              <a:t> you are writing and </a:t>
            </a:r>
            <a:r>
              <a:rPr lang="en-US" sz="2400" i="1" dirty="0"/>
              <a:t>who</a:t>
            </a:r>
            <a:r>
              <a:rPr lang="en-US" sz="2400" dirty="0"/>
              <a:t> you are writing for before putting down full paragraphs.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Outlining is </a:t>
            </a:r>
            <a:r>
              <a:rPr kumimoji="0" lang="en-US" sz="2400" b="0" i="0" u="none" strike="noStrike" kern="1200" cap="none" spc="0" normalizeH="0" baseline="0" noProof="0" dirty="0">
                <a:ln>
                  <a:noFill/>
                </a:ln>
                <a:solidFill>
                  <a:prstClr val="black"/>
                </a:solidFill>
                <a:effectLst/>
                <a:uLnTx/>
                <a:uFillTx/>
                <a:latin typeface="Calibri"/>
                <a:ea typeface="+mn-ea"/>
                <a:cs typeface="+mn-cs"/>
              </a:rPr>
              <a:t> creating a structural framework or roadmap of your document, arranging your main points and supporting details into a logical sequence.  It Prevents writer's block and ensures a coherent flow of ideas, making it easier to see how different sections connect before you start drafting.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Drafting is t</a:t>
            </a:r>
            <a:r>
              <a:rPr kumimoji="0" lang="en-US" sz="2400" b="0" i="0" u="none" strike="noStrike" kern="1200" cap="none" spc="0" normalizeH="0" baseline="0" noProof="0" dirty="0">
                <a:ln>
                  <a:noFill/>
                </a:ln>
                <a:solidFill>
                  <a:prstClr val="black"/>
                </a:solidFill>
                <a:effectLst/>
                <a:uLnTx/>
                <a:uFillTx/>
                <a:latin typeface="Calibri"/>
                <a:ea typeface="+mn-ea"/>
                <a:cs typeface="+mn-cs"/>
              </a:rPr>
              <a:t>he process of turning your outline into full sentences and paragraphs, focusing on getting your ideas down on paper without worrying about perfection. </a:t>
            </a:r>
            <a:r>
              <a:rPr kumimoji="0" lang="en-US" sz="2400" b="1" i="0" u="none" strike="noStrike" kern="1200" cap="none" spc="0" normalizeH="0" baseline="0" noProof="0" dirty="0">
                <a:ln>
                  <a:noFill/>
                </a:ln>
                <a:solidFill>
                  <a:prstClr val="black"/>
                </a:solidFill>
                <a:effectLst/>
                <a:uLnTx/>
                <a:uFillTx/>
                <a:latin typeface="Calibri"/>
                <a:ea typeface="+mn-ea"/>
                <a:cs typeface="+mn-cs"/>
              </a:rPr>
              <a:t>It </a:t>
            </a:r>
            <a:r>
              <a:rPr kumimoji="0" lang="en-US" sz="2400" b="0" i="0" u="none" strike="noStrike" kern="1200" cap="none" spc="0" normalizeH="0" baseline="0" noProof="0" dirty="0">
                <a:ln>
                  <a:noFill/>
                </a:ln>
                <a:solidFill>
                  <a:prstClr val="black"/>
                </a:solidFill>
                <a:effectLst/>
                <a:uLnTx/>
                <a:uFillTx/>
                <a:latin typeface="Calibri"/>
                <a:ea typeface="+mn-ea"/>
                <a:cs typeface="+mn-cs"/>
              </a:rPr>
              <a:t> moves the project from a conceptual plan to an actual manuscript, prioritizing momentum, substance, and the rough expression of thoughts.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Revising is</a:t>
            </a:r>
            <a:r>
              <a:rPr kumimoji="0" lang="en-US" sz="2400" b="0" i="0" u="none" strike="noStrike" kern="1200" cap="none" spc="0" normalizeH="0" baseline="0" noProof="0" dirty="0">
                <a:ln>
                  <a:noFill/>
                </a:ln>
                <a:solidFill>
                  <a:prstClr val="black"/>
                </a:solidFill>
                <a:effectLst/>
                <a:uLnTx/>
                <a:uFillTx/>
                <a:latin typeface="Calibri"/>
                <a:ea typeface="+mn-ea"/>
                <a:cs typeface="+mn-cs"/>
              </a:rPr>
              <a:t> Looking at the "big picture" of the draft to improve its core structure, logic, tone, and clarity. This can involve adding, removing, or rearranging large sections of text. </a:t>
            </a:r>
            <a:r>
              <a:rPr kumimoji="0" lang="en-US" sz="2400" b="1" i="0" u="none" strike="noStrike" kern="1200" cap="none" spc="0" normalizeH="0" baseline="0" noProof="0" dirty="0">
                <a:ln>
                  <a:noFill/>
                </a:ln>
                <a:solidFill>
                  <a:prstClr val="black"/>
                </a:solidFill>
                <a:effectLst/>
                <a:uLnTx/>
                <a:uFillTx/>
                <a:latin typeface="Calibri"/>
                <a:ea typeface="+mn-ea"/>
                <a:cs typeface="+mn-cs"/>
              </a:rPr>
              <a:t>It </a:t>
            </a:r>
            <a:r>
              <a:rPr kumimoji="0" lang="en-US" sz="2400" b="0" i="0" u="none" strike="noStrike" kern="1200" cap="none" spc="0" normalizeH="0" baseline="0" noProof="0" dirty="0">
                <a:ln>
                  <a:noFill/>
                </a:ln>
                <a:solidFill>
                  <a:prstClr val="black"/>
                </a:solidFill>
                <a:effectLst/>
                <a:uLnTx/>
                <a:uFillTx/>
                <a:latin typeface="Calibri"/>
                <a:ea typeface="+mn-ea"/>
                <a:cs typeface="+mn-cs"/>
              </a:rPr>
              <a:t> ensures that your arguments make sense, your evidence is strong, and the overall organization serves the reader effectively.</a:t>
            </a:r>
          </a:p>
        </p:txBody>
      </p:sp>
    </p:spTree>
    <p:extLst>
      <p:ext uri="{BB962C8B-B14F-4D97-AF65-F5344CB8AC3E}">
        <p14:creationId xmlns:p14="http://schemas.microsoft.com/office/powerpoint/2010/main" val="39105851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6862D-1353-D6AC-77B9-38D495E144CF}"/>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id="{7FFF7430-7A9D-B329-DBA9-402D347E254D}"/>
              </a:ext>
            </a:extLst>
          </p:cNvPr>
          <p:cNvSpPr/>
          <p:nvPr/>
        </p:nvSpPr>
        <p:spPr>
          <a:xfrm>
            <a:off x="2625212" y="173262"/>
            <a:ext cx="6587613" cy="7411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 The Writing Process (For Reference)</a:t>
            </a:r>
          </a:p>
        </p:txBody>
      </p:sp>
      <p:pic>
        <p:nvPicPr>
          <p:cNvPr id="31" name="Picture 2" descr="KL Deemed to be University Logo">
            <a:extLst>
              <a:ext uri="{FF2B5EF4-FFF2-40B4-BE49-F238E27FC236}">
                <a16:creationId xmlns:a16="http://schemas.microsoft.com/office/drawing/2014/main" id="{36C5F51A-EBD8-042F-B48E-13767714AA4D}"/>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DB025191-4712-9792-7753-36D7DC2D997D}"/>
              </a:ext>
            </a:extLst>
          </p:cNvPr>
          <p:cNvSpPr>
            <a:spLocks noGrp="1"/>
          </p:cNvSpPr>
          <p:nvPr>
            <p:ph/>
          </p:nvPr>
        </p:nvSpPr>
        <p:spPr>
          <a:xfrm>
            <a:off x="229456" y="1053100"/>
            <a:ext cx="11733087" cy="5710527"/>
          </a:xfrm>
        </p:spPr>
        <p:txBody>
          <a:bodyPr/>
          <a:lstStyle/>
          <a:p>
            <a:endParaRPr lang="en-US" sz="2400" dirty="0"/>
          </a:p>
          <a:p>
            <a:pPr algn="just"/>
            <a:endParaRPr lang="en-US" sz="2500" kern="100" dirty="0">
              <a:effectLst/>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9E8DEF4D-1429-5509-74C4-458CBA11349D}"/>
              </a:ext>
            </a:extLst>
          </p:cNvPr>
          <p:cNvSpPr txBox="1"/>
          <p:nvPr/>
        </p:nvSpPr>
        <p:spPr>
          <a:xfrm>
            <a:off x="229456" y="810538"/>
            <a:ext cx="11733087" cy="3046988"/>
          </a:xfrm>
          <a:prstGeom prst="rect">
            <a:avLst/>
          </a:prstGeom>
          <a:noFill/>
        </p:spPr>
        <p:txBody>
          <a:bodyPr wrap="square">
            <a:spAutoFit/>
          </a:bodyPr>
          <a:lstStyle/>
          <a:p>
            <a:endParaRPr lang="en-US" sz="2400" b="1" dirty="0"/>
          </a:p>
          <a:p>
            <a:r>
              <a:rPr lang="en-US" sz="2400" b="1" dirty="0"/>
              <a:t>Editing is t</a:t>
            </a:r>
            <a:r>
              <a:rPr lang="en-US" sz="2400" dirty="0"/>
              <a:t>he fine-tuning phase that focuses on the mechanics of writing, including correcting grammar, punctuation, spelling, word choice, and sentence structure. </a:t>
            </a:r>
            <a:r>
              <a:rPr lang="en-US" sz="2400" b="1" dirty="0"/>
              <a:t>It</a:t>
            </a:r>
            <a:r>
              <a:rPr lang="en-US" sz="2400" dirty="0"/>
              <a:t> polishes the document to a professional standard, eliminating distractions and ensuring that your ideas are communicated flawlessly.</a:t>
            </a:r>
          </a:p>
          <a:p>
            <a:endParaRPr lang="en-US" sz="2400" dirty="0"/>
          </a:p>
          <a:p>
            <a:endParaRPr lang="en-US" sz="2400" dirty="0"/>
          </a:p>
          <a:p>
            <a:pPr>
              <a:buNone/>
            </a:pPr>
            <a:endParaRPr lang="en-US" sz="2400" dirty="0"/>
          </a:p>
        </p:txBody>
      </p:sp>
    </p:spTree>
    <p:extLst>
      <p:ext uri="{BB962C8B-B14F-4D97-AF65-F5344CB8AC3E}">
        <p14:creationId xmlns:p14="http://schemas.microsoft.com/office/powerpoint/2010/main" val="41799566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7B3B2-1242-F207-6DBA-8E3DBABD1DA6}"/>
            </a:ext>
          </a:extLst>
        </p:cNvPr>
        <p:cNvGrpSpPr/>
        <p:nvPr/>
      </p:nvGrpSpPr>
      <p:grpSpPr>
        <a:xfrm>
          <a:off x="0" y="0"/>
          <a:ext cx="0" cy="0"/>
          <a:chOff x="0" y="0"/>
          <a:chExt cx="0" cy="0"/>
        </a:xfrm>
      </p:grpSpPr>
      <p:pic>
        <p:nvPicPr>
          <p:cNvPr id="31" name="Picture 2" descr="KL Deemed to be University Logo">
            <a:extLst>
              <a:ext uri="{FF2B5EF4-FFF2-40B4-BE49-F238E27FC236}">
                <a16:creationId xmlns:a16="http://schemas.microsoft.com/office/drawing/2014/main" id="{D9EB3ADC-8EE4-550E-DEB1-D39E244D3CF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Content Placeholder 5">
            <a:extLst>
              <a:ext uri="{FF2B5EF4-FFF2-40B4-BE49-F238E27FC236}">
                <a16:creationId xmlns:a16="http://schemas.microsoft.com/office/drawing/2014/main" id="{ABB7F9F1-0E79-1654-F38C-513AD7775A4B}"/>
              </a:ext>
            </a:extLst>
          </p:cNvPr>
          <p:cNvSpPr>
            <a:spLocks noGrp="1"/>
          </p:cNvSpPr>
          <p:nvPr>
            <p:ph idx="1"/>
          </p:nvPr>
        </p:nvSpPr>
        <p:spPr>
          <a:xfrm>
            <a:off x="575352" y="1023771"/>
            <a:ext cx="11291299" cy="5057080"/>
          </a:xfrm>
        </p:spPr>
        <p:txBody>
          <a:bodyPr/>
          <a:lstStyle/>
          <a:p>
            <a:r>
              <a:rPr lang="en-US" sz="3600" b="1" dirty="0"/>
              <a:t>Scenario-Based:</a:t>
            </a:r>
            <a:r>
              <a:rPr lang="en-US" sz="3600" dirty="0"/>
              <a:t> Imagine your company is changing its internal policy regarding hybrid work schedules. Which writing format is the most appropriate tool to quickly mass-distribute this operational update and establish an official internal record?</a:t>
            </a:r>
          </a:p>
          <a:p>
            <a:pPr marL="0" indent="0">
              <a:buNone/>
            </a:pPr>
            <a:r>
              <a:rPr lang="en-US" sz="3600" dirty="0"/>
              <a:t>A) Short Report</a:t>
            </a:r>
          </a:p>
          <a:p>
            <a:pPr marL="0" indent="0">
              <a:buNone/>
            </a:pPr>
            <a:r>
              <a:rPr lang="en-US" sz="3600" dirty="0"/>
              <a:t>B) Summary</a:t>
            </a:r>
          </a:p>
          <a:p>
            <a:pPr marL="0" indent="0">
              <a:buNone/>
            </a:pPr>
            <a:r>
              <a:rPr lang="en-US" sz="3600" dirty="0"/>
              <a:t>C) Memo Writing</a:t>
            </a:r>
          </a:p>
          <a:p>
            <a:pPr marL="0" indent="0">
              <a:buNone/>
            </a:pPr>
            <a:r>
              <a:rPr lang="en-US" sz="3600" dirty="0"/>
              <a:t>D) Note Making</a:t>
            </a:r>
          </a:p>
          <a:p>
            <a:pPr marL="0" indent="0">
              <a:buNone/>
            </a:pPr>
            <a:endParaRPr lang="en-IN" sz="3600" dirty="0"/>
          </a:p>
        </p:txBody>
      </p:sp>
      <p:sp>
        <p:nvSpPr>
          <p:cNvPr id="2" name="Rounded Rectangle 17">
            <a:extLst>
              <a:ext uri="{FF2B5EF4-FFF2-40B4-BE49-F238E27FC236}">
                <a16:creationId xmlns:a16="http://schemas.microsoft.com/office/drawing/2014/main" id="{E55344AE-D04F-229C-9D67-F6F35DE0D0BF}"/>
              </a:ext>
            </a:extLst>
          </p:cNvPr>
          <p:cNvSpPr/>
          <p:nvPr/>
        </p:nvSpPr>
        <p:spPr>
          <a:xfrm>
            <a:off x="1479480" y="123311"/>
            <a:ext cx="9770722" cy="777149"/>
          </a:xfrm>
          <a:prstGeom prst="roundRect">
            <a:avLst>
              <a:gd name="adj" fmla="val 5000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dirty="0"/>
              <a:t>SELF-ASSESSMENT QUESTIONS</a:t>
            </a:r>
          </a:p>
        </p:txBody>
      </p:sp>
    </p:spTree>
    <p:extLst>
      <p:ext uri="{BB962C8B-B14F-4D97-AF65-F5344CB8AC3E}">
        <p14:creationId xmlns:p14="http://schemas.microsoft.com/office/powerpoint/2010/main" val="2827086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390294" y="106917"/>
            <a:ext cx="7541231" cy="72756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Terminal Questions </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Content Placeholder 4">
            <a:extLst>
              <a:ext uri="{FF2B5EF4-FFF2-40B4-BE49-F238E27FC236}">
                <a16:creationId xmlns:a16="http://schemas.microsoft.com/office/drawing/2014/main" id="{C8BC5279-88CD-C714-C8CE-AA942732F218}"/>
              </a:ext>
            </a:extLst>
          </p:cNvPr>
          <p:cNvSpPr>
            <a:spLocks noGrp="1"/>
          </p:cNvSpPr>
          <p:nvPr>
            <p:ph idx="1"/>
          </p:nvPr>
        </p:nvSpPr>
        <p:spPr>
          <a:xfrm>
            <a:off x="894735" y="600076"/>
            <a:ext cx="8619136" cy="5576887"/>
          </a:xfrm>
        </p:spPr>
        <p:txBody>
          <a:bodyPr/>
          <a:lstStyle/>
          <a:p>
            <a:pPr algn="just"/>
            <a:endParaRPr lang="en-IN" kern="100" dirty="0">
              <a:effectLst/>
              <a:ea typeface="Calibri" panose="020F0502020204030204" pitchFamily="34" charset="0"/>
              <a:cs typeface="Arial" panose="020B0604020202020204" pitchFamily="34" charset="0"/>
            </a:endParaRPr>
          </a:p>
          <a:p>
            <a:pPr algn="just"/>
            <a:endParaRPr lang="en-IN" kern="100" dirty="0">
              <a:effectLst/>
              <a:ea typeface="Calibri" panose="020F0502020204030204" pitchFamily="34" charset="0"/>
              <a:cs typeface="Arial" panose="020B0604020202020204" pitchFamily="34" charset="0"/>
            </a:endParaRPr>
          </a:p>
          <a:p>
            <a:pPr algn="just"/>
            <a:endParaRPr lang="en-IN" sz="1800" kern="100" dirty="0">
              <a:effectLst/>
              <a:ea typeface="Calibri" panose="020F0502020204030204" pitchFamily="34" charset="0"/>
              <a:cs typeface="Arial" panose="020B0604020202020204" pitchFamily="34" charset="0"/>
            </a:endParaRPr>
          </a:p>
          <a:p>
            <a:pPr algn="just"/>
            <a:endParaRPr lang="en-IN" dirty="0"/>
          </a:p>
          <a:p>
            <a:pPr algn="just"/>
            <a:endParaRPr lang="en-IN" dirty="0"/>
          </a:p>
        </p:txBody>
      </p:sp>
      <p:sp>
        <p:nvSpPr>
          <p:cNvPr id="3" name="TextBox 2">
            <a:extLst>
              <a:ext uri="{FF2B5EF4-FFF2-40B4-BE49-F238E27FC236}">
                <a16:creationId xmlns:a16="http://schemas.microsoft.com/office/drawing/2014/main" id="{A1C0ECA0-07FA-2B4F-53D2-B5CE143BFF97}"/>
              </a:ext>
            </a:extLst>
          </p:cNvPr>
          <p:cNvSpPr txBox="1"/>
          <p:nvPr/>
        </p:nvSpPr>
        <p:spPr>
          <a:xfrm>
            <a:off x="412955" y="1093235"/>
            <a:ext cx="11371006" cy="5262979"/>
          </a:xfrm>
          <a:prstGeom prst="rect">
            <a:avLst/>
          </a:prstGeom>
          <a:noFill/>
        </p:spPr>
        <p:txBody>
          <a:bodyPr wrap="square">
            <a:spAutoFit/>
          </a:bodyPr>
          <a:lstStyle/>
          <a:p>
            <a:r>
              <a:rPr lang="en-US" sz="2800" dirty="0"/>
              <a:t>Why is it recommended to use your own words when condensing large volumes of information during note making rather than copying the source verbatim?</a:t>
            </a:r>
          </a:p>
          <a:p>
            <a:endParaRPr lang="en-US" sz="2800" dirty="0"/>
          </a:p>
          <a:p>
            <a:r>
              <a:rPr lang="en-US" sz="2800" dirty="0"/>
              <a:t>What are the two or three critical things a writer must define or gather during the </a:t>
            </a:r>
            <a:r>
              <a:rPr lang="en-US" sz="2800" b="1" dirty="0"/>
              <a:t>Planning</a:t>
            </a:r>
            <a:r>
              <a:rPr lang="en-US" sz="2800" dirty="0"/>
              <a:t> stage before they actually start writing sentences?</a:t>
            </a:r>
          </a:p>
          <a:p>
            <a:endParaRPr lang="en-US" sz="2800" dirty="0"/>
          </a:p>
          <a:p>
            <a:r>
              <a:rPr lang="en-US" sz="2800" dirty="0"/>
              <a:t>How does creating an </a:t>
            </a:r>
            <a:r>
              <a:rPr lang="en-US" sz="2800" b="1" dirty="0"/>
              <a:t>Outline</a:t>
            </a:r>
            <a:r>
              <a:rPr lang="en-US" sz="2800" dirty="0"/>
              <a:t> directly help a writer avoid writer's block and ensure a logical flow of ideas?</a:t>
            </a:r>
          </a:p>
          <a:p>
            <a:endParaRPr lang="en-US" sz="2800" dirty="0"/>
          </a:p>
          <a:p>
            <a:r>
              <a:rPr lang="en-US" sz="2800" dirty="0"/>
              <a:t>How does the focus of the </a:t>
            </a:r>
            <a:r>
              <a:rPr lang="en-US" sz="2800" b="1" dirty="0"/>
              <a:t>Editing</a:t>
            </a:r>
            <a:r>
              <a:rPr lang="en-US" sz="2800" dirty="0"/>
              <a:t> stage differ from the focus of the </a:t>
            </a:r>
            <a:r>
              <a:rPr lang="en-US" sz="2800" b="1" dirty="0"/>
              <a:t>Revising</a:t>
            </a:r>
            <a:r>
              <a:rPr lang="en-US" sz="2800" dirty="0"/>
              <a:t> stage?</a:t>
            </a:r>
          </a:p>
        </p:txBody>
      </p:sp>
    </p:spTree>
    <p:extLst>
      <p:ext uri="{BB962C8B-B14F-4D97-AF65-F5344CB8AC3E}">
        <p14:creationId xmlns:p14="http://schemas.microsoft.com/office/powerpoint/2010/main" val="41633971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1325366" y="93891"/>
            <a:ext cx="10243335" cy="107372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REFERENCES FOR FURTHER LEARNING OF THE SESSION</a:t>
            </a:r>
            <a:endParaRPr lang="en-US" sz="3200" b="1" dirty="0">
              <a:solidFill>
                <a:schemeClr val="bg1"/>
              </a:solidFill>
              <a:latin typeface="Poppins" panose="00000500000000000000" pitchFamily="2" charset="0"/>
              <a:cs typeface="Poppins" panose="00000500000000000000" pitchFamily="2"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37E76048-7203-9411-74BA-708E6B7C76D0}"/>
              </a:ext>
            </a:extLst>
          </p:cNvPr>
          <p:cNvSpPr>
            <a:spLocks noGrp="1"/>
          </p:cNvSpPr>
          <p:nvPr>
            <p:ph/>
          </p:nvPr>
        </p:nvSpPr>
        <p:spPr>
          <a:xfrm>
            <a:off x="410966" y="1315093"/>
            <a:ext cx="11085816" cy="4738581"/>
          </a:xfrm>
        </p:spPr>
        <p:txBody>
          <a:bodyPr/>
          <a:lstStyle/>
          <a:p>
            <a:pPr marL="0" indent="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Arial" panose="020B0604020202020204" pitchFamily="34" charset="0"/>
              </a:rPr>
              <a:t>e-References:</a:t>
            </a:r>
            <a:endParaRPr lang="en-IN"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5318D973-950D-A7FD-F3C3-C9B2853C076B}"/>
              </a:ext>
            </a:extLst>
          </p:cNvPr>
          <p:cNvSpPr txBox="1"/>
          <p:nvPr/>
        </p:nvSpPr>
        <p:spPr>
          <a:xfrm>
            <a:off x="969471" y="2944100"/>
            <a:ext cx="10955124" cy="1969898"/>
          </a:xfrm>
          <a:prstGeom prst="rect">
            <a:avLst/>
          </a:prstGeom>
          <a:noFill/>
        </p:spPr>
        <p:txBody>
          <a:bodyPr wrap="square">
            <a:spAutoFit/>
          </a:bodyPr>
          <a:lstStyle/>
          <a:p>
            <a:pPr algn="just">
              <a:lnSpc>
                <a:spcPct val="107000"/>
              </a:lnSpc>
              <a:spcAft>
                <a:spcPts val="800"/>
              </a:spcAft>
              <a:buNone/>
            </a:pPr>
            <a:r>
              <a:rPr lang="en-IN" sz="1800" b="1" u="sng" kern="100" dirty="0">
                <a:solidFill>
                  <a:srgbClr val="0563C1"/>
                </a:solidFill>
                <a:effectLst/>
                <a:latin typeface="Times New Roman" panose="02020603050405020304" pitchFamily="18" charset="0"/>
                <a:ea typeface="Calibri" panose="020F0502020204030204" pitchFamily="34" charset="0"/>
                <a:cs typeface="Arial" panose="020B0604020202020204" pitchFamily="34" charset="0"/>
                <a:hlinkClick r:id="rId3"/>
              </a:rPr>
              <a:t>https://paperpal.com/blog/academic-writing-guides/what-is-report-writing-format-types-examples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buNone/>
            </a:pPr>
            <a:r>
              <a:rPr lang="en-IN" sz="1800" b="1" u="sng" kern="100" dirty="0">
                <a:solidFill>
                  <a:srgbClr val="0563C1"/>
                </a:solidFill>
                <a:effectLst/>
                <a:latin typeface="Times New Roman" panose="02020603050405020304" pitchFamily="18" charset="0"/>
                <a:ea typeface="Calibri" panose="020F0502020204030204" pitchFamily="34" charset="0"/>
                <a:cs typeface="Arial" panose="020B0604020202020204" pitchFamily="34" charset="0"/>
                <a:hlinkClick r:id="rId4"/>
              </a:rPr>
              <a:t>https://www.successcds.net/learn-english/writing-skills/note-making-and-summarising-format.html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buNone/>
            </a:pPr>
            <a:r>
              <a:rPr lang="en-IN" sz="1800" b="1" u="sng" kern="100" dirty="0">
                <a:solidFill>
                  <a:srgbClr val="0563C1"/>
                </a:solidFill>
                <a:effectLst/>
                <a:latin typeface="Times New Roman" panose="02020603050405020304" pitchFamily="18" charset="0"/>
                <a:ea typeface="Calibri" panose="020F0502020204030204" pitchFamily="34" charset="0"/>
                <a:cs typeface="Arial" panose="020B0604020202020204" pitchFamily="34" charset="0"/>
                <a:hlinkClick r:id="rId5"/>
              </a:rPr>
              <a:t>https://methodologyhub.com/writing/writing-process/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263476" y="180556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0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Language Skills for Engineers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BBD0A98-E68B-4DAA-8964-2F739D6D4075}">
  <ds:schemaRefs>
    <ds:schemaRef ds:uri="http://schemas.openxmlformats.org/package/2006/metadata/core-properties"/>
    <ds:schemaRef ds:uri="http://purl.org/dc/dcmitype/"/>
    <ds:schemaRef ds:uri="http://purl.org/dc/terms/"/>
    <ds:schemaRef ds:uri="http://purl.org/dc/elements/1.1/"/>
    <ds:schemaRef ds:uri="d43ee83c-3e71-4748-8ebc-8eaadf793425"/>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0125a647-8023-46ae-ae6e-85cf36d841bd"/>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3485</TotalTime>
  <Words>1709</Words>
  <Application>Microsoft Office PowerPoint</Application>
  <PresentationFormat>Widescreen</PresentationFormat>
  <Paragraphs>175</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BioRhyme ExtraBold</vt:lpstr>
      <vt:lpstr>Calibri</vt:lpstr>
      <vt:lpstr>Poppins</vt:lpstr>
      <vt:lpstr>quote-cjk-patch</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vt:lpstr>
      <vt:lpstr>Memo</vt:lpstr>
      <vt:lpstr>Memo</vt:lpstr>
      <vt:lpstr>Memo</vt:lpstr>
      <vt:lpstr>PowerPoint Presentation</vt:lpstr>
      <vt:lpstr>PowerPoint Presentation</vt:lpstr>
      <vt:lpstr>PowerPoint Presentation</vt:lpstr>
      <vt:lpstr>PowerPoint Presentation</vt:lpstr>
      <vt:lpstr>Let’s Watch…</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DHANYAMOL CT</cp:lastModifiedBy>
  <cp:revision>429</cp:revision>
  <dcterms:created xsi:type="dcterms:W3CDTF">2020-02-08T09:57:44Z</dcterms:created>
  <dcterms:modified xsi:type="dcterms:W3CDTF">2026-08-28T08:35:11Z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