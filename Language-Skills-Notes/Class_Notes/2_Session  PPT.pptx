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sldIdLst>
    <p:sldId id="271" r:id="rId5"/>
    <p:sldId id="300" r:id="rId6"/>
    <p:sldId id="258" r:id="rId7"/>
    <p:sldId id="368" r:id="rId8"/>
    <p:sldId id="288" r:id="rId9"/>
    <p:sldId id="314" r:id="rId10"/>
    <p:sldId id="322" r:id="rId11"/>
    <p:sldId id="352" r:id="rId12"/>
    <p:sldId id="320" r:id="rId13"/>
    <p:sldId id="299" r:id="rId14"/>
    <p:sldId id="360" r:id="rId15"/>
    <p:sldId id="318" r:id="rId16"/>
    <p:sldId id="303" r:id="rId17"/>
    <p:sldId id="304" r:id="rId18"/>
    <p:sldId id="361" r:id="rId19"/>
    <p:sldId id="362" r:id="rId20"/>
    <p:sldId id="363" r:id="rId21"/>
    <p:sldId id="364" r:id="rId22"/>
    <p:sldId id="369" r:id="rId23"/>
    <p:sldId id="365" r:id="rId24"/>
    <p:sldId id="366" r:id="rId25"/>
    <p:sldId id="36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dma Lata" initials="PL" lastIdx="2" clrIdx="0">
    <p:extLst>
      <p:ext uri="{19B8F6BF-5375-455C-9EA6-DF929625EA0E}">
        <p15:presenceInfo xmlns:p15="http://schemas.microsoft.com/office/powerpoint/2012/main" userId="b355b3e4c8493ed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2532"/>
    <a:srgbClr val="A81E24"/>
    <a:srgbClr val="77FB25"/>
    <a:srgbClr val="FF9900"/>
    <a:srgbClr val="E84845"/>
    <a:srgbClr val="FAD2D2"/>
    <a:srgbClr val="F89E4C"/>
    <a:srgbClr val="FFF2CC"/>
    <a:srgbClr val="CF2F33"/>
    <a:srgbClr val="E3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89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600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7/31/2026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b4WIVqPpjM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HYuDDHvU6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yoodli.ai/?utm_source=chatgpt.co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9831" y="6795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IN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Competency -3 -  Reading Skills</a:t>
            </a:r>
            <a:endParaRPr lang="en-IN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spcAft>
                <a:spcPts val="300"/>
              </a:spcAft>
            </a:pPr>
            <a:r>
              <a:rPr lang="en-IN" sz="1800" b="1" kern="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c. Identifying Tone, Themes &amp; Ideas</a:t>
            </a:r>
            <a:endParaRPr lang="en-IN" sz="1800" kern="10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258"/>
            <a:ext cx="6164826" cy="6408707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16"/>
          <p:cNvSpPr txBox="1"/>
          <p:nvPr/>
        </p:nvSpPr>
        <p:spPr>
          <a:xfrm>
            <a:off x="6095998" y="332258"/>
            <a:ext cx="53782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  <a:cs typeface="Poppins" pitchFamily="2" charset="77"/>
              </a:rPr>
              <a:t>Department of English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6620100" y="1504503"/>
            <a:ext cx="3948803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-2(Module 1)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  <p:sp>
        <p:nvSpPr>
          <p:cNvPr id="4" name="Google Shape;476;p16">
            <a:extLst>
              <a:ext uri="{FF2B5EF4-FFF2-40B4-BE49-F238E27FC236}">
                <a16:creationId xmlns:a16="http://schemas.microsoft.com/office/drawing/2014/main" id="{F2ABFB87-2192-1618-280C-C170709F4AA1}"/>
              </a:ext>
            </a:extLst>
          </p:cNvPr>
          <p:cNvSpPr txBox="1"/>
          <p:nvPr/>
        </p:nvSpPr>
        <p:spPr>
          <a:xfrm>
            <a:off x="5152103" y="3167439"/>
            <a:ext cx="5663382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Module 1: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Foundations of English for the Engineers : Accuracy, Clarity &amp; Register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567625"/>
            <a:ext cx="11157735" cy="120032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To help participants identify and correct the most frequent grammatical and structural errors influenced by Indian languages and technical writing habits, equip with specific self-editing techniques, to leverage AI tools for learning, not just correcting, and to analyze their own writing weaknesses and produce a clear, error-free written self-introduction. </a:t>
            </a:r>
            <a:endParaRPr lang="en-IN" dirty="0"/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041743" y="1624629"/>
            <a:ext cx="3870831" cy="41102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079645" y="2130495"/>
            <a:ext cx="10983071" cy="126188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 the rules governing articles, prepositions, and subject-verb agreement in standard English. Explain how direct translation from the mother tongue leads to common errors. Describe key self-editing techniques such as reading aloud, using checklists, and reverse reading. Construct prompts that require AI to explain grammar rules and error patterns. Revise the self-introduction using self-editing techniques and AI feedback.</a:t>
            </a:r>
            <a:endParaRPr lang="en-US" sz="19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283" y="2644053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041744" y="4105113"/>
            <a:ext cx="3870831" cy="5965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246" y="5020445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079645" y="4701706"/>
            <a:ext cx="10448818" cy="147732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By the end of this session, learners will be able to: Identify frequent grammatical errors related to articles, prepositions, subject-verb agreement, run-ons, fragments, and dangling modifiers in their own writing. Apply at least three self-editing techniques to review a draft. Create prompts that make AI explain the reasoning behind corrections. Justify edits made to their self-introduction using grammar rules or AI explanations.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1489753" y="84673"/>
            <a:ext cx="9955657" cy="131150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Session’s Point of interest…..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DC1C8-4A2E-08F0-48CF-ACACD2D4A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757" y="1561672"/>
            <a:ext cx="11835830" cy="4664467"/>
          </a:xfrm>
        </p:spPr>
        <p:txBody>
          <a:bodyPr/>
          <a:lstStyle/>
          <a:p>
            <a:pPr algn="just"/>
            <a:r>
              <a:rPr lang="en-IN" dirty="0"/>
              <a:t> </a:t>
            </a:r>
            <a:r>
              <a:rPr lang="en-US" dirty="0"/>
              <a:t>Common error patterns of Indian/engineering English: articles, prepositions, agreement, run-ons and fragments, dangling modifiers, and direct translation from the mother tongue. </a:t>
            </a:r>
          </a:p>
          <a:p>
            <a:pPr algn="just"/>
            <a:r>
              <a:rPr lang="en-US" dirty="0"/>
              <a:t>Proofreading and self-editing fundamentals: a method for catching one's own errors. </a:t>
            </a:r>
          </a:p>
          <a:p>
            <a:pPr algn="just"/>
            <a:r>
              <a:rPr lang="en-US" dirty="0"/>
              <a:t>Using AI as an accuracy tutor: how to ask an AI tool to explain (not just fix) an error, and how to learn from its corrections rather than copy them. </a:t>
            </a:r>
          </a:p>
          <a:p>
            <a:pPr algn="just"/>
            <a:r>
              <a:rPr lang="en-US" dirty="0"/>
              <a:t>Personal Error Analysis &amp; Self-Introduction (written)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FDF04-43CD-A1E4-D685-8B1CC7055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74"/>
            <a:ext cx="10515600" cy="6400800"/>
          </a:xfrm>
        </p:spPr>
        <p:txBody>
          <a:bodyPr/>
          <a:lstStyle/>
          <a:p>
            <a:pPr marL="0" indent="0" algn="ctr">
              <a:buNone/>
            </a:pPr>
            <a:r>
              <a:rPr lang="en-IN" b="1" dirty="0">
                <a:solidFill>
                  <a:srgbClr val="FF0000"/>
                </a:solidFill>
              </a:rPr>
              <a:t>Let’s fix the following</a:t>
            </a:r>
          </a:p>
          <a:p>
            <a:pPr marL="0" indent="0" algn="ctr">
              <a:buNone/>
            </a:pPr>
            <a:r>
              <a:rPr lang="en-IN" sz="1800" b="1" i="1" dirty="0">
                <a:solidFill>
                  <a:srgbClr val="0070C0"/>
                </a:solidFill>
              </a:rPr>
              <a:t>(Local to global)</a:t>
            </a:r>
          </a:p>
          <a:p>
            <a:pPr marL="0" indent="0">
              <a:buNone/>
            </a:pPr>
            <a:r>
              <a:rPr lang="en-IN" dirty="0"/>
              <a:t> Open the fan </a:t>
            </a:r>
          </a:p>
          <a:p>
            <a:pPr marL="0" indent="0">
              <a:buNone/>
            </a:pPr>
            <a:r>
              <a:rPr lang="en-IN" dirty="0"/>
              <a:t> I have one doubt .</a:t>
            </a:r>
          </a:p>
          <a:p>
            <a:pPr marL="0" indent="0">
              <a:buNone/>
            </a:pPr>
            <a:r>
              <a:rPr lang="en-IN" dirty="0"/>
              <a:t>  Pass out from college. </a:t>
            </a:r>
          </a:p>
          <a:p>
            <a:pPr marL="0" indent="0">
              <a:buNone/>
            </a:pPr>
            <a:r>
              <a:rPr lang="en-IN" dirty="0"/>
              <a:t>  Myself Anitha.</a:t>
            </a:r>
          </a:p>
          <a:p>
            <a:pPr marL="0" indent="0">
              <a:buNone/>
            </a:pPr>
            <a:r>
              <a:rPr lang="en-IN" dirty="0"/>
              <a:t>He is having two brothers.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sz="2400" b="1" i="1" dirty="0">
                <a:solidFill>
                  <a:srgbClr val="FF0000"/>
                </a:solidFill>
              </a:rPr>
              <a:t>                                                  </a:t>
            </a:r>
            <a:r>
              <a:rPr lang="en-US" sz="2400" b="1" i="1" dirty="0">
                <a:solidFill>
                  <a:srgbClr val="FF0000"/>
                </a:solidFill>
                <a:latin typeface="Bahnschrift SemiBold" panose="020B0502040204020203" pitchFamily="34" charset="0"/>
              </a:rPr>
              <a:t>Turn on the fan. / Switch on the fan.</a:t>
            </a:r>
          </a:p>
          <a:p>
            <a:pPr marL="0" indent="0">
              <a:buNone/>
            </a:pPr>
            <a:r>
              <a:rPr lang="en-US" sz="2400" b="1" i="1" dirty="0">
                <a:solidFill>
                  <a:srgbClr val="FF0000"/>
                </a:solidFill>
                <a:latin typeface="Bahnschrift SemiBold" panose="020B0502040204020203" pitchFamily="34" charset="0"/>
              </a:rPr>
              <a:t>                                           I have a question. / I have a doubt about...</a:t>
            </a:r>
          </a:p>
          <a:p>
            <a:pPr marL="0" indent="0">
              <a:buNone/>
            </a:pPr>
            <a:r>
              <a:rPr lang="en-US" sz="2400" b="1" i="1" dirty="0">
                <a:solidFill>
                  <a:srgbClr val="FF0000"/>
                </a:solidFill>
                <a:latin typeface="Bahnschrift SemiBold" panose="020B0502040204020203" pitchFamily="34" charset="0"/>
              </a:rPr>
              <a:t>                                       Graduate from college. / Completed college.</a:t>
            </a:r>
          </a:p>
          <a:p>
            <a:pPr marL="0" indent="0">
              <a:buNone/>
            </a:pPr>
            <a:r>
              <a:rPr lang="en-US" sz="2400" b="1" i="1" dirty="0">
                <a:solidFill>
                  <a:srgbClr val="FF0000"/>
                </a:solidFill>
                <a:latin typeface="Bahnschrift SemiBold" panose="020B0502040204020203" pitchFamily="34" charset="0"/>
              </a:rPr>
              <a:t>                                                          I’m Anitha. / My name is Anitha.</a:t>
            </a:r>
          </a:p>
          <a:p>
            <a:pPr marL="0" indent="0">
              <a:buNone/>
            </a:pPr>
            <a:r>
              <a:rPr lang="en-IN" sz="2400" b="1" i="1" dirty="0">
                <a:solidFill>
                  <a:srgbClr val="FF0000"/>
                </a:solidFill>
                <a:latin typeface="Bahnschrift SemiBold" panose="020B0502040204020203" pitchFamily="34" charset="0"/>
              </a:rPr>
              <a:t>                                                                                   He has two brothers.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B0078D01-FFF9-2F80-F379-6ABA50A07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1566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1458931" y="263116"/>
            <a:ext cx="9894870" cy="81567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3600" dirty="0"/>
              <a:t>Watch the video</a:t>
            </a: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15C819-6136-B958-E678-D478E457380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95209" y="1279920"/>
            <a:ext cx="11712539" cy="5408556"/>
          </a:xfrm>
        </p:spPr>
        <p:txBody>
          <a:bodyPr/>
          <a:lstStyle/>
          <a:p>
            <a:pPr algn="just"/>
            <a:r>
              <a:rPr lang="en-IN" dirty="0"/>
              <a:t>Please ensure that all key points are noted down.</a:t>
            </a:r>
          </a:p>
          <a:p>
            <a:pPr algn="just"/>
            <a:endParaRPr lang="en-IN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IN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IN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 https://www.youtube.com/watch?v=Ab4WIVqPpjM</a:t>
            </a: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IN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IN" kern="100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IN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1797978" y="70605"/>
            <a:ext cx="9308386" cy="69631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Activity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4A9F8A-18BC-7668-CCC4-5C60BC46A16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91101" y="837522"/>
            <a:ext cx="11609797" cy="5768762"/>
          </a:xfrm>
        </p:spPr>
        <p:txBody>
          <a:bodyPr/>
          <a:lstStyle/>
          <a:p>
            <a:pPr algn="just"/>
            <a:r>
              <a:rPr lang="en-US" dirty="0"/>
              <a:t>Translation Triads </a:t>
            </a:r>
          </a:p>
          <a:p>
            <a:pPr marL="0" indent="0" algn="just">
              <a:buNone/>
            </a:pPr>
            <a:r>
              <a:rPr lang="en-US" dirty="0"/>
              <a:t>                                       </a:t>
            </a:r>
            <a:r>
              <a:rPr lang="en-US" b="1" u="sng" dirty="0">
                <a:solidFill>
                  <a:srgbClr val="FF0000"/>
                </a:solidFill>
              </a:rPr>
              <a:t>Write 5 examples under every column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sz="2400" dirty="0"/>
              <a:t>         </a:t>
            </a:r>
            <a:r>
              <a:rPr lang="en-US" sz="2400" b="1" dirty="0">
                <a:solidFill>
                  <a:srgbClr val="FF0000"/>
                </a:solidFill>
              </a:rPr>
              <a:t>Mother Tongue             Direct English Translation                             Correct English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IN" sz="2000" dirty="0"/>
          </a:p>
          <a:p>
            <a:pPr marL="0" indent="0" algn="just">
              <a:buNone/>
            </a:pPr>
            <a:r>
              <a:rPr lang="en-IN" sz="2000" dirty="0"/>
              <a:t>Nenu </a:t>
            </a:r>
            <a:r>
              <a:rPr lang="en-IN" sz="2000" dirty="0" err="1"/>
              <a:t>intiki</a:t>
            </a:r>
            <a:r>
              <a:rPr lang="en-IN" sz="2000" dirty="0"/>
              <a:t> </a:t>
            </a:r>
            <a:r>
              <a:rPr lang="en-IN" sz="2000" dirty="0" err="1"/>
              <a:t>velthunana</a:t>
            </a:r>
            <a:r>
              <a:rPr lang="en-IN" sz="2000" dirty="0"/>
              <a:t>                             </a:t>
            </a:r>
            <a:r>
              <a:rPr lang="en-US" sz="2400" dirty="0"/>
              <a:t>I to home going                                 </a:t>
            </a:r>
            <a:r>
              <a:rPr lang="en-US" dirty="0"/>
              <a:t>I am going home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IN" sz="2400" dirty="0"/>
              <a:t>Naku </a:t>
            </a:r>
            <a:r>
              <a:rPr lang="en-IN" sz="2400" dirty="0" err="1"/>
              <a:t>thala</a:t>
            </a:r>
            <a:r>
              <a:rPr lang="en-IN" sz="2400" dirty="0"/>
              <a:t> </a:t>
            </a:r>
            <a:r>
              <a:rPr lang="en-IN" sz="2400" dirty="0" err="1"/>
              <a:t>noppiga</a:t>
            </a:r>
            <a:r>
              <a:rPr lang="en-IN" sz="2400" dirty="0"/>
              <a:t> </a:t>
            </a:r>
            <a:r>
              <a:rPr lang="en-IN" sz="2400" dirty="0" err="1"/>
              <a:t>undhi</a:t>
            </a:r>
            <a:r>
              <a:rPr lang="en-IN" sz="2400" dirty="0"/>
              <a:t>  </a:t>
            </a:r>
            <a:r>
              <a:rPr lang="en-US" dirty="0"/>
              <a:t>To me headache/pain is there      I have a headache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  Think in your mother tongue, truly translate……then learn the correct form.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8D70BB-2184-0830-506C-BE08DBC438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827217"/>
              </p:ext>
            </p:extLst>
          </p:nvPr>
        </p:nvGraphicFramePr>
        <p:xfrm>
          <a:off x="698090" y="2153265"/>
          <a:ext cx="10205884" cy="570270"/>
        </p:xfrm>
        <a:graphic>
          <a:graphicData uri="http://schemas.openxmlformats.org/drawingml/2006/table">
            <a:tbl>
              <a:tblPr/>
              <a:tblGrid>
                <a:gridCol w="10205884">
                  <a:extLst>
                    <a:ext uri="{9D8B030D-6E8A-4147-A177-3AD203B41FA5}">
                      <a16:colId xmlns:a16="http://schemas.microsoft.com/office/drawing/2014/main" val="1996213926"/>
                    </a:ext>
                  </a:extLst>
                </a:gridCol>
              </a:tblGrid>
              <a:tr h="57027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3153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661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E8D68-8094-B1BE-82AC-3DF0D88F7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80" y="1150590"/>
            <a:ext cx="11630788" cy="5555009"/>
          </a:xfrm>
        </p:spPr>
        <p:txBody>
          <a:bodyPr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0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Translate Your Thoughts: first say the sentence in your mother tongue in your head, then write the English version exactly as it comes to you.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How would you tell a friend about your family?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I am having _*______*____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You didn’t go to class yesterday. How do you explain it to your teacher?         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Yesterday I _*______*____ 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How do you ask someone if they know how to drive?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_*______*____ driving? 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You want to say you’ve lived in Tadepalli for 5 years.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I am living in Tadepalli _*______*____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How do you give someone advice about health?    You should take _*______*____</a:t>
            </a:r>
            <a:endParaRPr lang="en-IN" sz="1800" kern="100" dirty="0">
              <a:effectLst/>
              <a:ea typeface="Calibri" panose="020F0502020204030204" pitchFamily="34" charset="0"/>
              <a:cs typeface="Arial" panose="020B0604020202020204" pitchFamily="34" charset="0"/>
              <a:hlinkClick r:id="rId2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6E48150F-81D2-4255-EF87-E903BCD38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177"/>
            <a:ext cx="10268164" cy="101161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effectLst/>
                <a:ea typeface="Calibri" panose="020F0502020204030204" pitchFamily="34" charset="0"/>
              </a:rPr>
              <a:t>Let’s try…</a:t>
            </a:r>
            <a:endParaRPr lang="en-IN" sz="8000" b="1" dirty="0"/>
          </a:p>
        </p:txBody>
      </p:sp>
    </p:spTree>
    <p:extLst>
      <p:ext uri="{BB962C8B-B14F-4D97-AF65-F5344CB8AC3E}">
        <p14:creationId xmlns:p14="http://schemas.microsoft.com/office/powerpoint/2010/main" val="93288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85A551E7-E880-6770-0365-7E3A5FE73967}"/>
              </a:ext>
            </a:extLst>
          </p:cNvPr>
          <p:cNvSpPr/>
          <p:nvPr/>
        </p:nvSpPr>
        <p:spPr>
          <a:xfrm>
            <a:off x="2438399" y="338667"/>
            <a:ext cx="7712467" cy="66820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dirty="0"/>
              <a:t>Run-ons and Fragments:</a:t>
            </a:r>
            <a:endParaRPr lang="en-US" sz="5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C105BA-8F0C-9659-56F1-432588FC6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321" y="1006867"/>
            <a:ext cx="11486508" cy="5619964"/>
          </a:xfrm>
        </p:spPr>
        <p:txBody>
          <a:bodyPr/>
          <a:lstStyle/>
          <a:p>
            <a:pPr>
              <a:buNone/>
            </a:pPr>
            <a:r>
              <a:rPr lang="en-IN" b="1" dirty="0"/>
              <a:t>Run-on Sentence</a:t>
            </a:r>
          </a:p>
          <a:p>
            <a:pPr>
              <a:buNone/>
            </a:pPr>
            <a:r>
              <a:rPr lang="en-IN" dirty="0"/>
              <a:t>A </a:t>
            </a:r>
            <a:r>
              <a:rPr lang="en-IN" b="1" dirty="0"/>
              <a:t>run-on sentence</a:t>
            </a:r>
            <a:r>
              <a:rPr lang="en-IN" dirty="0"/>
              <a:t> occurs when two or more sentences are joined incorrectly without proper punctuation or conjunctions.</a:t>
            </a:r>
          </a:p>
          <a:p>
            <a:pPr>
              <a:buNone/>
            </a:pPr>
            <a:r>
              <a:rPr lang="en-IN" b="1" dirty="0"/>
              <a:t>Incorrect (Run-on):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 finished my homework I went to bed.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She loves reading she visits the library every week. </a:t>
            </a:r>
          </a:p>
          <a:p>
            <a:pPr>
              <a:buNone/>
            </a:pPr>
            <a:r>
              <a:rPr lang="en-IN" b="1" dirty="0"/>
              <a:t>Correct: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 finished my homework, and I went to bed.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 finished my homework. I went to bed.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She loves reading, so she visits the library every week.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dirty="0"/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dirty="0"/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6310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1990725" y="94372"/>
            <a:ext cx="8160142" cy="37976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Run-ons and Fragments…..</a:t>
            </a:r>
            <a:r>
              <a:rPr lang="en-IN" sz="2000" dirty="0" err="1"/>
              <a:t>contd</a:t>
            </a:r>
            <a:endParaRPr lang="en-US" sz="2000" dirty="0"/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23143F-B5EC-3A12-2D4A-FA7666B2AB8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97951" y="600077"/>
            <a:ext cx="11733087" cy="6078126"/>
          </a:xfrm>
        </p:spPr>
        <p:txBody>
          <a:bodyPr/>
          <a:lstStyle/>
          <a:p>
            <a:pPr>
              <a:buNone/>
            </a:pPr>
            <a:r>
              <a:rPr lang="en-IN" sz="2400" b="1" dirty="0"/>
              <a:t>Sentence Fragment</a:t>
            </a:r>
          </a:p>
          <a:p>
            <a:pPr>
              <a:buNone/>
            </a:pPr>
            <a:r>
              <a:rPr lang="en-IN" sz="2400" dirty="0"/>
              <a:t>A </a:t>
            </a:r>
            <a:r>
              <a:rPr lang="en-IN" sz="2400" b="1" dirty="0"/>
              <a:t>sentence fragment</a:t>
            </a:r>
            <a:r>
              <a:rPr lang="en-IN" sz="2400" dirty="0"/>
              <a:t> is an incomplete sentence. It does not express a complete thought because it is missing a subject, a verb, or a complete idea.</a:t>
            </a:r>
          </a:p>
          <a:p>
            <a:pPr>
              <a:buNone/>
            </a:pPr>
            <a:r>
              <a:rPr lang="en-IN" sz="2400" b="1" dirty="0"/>
              <a:t>Incorrect (Fragments):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Because I was tired.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Running through the park.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The boy who won the race. </a:t>
            </a:r>
          </a:p>
          <a:p>
            <a:pPr>
              <a:buNone/>
            </a:pPr>
            <a:r>
              <a:rPr lang="en-IN" sz="2400" b="1" dirty="0"/>
              <a:t>Correct: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Because I was tired, I went to bed early.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 was running through the park.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The boy who won the race received a medal. </a:t>
            </a:r>
          </a:p>
          <a:p>
            <a:pPr algn="just"/>
            <a:endParaRPr lang="en-US" sz="2500" kern="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0515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E6C5DBD-48B2-FAB3-5228-431EB6336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11528" y="600076"/>
            <a:ext cx="9456472" cy="30612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A5EA55-25FC-263D-98F6-5F75F9BDD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8008" y="3429000"/>
            <a:ext cx="6215984" cy="296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1463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7B3B2-1242-F207-6DBA-8E3DBABD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>
            <a:extLst>
              <a:ext uri="{FF2B5EF4-FFF2-40B4-BE49-F238E27FC236}">
                <a16:creationId xmlns:a16="http://schemas.microsoft.com/office/drawing/2014/main" id="{D9EB3ADC-8EE4-550E-DEB1-D39E244D3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7F9F1-0E79-1654-F38C-513AD7775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352" y="1023771"/>
            <a:ext cx="11291299" cy="5057080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A </a:t>
            </a:r>
            <a:r>
              <a:rPr lang="en-IN" b="1" dirty="0"/>
              <a:t>dangling modifier</a:t>
            </a:r>
            <a:r>
              <a:rPr lang="en-IN" dirty="0"/>
              <a:t> is a word, phrase, or clause that does not clearly or logically modify the word it is intended to describe. The modifier is left "dangling" because the sentence is missing the appropriate subject.</a:t>
            </a:r>
          </a:p>
          <a:p>
            <a:r>
              <a:rPr lang="en-IN" b="1" dirty="0"/>
              <a:t>Examples</a:t>
            </a:r>
          </a:p>
          <a:p>
            <a:pPr marL="0" indent="0">
              <a:buNone/>
            </a:pPr>
            <a:r>
              <a:rPr lang="en-IN" dirty="0"/>
              <a:t>❌ </a:t>
            </a:r>
            <a:r>
              <a:rPr lang="en-IN" b="1" dirty="0"/>
              <a:t>Dangling Modifier:</a:t>
            </a:r>
            <a:endParaRPr lang="en-IN" dirty="0"/>
          </a:p>
          <a:p>
            <a:r>
              <a:rPr lang="en-IN" dirty="0"/>
              <a:t>Walking to school, the rain started to fall. </a:t>
            </a:r>
          </a:p>
          <a:p>
            <a:pPr marL="0" indent="0">
              <a:buNone/>
            </a:pPr>
            <a:r>
              <a:rPr lang="en-IN" dirty="0"/>
              <a:t>(The sentence suggests that </a:t>
            </a:r>
            <a:r>
              <a:rPr lang="en-IN" i="1" dirty="0"/>
              <a:t>the rain</a:t>
            </a:r>
            <a:r>
              <a:rPr lang="en-IN" dirty="0"/>
              <a:t> was walking to school.)</a:t>
            </a:r>
          </a:p>
          <a:p>
            <a:pPr marL="0" indent="0">
              <a:buNone/>
            </a:pPr>
            <a:r>
              <a:rPr lang="en-IN" dirty="0"/>
              <a:t>✅ </a:t>
            </a:r>
            <a:r>
              <a:rPr lang="en-IN" b="1" dirty="0"/>
              <a:t>Corrected:</a:t>
            </a:r>
            <a:endParaRPr lang="en-IN" dirty="0"/>
          </a:p>
          <a:p>
            <a:r>
              <a:rPr lang="en-IN" dirty="0"/>
              <a:t>Walking to school, </a:t>
            </a:r>
            <a:r>
              <a:rPr lang="en-IN" b="1" dirty="0"/>
              <a:t>I</a:t>
            </a:r>
            <a:r>
              <a:rPr lang="en-IN" dirty="0"/>
              <a:t> noticed the rain starting to fall. </a:t>
            </a:r>
          </a:p>
          <a:p>
            <a:r>
              <a:rPr lang="en-IN" dirty="0"/>
              <a:t>As </a:t>
            </a:r>
            <a:r>
              <a:rPr lang="en-IN" b="1" dirty="0"/>
              <a:t>I was walking to school</a:t>
            </a:r>
            <a:r>
              <a:rPr lang="en-IN" dirty="0"/>
              <a:t>, the rain started to fall.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E55344AE-D04F-229C-9D67-F6F35DE0D0BF}"/>
              </a:ext>
            </a:extLst>
          </p:cNvPr>
          <p:cNvSpPr/>
          <p:nvPr/>
        </p:nvSpPr>
        <p:spPr>
          <a:xfrm>
            <a:off x="1479480" y="123311"/>
            <a:ext cx="9770722" cy="777149"/>
          </a:xfrm>
          <a:prstGeom prst="roundRect">
            <a:avLst>
              <a:gd name="adj" fmla="val 50000"/>
            </a:avLst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600"/>
              <a:t>Dangling Modifiers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27086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244725" y="106917"/>
            <a:ext cx="8619136" cy="727561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Dangling modifiers….</a:t>
            </a:r>
            <a:r>
              <a:rPr lang="en-US" i="1" dirty="0" err="1"/>
              <a:t>contd</a:t>
            </a:r>
            <a:endParaRPr lang="en-US" i="1" dirty="0"/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BC5279-88CD-C714-C8CE-AA942732F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800" y="762000"/>
            <a:ext cx="11057467" cy="5414963"/>
          </a:xfrm>
        </p:spPr>
        <p:txBody>
          <a:bodyPr/>
          <a:lstStyle/>
          <a:p>
            <a:pPr algn="just"/>
            <a:endParaRPr lang="en-IN" kern="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en-IN" sz="2000" dirty="0"/>
              <a:t>❌ </a:t>
            </a:r>
            <a:r>
              <a:rPr lang="en-IN" sz="2000" b="1" dirty="0"/>
              <a:t>Dangling Modifier:</a:t>
            </a:r>
            <a:endParaRPr lang="en-IN" sz="2000" dirty="0"/>
          </a:p>
          <a:p>
            <a:r>
              <a:rPr lang="en-IN" sz="2000" dirty="0"/>
              <a:t>After reading the book, the movie seemed disappointing. </a:t>
            </a:r>
          </a:p>
          <a:p>
            <a:pPr marL="0" indent="0">
              <a:buNone/>
            </a:pPr>
            <a:r>
              <a:rPr lang="en-IN" sz="2000" dirty="0"/>
              <a:t>(The sentence suggests that </a:t>
            </a:r>
            <a:r>
              <a:rPr lang="en-IN" sz="2000" i="1" dirty="0"/>
              <a:t>the movie</a:t>
            </a:r>
            <a:r>
              <a:rPr lang="en-IN" sz="2000" dirty="0"/>
              <a:t> read the book.)</a:t>
            </a:r>
          </a:p>
          <a:p>
            <a:pPr marL="0" indent="0">
              <a:buNone/>
            </a:pPr>
            <a:r>
              <a:rPr lang="en-IN" sz="2000" dirty="0"/>
              <a:t>✅ </a:t>
            </a:r>
            <a:r>
              <a:rPr lang="en-IN" sz="2000" b="1" dirty="0"/>
              <a:t>Corrected:</a:t>
            </a:r>
            <a:endParaRPr lang="en-IN" sz="2000" dirty="0"/>
          </a:p>
          <a:p>
            <a:r>
              <a:rPr lang="en-IN" sz="2000" dirty="0"/>
              <a:t>After reading the book, </a:t>
            </a:r>
            <a:r>
              <a:rPr lang="en-IN" sz="2000" b="1" dirty="0"/>
              <a:t>I found</a:t>
            </a:r>
            <a:r>
              <a:rPr lang="en-IN" sz="2000" dirty="0"/>
              <a:t> the movie disappointing. </a:t>
            </a:r>
            <a:br>
              <a:rPr lang="en-IN" sz="2000" dirty="0"/>
            </a:br>
            <a:endParaRPr lang="en-IN" sz="2000" dirty="0"/>
          </a:p>
          <a:p>
            <a:r>
              <a:rPr lang="en-IN" sz="2000" dirty="0"/>
              <a:t>❌ </a:t>
            </a:r>
            <a:r>
              <a:rPr lang="en-IN" sz="2000" b="1" dirty="0"/>
              <a:t>Dangling Modifier:</a:t>
            </a:r>
            <a:endParaRPr lang="en-IN" sz="2000" dirty="0"/>
          </a:p>
          <a:p>
            <a:r>
              <a:rPr lang="en-IN" sz="2000" dirty="0"/>
              <a:t>Having finished the assignment, the television was turned on. </a:t>
            </a:r>
          </a:p>
          <a:p>
            <a:pPr marL="0" indent="0">
              <a:buNone/>
            </a:pPr>
            <a:r>
              <a:rPr lang="en-IN" sz="2000" dirty="0"/>
              <a:t>(The sentence suggests that </a:t>
            </a:r>
            <a:r>
              <a:rPr lang="en-IN" sz="2000" i="1" dirty="0"/>
              <a:t>the television</a:t>
            </a:r>
            <a:r>
              <a:rPr lang="en-IN" sz="2000" dirty="0"/>
              <a:t> finished the assignment.)</a:t>
            </a:r>
          </a:p>
          <a:p>
            <a:pPr marL="0" indent="0">
              <a:buNone/>
            </a:pPr>
            <a:r>
              <a:rPr lang="en-IN" sz="2000" dirty="0"/>
              <a:t>✅ </a:t>
            </a:r>
            <a:r>
              <a:rPr lang="en-IN" sz="2000" b="1" dirty="0"/>
              <a:t>Corrected:</a:t>
            </a:r>
            <a:endParaRPr lang="en-IN" sz="2000" dirty="0"/>
          </a:p>
          <a:p>
            <a:r>
              <a:rPr lang="en-IN" sz="2000" dirty="0"/>
              <a:t>Having finished the assignment, </a:t>
            </a:r>
            <a:r>
              <a:rPr lang="en-IN" sz="2000" b="1" dirty="0"/>
              <a:t>she</a:t>
            </a:r>
            <a:r>
              <a:rPr lang="en-IN" sz="2000" dirty="0"/>
              <a:t> turned on the television.</a:t>
            </a:r>
          </a:p>
          <a:p>
            <a:pPr algn="just"/>
            <a:endParaRPr lang="en-IN" kern="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endParaRPr lang="en-IN" sz="1800" kern="1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33971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E76048-7203-9411-74BA-708E6B7C76D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10966" y="600077"/>
            <a:ext cx="11085816" cy="545359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How to Identify a Dangling Modifier</a:t>
            </a:r>
          </a:p>
          <a:p>
            <a:r>
              <a:rPr lang="en-IN" dirty="0"/>
              <a:t>Find the introductory phrase. </a:t>
            </a:r>
          </a:p>
          <a:p>
            <a:r>
              <a:rPr lang="en-IN" dirty="0"/>
              <a:t>Ask: </a:t>
            </a:r>
            <a:r>
              <a:rPr lang="en-IN" b="1" dirty="0"/>
              <a:t>Who or what is performing the action in the phrase?</a:t>
            </a:r>
            <a:r>
              <a:rPr lang="en-IN" dirty="0"/>
              <a:t> </a:t>
            </a:r>
          </a:p>
          <a:p>
            <a:r>
              <a:rPr lang="en-IN" dirty="0"/>
              <a:t>Check whether the subject immediately following the comma matches that performer.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❌ To improve his grades, the exams were studied carefully. </a:t>
            </a:r>
          </a:p>
          <a:p>
            <a:r>
              <a:rPr lang="en-IN" dirty="0"/>
              <a:t>Who wants to improve the grades? Not </a:t>
            </a:r>
            <a:r>
              <a:rPr lang="en-IN" i="1" dirty="0"/>
              <a:t>the exams</a:t>
            </a:r>
            <a:r>
              <a:rPr lang="en-IN" dirty="0"/>
              <a:t>. </a:t>
            </a:r>
          </a:p>
          <a:p>
            <a:r>
              <a:rPr lang="en-IN" dirty="0"/>
              <a:t>✅ To improve his grades, </a:t>
            </a:r>
            <a:r>
              <a:rPr lang="en-IN" b="1" dirty="0"/>
              <a:t>John</a:t>
            </a:r>
            <a:r>
              <a:rPr lang="en-IN" dirty="0"/>
              <a:t> studied the exams carefully</a:t>
            </a:r>
            <a:r>
              <a:rPr lang="en-IN" sz="3600" dirty="0"/>
              <a:t>.</a:t>
            </a:r>
          </a:p>
          <a:p>
            <a:pPr marL="0" indent="0" algn="just">
              <a:lnSpc>
                <a:spcPct val="150000"/>
              </a:lnSpc>
              <a:spcAft>
                <a:spcPts val="800"/>
              </a:spcAft>
              <a:buNone/>
            </a:pPr>
            <a:endParaRPr lang="en-IN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CEFA8D-6A11-0CD6-3D35-7EE26EC40EB5}"/>
              </a:ext>
            </a:extLst>
          </p:cNvPr>
          <p:cNvSpPr txBox="1"/>
          <p:nvPr/>
        </p:nvSpPr>
        <p:spPr>
          <a:xfrm>
            <a:off x="3048000" y="32443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https://yoodli.ai/?utm_source=chatgpt.com</a:t>
            </a:r>
            <a:endParaRPr lang="en-IN" dirty="0"/>
          </a:p>
          <a:p>
            <a:endParaRPr lang="en-IN" dirty="0"/>
          </a:p>
        </p:txBody>
      </p:sp>
      <p:pic>
        <p:nvPicPr>
          <p:cNvPr id="2" name="Picture 2" descr="KL Deemed to be University Logo">
            <a:extLst>
              <a:ext uri="{FF2B5EF4-FFF2-40B4-BE49-F238E27FC236}">
                <a16:creationId xmlns:a16="http://schemas.microsoft.com/office/drawing/2014/main" id="{10442F6C-901C-6E68-87A5-CC5AE71CD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6813" y="285135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7872E-39AD-9F7C-40C6-CA8CD677B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1148" y="371167"/>
            <a:ext cx="9144000" cy="1319981"/>
          </a:xfrm>
        </p:spPr>
        <p:txBody>
          <a:bodyPr/>
          <a:lstStyle/>
          <a:p>
            <a:r>
              <a:rPr lang="en-US" sz="2400" b="1" dirty="0">
                <a:solidFill>
                  <a:srgbClr val="FF0000"/>
                </a:solidFill>
              </a:rPr>
              <a:t>Using AI as an accuracy tutor: how to ask an AI tool to explain (not just fix) an error, and how to learn from its corrections rather than copy them. </a:t>
            </a:r>
            <a:br>
              <a:rPr lang="en-US" sz="1800" b="1" dirty="0">
                <a:solidFill>
                  <a:srgbClr val="FF0000"/>
                </a:solidFill>
              </a:rPr>
            </a:br>
            <a:endParaRPr lang="en-IN" sz="1800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79BACE-8EED-2858-FC8A-69CD8438FF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1613" y="1897626"/>
            <a:ext cx="11257935" cy="4589206"/>
          </a:xfrm>
        </p:spPr>
        <p:txBody>
          <a:bodyPr/>
          <a:lstStyle/>
          <a:p>
            <a:r>
              <a:rPr lang="en-IN" b="1" dirty="0">
                <a:solidFill>
                  <a:schemeClr val="accent5"/>
                </a:solidFill>
              </a:rPr>
              <a:t>some effective prompts </a:t>
            </a:r>
          </a:p>
          <a:p>
            <a:pPr algn="l"/>
            <a:r>
              <a:rPr lang="en-IN" b="1" dirty="0"/>
              <a:t>1. Accuracy Tutor Prompt</a:t>
            </a:r>
          </a:p>
          <a:p>
            <a:pPr algn="l"/>
            <a:r>
              <a:rPr lang="en-IN" dirty="0"/>
              <a:t>"Act as my English accuracy tutor. When I write a sentence:</a:t>
            </a:r>
          </a:p>
          <a:p>
            <a:pPr algn="l"/>
            <a:r>
              <a:rPr lang="en-IN" dirty="0"/>
              <a:t>Correct only the mistakes. </a:t>
            </a:r>
          </a:p>
          <a:p>
            <a:pPr algn="l"/>
            <a:r>
              <a:rPr lang="en-IN" dirty="0"/>
              <a:t>Explain why each correction is needed. </a:t>
            </a:r>
          </a:p>
          <a:p>
            <a:pPr algn="l"/>
            <a:r>
              <a:rPr lang="en-IN" dirty="0"/>
              <a:t>Tell me which grammar rule applies. </a:t>
            </a:r>
          </a:p>
          <a:p>
            <a:pPr algn="l"/>
            <a:r>
              <a:rPr lang="en-IN" dirty="0"/>
              <a:t>Show one more example using the same rule. </a:t>
            </a:r>
          </a:p>
          <a:p>
            <a:pPr algn="l"/>
            <a:r>
              <a:rPr lang="en-IN" dirty="0"/>
              <a:t>Give me a short practice exercise. </a:t>
            </a:r>
          </a:p>
          <a:p>
            <a:pPr algn="l"/>
            <a:r>
              <a:rPr lang="en-IN" dirty="0"/>
              <a:t>Don't rewrite my whole sentence unless necessary."</a:t>
            </a:r>
          </a:p>
          <a:p>
            <a:pPr algn="l"/>
            <a:endParaRPr lang="en-IN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C5D1DA7C-23B1-4CC9-BF68-18352393F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477" y="279911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4650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AD128-8E1B-DAB8-324F-18BCC9B0D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0374" y="943896"/>
            <a:ext cx="10203426" cy="5771535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2. Grammar Explanation Prompt</a:t>
            </a:r>
          </a:p>
          <a:p>
            <a:r>
              <a:rPr lang="en-IN" dirty="0"/>
              <a:t>"Explain this sentence like I'm an English learner. Break it down word by word. Tell me why each word is used and what would happen if I changed it."</a:t>
            </a:r>
          </a:p>
          <a:p>
            <a:pPr marL="0" indent="0">
              <a:buNone/>
            </a:pPr>
            <a:r>
              <a:rPr lang="en-IN" b="1" dirty="0"/>
              <a:t>3. Mistake Analysis Prompt</a:t>
            </a:r>
          </a:p>
          <a:p>
            <a:r>
              <a:rPr lang="en-IN" dirty="0"/>
              <a:t>"Instead of only correcting my English, </a:t>
            </a:r>
            <a:r>
              <a:rPr lang="en-IN" dirty="0" err="1"/>
              <a:t>analyze</a:t>
            </a:r>
            <a:r>
              <a:rPr lang="en-IN" dirty="0"/>
              <a:t> my mistakes. Tell me whether they are:</a:t>
            </a:r>
          </a:p>
          <a:p>
            <a:r>
              <a:rPr lang="en-IN" dirty="0"/>
              <a:t>Grammar              Vocabulary </a:t>
            </a:r>
          </a:p>
          <a:p>
            <a:r>
              <a:rPr lang="en-IN" dirty="0"/>
              <a:t>Word order           Tense </a:t>
            </a:r>
          </a:p>
          <a:p>
            <a:r>
              <a:rPr lang="en-IN" dirty="0"/>
              <a:t>Articles                   Prepositions </a:t>
            </a:r>
          </a:p>
          <a:p>
            <a:r>
              <a:rPr lang="en-IN" dirty="0"/>
              <a:t>Naturalness</a:t>
            </a:r>
            <a:br>
              <a:rPr lang="en-IN" dirty="0"/>
            </a:br>
            <a:r>
              <a:rPr lang="en-IN" dirty="0"/>
              <a:t>Then explain how to avoid making the same mistake."</a:t>
            </a:r>
          </a:p>
          <a:p>
            <a:endParaRPr lang="en-IN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14C5A8D1-FB93-3040-5E21-6B40DAAD8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477" y="279911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9525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D0188-7C7C-0F08-47B9-E641C6B27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452" y="879987"/>
            <a:ext cx="10842522" cy="550114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4. Learn From Errors Prompt</a:t>
            </a:r>
          </a:p>
          <a:p>
            <a:r>
              <a:rPr lang="en-IN" dirty="0"/>
              <a:t>"Every time I make a mistake, teach me the rule behind it. Don't assume I already know the grammar.“</a:t>
            </a:r>
          </a:p>
          <a:p>
            <a:r>
              <a:rPr lang="en-IN" b="1" dirty="0"/>
              <a:t>You write:</a:t>
            </a:r>
            <a:endParaRPr lang="en-IN" dirty="0"/>
          </a:p>
          <a:p>
            <a:r>
              <a:rPr lang="en-IN" i="1" dirty="0"/>
              <a:t>He go to school yesterday.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AI response:</a:t>
            </a:r>
            <a:endParaRPr lang="en-IN" dirty="0"/>
          </a:p>
          <a:p>
            <a:r>
              <a:rPr lang="en-IN" b="1" dirty="0"/>
              <a:t>Correct sentence:</a:t>
            </a:r>
            <a:r>
              <a:rPr lang="en-IN" dirty="0"/>
              <a:t> </a:t>
            </a:r>
            <a:r>
              <a:rPr lang="en-IN" i="1" dirty="0"/>
              <a:t>He went to school yesterday.</a:t>
            </a:r>
            <a:r>
              <a:rPr lang="en-IN" dirty="0"/>
              <a:t> </a:t>
            </a:r>
          </a:p>
          <a:p>
            <a:r>
              <a:rPr lang="en-IN" b="1" dirty="0"/>
              <a:t>Mistake type:</a:t>
            </a:r>
            <a:r>
              <a:rPr lang="en-IN" dirty="0"/>
              <a:t> Verb tense </a:t>
            </a:r>
          </a:p>
          <a:p>
            <a:r>
              <a:rPr lang="en-IN" b="1" dirty="0"/>
              <a:t>Rule:</a:t>
            </a:r>
            <a:r>
              <a:rPr lang="en-IN" dirty="0"/>
              <a:t> When talking about a completed action in the past, use the past tense. The past tense of </a:t>
            </a:r>
            <a:r>
              <a:rPr lang="en-IN" b="1" dirty="0"/>
              <a:t>go</a:t>
            </a:r>
            <a:r>
              <a:rPr lang="en-IN" dirty="0"/>
              <a:t> is </a:t>
            </a:r>
            <a:r>
              <a:rPr lang="en-IN" b="1" dirty="0"/>
              <a:t>went</a:t>
            </a:r>
            <a:r>
              <a:rPr lang="en-IN" dirty="0"/>
              <a:t>.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EBDE6B98-D83C-53CB-A3AB-2BB6E83AB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477" y="279911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78712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55C0B-B822-E406-69DD-1E005BE5D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983225"/>
            <a:ext cx="11326762" cy="5683046"/>
          </a:xfrm>
        </p:spPr>
        <p:txBody>
          <a:bodyPr/>
          <a:lstStyle/>
          <a:p>
            <a:r>
              <a:rPr lang="en-IN" b="1" dirty="0"/>
              <a:t>More examples: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She ate breakfast early. </a:t>
            </a:r>
          </a:p>
          <a:p>
            <a:pPr lvl="1"/>
            <a:r>
              <a:rPr lang="en-IN" dirty="0"/>
              <a:t>They watched a movie last night. </a:t>
            </a:r>
          </a:p>
          <a:p>
            <a:r>
              <a:rPr lang="en-IN" b="1" dirty="0"/>
              <a:t>Practice: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I ___ (see) my friend yesterday. </a:t>
            </a:r>
          </a:p>
          <a:p>
            <a:pPr lvl="1"/>
            <a:r>
              <a:rPr lang="en-IN" dirty="0"/>
              <a:t>We ___ (buy) a new phone last week. </a:t>
            </a:r>
          </a:p>
          <a:p>
            <a:r>
              <a:rPr lang="en-IN" dirty="0"/>
              <a:t>This approach turns every mistake into a learning opportunity rather than just providing a correction.</a:t>
            </a:r>
          </a:p>
          <a:p>
            <a:r>
              <a:rPr lang="en-IN" dirty="0"/>
              <a:t>If your goal is to become fluent, you can also ask the AI to follow a </a:t>
            </a:r>
            <a:r>
              <a:rPr lang="en-IN" b="1" dirty="0"/>
              <a:t>"Correct → Explain → Practice → Test"</a:t>
            </a:r>
            <a:r>
              <a:rPr lang="en-IN" dirty="0"/>
              <a:t> cycle after every message. This helps reinforce the rule immediately instead of simply fixing the sentence.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F7C18C2C-7109-E8B9-FE90-D3A4E03A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477" y="279911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367246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538E8-2C7B-9FD3-4ACE-B46C36097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D9184-2F58-F527-283A-5B35A9E07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47" y="1415845"/>
            <a:ext cx="10186221" cy="4748981"/>
          </a:xfrm>
        </p:spPr>
        <p:txBody>
          <a:bodyPr/>
          <a:lstStyle/>
          <a:p>
            <a:pPr marL="0" indent="0" algn="ctr">
              <a:buNone/>
            </a:pPr>
            <a:r>
              <a:rPr lang="en-IN" sz="3600" b="1" dirty="0"/>
              <a:t>Project Use-Case: Self-Introduction and Error Analysis</a:t>
            </a:r>
          </a:p>
          <a:p>
            <a:pPr marL="0" indent="0" algn="ctr">
              <a:buNone/>
            </a:pPr>
            <a:endParaRPr lang="en-IN" sz="3600" b="1" dirty="0"/>
          </a:p>
          <a:p>
            <a:pPr marL="0" indent="0">
              <a:buNone/>
            </a:pPr>
            <a:r>
              <a:rPr lang="en-IN" sz="3200" dirty="0"/>
              <a:t>Refer the Portfolio Activity format for instructions.</a:t>
            </a:r>
          </a:p>
          <a:p>
            <a:pPr marL="0" indent="0">
              <a:buNone/>
            </a:pPr>
            <a:endParaRPr lang="en-IN" sz="3600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FF5B09E3-FBDA-F3AC-8E0A-23411A771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477" y="279911"/>
            <a:ext cx="1990725" cy="600076"/>
          </a:xfrm>
          <a:prstGeom prst="rect">
            <a:avLst/>
          </a:prstGeom>
          <a:noFill/>
        </p:spPr>
      </p:pic>
      <p:sp>
        <p:nvSpPr>
          <p:cNvPr id="2" name="Rounded Rectangle 17">
            <a:extLst>
              <a:ext uri="{FF2B5EF4-FFF2-40B4-BE49-F238E27FC236}">
                <a16:creationId xmlns:a16="http://schemas.microsoft.com/office/drawing/2014/main" id="{AF3CB49A-4109-F4A8-2751-3AC37E8C2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5652" y="67177"/>
            <a:ext cx="6371303" cy="1011612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/>
              <a:t>Portfolio Activity 1</a:t>
            </a:r>
          </a:p>
        </p:txBody>
      </p:sp>
    </p:spTree>
    <p:extLst>
      <p:ext uri="{BB962C8B-B14F-4D97-AF65-F5344CB8AC3E}">
        <p14:creationId xmlns:p14="http://schemas.microsoft.com/office/powerpoint/2010/main" val="3665302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BCC86-FE5F-BCB7-070B-B0EC812A8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297" y="1307690"/>
            <a:ext cx="11562735" cy="5270399"/>
          </a:xfrm>
        </p:spPr>
        <p:txBody>
          <a:bodyPr/>
          <a:lstStyle/>
          <a:p>
            <a:r>
              <a:rPr lang="en-IN" sz="2000" b="1" dirty="0"/>
              <a:t>Reflection Questions</a:t>
            </a:r>
          </a:p>
          <a:p>
            <a:r>
              <a:rPr lang="en-IN" sz="2000" dirty="0"/>
              <a:t>How can AI help you improve your English beyond simply correcting mistakes? </a:t>
            </a:r>
          </a:p>
          <a:p>
            <a:r>
              <a:rPr lang="en-IN" sz="2000" dirty="0"/>
              <a:t>What characteristics make an effective AI prompt for learning English? </a:t>
            </a:r>
          </a:p>
          <a:p>
            <a:r>
              <a:rPr lang="en-IN" sz="2000" dirty="0"/>
              <a:t>Why is it important to ask AI to explain corrections instead of only providing the correct answer? </a:t>
            </a:r>
          </a:p>
          <a:p>
            <a:r>
              <a:rPr lang="en-IN" sz="2000" dirty="0"/>
              <a:t>How can you verify whether an AI-generated correction is accurate? </a:t>
            </a:r>
          </a:p>
          <a:p>
            <a:r>
              <a:rPr lang="en-IN" sz="2000" dirty="0"/>
              <a:t>What are the advantages and limitations of using AI as an English tutor? </a:t>
            </a:r>
          </a:p>
          <a:p>
            <a:r>
              <a:rPr lang="en-IN" sz="2000" b="1" dirty="0"/>
              <a:t>Application Questions</a:t>
            </a:r>
          </a:p>
          <a:p>
            <a:r>
              <a:rPr lang="en-IN" sz="2000" dirty="0"/>
              <a:t>Write one prompt you would use to improve your English writing. </a:t>
            </a:r>
          </a:p>
          <a:p>
            <a:r>
              <a:rPr lang="en-IN" sz="2000" dirty="0"/>
              <a:t>How would you modify your prompt to receive more detailed feedback? </a:t>
            </a:r>
          </a:p>
          <a:p>
            <a:r>
              <a:rPr lang="en-IN" sz="2000" dirty="0"/>
              <a:t>Which English skill (grammar, vocabulary, writing, speaking, or pronunciation) would you use AI for, and why? </a:t>
            </a:r>
          </a:p>
          <a:p>
            <a:r>
              <a:rPr lang="en-IN" sz="2000" dirty="0"/>
              <a:t>Give an example of a sentence and explain how you would ask AI to help you improve it. </a:t>
            </a:r>
          </a:p>
          <a:p>
            <a:r>
              <a:rPr lang="en-IN" sz="2000" dirty="0"/>
              <a:t>Design a prompt that encourages AI to teach rather than simply provide answers.</a:t>
            </a:r>
          </a:p>
          <a:p>
            <a:endParaRPr lang="en-IN" sz="2000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3847F371-AE03-AE92-B11F-0D44AD58D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477" y="279911"/>
            <a:ext cx="1990725" cy="600076"/>
          </a:xfrm>
          <a:prstGeom prst="rect">
            <a:avLst/>
          </a:prstGeom>
          <a:noFill/>
        </p:spPr>
      </p:pic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5A7DE267-1E92-BF79-18DA-9F25C8A9C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1813" y="355600"/>
            <a:ext cx="9869487" cy="715963"/>
          </a:xfrm>
          <a:prstGeom prst="roundRect">
            <a:avLst>
              <a:gd name="adj" fmla="val 50000"/>
            </a:avLst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/>
              <a:t>SELF-ASSESSMENT QUESTIONS</a:t>
            </a:r>
          </a:p>
        </p:txBody>
      </p:sp>
    </p:spTree>
    <p:extLst>
      <p:ext uri="{BB962C8B-B14F-4D97-AF65-F5344CB8AC3E}">
        <p14:creationId xmlns:p14="http://schemas.microsoft.com/office/powerpoint/2010/main" val="462588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AF78-02B8-B99D-4CF2-36D9523A7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3" y="879987"/>
            <a:ext cx="11710220" cy="5698102"/>
          </a:xfrm>
        </p:spPr>
        <p:txBody>
          <a:bodyPr/>
          <a:lstStyle/>
          <a:p>
            <a:r>
              <a:rPr lang="en-IN" sz="2000" b="1" dirty="0"/>
              <a:t>Critical Thinking Questions</a:t>
            </a:r>
          </a:p>
          <a:p>
            <a:r>
              <a:rPr lang="en-IN" sz="2000" dirty="0"/>
              <a:t>Should learners always accept AI corrections without questioning them? Why or why not? </a:t>
            </a:r>
          </a:p>
          <a:p>
            <a:r>
              <a:rPr lang="en-IN" sz="2000" dirty="0"/>
              <a:t>What ethical and academic considerations should students keep in mind when using AI for language learning? </a:t>
            </a:r>
          </a:p>
          <a:p>
            <a:r>
              <a:rPr lang="en-IN" sz="2000" dirty="0"/>
              <a:t>How can AI promote independent learning instead of creating dependency? </a:t>
            </a:r>
          </a:p>
          <a:p>
            <a:r>
              <a:rPr lang="en-IN" sz="2000" dirty="0"/>
              <a:t>In what situations might a human teacher's feedback be more valuable than AI feedback? </a:t>
            </a:r>
          </a:p>
          <a:p>
            <a:r>
              <a:rPr lang="en-IN" sz="2000" dirty="0"/>
              <a:t>How does the quality of your prompt influence the quality of the AI's response? </a:t>
            </a:r>
          </a:p>
          <a:p>
            <a:r>
              <a:rPr lang="en-IN" sz="2000" b="1" dirty="0">
                <a:solidFill>
                  <a:srgbClr val="BA2532"/>
                </a:solidFill>
              </a:rPr>
              <a:t>Exit Ticket (1-Minute Activity)</a:t>
            </a:r>
          </a:p>
          <a:p>
            <a:r>
              <a:rPr lang="en-IN" sz="2000" b="1" dirty="0">
                <a:solidFill>
                  <a:srgbClr val="BA2532"/>
                </a:solidFill>
              </a:rPr>
              <a:t>Ask students to respond to these three questions before leaving:</a:t>
            </a:r>
          </a:p>
          <a:p>
            <a:r>
              <a:rPr lang="en-IN" sz="2000" b="1" dirty="0">
                <a:solidFill>
                  <a:srgbClr val="BA2532"/>
                </a:solidFill>
              </a:rPr>
              <a:t>One thing I learned today is... </a:t>
            </a:r>
          </a:p>
          <a:p>
            <a:r>
              <a:rPr lang="en-IN" sz="2000" b="1" dirty="0">
                <a:solidFill>
                  <a:srgbClr val="BA2532"/>
                </a:solidFill>
              </a:rPr>
              <a:t>One prompt I will use in the future is... </a:t>
            </a:r>
          </a:p>
          <a:p>
            <a:r>
              <a:rPr lang="en-IN" sz="2000" b="1" dirty="0">
                <a:solidFill>
                  <a:srgbClr val="BA2532"/>
                </a:solidFill>
              </a:rPr>
              <a:t>One question I still have about using AI for English learning is...</a:t>
            </a:r>
          </a:p>
          <a:p>
            <a:endParaRPr lang="en-IN" sz="2000" dirty="0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FA554571-173A-B302-72D6-A6E1A63A2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477" y="279911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24333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5221C286-9A92-6E4A-2235-319313641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477" y="279911"/>
            <a:ext cx="1990725" cy="600076"/>
          </a:xfrm>
          <a:prstGeom prst="rect">
            <a:avLst/>
          </a:prstGeom>
          <a:noFill/>
        </p:spPr>
      </p:pic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919425F8-947D-79C7-EF98-F6EBCCF79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9475"/>
            <a:ext cx="10515600" cy="529748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marL="0" indent="0" algn="ctr">
              <a:buNone/>
            </a:pPr>
            <a:r>
              <a:rPr lang="en-US" sz="3000" b="1" i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marL="0" indent="0" algn="ctr">
              <a:buNone/>
            </a:pPr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marL="0" indent="0" algn="ctr">
              <a:buNone/>
            </a:pPr>
            <a:r>
              <a:rPr lang="en-US" sz="2400" b="1" dirty="0">
                <a:latin typeface="Poppins" pitchFamily="2" charset="77"/>
                <a:cs typeface="Poppins" pitchFamily="2" charset="77"/>
              </a:rPr>
              <a:t>Team – Language Skills for Engineers</a:t>
            </a:r>
          </a:p>
          <a:p>
            <a:pPr marL="0" indent="0" algn="ctr">
              <a:buNone/>
            </a:pPr>
            <a:r>
              <a:rPr lang="en-IN" sz="2400" b="1" dirty="0">
                <a:latin typeface="Bradley Hand ITC" panose="03070402050302030203" pitchFamily="66" charset="0"/>
              </a:rPr>
              <a:t>Enjoy Learning-Make Every Day a Learning Day</a:t>
            </a:r>
            <a:endParaRPr lang="en-US" sz="2400" b="1" dirty="0">
              <a:latin typeface="Bradley Hand ITC" panose="03070402050302030203" pitchFamily="66" charset="0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marL="0" indent="0" algn="ctr">
              <a:buNone/>
            </a:pP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>
            <a:extLst>
              <a:ext uri="{FF2B5EF4-FFF2-40B4-BE49-F238E27FC236}">
                <a16:creationId xmlns:a16="http://schemas.microsoft.com/office/drawing/2014/main" id="{1CEC0356-2162-52AA-C1F1-BAB14B6D4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14503" y="2560321"/>
            <a:ext cx="3835601" cy="12840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2402181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http://schemas.openxmlformats.org/package/2006/metadata/core-properties"/>
    <ds:schemaRef ds:uri="http://purl.org/dc/dcmitype/"/>
    <ds:schemaRef ds:uri="http://purl.org/dc/terms/"/>
    <ds:schemaRef ds:uri="http://purl.org/dc/elements/1.1/"/>
    <ds:schemaRef ds:uri="d43ee83c-3e71-4748-8ebc-8eaadf793425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0125a647-8023-46ae-ae6e-85cf36d841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4026</TotalTime>
  <Words>1731</Words>
  <Application>Microsoft Office PowerPoint</Application>
  <PresentationFormat>Widescreen</PresentationFormat>
  <Paragraphs>190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Bahnschrift SemiBold</vt:lpstr>
      <vt:lpstr>Bradley Hand ITC</vt:lpstr>
      <vt:lpstr>Calibri</vt:lpstr>
      <vt:lpstr>Poppins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try…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AI as an accuracy tutor: how to ask an AI tool to explain (not just fix) an error, and how to learn from its corrections rather than copy them.  </vt:lpstr>
      <vt:lpstr>PowerPoint Presentation</vt:lpstr>
      <vt:lpstr>PowerPoint Presentation</vt:lpstr>
      <vt:lpstr>PowerPoint Presentation</vt:lpstr>
      <vt:lpstr>Portfolio Activity 1</vt:lpstr>
      <vt:lpstr>SELF-ASSESSMENT QUESTIONS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DHANYAMOL CT</cp:lastModifiedBy>
  <cp:revision>376</cp:revision>
  <dcterms:created xsi:type="dcterms:W3CDTF">2020-02-08T09:57:44Z</dcterms:created>
  <dcterms:modified xsi:type="dcterms:W3CDTF">2026-07-31T06:02:31Z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