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commentAuthors.xml" ContentType="application/vnd.openxmlformats-officedocument.presentationml.commentAuthor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2"/>
  </p:notesMasterIdLst>
  <p:sldIdLst>
    <p:sldId id="271" r:id="rId5"/>
    <p:sldId id="300" r:id="rId6"/>
    <p:sldId id="376" r:id="rId7"/>
    <p:sldId id="380" r:id="rId8"/>
    <p:sldId id="379" r:id="rId9"/>
    <p:sldId id="367" r:id="rId10"/>
    <p:sldId id="374" r:id="rId11"/>
    <p:sldId id="322" r:id="rId12"/>
    <p:sldId id="366" r:id="rId13"/>
    <p:sldId id="370" r:id="rId14"/>
    <p:sldId id="375" r:id="rId15"/>
    <p:sldId id="314" r:id="rId16"/>
    <p:sldId id="377" r:id="rId17"/>
    <p:sldId id="371" r:id="rId18"/>
    <p:sldId id="372" r:id="rId19"/>
    <p:sldId id="361" r:id="rId20"/>
    <p:sldId id="378" r:id="rId21"/>
    <p:sldId id="369" r:id="rId22"/>
    <p:sldId id="362" r:id="rId23"/>
    <p:sldId id="365" r:id="rId24"/>
    <p:sldId id="352" r:id="rId25"/>
    <p:sldId id="373" r:id="rId26"/>
    <p:sldId id="320" r:id="rId27"/>
    <p:sldId id="360" r:id="rId28"/>
    <p:sldId id="318" r:id="rId29"/>
    <p:sldId id="303" r:id="rId30"/>
    <p:sldId id="30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dma Lata" initials="PL" lastIdx="2" clrIdx="0">
    <p:extLst>
      <p:ext uri="{19B8F6BF-5375-455C-9EA6-DF929625EA0E}">
        <p15:presenceInfo xmlns:p15="http://schemas.microsoft.com/office/powerpoint/2012/main" xmlns="" userId="b355b3e4c8493ed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A81E24"/>
    <a:srgbClr val="77FB25"/>
    <a:srgbClr val="BA2532"/>
    <a:srgbClr val="FF9900"/>
    <a:srgbClr val="E84845"/>
    <a:srgbClr val="FAD2D2"/>
    <a:srgbClr val="F89E4C"/>
    <a:srgbClr val="FFF2CC"/>
    <a:srgbClr val="CF2F33"/>
    <a:srgbClr val="E3293B"/>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204" autoAdjust="0"/>
    <p:restoredTop sz="94689"/>
  </p:normalViewPr>
  <p:slideViewPr>
    <p:cSldViewPr snapToGrid="0">
      <p:cViewPr varScale="1">
        <p:scale>
          <a:sx n="67" d="100"/>
          <a:sy n="67" d="100"/>
        </p:scale>
        <p:origin x="-852" y="-84"/>
      </p:cViewPr>
      <p:guideLst>
        <p:guide orient="horz" pos="2160"/>
        <p:guide pos="3840"/>
      </p:guideLst>
    </p:cSldViewPr>
  </p:slideViewPr>
  <p:notesTextViewPr>
    <p:cViewPr>
      <p:scale>
        <a:sx n="1" d="1"/>
        <a:sy n="1" d="1"/>
      </p:scale>
      <p:origin x="0" y="0"/>
    </p:cViewPr>
  </p:notesTextViewPr>
  <p:sorterViewPr>
    <p:cViewPr>
      <p:scale>
        <a:sx n="90" d="100"/>
        <a:sy n="90" d="100"/>
      </p:scale>
      <p:origin x="0" y="-292"/>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xmlns=""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xmlns=""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4</a:t>
            </a:fld>
            <a:endParaRPr lang="en-US"/>
          </a:p>
        </p:txBody>
      </p:sp>
    </p:spTree>
    <p:extLst>
      <p:ext uri="{BB962C8B-B14F-4D97-AF65-F5344CB8AC3E}">
        <p14:creationId xmlns:p14="http://schemas.microsoft.com/office/powerpoint/2010/main" xmlns="" val="1768339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7</a:t>
            </a:fld>
            <a:endParaRPr lang="en-US"/>
          </a:p>
        </p:txBody>
      </p:sp>
    </p:spTree>
    <p:extLst>
      <p:ext uri="{BB962C8B-B14F-4D97-AF65-F5344CB8AC3E}">
        <p14:creationId xmlns:p14="http://schemas.microsoft.com/office/powerpoint/2010/main" xmlns="" val="2337013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8/10/2026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8/10/2026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8/10/2026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8/10/2026</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8/10/2026</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8/10/2026</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8/10/2026</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8/10/2026</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8/10/2026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8/10/2026</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xmlns=""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xmlns=""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xmlns=""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xmlns=""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xmlns=""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xmlns=""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xmlns=""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xmlns=""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hyperlink" Target="https://www.youtube.com/watch?v=uHYuDDHvU64"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hyperlink" Target="https://www.youtube.com/watch?v=uHYuDDHvU64"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hyperlink" Target="https://www.youtube.com/watch?v=uHYuDDHvU64"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hyperlink" Target="https://www.youtube.com/watch?v=pOHTr-MxtGM"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uHYuDDHvU64" TargetMode="External"/><Relationship Id="rId2" Type="http://schemas.openxmlformats.org/officeDocument/2006/relationships/image" Target="../media/image4.png"/><Relationship Id="rId1" Type="http://schemas.openxmlformats.org/officeDocument/2006/relationships/slideLayout" Target="../slideLayouts/slideLayout10.xml"/><Relationship Id="rId5" Type="http://schemas.openxmlformats.org/officeDocument/2006/relationships/hyperlink" Target="https://www.youtube.com/watch?v=hhVic18H4u4&amp;t=19s" TargetMode="External"/><Relationship Id="rId4" Type="http://schemas.openxmlformats.org/officeDocument/2006/relationships/hyperlink" Target="https://www.youtube.com/watch?v=QLWBwsRp9Pk"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xmlns="" id="{6398423B-5803-30F8-31C4-BF716BD7197E}"/>
              </a:ext>
            </a:extLst>
          </p:cNvPr>
          <p:cNvSpPr/>
          <p:nvPr/>
        </p:nvSpPr>
        <p:spPr>
          <a:xfrm>
            <a:off x="9831" y="6795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lnSpc>
                <a:spcPct val="150000"/>
              </a:lnSpc>
              <a:spcAft>
                <a:spcPts val="800"/>
              </a:spcAft>
            </a:pPr>
            <a:r>
              <a:rPr lang="en-IN" sz="1800" b="1" kern="100">
                <a:effectLst/>
                <a:latin typeface="Times New Roman" panose="02020603050405020304" pitchFamily="18" charset="0"/>
                <a:ea typeface="Calibri" panose="020F0502020204030204" pitchFamily="34" charset="0"/>
                <a:cs typeface="Arial" panose="020B0604020202020204" pitchFamily="34" charset="0"/>
              </a:rPr>
              <a:t>Competency -3 -  Reading Skills</a:t>
            </a:r>
            <a:endParaRPr lang="en-IN" sz="1800" kern="100">
              <a:effectLst/>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300"/>
              </a:spcAft>
            </a:pPr>
            <a:r>
              <a:rPr lang="en-IN" sz="1800" b="1" kern="100">
                <a:effectLst/>
                <a:latin typeface="Times New Roman" panose="02020603050405020304" pitchFamily="18" charset="0"/>
                <a:ea typeface="Calibri" panose="020F0502020204030204" pitchFamily="34" charset="0"/>
                <a:cs typeface="Arial" panose="020B0604020202020204" pitchFamily="34" charset="0"/>
              </a:rPr>
              <a:t>c. Identifying Tone, Themes &amp; Ideas</a:t>
            </a:r>
            <a:endParaRPr lang="en-IN" sz="1800" kern="100">
              <a:effectLst/>
              <a:latin typeface="Calibri" panose="020F0502020204030204" pitchFamily="34" charset="0"/>
              <a:ea typeface="Calibri" panose="020F0502020204030204" pitchFamily="34" charset="0"/>
              <a:cs typeface="Arial" panose="020B0604020202020204" pitchFamily="34" charset="0"/>
            </a:endParaRPr>
          </a:p>
        </p:txBody>
      </p:sp>
      <p:pic>
        <p:nvPicPr>
          <p:cNvPr id="464" name="Google Shape;464;p16"/>
          <p:cNvPicPr preferRelativeResize="0"/>
          <p:nvPr/>
        </p:nvPicPr>
        <p:blipFill>
          <a:blip r:embed="rId3">
            <a:extLst>
              <a:ext uri="{28A0092B-C50C-407E-A947-70E740481C1C}">
                <a14:useLocalDpi xmlns:a14="http://schemas.microsoft.com/office/drawing/2010/main" xmlns="" val="0"/>
              </a:ext>
            </a:extLst>
          </a:blip>
          <a:stretch>
            <a:fillRect/>
          </a:stretch>
        </p:blipFill>
        <p:spPr>
          <a:xfrm>
            <a:off x="0" y="117034"/>
            <a:ext cx="6027459" cy="6623931"/>
          </a:xfrm>
          <a:prstGeom prst="rect">
            <a:avLst/>
          </a:prstGeom>
          <a:noFill/>
          <a:ln>
            <a:noFill/>
          </a:ln>
        </p:spPr>
      </p:pic>
      <p:sp>
        <p:nvSpPr>
          <p:cNvPr id="475" name="Google Shape;475;p16"/>
          <p:cNvSpPr txBox="1"/>
          <p:nvPr/>
        </p:nvSpPr>
        <p:spPr>
          <a:xfrm>
            <a:off x="6095998" y="332258"/>
            <a:ext cx="5378247" cy="707846"/>
          </a:xfrm>
          <a:prstGeom prst="rect">
            <a:avLst/>
          </a:prstGeom>
          <a:noFill/>
          <a:ln>
            <a:noFill/>
          </a:ln>
          <a:effectLst/>
        </p:spPr>
        <p:txBody>
          <a:bodyPr spcFirstLastPara="1" wrap="square" lIns="91425" tIns="45700" rIns="91425" bIns="45700" anchor="t" anchorCtr="0">
            <a:spAutoFit/>
          </a:bodyPr>
          <a:lstStyle/>
          <a:p>
            <a:pPr algn="ctr"/>
            <a:r>
              <a:rPr lang="en-US" sz="4000" b="1" dirty="0">
                <a:solidFill>
                  <a:srgbClr val="C00000"/>
                </a:solidFill>
                <a:cs typeface="Poppins" pitchFamily="2" charset="77"/>
              </a:rPr>
              <a:t>Department of English</a:t>
            </a:r>
          </a:p>
        </p:txBody>
      </p:sp>
      <p:sp>
        <p:nvSpPr>
          <p:cNvPr id="8" name="Google Shape;502;p17">
            <a:extLst>
              <a:ext uri="{FF2B5EF4-FFF2-40B4-BE49-F238E27FC236}">
                <a16:creationId xmlns:a16="http://schemas.microsoft.com/office/drawing/2014/main" xmlns="" id="{7153E61F-4441-DBE3-3DFF-6E9EF6C48D23}"/>
              </a:ext>
            </a:extLst>
          </p:cNvPr>
          <p:cNvSpPr/>
          <p:nvPr/>
        </p:nvSpPr>
        <p:spPr>
          <a:xfrm>
            <a:off x="6620100" y="1504503"/>
            <a:ext cx="3948803"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 Module -1</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xmlns=""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
        <p:nvSpPr>
          <p:cNvPr id="4" name="Google Shape;476;p16">
            <a:extLst>
              <a:ext uri="{FF2B5EF4-FFF2-40B4-BE49-F238E27FC236}">
                <a16:creationId xmlns:a16="http://schemas.microsoft.com/office/drawing/2014/main" xmlns="" id="{F2ABFB87-2192-1618-280C-C170709F4AA1}"/>
              </a:ext>
            </a:extLst>
          </p:cNvPr>
          <p:cNvSpPr txBox="1"/>
          <p:nvPr/>
        </p:nvSpPr>
        <p:spPr>
          <a:xfrm>
            <a:off x="4523624" y="3329801"/>
            <a:ext cx="7103754" cy="1754286"/>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srgbClr val="C00000"/>
                </a:solidFill>
                <a:latin typeface="Calibri"/>
                <a:ea typeface="BioRhyme ExtraBold"/>
                <a:cs typeface="Poppins" panose="00000500000000000000" pitchFamily="2" charset="0"/>
                <a:sym typeface="BioRhyme ExtraBold"/>
              </a:rPr>
              <a:t>Session 3</a:t>
            </a:r>
            <a:r>
              <a:rPr kumimoji="0" lang="en-US" sz="3600" b="1" i="0" u="none" strike="noStrike" kern="1200" cap="none" spc="0" normalizeH="0" baseline="0" noProof="0" dirty="0">
                <a:ln>
                  <a:noFill/>
                </a:ln>
                <a:solidFill>
                  <a:srgbClr val="C00000"/>
                </a:solidFill>
                <a:effectLst/>
                <a:uLnTx/>
                <a:uFillTx/>
                <a:latin typeface="Calibri"/>
                <a:ea typeface="BioRhyme ExtraBold"/>
                <a:cs typeface="Poppins" panose="00000500000000000000" pitchFamily="2" charset="0"/>
                <a:sym typeface="BioRhyme ExtraBold"/>
              </a:rPr>
              <a:t>: Clarity Principles, Register and Tone, Concision and  Standard Varieties and Intelligibility  </a:t>
            </a:r>
          </a:p>
        </p:txBody>
      </p:sp>
    </p:spTree>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D530E72E-233E-E443-1A84-D3CD02ECB889}"/>
              </a:ext>
            </a:extLst>
          </p:cNvPr>
          <p:cNvSpPr/>
          <p:nvPr/>
        </p:nvSpPr>
        <p:spPr>
          <a:xfrm>
            <a:off x="4471372" y="84407"/>
            <a:ext cx="3011576" cy="51566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AIM OF THE SESSION</a:t>
            </a:r>
          </a:p>
        </p:txBody>
      </p:sp>
      <p:sp>
        <p:nvSpPr>
          <p:cNvPr id="5" name="TextBox 4">
            <a:extLst>
              <a:ext uri="{FF2B5EF4-FFF2-40B4-BE49-F238E27FC236}">
                <a16:creationId xmlns:a16="http://schemas.microsoft.com/office/drawing/2014/main" xmlns="" id="{D7C61438-200D-827A-D4DD-5B5127AFA187}"/>
              </a:ext>
            </a:extLst>
          </p:cNvPr>
          <p:cNvSpPr txBox="1"/>
          <p:nvPr/>
        </p:nvSpPr>
        <p:spPr>
          <a:xfrm>
            <a:off x="805218" y="799671"/>
            <a:ext cx="10228435" cy="707886"/>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r>
              <a:rPr lang="en-US" sz="2000" dirty="0"/>
              <a:t>The session aims to</a:t>
            </a:r>
            <a:r>
              <a:rPr lang="en-US" sz="2000" b="1" dirty="0"/>
              <a:t> </a:t>
            </a:r>
            <a:r>
              <a:rPr lang="en-US" sz="2000" dirty="0"/>
              <a:t>encourage students to enhance the Foundations of English for the Engineer: Accuracy, Clarity &amp; Register .</a:t>
            </a:r>
            <a:endParaRPr lang="en-IN" sz="2000" dirty="0"/>
          </a:p>
        </p:txBody>
      </p:sp>
      <p:sp>
        <p:nvSpPr>
          <p:cNvPr id="7" name="Rounded Rectangle 17">
            <a:extLst>
              <a:ext uri="{FF2B5EF4-FFF2-40B4-BE49-F238E27FC236}">
                <a16:creationId xmlns:a16="http://schemas.microsoft.com/office/drawing/2014/main" xmlns="" id="{7F3AABB0-F8BA-C900-B6BF-45F4B58E9490}"/>
              </a:ext>
            </a:extLst>
          </p:cNvPr>
          <p:cNvSpPr/>
          <p:nvPr/>
        </p:nvSpPr>
        <p:spPr>
          <a:xfrm>
            <a:off x="4049863" y="1634110"/>
            <a:ext cx="3870831" cy="60206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INSTRUCTIONAL OBJECTIVES</a:t>
            </a:r>
          </a:p>
        </p:txBody>
      </p:sp>
      <p:sp>
        <p:nvSpPr>
          <p:cNvPr id="9" name="TextBox 8">
            <a:extLst>
              <a:ext uri="{FF2B5EF4-FFF2-40B4-BE49-F238E27FC236}">
                <a16:creationId xmlns:a16="http://schemas.microsoft.com/office/drawing/2014/main" xmlns="" id="{2B5EAD4E-C007-9DE7-A40A-12802D3C9611}"/>
              </a:ext>
            </a:extLst>
          </p:cNvPr>
          <p:cNvSpPr txBox="1"/>
          <p:nvPr/>
        </p:nvSpPr>
        <p:spPr>
          <a:xfrm>
            <a:off x="805218" y="2372798"/>
            <a:ext cx="10228435" cy="1631216"/>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r>
              <a:rPr lang="en-US" sz="2000" dirty="0"/>
              <a:t>The session is designed to:</a:t>
            </a:r>
          </a:p>
          <a:p>
            <a:r>
              <a:rPr lang="en-US" sz="2000" dirty="0"/>
              <a:t>1. Encourage learners to write accurately like, one idea per sentence, parallel structure, and avoiding ambiguity. </a:t>
            </a:r>
          </a:p>
          <a:p>
            <a:r>
              <a:rPr lang="en-US" sz="2000" dirty="0"/>
              <a:t>2. Enhance verbal and non-verbal communication etiquettes with the use of standard varieties and intelligibility: British/American/Indian English at the workplace.</a:t>
            </a:r>
          </a:p>
        </p:txBody>
      </p:sp>
      <p:sp>
        <p:nvSpPr>
          <p:cNvPr id="29" name="Rounded Rectangle 17">
            <a:extLst>
              <a:ext uri="{FF2B5EF4-FFF2-40B4-BE49-F238E27FC236}">
                <a16:creationId xmlns:a16="http://schemas.microsoft.com/office/drawing/2014/main" xmlns="" id="{6652A33D-9A9E-3EAC-0CAE-113901ECA179}"/>
              </a:ext>
            </a:extLst>
          </p:cNvPr>
          <p:cNvSpPr/>
          <p:nvPr/>
        </p:nvSpPr>
        <p:spPr>
          <a:xfrm>
            <a:off x="4041741" y="4140637"/>
            <a:ext cx="3870831" cy="5965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LEARNING OUTCOMES</a:t>
            </a:r>
          </a:p>
        </p:txBody>
      </p:sp>
      <p:sp>
        <p:nvSpPr>
          <p:cNvPr id="37" name="TextBox 36">
            <a:extLst>
              <a:ext uri="{FF2B5EF4-FFF2-40B4-BE49-F238E27FC236}">
                <a16:creationId xmlns:a16="http://schemas.microsoft.com/office/drawing/2014/main" xmlns="" id="{B0BB8E68-8B73-12DE-615E-1091F19A9A9A}"/>
              </a:ext>
            </a:extLst>
          </p:cNvPr>
          <p:cNvSpPr txBox="1"/>
          <p:nvPr/>
        </p:nvSpPr>
        <p:spPr>
          <a:xfrm>
            <a:off x="805218" y="4936825"/>
            <a:ext cx="10305234" cy="1631216"/>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r>
              <a:rPr lang="en-US" sz="2000" dirty="0"/>
              <a:t>Upon completion of this session, students will:</a:t>
            </a:r>
          </a:p>
          <a:p>
            <a:r>
              <a:rPr lang="en-US" sz="2000" dirty="0"/>
              <a:t>1. Write and speak in concision manner- removing redundancy, wordiness and filler; saying more with fewer words.</a:t>
            </a:r>
          </a:p>
          <a:p>
            <a:r>
              <a:rPr lang="en-US" sz="2000" dirty="0"/>
              <a:t>2. Use appropriate verbal and non-verbal communication at the workplace; Register and tone- formal, neutral and informal; matching register to audience and situation .</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xmlns="" val="1388607984"/>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1ACB373-F5F2-DF9E-B6CC-4B0AAD3952F5}"/>
            </a:ext>
          </a:extLst>
        </p:cNvPr>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434E4F81-F9BE-5DC8-DE10-6D423D058EB1}"/>
              </a:ext>
            </a:extLst>
          </p:cNvPr>
          <p:cNvSpPr/>
          <p:nvPr/>
        </p:nvSpPr>
        <p:spPr>
          <a:xfrm>
            <a:off x="1990724" y="154891"/>
            <a:ext cx="8903417" cy="77381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600" b="1" dirty="0"/>
              <a:t> Warm up Activity</a:t>
            </a:r>
            <a:endParaRPr lang="en-IN" sz="3600" b="1" dirty="0"/>
          </a:p>
        </p:txBody>
      </p:sp>
      <p:pic>
        <p:nvPicPr>
          <p:cNvPr id="24" name="Picture 2" descr="KL Deemed to be University Logo">
            <a:extLst>
              <a:ext uri="{FF2B5EF4-FFF2-40B4-BE49-F238E27FC236}">
                <a16:creationId xmlns:a16="http://schemas.microsoft.com/office/drawing/2014/main" xmlns="" id="{8B80F1F3-7E9B-9E2E-C2B6-27126DD28E90}"/>
              </a:ext>
            </a:extLst>
          </p:cNvPr>
          <p:cNvPicPr>
            <a:picLocks noChangeAspect="1" noChangeArrowheads="1"/>
          </p:cNvPicPr>
          <p:nvPr/>
        </p:nvPicPr>
        <p:blipFill>
          <a:blip r:embed="rId2"/>
          <a:srcRect/>
          <a:stretch>
            <a:fillRect/>
          </a:stretch>
        </p:blipFill>
        <p:spPr bwMode="auto">
          <a:xfrm>
            <a:off x="0" y="178542"/>
            <a:ext cx="1990725" cy="600076"/>
          </a:xfrm>
          <a:prstGeom prst="rect">
            <a:avLst/>
          </a:prstGeom>
          <a:noFill/>
        </p:spPr>
      </p:pic>
      <p:sp>
        <p:nvSpPr>
          <p:cNvPr id="2" name="Content Placeholder 1">
            <a:extLst>
              <a:ext uri="{FF2B5EF4-FFF2-40B4-BE49-F238E27FC236}">
                <a16:creationId xmlns:a16="http://schemas.microsoft.com/office/drawing/2014/main" xmlns="" id="{188B5C0D-0030-A733-5050-CD528CA1501D}"/>
              </a:ext>
            </a:extLst>
          </p:cNvPr>
          <p:cNvSpPr>
            <a:spLocks noGrp="1"/>
          </p:cNvSpPr>
          <p:nvPr>
            <p:ph/>
          </p:nvPr>
        </p:nvSpPr>
        <p:spPr>
          <a:xfrm>
            <a:off x="195209" y="1279920"/>
            <a:ext cx="11712539" cy="5408556"/>
          </a:xfrm>
        </p:spPr>
        <p:txBody>
          <a:bodyPr/>
          <a:lstStyle/>
          <a:p>
            <a:pPr marL="0" indent="0" algn="just">
              <a:buNone/>
            </a:pPr>
            <a:r>
              <a:rPr lang="en-IN"/>
              <a:t>A </a:t>
            </a:r>
            <a:r>
              <a:rPr lang="en-IN" dirty="0"/>
              <a:t>group of first-year </a:t>
            </a:r>
            <a:r>
              <a:rPr lang="en-IN" dirty="0" err="1"/>
              <a:t>B.Tech</a:t>
            </a:r>
            <a:r>
              <a:rPr lang="en-IN" dirty="0"/>
              <a:t> students is organizing a </a:t>
            </a:r>
            <a:r>
              <a:rPr lang="en-IN" b="1" dirty="0"/>
              <a:t>Technical Symposium</a:t>
            </a:r>
            <a:r>
              <a:rPr lang="en-IN" dirty="0"/>
              <a:t>. The faculty coordinator asks one student to inform the team about the tasks.</a:t>
            </a:r>
            <a:r>
              <a:rPr lang="en-US" dirty="0"/>
              <a:t/>
            </a:r>
            <a:br>
              <a:rPr lang="en-US" dirty="0"/>
            </a:br>
            <a:endParaRPr lang="en-US" dirty="0"/>
          </a:p>
          <a:p>
            <a:pPr marL="0" indent="0" algn="just">
              <a:buNone/>
            </a:pPr>
            <a:r>
              <a:rPr lang="en-US" dirty="0"/>
              <a:t>The students sends the message to his team:</a:t>
            </a:r>
          </a:p>
          <a:p>
            <a:pPr marL="0" indent="0" algn="just">
              <a:buNone/>
            </a:pPr>
            <a:r>
              <a:rPr lang="en-IN" i="1" dirty="0"/>
              <a:t>Everyone should finish the work soon. The posters, registration, and volunteers should be checked. It was decided that the work must be completed. They should submit it to him before the event.</a:t>
            </a:r>
          </a:p>
          <a:p>
            <a:pPr marL="0" indent="0" algn="just">
              <a:buNone/>
            </a:pPr>
            <a:r>
              <a:rPr lang="en-IN" b="1" dirty="0"/>
              <a:t>Discussion Questions</a:t>
            </a:r>
            <a:endParaRPr lang="en-US" b="1" dirty="0"/>
          </a:p>
          <a:p>
            <a:pPr marL="514350" indent="-514350" algn="just">
              <a:buAutoNum type="arabicPeriod"/>
            </a:pPr>
            <a:r>
              <a:rPr lang="en-IN" dirty="0"/>
              <a:t>What problems do you notice in this message?</a:t>
            </a:r>
          </a:p>
          <a:p>
            <a:pPr marL="514350" lvl="0" indent="-514350">
              <a:buFont typeface="Arial" panose="020B0604020202020204" pitchFamily="34" charset="0"/>
              <a:buAutoNum type="arabicPeriod"/>
              <a:defRPr/>
            </a:pPr>
            <a:r>
              <a:rPr lang="en-US" dirty="0">
                <a:solidFill>
                  <a:prstClr val="black"/>
                </a:solidFill>
              </a:rPr>
              <a:t>What words or phrases in the message created confusion?</a:t>
            </a:r>
          </a:p>
          <a:p>
            <a:pPr marL="514350" indent="-514350" algn="just">
              <a:buFont typeface="Arial" panose="020B0604020202020204" pitchFamily="34" charset="0"/>
              <a:buAutoNum type="arabicPeriod"/>
            </a:pPr>
            <a:r>
              <a:rPr lang="en-US" dirty="0"/>
              <a:t>How would you revise the student's message to make it clear and specific?</a:t>
            </a:r>
          </a:p>
          <a:p>
            <a:pPr>
              <a:buNone/>
            </a:pPr>
            <a:endParaRPr lang="en-IN" dirty="0"/>
          </a:p>
          <a:p>
            <a:pPr marL="0" indent="0" algn="just">
              <a:buNone/>
            </a:pPr>
            <a:endParaRPr lang="en-IN" kern="100" dirty="0">
              <a:effectLst/>
              <a:latin typeface="Times New Roman" panose="02020603050405020304" pitchFamily="18" charset="0"/>
              <a:ea typeface="Calibri" panose="020F0502020204030204" pitchFamily="34" charset="0"/>
              <a:cs typeface="Arial" panose="020B0604020202020204" pitchFamily="34" charset="0"/>
            </a:endParaRPr>
          </a:p>
          <a:p>
            <a:pPr algn="just"/>
            <a:endParaRPr lang="en-IN" kern="100" dirty="0">
              <a:effectLst/>
              <a:latin typeface="Calibri" panose="020F0502020204030204" pitchFamily="34" charset="0"/>
              <a:ea typeface="Calibri" panose="020F0502020204030204" pitchFamily="34" charset="0"/>
              <a:cs typeface="Arial" panose="020B0604020202020204" pitchFamily="34" charset="0"/>
            </a:endParaRPr>
          </a:p>
          <a:p>
            <a:pPr algn="just"/>
            <a:endParaRPr lang="en-IN" sz="2400" dirty="0"/>
          </a:p>
        </p:txBody>
      </p:sp>
    </p:spTree>
    <p:extLst>
      <p:ext uri="{BB962C8B-B14F-4D97-AF65-F5344CB8AC3E}">
        <p14:creationId xmlns:p14="http://schemas.microsoft.com/office/powerpoint/2010/main" xmlns="" val="4096826751"/>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1990725" y="95322"/>
            <a:ext cx="7105607" cy="92820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t>Session deals with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Content Placeholder 3">
            <a:extLst>
              <a:ext uri="{FF2B5EF4-FFF2-40B4-BE49-F238E27FC236}">
                <a16:creationId xmlns:a16="http://schemas.microsoft.com/office/drawing/2014/main" xmlns="" id="{ADEDC1C8-4A2E-08F0-48CF-ACACD2D4A0BF}"/>
              </a:ext>
            </a:extLst>
          </p:cNvPr>
          <p:cNvSpPr>
            <a:spLocks noGrp="1"/>
          </p:cNvSpPr>
          <p:nvPr>
            <p:ph idx="1"/>
          </p:nvPr>
        </p:nvSpPr>
        <p:spPr>
          <a:xfrm>
            <a:off x="215757" y="1200151"/>
            <a:ext cx="11521318" cy="5146058"/>
          </a:xfrm>
        </p:spPr>
        <p:txBody>
          <a:bodyPr/>
          <a:lstStyle/>
          <a:p>
            <a:pPr algn="just"/>
            <a:r>
              <a:rPr lang="en-US" dirty="0"/>
              <a:t>Clarity principles: one idea per sentence, active vs passive voice and when each is appropriate, parallel structure, and avoiding ambiguity. </a:t>
            </a:r>
          </a:p>
          <a:p>
            <a:pPr marL="0" indent="0" algn="just">
              <a:buNone/>
            </a:pPr>
            <a:endParaRPr lang="en-US" dirty="0"/>
          </a:p>
          <a:p>
            <a:pPr algn="just"/>
            <a:r>
              <a:rPr lang="en-US" dirty="0"/>
              <a:t>Register and Tone: formal, neutral and informal English; matching register to audience and situation (a manager vs a peer vs a client). </a:t>
            </a:r>
          </a:p>
          <a:p>
            <a:pPr marL="0" indent="0" algn="just">
              <a:buNone/>
            </a:pPr>
            <a:endParaRPr lang="en-US" dirty="0"/>
          </a:p>
          <a:p>
            <a:r>
              <a:rPr lang="en-US" dirty="0"/>
              <a:t>Concision: removing redundancy, wordiness and filler; saying more with fewer words.</a:t>
            </a:r>
            <a:br>
              <a:rPr lang="en-US" dirty="0"/>
            </a:br>
            <a:r>
              <a:rPr lang="en-US" dirty="0"/>
              <a:t>          </a:t>
            </a:r>
          </a:p>
          <a:p>
            <a:r>
              <a:rPr lang="en-US" dirty="0"/>
              <a:t> Standard Varieties and Intelligibility: British/American/Indian English conventions and writing/speaking to be understood across them. </a:t>
            </a:r>
            <a:endParaRPr lang="en-IN" dirty="0"/>
          </a:p>
        </p:txBody>
      </p:sp>
    </p:spTree>
    <p:extLst>
      <p:ext uri="{BB962C8B-B14F-4D97-AF65-F5344CB8AC3E}">
        <p14:creationId xmlns:p14="http://schemas.microsoft.com/office/powerpoint/2010/main" xmlns="" val="1777666208"/>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764D105-6ADA-57B7-A479-73D39E8F8C08}"/>
            </a:ext>
          </a:extLst>
        </p:cNvPr>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8CE91824-A2D7-F5EB-CE02-115B70B92EB2}"/>
              </a:ext>
            </a:extLst>
          </p:cNvPr>
          <p:cNvSpPr/>
          <p:nvPr/>
        </p:nvSpPr>
        <p:spPr>
          <a:xfrm>
            <a:off x="1990724" y="154891"/>
            <a:ext cx="8903417" cy="77381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600" b="1" dirty="0"/>
              <a:t>Communicating with Clarity: Some Principles</a:t>
            </a:r>
            <a:endParaRPr lang="en-IN" sz="3600" b="1" dirty="0"/>
          </a:p>
        </p:txBody>
      </p:sp>
      <p:pic>
        <p:nvPicPr>
          <p:cNvPr id="24" name="Picture 2" descr="KL Deemed to be University Logo">
            <a:extLst>
              <a:ext uri="{FF2B5EF4-FFF2-40B4-BE49-F238E27FC236}">
                <a16:creationId xmlns:a16="http://schemas.microsoft.com/office/drawing/2014/main" xmlns="" id="{F17DFFF6-5A86-4217-7701-8E008AD3F337}"/>
              </a:ext>
            </a:extLst>
          </p:cNvPr>
          <p:cNvPicPr>
            <a:picLocks noChangeAspect="1" noChangeArrowheads="1"/>
          </p:cNvPicPr>
          <p:nvPr/>
        </p:nvPicPr>
        <p:blipFill>
          <a:blip r:embed="rId2"/>
          <a:srcRect/>
          <a:stretch>
            <a:fillRect/>
          </a:stretch>
        </p:blipFill>
        <p:spPr bwMode="auto">
          <a:xfrm>
            <a:off x="0" y="178542"/>
            <a:ext cx="1990725" cy="600076"/>
          </a:xfrm>
          <a:prstGeom prst="rect">
            <a:avLst/>
          </a:prstGeom>
          <a:noFill/>
        </p:spPr>
      </p:pic>
      <p:sp>
        <p:nvSpPr>
          <p:cNvPr id="2" name="Content Placeholder 1">
            <a:extLst>
              <a:ext uri="{FF2B5EF4-FFF2-40B4-BE49-F238E27FC236}">
                <a16:creationId xmlns:a16="http://schemas.microsoft.com/office/drawing/2014/main" xmlns="" id="{F531482E-DE0A-469D-CD3F-0628280E1EE3}"/>
              </a:ext>
            </a:extLst>
          </p:cNvPr>
          <p:cNvSpPr>
            <a:spLocks noGrp="1"/>
          </p:cNvSpPr>
          <p:nvPr>
            <p:ph/>
          </p:nvPr>
        </p:nvSpPr>
        <p:spPr>
          <a:xfrm>
            <a:off x="195209" y="1279920"/>
            <a:ext cx="11712539" cy="5408556"/>
          </a:xfrm>
        </p:spPr>
        <p:txBody>
          <a:bodyPr/>
          <a:lstStyle/>
          <a:p>
            <a:pPr algn="just"/>
            <a:endParaRPr lang="en-IN" kern="100" dirty="0">
              <a:effectLst/>
              <a:latin typeface="Times New Roman" panose="02020603050405020304" pitchFamily="18" charset="0"/>
              <a:ea typeface="Calibri" panose="020F0502020204030204" pitchFamily="34" charset="0"/>
              <a:cs typeface="Arial" panose="020B0604020202020204" pitchFamily="34" charset="0"/>
            </a:endParaRPr>
          </a:p>
          <a:p>
            <a:pPr marL="0" indent="0" algn="just">
              <a:buNone/>
            </a:pPr>
            <a:endParaRPr lang="en-IN" kern="100" dirty="0">
              <a:effectLst/>
              <a:latin typeface="Times New Roman" panose="02020603050405020304" pitchFamily="18" charset="0"/>
              <a:ea typeface="Calibri" panose="020F0502020204030204" pitchFamily="34" charset="0"/>
              <a:cs typeface="Arial" panose="020B0604020202020204" pitchFamily="34" charset="0"/>
            </a:endParaRPr>
          </a:p>
          <a:p>
            <a:pPr algn="just"/>
            <a:endParaRPr lang="en-IN" kern="100" dirty="0">
              <a:effectLst/>
              <a:latin typeface="Calibri" panose="020F0502020204030204" pitchFamily="34" charset="0"/>
              <a:ea typeface="Calibri" panose="020F0502020204030204" pitchFamily="34" charset="0"/>
              <a:cs typeface="Arial" panose="020B0604020202020204" pitchFamily="34" charset="0"/>
            </a:endParaRPr>
          </a:p>
          <a:p>
            <a:pPr algn="just"/>
            <a:endParaRPr lang="en-IN" sz="2400" dirty="0"/>
          </a:p>
        </p:txBody>
      </p:sp>
      <p:sp>
        <p:nvSpPr>
          <p:cNvPr id="3" name="Rectangle 2">
            <a:extLst>
              <a:ext uri="{FF2B5EF4-FFF2-40B4-BE49-F238E27FC236}">
                <a16:creationId xmlns:a16="http://schemas.microsoft.com/office/drawing/2014/main" xmlns="" id="{0062CBD9-F2D5-16BF-2C6E-25E658BB4A8E}"/>
              </a:ext>
            </a:extLst>
          </p:cNvPr>
          <p:cNvSpPr/>
          <p:nvPr/>
        </p:nvSpPr>
        <p:spPr>
          <a:xfrm>
            <a:off x="544606" y="1078788"/>
            <a:ext cx="11124230" cy="5509200"/>
          </a:xfrm>
          <a:prstGeom prst="rect">
            <a:avLst/>
          </a:prstGeom>
        </p:spPr>
        <p:txBody>
          <a:bodyPr wrap="square">
            <a:spAutoFit/>
          </a:bodyPr>
          <a:lstStyle/>
          <a:p>
            <a:pPr algn="just">
              <a:spcAft>
                <a:spcPts val="1200"/>
              </a:spcAft>
            </a:pPr>
            <a:r>
              <a:rPr lang="en-US" sz="2800" b="1" dirty="0"/>
              <a:t>1. Write clear and concise sentences, with one main idea in each sentence. </a:t>
            </a:r>
            <a:r>
              <a:rPr lang="en-US" sz="2800" dirty="0"/>
              <a:t>Writing long and complex sentences can lead to confusion and reduce the readability.  </a:t>
            </a:r>
          </a:p>
          <a:p>
            <a:pPr algn="just">
              <a:spcAft>
                <a:spcPts val="1200"/>
              </a:spcAft>
            </a:pPr>
            <a:r>
              <a:rPr lang="en-US" sz="2800" b="1" dirty="0"/>
              <a:t>Example: </a:t>
            </a:r>
            <a:r>
              <a:rPr lang="en-IN" sz="2800" dirty="0"/>
              <a:t>The microcontroller, which is the brain of the embedded system, reads data from the ultrasonic sensor, and then it processes this information using the uploaded C program to calculate the exact distance, after which it triggers the actuator to stop the motor immediately. </a:t>
            </a:r>
          </a:p>
          <a:p>
            <a:pPr lvl="0"/>
            <a:r>
              <a:rPr lang="en-IN" sz="2800" dirty="0"/>
              <a:t>The microcontroller acts as the system brain. It reads data from the ultrasonic sensor. Then, the uploaded C program processes this data and calculates the exact distance. Finally, it triggers the actuator to motor stops immediately.</a:t>
            </a:r>
          </a:p>
          <a:p>
            <a:pPr algn="just">
              <a:spcAft>
                <a:spcPts val="1200"/>
              </a:spcAft>
            </a:pPr>
            <a:endParaRPr lang="en-US" sz="2400" dirty="0"/>
          </a:p>
        </p:txBody>
      </p:sp>
    </p:spTree>
    <p:extLst>
      <p:ext uri="{BB962C8B-B14F-4D97-AF65-F5344CB8AC3E}">
        <p14:creationId xmlns:p14="http://schemas.microsoft.com/office/powerpoint/2010/main" xmlns="" val="1995078481"/>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39DC903D-9003-4F3D-87E9-EE7D5BEB5D03}"/>
              </a:ext>
            </a:extLst>
          </p:cNvPr>
          <p:cNvSpPr/>
          <p:nvPr/>
        </p:nvSpPr>
        <p:spPr>
          <a:xfrm>
            <a:off x="1990724" y="141287"/>
            <a:ext cx="8858089" cy="77975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600" b="1" dirty="0"/>
              <a:t>Communicating with Clarity: Some Principles</a:t>
            </a:r>
            <a:endParaRPr lang="en-IN" sz="3600" b="1" dirty="0"/>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a:extLst>
              <a:ext uri="{FF2B5EF4-FFF2-40B4-BE49-F238E27FC236}">
                <a16:creationId xmlns:a16="http://schemas.microsoft.com/office/drawing/2014/main" xmlns="" id="{1415C819-6136-B958-E678-D478E4573808}"/>
              </a:ext>
            </a:extLst>
          </p:cNvPr>
          <p:cNvSpPr>
            <a:spLocks noGrp="1"/>
          </p:cNvSpPr>
          <p:nvPr>
            <p:ph/>
          </p:nvPr>
        </p:nvSpPr>
        <p:spPr>
          <a:xfrm>
            <a:off x="195209" y="1062325"/>
            <a:ext cx="11712539" cy="5626152"/>
          </a:xfrm>
        </p:spPr>
        <p:txBody>
          <a:bodyPr/>
          <a:lstStyle/>
          <a:p>
            <a:pPr algn="just"/>
            <a:endParaRPr lang="en-IN" kern="100" dirty="0">
              <a:effectLst/>
              <a:latin typeface="Times New Roman" panose="02020603050405020304" pitchFamily="18" charset="0"/>
              <a:ea typeface="Calibri" panose="020F0502020204030204" pitchFamily="34" charset="0"/>
              <a:cs typeface="Arial" panose="020B0604020202020204" pitchFamily="34" charset="0"/>
            </a:endParaRPr>
          </a:p>
          <a:p>
            <a:pPr marL="0" indent="0" algn="just">
              <a:buNone/>
            </a:pPr>
            <a:endParaRPr lang="en-IN" kern="100" dirty="0">
              <a:effectLst/>
              <a:latin typeface="Times New Roman" panose="02020603050405020304" pitchFamily="18" charset="0"/>
              <a:ea typeface="Calibri" panose="020F0502020204030204" pitchFamily="34" charset="0"/>
              <a:cs typeface="Arial" panose="020B0604020202020204" pitchFamily="34" charset="0"/>
            </a:endParaRPr>
          </a:p>
          <a:p>
            <a:pPr algn="just"/>
            <a:endParaRPr lang="en-IN" kern="100" dirty="0">
              <a:effectLst/>
              <a:latin typeface="Calibri" panose="020F0502020204030204" pitchFamily="34" charset="0"/>
              <a:ea typeface="Calibri" panose="020F0502020204030204" pitchFamily="34" charset="0"/>
              <a:cs typeface="Arial" panose="020B0604020202020204" pitchFamily="34" charset="0"/>
            </a:endParaRPr>
          </a:p>
          <a:p>
            <a:pPr algn="just"/>
            <a:endParaRPr lang="en-IN" sz="2400" dirty="0"/>
          </a:p>
        </p:txBody>
      </p:sp>
      <p:sp>
        <p:nvSpPr>
          <p:cNvPr id="3" name="Rectangle 2"/>
          <p:cNvSpPr/>
          <p:nvPr/>
        </p:nvSpPr>
        <p:spPr>
          <a:xfrm>
            <a:off x="418454" y="1062324"/>
            <a:ext cx="11275018" cy="5174943"/>
          </a:xfrm>
          <a:prstGeom prst="rect">
            <a:avLst/>
          </a:prstGeom>
        </p:spPr>
        <p:txBody>
          <a:bodyPr wrap="square">
            <a:spAutoFit/>
          </a:bodyPr>
          <a:lstStyle/>
          <a:p>
            <a:pPr algn="just">
              <a:spcAft>
                <a:spcPts val="1200"/>
              </a:spcAft>
            </a:pPr>
            <a:r>
              <a:rPr lang="en-IN" sz="2400" b="1" dirty="0"/>
              <a:t>2. Use Active when the </a:t>
            </a:r>
            <a:r>
              <a:rPr lang="en-IN" sz="2400" b="1" i="1" dirty="0"/>
              <a:t>doer</a:t>
            </a:r>
            <a:r>
              <a:rPr lang="en-IN" sz="2400" b="1" dirty="0"/>
              <a:t> matters; use Passive when the </a:t>
            </a:r>
            <a:r>
              <a:rPr lang="en-IN" sz="2400" b="1" i="1" dirty="0"/>
              <a:t>action/result</a:t>
            </a:r>
            <a:r>
              <a:rPr lang="en-IN" sz="2400" b="1" dirty="0"/>
              <a:t> matters.</a:t>
            </a:r>
          </a:p>
          <a:p>
            <a:pPr lvl="0"/>
            <a:r>
              <a:rPr lang="en-IN" sz="2400" b="1" dirty="0"/>
              <a:t>Active:</a:t>
            </a:r>
            <a:r>
              <a:rPr lang="en-IN" sz="2400" dirty="0"/>
              <a:t> </a:t>
            </a:r>
            <a:r>
              <a:rPr lang="en-IN" sz="2400" u="sng" dirty="0"/>
              <a:t>Ananya</a:t>
            </a:r>
            <a:r>
              <a:rPr lang="en-IN" sz="2400" dirty="0"/>
              <a:t> compiled the C++ code without any syntax errors. (Highlights personal accomplishment/effort.)</a:t>
            </a:r>
          </a:p>
          <a:p>
            <a:pPr lvl="0"/>
            <a:r>
              <a:rPr lang="en-IN" sz="2400" b="1" dirty="0">
                <a:solidFill>
                  <a:srgbClr val="FF0000"/>
                </a:solidFill>
              </a:rPr>
              <a:t>Passive:</a:t>
            </a:r>
            <a:r>
              <a:rPr lang="en-IN" sz="2400" dirty="0">
                <a:solidFill>
                  <a:srgbClr val="FF0000"/>
                </a:solidFill>
              </a:rPr>
              <a:t> </a:t>
            </a:r>
            <a:r>
              <a:rPr lang="en-IN" sz="2400" u="sng" dirty="0"/>
              <a:t>The C++ code </a:t>
            </a:r>
            <a:r>
              <a:rPr lang="en-IN" sz="2400" dirty="0"/>
              <a:t>was compiled without any syntax errors. (Focuses on the status of the code for a project status update.)</a:t>
            </a:r>
          </a:p>
          <a:p>
            <a:pPr lvl="0"/>
            <a:r>
              <a:rPr lang="en-IN" sz="2400" b="1" dirty="0"/>
              <a:t>Active:  </a:t>
            </a:r>
            <a:r>
              <a:rPr lang="en-IN" sz="2400" u="sng" dirty="0"/>
              <a:t>The university </a:t>
            </a:r>
            <a:r>
              <a:rPr lang="en-IN" sz="2400" dirty="0"/>
              <a:t>built a new robotics lab on campus. (Gives credit to the institution)</a:t>
            </a:r>
          </a:p>
          <a:p>
            <a:pPr lvl="0"/>
            <a:r>
              <a:rPr lang="en-IN" sz="2400" b="1" dirty="0">
                <a:solidFill>
                  <a:srgbClr val="FF0000"/>
                </a:solidFill>
              </a:rPr>
              <a:t>Passive: </a:t>
            </a:r>
            <a:r>
              <a:rPr lang="en-IN" sz="2400" u="sng" dirty="0"/>
              <a:t>A new robotics lab </a:t>
            </a:r>
            <a:r>
              <a:rPr lang="en-IN" sz="2400" dirty="0"/>
              <a:t>was built on campus. (Focuses on the new facility existing for students, regardless of who constructed it.) </a:t>
            </a:r>
          </a:p>
          <a:p>
            <a:endParaRPr lang="en-IN" sz="2400" dirty="0"/>
          </a:p>
          <a:p>
            <a:pPr marL="342900" indent="-342900">
              <a:lnSpc>
                <a:spcPct val="150000"/>
              </a:lnSpc>
              <a:buFont typeface="Arial" panose="020B0604020202020204" pitchFamily="34" charset="0"/>
              <a:buChar char="•"/>
            </a:pPr>
            <a:r>
              <a:rPr lang="en-IN" sz="2400" dirty="0"/>
              <a:t>Use </a:t>
            </a:r>
            <a:r>
              <a:rPr lang="en-IN" sz="2400" b="1" dirty="0"/>
              <a:t>Active Voice</a:t>
            </a:r>
            <a:r>
              <a:rPr lang="en-IN" sz="2400" dirty="0"/>
              <a:t> for </a:t>
            </a:r>
            <a:r>
              <a:rPr lang="en-IN" sz="2400" u="sng" dirty="0"/>
              <a:t>team updates, presentations, and personal achievements.</a:t>
            </a:r>
          </a:p>
          <a:p>
            <a:pPr marL="342900" indent="-342900">
              <a:lnSpc>
                <a:spcPct val="150000"/>
              </a:lnSpc>
              <a:buFont typeface="Arial" panose="020B0604020202020204" pitchFamily="34" charset="0"/>
              <a:buChar char="•"/>
            </a:pPr>
            <a:r>
              <a:rPr lang="en-IN" sz="2400" dirty="0"/>
              <a:t>Use </a:t>
            </a:r>
            <a:r>
              <a:rPr lang="en-IN" sz="2400" b="1" dirty="0"/>
              <a:t>Passive Voice </a:t>
            </a:r>
            <a:r>
              <a:rPr lang="en-IN" sz="2400" dirty="0"/>
              <a:t>for official </a:t>
            </a:r>
            <a:r>
              <a:rPr lang="en-IN" sz="2400" u="sng" dirty="0"/>
              <a:t>lab reports, scientific research papers, and technical documentations where objectivity is key. </a:t>
            </a:r>
          </a:p>
        </p:txBody>
      </p:sp>
    </p:spTree>
    <p:extLst>
      <p:ext uri="{BB962C8B-B14F-4D97-AF65-F5344CB8AC3E}">
        <p14:creationId xmlns:p14="http://schemas.microsoft.com/office/powerpoint/2010/main" xmlns="" val="3640275295"/>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400BBDD-C287-28E5-66C6-D52373C20335}"/>
            </a:ext>
          </a:extLst>
        </p:cNvPr>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7A4DC6C4-8838-C649-E681-53516EAC4113}"/>
              </a:ext>
            </a:extLst>
          </p:cNvPr>
          <p:cNvSpPr/>
          <p:nvPr/>
        </p:nvSpPr>
        <p:spPr>
          <a:xfrm>
            <a:off x="2200759" y="70643"/>
            <a:ext cx="8600753" cy="6000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600" dirty="0"/>
              <a:t>Communicating with Clarity: Some Principles</a:t>
            </a:r>
            <a:endParaRPr lang="en-IN" sz="3600" dirty="0"/>
          </a:p>
        </p:txBody>
      </p:sp>
      <p:pic>
        <p:nvPicPr>
          <p:cNvPr id="24" name="Picture 2" descr="KL Deemed to be University Logo">
            <a:extLst>
              <a:ext uri="{FF2B5EF4-FFF2-40B4-BE49-F238E27FC236}">
                <a16:creationId xmlns:a16="http://schemas.microsoft.com/office/drawing/2014/main" xmlns="" id="{D7672795-F7C0-BA82-7328-8B4FC1517DD3}"/>
              </a:ext>
            </a:extLst>
          </p:cNvPr>
          <p:cNvPicPr>
            <a:picLocks noChangeAspect="1" noChangeArrowheads="1"/>
          </p:cNvPicPr>
          <p:nvPr/>
        </p:nvPicPr>
        <p:blipFill>
          <a:blip r:embed="rId3"/>
          <a:srcRect/>
          <a:stretch>
            <a:fillRect/>
          </a:stretch>
        </p:blipFill>
        <p:spPr bwMode="auto">
          <a:xfrm>
            <a:off x="0" y="70643"/>
            <a:ext cx="1511085" cy="600076"/>
          </a:xfrm>
          <a:prstGeom prst="rect">
            <a:avLst/>
          </a:prstGeom>
          <a:noFill/>
        </p:spPr>
      </p:pic>
      <p:sp>
        <p:nvSpPr>
          <p:cNvPr id="2" name="Content Placeholder 1">
            <a:extLst>
              <a:ext uri="{FF2B5EF4-FFF2-40B4-BE49-F238E27FC236}">
                <a16:creationId xmlns:a16="http://schemas.microsoft.com/office/drawing/2014/main" xmlns="" id="{FF803772-FD00-6B08-43DD-FC3A051276F6}"/>
              </a:ext>
            </a:extLst>
          </p:cNvPr>
          <p:cNvSpPr>
            <a:spLocks noGrp="1"/>
          </p:cNvSpPr>
          <p:nvPr>
            <p:ph/>
          </p:nvPr>
        </p:nvSpPr>
        <p:spPr>
          <a:xfrm>
            <a:off x="195209" y="1062325"/>
            <a:ext cx="11712539" cy="5626152"/>
          </a:xfrm>
        </p:spPr>
        <p:txBody>
          <a:bodyPr/>
          <a:lstStyle/>
          <a:p>
            <a:pPr algn="just"/>
            <a:endParaRPr lang="en-IN" kern="100" dirty="0">
              <a:effectLst/>
              <a:latin typeface="Times New Roman" panose="02020603050405020304" pitchFamily="18" charset="0"/>
              <a:ea typeface="Calibri" panose="020F0502020204030204" pitchFamily="34" charset="0"/>
              <a:cs typeface="Arial" panose="020B0604020202020204" pitchFamily="34" charset="0"/>
            </a:endParaRPr>
          </a:p>
          <a:p>
            <a:pPr marL="0" indent="0" algn="just">
              <a:buNone/>
            </a:pPr>
            <a:endParaRPr lang="en-IN" kern="100" dirty="0">
              <a:effectLst/>
              <a:latin typeface="Times New Roman" panose="02020603050405020304" pitchFamily="18" charset="0"/>
              <a:ea typeface="Calibri" panose="020F0502020204030204" pitchFamily="34" charset="0"/>
              <a:cs typeface="Arial" panose="020B0604020202020204" pitchFamily="34" charset="0"/>
            </a:endParaRPr>
          </a:p>
          <a:p>
            <a:pPr algn="just"/>
            <a:endParaRPr lang="en-IN" kern="100" dirty="0">
              <a:effectLst/>
              <a:latin typeface="Calibri" panose="020F0502020204030204" pitchFamily="34" charset="0"/>
              <a:ea typeface="Calibri" panose="020F0502020204030204" pitchFamily="34" charset="0"/>
              <a:cs typeface="Arial" panose="020B0604020202020204" pitchFamily="34" charset="0"/>
            </a:endParaRPr>
          </a:p>
          <a:p>
            <a:pPr algn="just"/>
            <a:endParaRPr lang="en-IN" sz="2400" dirty="0"/>
          </a:p>
        </p:txBody>
      </p:sp>
      <p:sp>
        <p:nvSpPr>
          <p:cNvPr id="6" name="TextBox 5">
            <a:extLst>
              <a:ext uri="{FF2B5EF4-FFF2-40B4-BE49-F238E27FC236}">
                <a16:creationId xmlns:a16="http://schemas.microsoft.com/office/drawing/2014/main" xmlns="" id="{3408AEB0-59D0-73F5-F834-F0F8957306B7}"/>
              </a:ext>
            </a:extLst>
          </p:cNvPr>
          <p:cNvSpPr txBox="1"/>
          <p:nvPr/>
        </p:nvSpPr>
        <p:spPr>
          <a:xfrm>
            <a:off x="388749" y="717905"/>
            <a:ext cx="11608042" cy="6194003"/>
          </a:xfrm>
          <a:prstGeom prst="rect">
            <a:avLst/>
          </a:prstGeom>
          <a:noFill/>
        </p:spPr>
        <p:txBody>
          <a:bodyPr wrap="square">
            <a:spAutoFit/>
          </a:bodyPr>
          <a:lstStyle/>
          <a:p>
            <a:pPr algn="just">
              <a:spcAft>
                <a:spcPts val="1200"/>
              </a:spcAft>
            </a:pPr>
            <a:r>
              <a:rPr lang="en-IN" sz="2400" b="1" dirty="0"/>
              <a:t>3. Parallel Structure</a:t>
            </a:r>
            <a:r>
              <a:rPr lang="en-IN" sz="2400" dirty="0"/>
              <a:t> makes technical writing clear, balanced, and professional by keeping all items in a list in the same grammatical form. Keep the same grammatical pattern when listing things. </a:t>
            </a:r>
          </a:p>
          <a:p>
            <a:pPr algn="just">
              <a:spcAft>
                <a:spcPts val="300"/>
              </a:spcAft>
            </a:pPr>
            <a:r>
              <a:rPr lang="en-IN" sz="2400" dirty="0"/>
              <a:t>If you start with a </a:t>
            </a:r>
            <a:r>
              <a:rPr lang="en-IN" sz="2400" b="1" dirty="0"/>
              <a:t>verb+ing</a:t>
            </a:r>
            <a:r>
              <a:rPr lang="en-IN" sz="2400" dirty="0"/>
              <a:t> or a </a:t>
            </a:r>
            <a:r>
              <a:rPr lang="en-IN" sz="2400" b="1" dirty="0"/>
              <a:t>verb</a:t>
            </a:r>
            <a:r>
              <a:rPr lang="en-IN" sz="2400" dirty="0"/>
              <a:t>, stick with it! </a:t>
            </a:r>
          </a:p>
          <a:p>
            <a:pPr algn="just">
              <a:spcAft>
                <a:spcPts val="300"/>
              </a:spcAft>
            </a:pPr>
            <a:r>
              <a:rPr lang="en-US" sz="2400" b="1" dirty="0"/>
              <a:t>Incorrect: </a:t>
            </a:r>
            <a:r>
              <a:rPr lang="en-US" sz="2400" dirty="0"/>
              <a:t>She likes swimming, to run, and cycling </a:t>
            </a:r>
          </a:p>
          <a:p>
            <a:pPr algn="just">
              <a:spcAft>
                <a:spcPts val="300"/>
              </a:spcAft>
            </a:pPr>
            <a:r>
              <a:rPr lang="en-US" sz="2400" b="1" dirty="0"/>
              <a:t>Correct: </a:t>
            </a:r>
            <a:r>
              <a:rPr lang="en-US" sz="2400" dirty="0"/>
              <a:t>She likes swimming, running, and cycling’.</a:t>
            </a:r>
            <a:r>
              <a:rPr lang="en-US" sz="2800" dirty="0"/>
              <a:t> </a:t>
            </a:r>
          </a:p>
          <a:p>
            <a:pPr algn="just">
              <a:spcAft>
                <a:spcPts val="300"/>
              </a:spcAft>
            </a:pPr>
            <a:r>
              <a:rPr lang="en-US" sz="2400" b="1" dirty="0"/>
              <a:t>Incorrect: </a:t>
            </a:r>
            <a:r>
              <a:rPr lang="en-IN" sz="2400" dirty="0"/>
              <a:t>My duties included </a:t>
            </a:r>
            <a:r>
              <a:rPr lang="en-IN" sz="2400" b="1" dirty="0"/>
              <a:t>debugging</a:t>
            </a:r>
            <a:r>
              <a:rPr lang="en-IN" sz="2400" dirty="0"/>
              <a:t> code, </a:t>
            </a:r>
            <a:r>
              <a:rPr lang="en-IN" sz="2400" b="1" dirty="0"/>
              <a:t>to test</a:t>
            </a:r>
            <a:r>
              <a:rPr lang="en-IN" sz="2400" dirty="0"/>
              <a:t> software, and </a:t>
            </a:r>
            <a:r>
              <a:rPr lang="en-IN" sz="2400" b="1" dirty="0"/>
              <a:t>report</a:t>
            </a:r>
            <a:r>
              <a:rPr lang="en-IN" sz="2400" dirty="0"/>
              <a:t> errors.</a:t>
            </a:r>
            <a:endParaRPr lang="en-US" sz="2400" b="1" dirty="0"/>
          </a:p>
          <a:p>
            <a:pPr algn="just">
              <a:spcAft>
                <a:spcPts val="300"/>
              </a:spcAft>
            </a:pPr>
            <a:r>
              <a:rPr lang="en-US" sz="2400" b="1" dirty="0"/>
              <a:t>Correct: </a:t>
            </a:r>
            <a:r>
              <a:rPr lang="en-IN" sz="2400" dirty="0"/>
              <a:t>My duties included </a:t>
            </a:r>
            <a:r>
              <a:rPr lang="en-IN" sz="2400" b="1" dirty="0"/>
              <a:t>debugging</a:t>
            </a:r>
            <a:r>
              <a:rPr lang="en-IN" sz="2400" dirty="0"/>
              <a:t> code, </a:t>
            </a:r>
            <a:r>
              <a:rPr lang="en-IN" sz="2400" b="1" dirty="0"/>
              <a:t>testing</a:t>
            </a:r>
            <a:r>
              <a:rPr lang="en-IN" sz="2400" dirty="0"/>
              <a:t> software, and </a:t>
            </a:r>
            <a:r>
              <a:rPr lang="en-IN" sz="2400" b="1" dirty="0"/>
              <a:t>reporting</a:t>
            </a:r>
            <a:r>
              <a:rPr lang="en-IN" sz="2400" dirty="0"/>
              <a:t> errors. </a:t>
            </a:r>
            <a:endParaRPr lang="en-US" sz="2400" dirty="0"/>
          </a:p>
          <a:p>
            <a:pPr algn="just">
              <a:spcAft>
                <a:spcPts val="1200"/>
              </a:spcAft>
            </a:pPr>
            <a:r>
              <a:rPr lang="en-US" sz="2400" b="1" dirty="0"/>
              <a:t>4. Avoiding ambiguity </a:t>
            </a:r>
            <a:r>
              <a:rPr lang="en-IN" sz="2400" dirty="0"/>
              <a:t>means expressing ideas clearly so they have only one possible interpretation. This style removes confusion by using precise words and direct sentence structures. </a:t>
            </a:r>
            <a:r>
              <a:rPr lang="en-US" sz="2400" dirty="0"/>
              <a:t>Replace subjective words like ‘soon’ or ‘often’ with specific, measurable terms like; ‘by Friday’ or ‘twice a day.</a:t>
            </a:r>
            <a:endParaRPr lang="en-IN" sz="2400" dirty="0"/>
          </a:p>
          <a:p>
            <a:pPr lvl="0"/>
            <a:r>
              <a:rPr lang="en-IN" sz="2400" b="1" dirty="0"/>
              <a:t>Ambiguous</a:t>
            </a:r>
            <a:r>
              <a:rPr lang="en-IN" sz="2400" dirty="0"/>
              <a:t>: First-year students must bring their laptops to the lab because they are old. (The students or the laptops?)</a:t>
            </a:r>
          </a:p>
          <a:p>
            <a:pPr lvl="0"/>
            <a:r>
              <a:rPr lang="en-IN" sz="2400" b="1" dirty="0"/>
              <a:t>Clear</a:t>
            </a:r>
            <a:r>
              <a:rPr lang="en-IN" sz="2400" dirty="0"/>
              <a:t>: First-year students must bring their laptops to the lab because the computers are old.</a:t>
            </a:r>
          </a:p>
        </p:txBody>
      </p:sp>
    </p:spTree>
    <p:extLst>
      <p:ext uri="{BB962C8B-B14F-4D97-AF65-F5344CB8AC3E}">
        <p14:creationId xmlns:p14="http://schemas.microsoft.com/office/powerpoint/2010/main" xmlns="" val="1574203215"/>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B5E8D68-8094-B1BE-82AC-3DF0D88F746E}"/>
              </a:ext>
            </a:extLst>
          </p:cNvPr>
          <p:cNvSpPr>
            <a:spLocks noGrp="1"/>
          </p:cNvSpPr>
          <p:nvPr>
            <p:ph idx="1"/>
          </p:nvPr>
        </p:nvSpPr>
        <p:spPr>
          <a:xfrm>
            <a:off x="2199137" y="1614616"/>
            <a:ext cx="7286058" cy="719152"/>
          </a:xfrm>
        </p:spPr>
        <p:txBody>
          <a:bodyPr/>
          <a:lstStyle/>
          <a:p>
            <a:pPr marL="0" indent="0" algn="just">
              <a:lnSpc>
                <a:spcPct val="107000"/>
              </a:lnSpc>
              <a:spcAft>
                <a:spcPts val="800"/>
              </a:spcAft>
              <a:buNone/>
            </a:pPr>
            <a:r>
              <a:rPr lang="en-IN" sz="2600" kern="100" dirty="0">
                <a:ea typeface="Calibri" panose="020F0502020204030204" pitchFamily="34" charset="0"/>
                <a:cs typeface="Arial" panose="020B0604020202020204" pitchFamily="34" charset="0"/>
                <a:hlinkClick r:id="rId2"/>
              </a:rPr>
              <a:t>https://www.youtube.com/watch?v=dBT6u0FyKnc</a:t>
            </a:r>
          </a:p>
        </p:txBody>
      </p:sp>
      <p:sp>
        <p:nvSpPr>
          <p:cNvPr id="4" name="Rounded Rectangle 17">
            <a:extLst>
              <a:ext uri="{FF2B5EF4-FFF2-40B4-BE49-F238E27FC236}">
                <a16:creationId xmlns:a16="http://schemas.microsoft.com/office/drawing/2014/main" xmlns="" id="{6E48150F-81D2-4255-EF87-E903BCD38282}"/>
              </a:ext>
            </a:extLst>
          </p:cNvPr>
          <p:cNvSpPr>
            <a:spLocks noGrp="1"/>
          </p:cNvSpPr>
          <p:nvPr>
            <p:ph type="title"/>
          </p:nvPr>
        </p:nvSpPr>
        <p:spPr>
          <a:xfrm>
            <a:off x="838200" y="67177"/>
            <a:ext cx="10268164" cy="76533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b="1" dirty="0">
                <a:effectLst/>
                <a:ea typeface="Calibri" panose="020F0502020204030204" pitchFamily="34" charset="0"/>
              </a:rPr>
              <a:t>Let’s Watch…</a:t>
            </a:r>
            <a:endParaRPr lang="en-IN" sz="8000" b="1" dirty="0"/>
          </a:p>
        </p:txBody>
      </p:sp>
    </p:spTree>
    <p:extLst>
      <p:ext uri="{BB962C8B-B14F-4D97-AF65-F5344CB8AC3E}">
        <p14:creationId xmlns:p14="http://schemas.microsoft.com/office/powerpoint/2010/main" xmlns="" val="932882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2475305" y="127581"/>
            <a:ext cx="6521461" cy="52947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Case Study: The Clarity Principles</a:t>
            </a:r>
            <a:endParaRPr lang="en-IN" sz="36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35302"/>
            <a:ext cx="1990725" cy="600076"/>
          </a:xfrm>
          <a:prstGeom prst="rect">
            <a:avLst/>
          </a:prstGeom>
          <a:noFill/>
        </p:spPr>
      </p:pic>
      <p:sp>
        <p:nvSpPr>
          <p:cNvPr id="2" name="Content Placeholder 1">
            <a:extLst>
              <a:ext uri="{FF2B5EF4-FFF2-40B4-BE49-F238E27FC236}">
                <a16:creationId xmlns:a16="http://schemas.microsoft.com/office/drawing/2014/main" xmlns="" id="{294A9F8A-18BC-7668-CCC4-5C60BC46A168}"/>
              </a:ext>
            </a:extLst>
          </p:cNvPr>
          <p:cNvSpPr>
            <a:spLocks noGrp="1"/>
          </p:cNvSpPr>
          <p:nvPr>
            <p:ph/>
          </p:nvPr>
        </p:nvSpPr>
        <p:spPr>
          <a:xfrm>
            <a:off x="423081" y="631678"/>
            <a:ext cx="11559653" cy="6226322"/>
          </a:xfrm>
        </p:spPr>
        <p:txBody>
          <a:bodyPr/>
          <a:lstStyle/>
          <a:p>
            <a:pPr marL="0" marR="0" indent="0">
              <a:lnSpc>
                <a:spcPct val="107000"/>
              </a:lnSpc>
              <a:spcBef>
                <a:spcPts val="0"/>
              </a:spcBef>
              <a:spcAft>
                <a:spcPts val="800"/>
              </a:spcAft>
              <a:buNone/>
            </a:pPr>
            <a:r>
              <a:rPr lang="en-US" sz="2400" b="1" dirty="0">
                <a:latin typeface="Times New Roman" panose="02020603050405020304" pitchFamily="18" charset="0"/>
                <a:cs typeface="Times New Roman" panose="02020603050405020304" pitchFamily="18" charset="0"/>
              </a:rPr>
              <a:t>Scenario</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en-US" sz="2000" dirty="0">
                <a:latin typeface="Times New Roman" panose="02020603050405020304" pitchFamily="18" charset="0"/>
                <a:ea typeface="Times New Roman" panose="02020603050405020304" pitchFamily="18" charset="0"/>
                <a:cs typeface="Mangal"/>
              </a:rPr>
              <a:t>A university library displayed the following notice:</a:t>
            </a:r>
            <a:endParaRPr lang="en-US" sz="1800" dirty="0">
              <a:latin typeface="Calibri" panose="020F0502020204030204" pitchFamily="34" charset="0"/>
              <a:ea typeface="Calibri" panose="020F0502020204030204" pitchFamily="34" charset="0"/>
              <a:cs typeface="Mangal"/>
            </a:endParaRPr>
          </a:p>
          <a:p>
            <a:pPr marL="0" marR="0">
              <a:lnSpc>
                <a:spcPct val="107000"/>
              </a:lnSpc>
              <a:spcBef>
                <a:spcPts val="0"/>
              </a:spcBef>
              <a:spcAft>
                <a:spcPts val="800"/>
              </a:spcAft>
            </a:pPr>
            <a:r>
              <a:rPr lang="en-US" sz="2000" b="1" dirty="0">
                <a:latin typeface="Times New Roman" panose="02020603050405020304" pitchFamily="18" charset="0"/>
                <a:ea typeface="Times New Roman" panose="02020603050405020304" pitchFamily="18" charset="0"/>
                <a:cs typeface="Mangal"/>
              </a:rPr>
              <a:t>"Students who leave books on tables will be fined."</a:t>
            </a:r>
            <a:endParaRPr lang="en-US" sz="1800" dirty="0">
              <a:latin typeface="Calibri" panose="020F0502020204030204" pitchFamily="34" charset="0"/>
              <a:ea typeface="Calibri" panose="020F0502020204030204" pitchFamily="34" charset="0"/>
              <a:cs typeface="Mangal"/>
            </a:endParaRPr>
          </a:p>
          <a:p>
            <a:pPr marL="0" marR="0">
              <a:lnSpc>
                <a:spcPct val="107000"/>
              </a:lnSpc>
              <a:spcBef>
                <a:spcPts val="0"/>
              </a:spcBef>
              <a:spcAft>
                <a:spcPts val="800"/>
              </a:spcAft>
            </a:pPr>
            <a:r>
              <a:rPr lang="en-US" sz="2000" dirty="0">
                <a:latin typeface="Times New Roman" panose="02020603050405020304" pitchFamily="18" charset="0"/>
                <a:ea typeface="Times New Roman" panose="02020603050405020304" pitchFamily="18" charset="0"/>
                <a:cs typeface="Mangal"/>
              </a:rPr>
              <a:t>Many students became confused. Some believed they would be fined simply for leaving books on a table while studying. Others thought the fine applied only if they left books behind after leaving the library. Because the notice was unclear, students repeatedly asked the librarian for clarification.</a:t>
            </a:r>
            <a:endParaRPr lang="en-US" sz="1800" dirty="0">
              <a:latin typeface="Calibri" panose="020F0502020204030204" pitchFamily="34" charset="0"/>
              <a:ea typeface="Calibri" panose="020F0502020204030204" pitchFamily="34" charset="0"/>
              <a:cs typeface="Mangal"/>
            </a:endParaRPr>
          </a:p>
          <a:p>
            <a:pPr marL="0" marR="0">
              <a:lnSpc>
                <a:spcPct val="107000"/>
              </a:lnSpc>
              <a:spcBef>
                <a:spcPts val="0"/>
              </a:spcBef>
              <a:spcAft>
                <a:spcPts val="800"/>
              </a:spcAft>
            </a:pPr>
            <a:r>
              <a:rPr lang="en-US" sz="2000" b="1" dirty="0">
                <a:latin typeface="Times New Roman" panose="02020603050405020304" pitchFamily="18" charset="0"/>
                <a:ea typeface="Times New Roman" panose="02020603050405020304" pitchFamily="18" charset="0"/>
                <a:cs typeface="Mangal"/>
              </a:rPr>
              <a:t>Problem</a:t>
            </a:r>
            <a:endParaRPr lang="en-US" sz="1800" dirty="0">
              <a:latin typeface="Calibri" panose="020F0502020204030204" pitchFamily="34" charset="0"/>
              <a:ea typeface="Calibri" panose="020F0502020204030204" pitchFamily="34" charset="0"/>
              <a:cs typeface="Mangal"/>
            </a:endParaRPr>
          </a:p>
          <a:p>
            <a:pPr marL="0" marR="0">
              <a:lnSpc>
                <a:spcPct val="107000"/>
              </a:lnSpc>
              <a:spcBef>
                <a:spcPts val="0"/>
              </a:spcBef>
              <a:spcAft>
                <a:spcPts val="800"/>
              </a:spcAft>
            </a:pPr>
            <a:r>
              <a:rPr lang="en-US" sz="2000" dirty="0">
                <a:latin typeface="Times New Roman" panose="02020603050405020304" pitchFamily="18" charset="0"/>
                <a:ea typeface="Times New Roman" panose="02020603050405020304" pitchFamily="18" charset="0"/>
                <a:cs typeface="Mangal"/>
              </a:rPr>
              <a:t>The notice is </a:t>
            </a:r>
            <a:r>
              <a:rPr lang="en-US" sz="2000" b="1" dirty="0">
                <a:latin typeface="Times New Roman" panose="02020603050405020304" pitchFamily="18" charset="0"/>
                <a:ea typeface="Times New Roman" panose="02020603050405020304" pitchFamily="18" charset="0"/>
                <a:cs typeface="Mangal"/>
              </a:rPr>
              <a:t>ambiguous</a:t>
            </a:r>
            <a:r>
              <a:rPr lang="en-US" sz="2000" dirty="0">
                <a:latin typeface="Times New Roman" panose="02020603050405020304" pitchFamily="18" charset="0"/>
                <a:ea typeface="Times New Roman" panose="02020603050405020304" pitchFamily="18" charset="0"/>
                <a:cs typeface="Mangal"/>
              </a:rPr>
              <a:t> because it can be interpreted in multiple ways. It also combines ideas without clearly stating the intended rule.</a:t>
            </a:r>
            <a:endParaRPr lang="en-US" sz="1800" dirty="0">
              <a:latin typeface="Calibri" panose="020F0502020204030204" pitchFamily="34" charset="0"/>
              <a:ea typeface="Calibri" panose="020F0502020204030204" pitchFamily="34" charset="0"/>
              <a:cs typeface="Mangal"/>
            </a:endParaRPr>
          </a:p>
          <a:p>
            <a:pPr marL="0" marR="0">
              <a:lnSpc>
                <a:spcPct val="107000"/>
              </a:lnSpc>
              <a:spcBef>
                <a:spcPts val="0"/>
              </a:spcBef>
              <a:spcAft>
                <a:spcPts val="800"/>
              </a:spcAft>
            </a:pPr>
            <a:r>
              <a:rPr lang="en-US" sz="2000" b="1" dirty="0">
                <a:latin typeface="Times New Roman" panose="02020603050405020304" pitchFamily="18" charset="0"/>
                <a:ea typeface="Times New Roman" panose="02020603050405020304" pitchFamily="18" charset="0"/>
                <a:cs typeface="Mangal"/>
              </a:rPr>
              <a:t>Steps to Complete the Task</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7000"/>
              </a:lnSpc>
              <a:spcBef>
                <a:spcPts val="0"/>
              </a:spcBef>
              <a:spcAft>
                <a:spcPts val="80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cs typeface="Mangal"/>
              </a:rPr>
              <a:t>Identify the main message of the notice. </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7000"/>
              </a:lnSpc>
              <a:spcBef>
                <a:spcPts val="0"/>
              </a:spcBef>
              <a:spcAft>
                <a:spcPts val="80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cs typeface="Mangal"/>
              </a:rPr>
              <a:t>Check whether the sentence has more than one possible meaning. </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7000"/>
              </a:lnSpc>
              <a:spcBef>
                <a:spcPts val="0"/>
              </a:spcBef>
              <a:spcAft>
                <a:spcPts val="80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cs typeface="Mangal"/>
              </a:rPr>
              <a:t>Rewrite the notice using one idea per sentence. </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7000"/>
              </a:lnSpc>
              <a:spcBef>
                <a:spcPts val="0"/>
              </a:spcBef>
              <a:spcAft>
                <a:spcPts val="80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cs typeface="Mangal"/>
              </a:rPr>
              <a:t>Use active voice for direct communication. </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7000"/>
              </a:lnSpc>
              <a:spcBef>
                <a:spcPts val="0"/>
              </a:spcBef>
              <a:spcAft>
                <a:spcPts val="80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cs typeface="Mangal"/>
              </a:rPr>
              <a:t>Read the revised notice to ensure every reader understands the same meaning. </a:t>
            </a:r>
            <a:endParaRPr lang="en-US" sz="1800" dirty="0">
              <a:effectLst/>
              <a:latin typeface="Calibri" panose="020F0502020204030204" pitchFamily="34" charset="0"/>
              <a:ea typeface="Calibri" panose="020F0502020204030204" pitchFamily="34" charset="0"/>
              <a:cs typeface="Mangal"/>
            </a:endParaRPr>
          </a:p>
        </p:txBody>
      </p:sp>
    </p:spTree>
    <p:extLst>
      <p:ext uri="{BB962C8B-B14F-4D97-AF65-F5344CB8AC3E}">
        <p14:creationId xmlns:p14="http://schemas.microsoft.com/office/powerpoint/2010/main" xmlns="" val="567916096"/>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3556861" y="227643"/>
            <a:ext cx="4228334" cy="60987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t>Register and Tone</a:t>
            </a:r>
            <a:endParaRPr lang="en-IN" sz="40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a:extLst>
              <a:ext uri="{FF2B5EF4-FFF2-40B4-BE49-F238E27FC236}">
                <a16:creationId xmlns:a16="http://schemas.microsoft.com/office/drawing/2014/main" xmlns="" id="{294A9F8A-18BC-7668-CCC4-5C60BC46A168}"/>
              </a:ext>
            </a:extLst>
          </p:cNvPr>
          <p:cNvSpPr>
            <a:spLocks noGrp="1"/>
          </p:cNvSpPr>
          <p:nvPr>
            <p:ph/>
          </p:nvPr>
        </p:nvSpPr>
        <p:spPr>
          <a:xfrm>
            <a:off x="867904" y="1139125"/>
            <a:ext cx="10763657" cy="5124023"/>
          </a:xfrm>
        </p:spPr>
        <p:txBody>
          <a:bodyPr/>
          <a:lstStyle/>
          <a:p>
            <a:pPr marL="0" indent="0" algn="just">
              <a:lnSpc>
                <a:spcPct val="100000"/>
              </a:lnSpc>
              <a:spcBef>
                <a:spcPts val="500"/>
              </a:spcBef>
              <a:buNone/>
            </a:pPr>
            <a:r>
              <a:rPr lang="en-IN" b="1" dirty="0"/>
              <a:t>Register</a:t>
            </a:r>
            <a:r>
              <a:rPr lang="en-IN" dirty="0"/>
              <a:t> is the level of formality in your language, determined by your context and audience; whereas, </a:t>
            </a:r>
            <a:r>
              <a:rPr lang="en-IN" b="1" dirty="0"/>
              <a:t>tone</a:t>
            </a:r>
            <a:r>
              <a:rPr lang="en-IN" dirty="0"/>
              <a:t> is the emotional attitude conveyed through your word choice and delivery. </a:t>
            </a:r>
          </a:p>
          <a:p>
            <a:pPr marL="0" indent="0">
              <a:lnSpc>
                <a:spcPct val="100000"/>
              </a:lnSpc>
              <a:spcBef>
                <a:spcPts val="500"/>
              </a:spcBef>
              <a:buNone/>
            </a:pPr>
            <a:r>
              <a:rPr lang="en-IN" b="1" dirty="0"/>
              <a:t>Core English Registers</a:t>
            </a:r>
          </a:p>
          <a:p>
            <a:pPr lvl="0">
              <a:lnSpc>
                <a:spcPct val="100000"/>
              </a:lnSpc>
              <a:spcBef>
                <a:spcPts val="500"/>
              </a:spcBef>
            </a:pPr>
            <a:r>
              <a:rPr lang="en-IN" b="1" dirty="0"/>
              <a:t>Formal</a:t>
            </a:r>
            <a:r>
              <a:rPr lang="en-IN" dirty="0"/>
              <a:t>: Structured, objective, and grammatically precise. It avoids slang and contractions to maintain professional distance.</a:t>
            </a:r>
          </a:p>
          <a:p>
            <a:pPr lvl="0">
              <a:lnSpc>
                <a:spcPct val="100000"/>
              </a:lnSpc>
              <a:spcBef>
                <a:spcPts val="500"/>
              </a:spcBef>
            </a:pPr>
            <a:r>
              <a:rPr lang="en-IN" b="1" dirty="0"/>
              <a:t>Neutral</a:t>
            </a:r>
            <a:r>
              <a:rPr lang="en-IN" dirty="0"/>
              <a:t>: Clear, direct, and matter-of-fact. It focuses on the efficient delivery of information without emotional bias.</a:t>
            </a:r>
          </a:p>
          <a:p>
            <a:pPr lvl="0">
              <a:lnSpc>
                <a:spcPct val="100000"/>
              </a:lnSpc>
              <a:spcBef>
                <a:spcPts val="500"/>
              </a:spcBef>
            </a:pPr>
            <a:r>
              <a:rPr lang="en-IN" b="1" dirty="0"/>
              <a:t>Informal</a:t>
            </a:r>
            <a:r>
              <a:rPr lang="en-IN" dirty="0"/>
              <a:t>: Casual, conversational, and relaxed. It uses contractions, colloquialisms, and short sentences to build familiarity.</a:t>
            </a:r>
          </a:p>
        </p:txBody>
      </p:sp>
    </p:spTree>
    <p:extLst>
      <p:ext uri="{BB962C8B-B14F-4D97-AF65-F5344CB8AC3E}">
        <p14:creationId xmlns:p14="http://schemas.microsoft.com/office/powerpoint/2010/main" xmlns="" val="2797912259"/>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36A0DA9-1B34-1132-2D41-903CCA3B71C9}"/>
            </a:ext>
          </a:extLst>
        </p:cNvPr>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1D6EE619-5D12-4C6C-202B-9E188B737EC8}"/>
              </a:ext>
            </a:extLst>
          </p:cNvPr>
          <p:cNvSpPr/>
          <p:nvPr/>
        </p:nvSpPr>
        <p:spPr>
          <a:xfrm>
            <a:off x="1960537" y="230848"/>
            <a:ext cx="8826284" cy="63114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r>
              <a:rPr lang="en-US" sz="2800" b="1" dirty="0"/>
              <a:t>Matching Register to Audience and Situation</a:t>
            </a:r>
          </a:p>
        </p:txBody>
      </p:sp>
      <p:pic>
        <p:nvPicPr>
          <p:cNvPr id="12" name="Picture 2" descr="KL Deemed to be University Logo">
            <a:extLst>
              <a:ext uri="{FF2B5EF4-FFF2-40B4-BE49-F238E27FC236}">
                <a16:creationId xmlns:a16="http://schemas.microsoft.com/office/drawing/2014/main" xmlns="" id="{3BC90CA3-1FC2-9245-4CEB-25B230D1BCF9}"/>
              </a:ext>
            </a:extLst>
          </p:cNvPr>
          <p:cNvPicPr>
            <a:picLocks noChangeAspect="1" noChangeArrowheads="1"/>
          </p:cNvPicPr>
          <p:nvPr/>
        </p:nvPicPr>
        <p:blipFill>
          <a:blip r:embed="rId2"/>
          <a:srcRect/>
          <a:stretch>
            <a:fillRect/>
          </a:stretch>
        </p:blipFill>
        <p:spPr bwMode="auto">
          <a:xfrm>
            <a:off x="77492" y="130109"/>
            <a:ext cx="1990725" cy="600076"/>
          </a:xfrm>
          <a:prstGeom prst="rect">
            <a:avLst/>
          </a:prstGeom>
          <a:noFill/>
        </p:spPr>
      </p:pic>
      <p:sp>
        <p:nvSpPr>
          <p:cNvPr id="2" name="Content Placeholder 1">
            <a:extLst>
              <a:ext uri="{FF2B5EF4-FFF2-40B4-BE49-F238E27FC236}">
                <a16:creationId xmlns:a16="http://schemas.microsoft.com/office/drawing/2014/main" xmlns="" id="{9455D3D5-FFCF-8138-CE45-4231F249CEEA}"/>
              </a:ext>
            </a:extLst>
          </p:cNvPr>
          <p:cNvSpPr>
            <a:spLocks noGrp="1"/>
          </p:cNvSpPr>
          <p:nvPr>
            <p:ph/>
          </p:nvPr>
        </p:nvSpPr>
        <p:spPr>
          <a:xfrm>
            <a:off x="819135" y="1358696"/>
            <a:ext cx="10841923" cy="4904452"/>
          </a:xfrm>
        </p:spPr>
        <p:txBody>
          <a:bodyPr/>
          <a:lstStyle/>
          <a:p>
            <a:pPr marL="0" lvl="0" indent="0" fontAlgn="base">
              <a:buNone/>
            </a:pPr>
            <a:r>
              <a:rPr lang="en-US" sz="3200" b="1" dirty="0"/>
              <a:t>1. The Manager (Upward Communication)​</a:t>
            </a:r>
          </a:p>
          <a:p>
            <a:pPr lvl="0" fontAlgn="base"/>
            <a:r>
              <a:rPr lang="en-US" sz="3200" dirty="0"/>
              <a:t>Register: Formal to Neutral​</a:t>
            </a:r>
          </a:p>
          <a:p>
            <a:pPr lvl="0" fontAlgn="base"/>
            <a:r>
              <a:rPr lang="en-US" sz="3200" dirty="0"/>
              <a:t>Tone: Respectful, concise, and solution-oriented.​</a:t>
            </a:r>
          </a:p>
          <a:p>
            <a:pPr lvl="0" fontAlgn="base"/>
            <a:r>
              <a:rPr lang="en-US" sz="3200" dirty="0"/>
              <a:t>Focus: Managers are busy; get straight to the point, respect their time, and always provide next steps.​</a:t>
            </a:r>
          </a:p>
          <a:p>
            <a:pPr lvl="0" fontAlgn="base"/>
            <a:r>
              <a:rPr lang="en-US" sz="3200" dirty="0"/>
              <a:t>Example: </a:t>
            </a:r>
            <a:r>
              <a:rPr lang="en-US" sz="3200" i="1" dirty="0"/>
              <a:t>I have attached the updated project report for your review. We are currently on track to meet our Friday deadline. Please let me know if you need any adjustments before I send it to the client.</a:t>
            </a:r>
            <a:r>
              <a:rPr lang="en-US" sz="3200" dirty="0"/>
              <a:t>​</a:t>
            </a:r>
          </a:p>
          <a:p>
            <a:pPr marL="0" indent="0" algn="just">
              <a:buNone/>
            </a:pPr>
            <a:endParaRPr lang="en-US" sz="2200" dirty="0"/>
          </a:p>
        </p:txBody>
      </p:sp>
    </p:spTree>
    <p:extLst>
      <p:ext uri="{BB962C8B-B14F-4D97-AF65-F5344CB8AC3E}">
        <p14:creationId xmlns:p14="http://schemas.microsoft.com/office/powerpoint/2010/main" xmlns="" val="1280082397"/>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1797978" y="70606"/>
            <a:ext cx="6420989" cy="63114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err="1"/>
              <a:t>Cont</a:t>
            </a:r>
            <a:r>
              <a:rPr lang="en-US" sz="4000" dirty="0"/>
              <a:t>…</a:t>
            </a:r>
            <a:endParaRPr lang="en-IN" sz="40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a:extLst>
              <a:ext uri="{FF2B5EF4-FFF2-40B4-BE49-F238E27FC236}">
                <a16:creationId xmlns:a16="http://schemas.microsoft.com/office/drawing/2014/main" xmlns="" id="{294A9F8A-18BC-7668-CCC4-5C60BC46A168}"/>
              </a:ext>
            </a:extLst>
          </p:cNvPr>
          <p:cNvSpPr>
            <a:spLocks noGrp="1"/>
          </p:cNvSpPr>
          <p:nvPr>
            <p:ph/>
          </p:nvPr>
        </p:nvSpPr>
        <p:spPr>
          <a:xfrm>
            <a:off x="477672" y="772356"/>
            <a:ext cx="11286698" cy="5532910"/>
          </a:xfrm>
        </p:spPr>
        <p:txBody>
          <a:bodyPr/>
          <a:lstStyle/>
          <a:p>
            <a:pPr marL="0" indent="0" algn="just">
              <a:buNone/>
            </a:pPr>
            <a:r>
              <a:rPr lang="en-US" sz="2200" b="1" dirty="0"/>
              <a:t>2. The Peer (Horizontal Communication)</a:t>
            </a:r>
          </a:p>
          <a:p>
            <a:pPr algn="just"/>
            <a:r>
              <a:rPr lang="en-US" sz="2200" dirty="0"/>
              <a:t>Register: Neutral to Informal</a:t>
            </a:r>
          </a:p>
          <a:p>
            <a:pPr algn="just"/>
            <a:r>
              <a:rPr lang="en-US" sz="2200" dirty="0"/>
              <a:t>Tone: Collaborative, friendly, and direct.</a:t>
            </a:r>
          </a:p>
          <a:p>
            <a:pPr algn="just"/>
            <a:r>
              <a:rPr lang="en-US" sz="2200" dirty="0"/>
              <a:t>Focus: Team building and quick information sharing. You can use mild slang, </a:t>
            </a:r>
            <a:r>
              <a:rPr lang="en-US" sz="2200" dirty="0" err="1"/>
              <a:t>emojis</a:t>
            </a:r>
            <a:r>
              <a:rPr lang="en-US" sz="2200" dirty="0"/>
              <a:t>, and abbreviations, but keep the core message professional.</a:t>
            </a:r>
          </a:p>
          <a:p>
            <a:pPr algn="just"/>
            <a:r>
              <a:rPr lang="en-US" sz="2200" dirty="0"/>
              <a:t>Example: </a:t>
            </a:r>
            <a:r>
              <a:rPr lang="en-US" sz="2200" i="1" dirty="0"/>
              <a:t>"Hey [Name], I just finished the report and dropped it in the share folder. Take a look when you have a sec! Let me know if anything looks off."</a:t>
            </a:r>
            <a:endParaRPr lang="en-US" sz="2200" dirty="0"/>
          </a:p>
          <a:p>
            <a:pPr marL="0" indent="0" algn="just">
              <a:buNone/>
            </a:pPr>
            <a:r>
              <a:rPr lang="en-US" sz="2200" b="1" dirty="0"/>
              <a:t>3. The Client (External Communication)</a:t>
            </a:r>
          </a:p>
          <a:p>
            <a:pPr algn="just"/>
            <a:r>
              <a:rPr lang="en-US" sz="2200" dirty="0"/>
              <a:t>Register: Formal to Neutral</a:t>
            </a:r>
          </a:p>
          <a:p>
            <a:pPr algn="just"/>
            <a:r>
              <a:rPr lang="en-US" sz="2200" dirty="0"/>
              <a:t>Tone: Polite, reassuring, and professional.</a:t>
            </a:r>
          </a:p>
          <a:p>
            <a:pPr algn="just"/>
            <a:r>
              <a:rPr lang="en-US" sz="2200" dirty="0"/>
              <a:t>Focus: Customer satisfaction and relationship management. Avoid industry jargon unless necessary, and always maintain a highly courteous demeanor.</a:t>
            </a:r>
          </a:p>
          <a:p>
            <a:pPr algn="just"/>
            <a:r>
              <a:rPr lang="en-US" sz="2200" dirty="0"/>
              <a:t>Example: </a:t>
            </a:r>
            <a:r>
              <a:rPr lang="en-US" sz="2200" i="1" dirty="0"/>
              <a:t>"Dear [Name], please find the updated project report attached for your review. We are happy to answer any questions you might have and look forward to your feedback."</a:t>
            </a:r>
            <a:endParaRPr lang="en-US" sz="2200" dirty="0"/>
          </a:p>
        </p:txBody>
      </p:sp>
    </p:spTree>
    <p:extLst>
      <p:ext uri="{BB962C8B-B14F-4D97-AF65-F5344CB8AC3E}">
        <p14:creationId xmlns:p14="http://schemas.microsoft.com/office/powerpoint/2010/main" xmlns="" val="2566612794"/>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B5E8D68-8094-B1BE-82AC-3DF0D88F746E}"/>
              </a:ext>
            </a:extLst>
          </p:cNvPr>
          <p:cNvSpPr>
            <a:spLocks noGrp="1"/>
          </p:cNvSpPr>
          <p:nvPr>
            <p:ph idx="1"/>
          </p:nvPr>
        </p:nvSpPr>
        <p:spPr>
          <a:xfrm>
            <a:off x="1392072" y="1464489"/>
            <a:ext cx="8134066" cy="719152"/>
          </a:xfrm>
        </p:spPr>
        <p:txBody>
          <a:bodyPr/>
          <a:lstStyle/>
          <a:p>
            <a:pPr algn="just">
              <a:lnSpc>
                <a:spcPct val="107000"/>
              </a:lnSpc>
              <a:spcAft>
                <a:spcPts val="800"/>
              </a:spcAft>
            </a:pPr>
            <a:r>
              <a:rPr lang="en-IN" sz="2600" kern="100" dirty="0">
                <a:ea typeface="Calibri" panose="020F0502020204030204" pitchFamily="34" charset="0"/>
                <a:cs typeface="Arial" panose="020B0604020202020204" pitchFamily="34" charset="0"/>
                <a:hlinkClick r:id="rId2"/>
              </a:rPr>
              <a:t>https://www.youtube.com/watch?v=hdKYl8Tg_FQ</a:t>
            </a:r>
          </a:p>
        </p:txBody>
      </p:sp>
      <p:sp>
        <p:nvSpPr>
          <p:cNvPr id="4" name="Rounded Rectangle 17">
            <a:extLst>
              <a:ext uri="{FF2B5EF4-FFF2-40B4-BE49-F238E27FC236}">
                <a16:creationId xmlns:a16="http://schemas.microsoft.com/office/drawing/2014/main" xmlns="" id="{6E48150F-81D2-4255-EF87-E903BCD38282}"/>
              </a:ext>
            </a:extLst>
          </p:cNvPr>
          <p:cNvSpPr>
            <a:spLocks noGrp="1"/>
          </p:cNvSpPr>
          <p:nvPr>
            <p:ph type="title"/>
          </p:nvPr>
        </p:nvSpPr>
        <p:spPr>
          <a:xfrm>
            <a:off x="1828801" y="150125"/>
            <a:ext cx="6591868" cy="61521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b="1" dirty="0">
                <a:effectLst/>
                <a:ea typeface="Calibri" panose="020F0502020204030204" pitchFamily="34" charset="0"/>
              </a:rPr>
              <a:t>Let’s Watch…</a:t>
            </a:r>
            <a:endParaRPr lang="en-IN" sz="8000" b="1" dirty="0"/>
          </a:p>
        </p:txBody>
      </p:sp>
    </p:spTree>
    <p:extLst>
      <p:ext uri="{BB962C8B-B14F-4D97-AF65-F5344CB8AC3E}">
        <p14:creationId xmlns:p14="http://schemas.microsoft.com/office/powerpoint/2010/main" xmlns="" val="3268711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2306472" y="70606"/>
            <a:ext cx="7560859" cy="53982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Case Study: Register and Tone</a:t>
            </a:r>
            <a:endParaRPr lang="en-IN" sz="36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a:extLst>
              <a:ext uri="{FF2B5EF4-FFF2-40B4-BE49-F238E27FC236}">
                <a16:creationId xmlns:a16="http://schemas.microsoft.com/office/drawing/2014/main" xmlns="" id="{294A9F8A-18BC-7668-CCC4-5C60BC46A168}"/>
              </a:ext>
            </a:extLst>
          </p:cNvPr>
          <p:cNvSpPr>
            <a:spLocks noGrp="1"/>
          </p:cNvSpPr>
          <p:nvPr>
            <p:ph/>
          </p:nvPr>
        </p:nvSpPr>
        <p:spPr>
          <a:xfrm>
            <a:off x="234460" y="864818"/>
            <a:ext cx="11704881" cy="5768762"/>
          </a:xfrm>
        </p:spPr>
        <p:txBody>
          <a:bodyPr/>
          <a:lstStyle/>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endParaRPr lang="en-US" b="1" dirty="0">
              <a:latin typeface="Times New Roman" panose="02020603050405020304" pitchFamily="18" charset="0"/>
              <a:ea typeface="Times New Roman" panose="02020603050405020304" pitchFamily="18" charset="0"/>
              <a:cs typeface="Mangal"/>
            </a:endParaRPr>
          </a:p>
          <a:p>
            <a:pPr marL="0" marR="0" indent="0">
              <a:lnSpc>
                <a:spcPct val="0"/>
              </a:lnSpc>
              <a:spcBef>
                <a:spcPts val="0"/>
              </a:spcBef>
              <a:spcAft>
                <a:spcPts val="0"/>
              </a:spcAft>
              <a:buNone/>
            </a:pPr>
            <a:r>
              <a:rPr lang="en-US" b="1" dirty="0">
                <a:latin typeface="Times New Roman" panose="02020603050405020304" pitchFamily="18" charset="0"/>
                <a:ea typeface="Times New Roman" panose="02020603050405020304" pitchFamily="18" charset="0"/>
                <a:cs typeface="Mangal"/>
              </a:rPr>
              <a:t>Scenario</a:t>
            </a:r>
            <a:r>
              <a:rPr lang="en-US" sz="3200" b="1" dirty="0">
                <a:latin typeface="Times New Roman" panose="02020603050405020304" pitchFamily="18" charset="0"/>
                <a:ea typeface="Times New Roman" panose="02020603050405020304" pitchFamily="18" charset="0"/>
                <a:cs typeface="Mangal"/>
              </a:rPr>
              <a:t> </a:t>
            </a:r>
            <a:endParaRPr lang="en-US" sz="2000" b="1" dirty="0">
              <a:latin typeface="Times New Roman" panose="02020603050405020304" pitchFamily="18" charset="0"/>
              <a:ea typeface="Times New Roman" panose="02020603050405020304" pitchFamily="18" charset="0"/>
              <a:cs typeface="Mangal"/>
            </a:endParaRPr>
          </a:p>
          <a:p>
            <a:pPr marL="0" marR="0">
              <a:lnSpc>
                <a:spcPct val="107000"/>
              </a:lnSpc>
              <a:spcBef>
                <a:spcPts val="0"/>
              </a:spcBef>
              <a:spcAft>
                <a:spcPts val="0"/>
              </a:spcAft>
            </a:pPr>
            <a:r>
              <a:rPr lang="en-US" sz="2000" dirty="0">
                <a:latin typeface="Times New Roman" panose="02020603050405020304" pitchFamily="18" charset="0"/>
                <a:ea typeface="Times New Roman" panose="02020603050405020304" pitchFamily="18" charset="0"/>
                <a:cs typeface="Mangal"/>
              </a:rPr>
              <a:t>A college student was selected to represent the class during a meeting with the Principal. When asked about improving campus facilities, the student said:</a:t>
            </a:r>
            <a:endParaRPr lang="en-US" sz="1800" dirty="0">
              <a:latin typeface="Calibri" panose="020F0502020204030204" pitchFamily="34" charset="0"/>
              <a:ea typeface="Calibri" panose="020F0502020204030204" pitchFamily="34" charset="0"/>
              <a:cs typeface="Mangal"/>
            </a:endParaRPr>
          </a:p>
          <a:p>
            <a:pPr marL="0" marR="0">
              <a:lnSpc>
                <a:spcPct val="107000"/>
              </a:lnSpc>
              <a:spcBef>
                <a:spcPts val="0"/>
              </a:spcBef>
              <a:spcAft>
                <a:spcPts val="800"/>
              </a:spcAft>
            </a:pPr>
            <a:r>
              <a:rPr lang="en-US" sz="2000" b="1" dirty="0">
                <a:latin typeface="Times New Roman" panose="02020603050405020304" pitchFamily="18" charset="0"/>
                <a:ea typeface="Times New Roman" panose="02020603050405020304" pitchFamily="18" charset="0"/>
                <a:cs typeface="Mangal"/>
              </a:rPr>
              <a:t>"The classrooms are pretty bad. You guys should fix them quickly."</a:t>
            </a:r>
            <a:endParaRPr lang="en-US" sz="1800" dirty="0">
              <a:latin typeface="Calibri" panose="020F0502020204030204" pitchFamily="34" charset="0"/>
              <a:ea typeface="Calibri" panose="020F0502020204030204" pitchFamily="34" charset="0"/>
              <a:cs typeface="Mangal"/>
            </a:endParaRPr>
          </a:p>
          <a:p>
            <a:pPr marL="0" marR="0">
              <a:lnSpc>
                <a:spcPct val="107000"/>
              </a:lnSpc>
              <a:spcBef>
                <a:spcPts val="0"/>
              </a:spcBef>
              <a:spcAft>
                <a:spcPts val="800"/>
              </a:spcAft>
            </a:pPr>
            <a:r>
              <a:rPr lang="en-US" sz="2000" dirty="0">
                <a:latin typeface="Times New Roman" panose="02020603050405020304" pitchFamily="18" charset="0"/>
                <a:ea typeface="Times New Roman" panose="02020603050405020304" pitchFamily="18" charset="0"/>
                <a:cs typeface="Mangal"/>
              </a:rPr>
              <a:t>Although the student raised a genuine concern, the Principal felt that the language was too informal for an official meeting.</a:t>
            </a:r>
            <a:endParaRPr lang="en-US" sz="1800" dirty="0">
              <a:latin typeface="Calibri" panose="020F0502020204030204" pitchFamily="34" charset="0"/>
              <a:ea typeface="Calibri" panose="020F0502020204030204" pitchFamily="34" charset="0"/>
              <a:cs typeface="Mangal"/>
            </a:endParaRPr>
          </a:p>
          <a:p>
            <a:pPr marL="0" marR="0">
              <a:lnSpc>
                <a:spcPct val="107000"/>
              </a:lnSpc>
              <a:spcBef>
                <a:spcPts val="0"/>
              </a:spcBef>
              <a:spcAft>
                <a:spcPts val="800"/>
              </a:spcAft>
            </a:pPr>
            <a:r>
              <a:rPr lang="en-US" sz="2400" b="1" dirty="0">
                <a:latin typeface="Times New Roman" panose="02020603050405020304" pitchFamily="18" charset="0"/>
                <a:ea typeface="Times New Roman" panose="02020603050405020304" pitchFamily="18" charset="0"/>
                <a:cs typeface="Mangal"/>
              </a:rPr>
              <a:t>Problem</a:t>
            </a:r>
            <a:endParaRPr lang="en-US" sz="1800" dirty="0">
              <a:latin typeface="Calibri" panose="020F0502020204030204" pitchFamily="34" charset="0"/>
              <a:ea typeface="Calibri" panose="020F0502020204030204" pitchFamily="34" charset="0"/>
              <a:cs typeface="Mangal"/>
            </a:endParaRPr>
          </a:p>
          <a:p>
            <a:pPr marL="0" marR="0">
              <a:lnSpc>
                <a:spcPct val="107000"/>
              </a:lnSpc>
              <a:spcBef>
                <a:spcPts val="0"/>
              </a:spcBef>
              <a:spcAft>
                <a:spcPts val="800"/>
              </a:spcAft>
            </a:pPr>
            <a:r>
              <a:rPr lang="en-US" sz="2000" dirty="0">
                <a:latin typeface="Times New Roman" panose="02020603050405020304" pitchFamily="18" charset="0"/>
                <a:ea typeface="Times New Roman" panose="02020603050405020304" pitchFamily="18" charset="0"/>
                <a:cs typeface="Mangal"/>
              </a:rPr>
              <a:t>The student failed to match the </a:t>
            </a:r>
            <a:r>
              <a:rPr lang="en-US" sz="2000" b="1" dirty="0">
                <a:latin typeface="Times New Roman" panose="02020603050405020304" pitchFamily="18" charset="0"/>
                <a:ea typeface="Times New Roman" panose="02020603050405020304" pitchFamily="18" charset="0"/>
                <a:cs typeface="Mangal"/>
              </a:rPr>
              <a:t>register and tone</a:t>
            </a:r>
            <a:r>
              <a:rPr lang="en-US" sz="2000" dirty="0">
                <a:latin typeface="Times New Roman" panose="02020603050405020304" pitchFamily="18" charset="0"/>
                <a:ea typeface="Times New Roman" panose="02020603050405020304" pitchFamily="18" charset="0"/>
                <a:cs typeface="Mangal"/>
              </a:rPr>
              <a:t> to the audience and situation.</a:t>
            </a:r>
            <a:endParaRPr lang="en-US" sz="1800" dirty="0">
              <a:latin typeface="Calibri" panose="020F0502020204030204" pitchFamily="34" charset="0"/>
              <a:ea typeface="Calibri" panose="020F0502020204030204" pitchFamily="34" charset="0"/>
              <a:cs typeface="Mangal"/>
            </a:endParaRPr>
          </a:p>
          <a:p>
            <a:pPr marL="0" marR="0">
              <a:lnSpc>
                <a:spcPct val="107000"/>
              </a:lnSpc>
              <a:spcBef>
                <a:spcPts val="0"/>
              </a:spcBef>
              <a:spcAft>
                <a:spcPts val="800"/>
              </a:spcAft>
            </a:pPr>
            <a:r>
              <a:rPr lang="en-US" sz="2400" b="1" dirty="0">
                <a:latin typeface="Times New Roman" panose="02020603050405020304" pitchFamily="18" charset="0"/>
                <a:ea typeface="Times New Roman" panose="02020603050405020304" pitchFamily="18" charset="0"/>
                <a:cs typeface="Mangal"/>
              </a:rPr>
              <a:t>Steps to Complete the Task</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7000"/>
              </a:lnSpc>
              <a:spcBef>
                <a:spcPts val="0"/>
              </a:spcBef>
              <a:spcAft>
                <a:spcPts val="80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cs typeface="Mangal"/>
              </a:rPr>
              <a:t>Identify the audience (Principal, manager, client, peer, etc.). </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7000"/>
              </a:lnSpc>
              <a:spcBef>
                <a:spcPts val="0"/>
              </a:spcBef>
              <a:spcAft>
                <a:spcPts val="80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cs typeface="Mangal"/>
              </a:rPr>
              <a:t>Decide the appropriate level of formality. </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7000"/>
              </a:lnSpc>
              <a:spcBef>
                <a:spcPts val="0"/>
              </a:spcBef>
              <a:spcAft>
                <a:spcPts val="80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cs typeface="Mangal"/>
              </a:rPr>
              <a:t>Replace casual words with respectful and professional expressions. </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7000"/>
              </a:lnSpc>
              <a:spcBef>
                <a:spcPts val="0"/>
              </a:spcBef>
              <a:spcAft>
                <a:spcPts val="80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cs typeface="Mangal"/>
              </a:rPr>
              <a:t>Speak politely while remaining confident. </a:t>
            </a:r>
            <a:endParaRPr lang="en-US" sz="1800" dirty="0">
              <a:latin typeface="Calibri" panose="020F0502020204030204" pitchFamily="34" charset="0"/>
              <a:ea typeface="Calibri" panose="020F0502020204030204" pitchFamily="34" charset="0"/>
              <a:cs typeface="Mangal"/>
            </a:endParaRPr>
          </a:p>
          <a:p>
            <a:r>
              <a:rPr lang="en-US" sz="2000" dirty="0">
                <a:latin typeface="Times New Roman" panose="02020603050405020304" pitchFamily="18" charset="0"/>
                <a:ea typeface="Times New Roman" panose="02020603050405020304" pitchFamily="18" charset="0"/>
              </a:rPr>
              <a:t>Review the statement before presenting it. </a:t>
            </a:r>
            <a:endParaRPr lang="en-US" sz="2000" dirty="0"/>
          </a:p>
        </p:txBody>
      </p:sp>
    </p:spTree>
    <p:extLst>
      <p:ext uri="{BB962C8B-B14F-4D97-AF65-F5344CB8AC3E}">
        <p14:creationId xmlns:p14="http://schemas.microsoft.com/office/powerpoint/2010/main" xmlns="" val="2696304773"/>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1797978" y="70605"/>
            <a:ext cx="9308386" cy="69631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t>Concision</a:t>
            </a:r>
            <a:endParaRPr lang="en-IN" sz="40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a:extLst>
              <a:ext uri="{FF2B5EF4-FFF2-40B4-BE49-F238E27FC236}">
                <a16:creationId xmlns:a16="http://schemas.microsoft.com/office/drawing/2014/main" xmlns="" id="{294A9F8A-18BC-7668-CCC4-5C60BC46A168}"/>
              </a:ext>
            </a:extLst>
          </p:cNvPr>
          <p:cNvSpPr>
            <a:spLocks noGrp="1"/>
          </p:cNvSpPr>
          <p:nvPr>
            <p:ph/>
          </p:nvPr>
        </p:nvSpPr>
        <p:spPr>
          <a:xfrm>
            <a:off x="298850" y="766916"/>
            <a:ext cx="11704881" cy="5768762"/>
          </a:xfrm>
        </p:spPr>
        <p:txBody>
          <a:bodyPr/>
          <a:lstStyle/>
          <a:p>
            <a:pPr marL="0" indent="0">
              <a:lnSpc>
                <a:spcPct val="100000"/>
              </a:lnSpc>
              <a:spcBef>
                <a:spcPts val="0"/>
              </a:spcBef>
              <a:buNone/>
            </a:pPr>
            <a:r>
              <a:rPr lang="en-US" sz="2400" dirty="0"/>
              <a:t>Concise means communicating exact message using the fewest words possible without losing meaning. It eliminates filler, repetitive words, and weak phrasing so the ideas are clear, impactful, and easy to read.</a:t>
            </a:r>
          </a:p>
          <a:p>
            <a:pPr marL="0" indent="0">
              <a:buNone/>
            </a:pPr>
            <a:r>
              <a:rPr lang="en-US" sz="2000" b="1" dirty="0"/>
              <a:t>1</a:t>
            </a:r>
            <a:r>
              <a:rPr lang="en-US" sz="2400" b="1" dirty="0"/>
              <a:t>. Replace Wordy Phrases: </a:t>
            </a:r>
            <a:r>
              <a:rPr lang="en-US" sz="2400" dirty="0"/>
              <a:t>Swap clunky, multi-word phrases with simple, one-word alternatives.</a:t>
            </a:r>
          </a:p>
          <a:p>
            <a:r>
              <a:rPr lang="en-US" sz="2000" b="1" dirty="0"/>
              <a:t>Wordy: </a:t>
            </a:r>
            <a:r>
              <a:rPr lang="en-US" sz="2000" dirty="0"/>
              <a:t>due to the fact that</a:t>
            </a:r>
          </a:p>
          <a:p>
            <a:r>
              <a:rPr lang="en-US" sz="2000" b="1" dirty="0"/>
              <a:t>Concise: </a:t>
            </a:r>
            <a:r>
              <a:rPr lang="en-US" sz="2000" dirty="0"/>
              <a:t>because </a:t>
            </a:r>
          </a:p>
          <a:p>
            <a:r>
              <a:rPr lang="en-US" sz="2000" b="1" dirty="0"/>
              <a:t>Wordy: </a:t>
            </a:r>
            <a:r>
              <a:rPr lang="en-US" sz="2000" dirty="0"/>
              <a:t>at this point in time </a:t>
            </a:r>
          </a:p>
          <a:p>
            <a:r>
              <a:rPr lang="en-US" sz="2000" b="1" dirty="0"/>
              <a:t>Concise: </a:t>
            </a:r>
            <a:r>
              <a:rPr lang="en-US" sz="2000" dirty="0"/>
              <a:t>now </a:t>
            </a:r>
            <a:endParaRPr lang="en-US" sz="2000" b="1" dirty="0"/>
          </a:p>
          <a:p>
            <a:pPr marL="0" indent="0">
              <a:spcBef>
                <a:spcPts val="0"/>
              </a:spcBef>
              <a:buNone/>
            </a:pPr>
            <a:r>
              <a:rPr lang="en-US" sz="2400" b="1" dirty="0"/>
              <a:t>2. Eliminate Redundancies: </a:t>
            </a:r>
            <a:r>
              <a:rPr lang="en-US" sz="2400" dirty="0"/>
              <a:t>Cut doubled words that convey the exact same meaning. </a:t>
            </a:r>
          </a:p>
          <a:p>
            <a:pPr marL="0" indent="0">
              <a:buNone/>
            </a:pPr>
            <a:r>
              <a:rPr lang="en-US" sz="2400" b="1" dirty="0"/>
              <a:t>Redundant: </a:t>
            </a:r>
            <a:r>
              <a:rPr lang="en-US" sz="2400" dirty="0"/>
              <a:t>basic fundamentals, exact same, past history </a:t>
            </a:r>
          </a:p>
          <a:p>
            <a:pPr marL="0" indent="0">
              <a:buNone/>
            </a:pPr>
            <a:r>
              <a:rPr lang="en-US" sz="2400" b="1" dirty="0"/>
              <a:t>Concise: </a:t>
            </a:r>
            <a:r>
              <a:rPr lang="en-US" sz="2400" dirty="0"/>
              <a:t>fundamentals, same, history</a:t>
            </a:r>
          </a:p>
          <a:p>
            <a:pPr marL="0" indent="0">
              <a:buNone/>
            </a:pPr>
            <a:r>
              <a:rPr lang="en-US" sz="2400" b="1" dirty="0"/>
              <a:t>Redundant: </a:t>
            </a:r>
            <a:r>
              <a:rPr lang="en-US" sz="2400" dirty="0"/>
              <a:t>end result, completely finished, free of charge</a:t>
            </a:r>
          </a:p>
          <a:p>
            <a:pPr marL="0" indent="0">
              <a:buNone/>
            </a:pPr>
            <a:r>
              <a:rPr lang="en-US" sz="2400" b="1" dirty="0"/>
              <a:t>Concise: </a:t>
            </a:r>
            <a:r>
              <a:rPr lang="en-US" sz="2400" dirty="0"/>
              <a:t>result, finished, free </a:t>
            </a:r>
          </a:p>
          <a:p>
            <a:endParaRPr lang="en-US" sz="2000" dirty="0"/>
          </a:p>
          <a:p>
            <a:pPr marL="0" indent="0">
              <a:buNone/>
            </a:pPr>
            <a:endParaRPr lang="en-US" sz="2000" dirty="0"/>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xmlns="" val="3079201513"/>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5106867" y="70605"/>
            <a:ext cx="2177337" cy="69631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t>Cont...</a:t>
            </a:r>
            <a:endParaRPr lang="en-IN" sz="40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85241" y="70605"/>
            <a:ext cx="1255363" cy="600076"/>
          </a:xfrm>
          <a:prstGeom prst="rect">
            <a:avLst/>
          </a:prstGeom>
          <a:noFill/>
        </p:spPr>
      </p:pic>
      <p:sp>
        <p:nvSpPr>
          <p:cNvPr id="2" name="Content Placeholder 1">
            <a:extLst>
              <a:ext uri="{FF2B5EF4-FFF2-40B4-BE49-F238E27FC236}">
                <a16:creationId xmlns:a16="http://schemas.microsoft.com/office/drawing/2014/main" xmlns="" id="{294A9F8A-18BC-7668-CCC4-5C60BC46A168}"/>
              </a:ext>
            </a:extLst>
          </p:cNvPr>
          <p:cNvSpPr>
            <a:spLocks noGrp="1"/>
          </p:cNvSpPr>
          <p:nvPr>
            <p:ph/>
          </p:nvPr>
        </p:nvSpPr>
        <p:spPr>
          <a:xfrm>
            <a:off x="291101" y="837521"/>
            <a:ext cx="11609797" cy="5826749"/>
          </a:xfrm>
        </p:spPr>
        <p:txBody>
          <a:bodyPr/>
          <a:lstStyle/>
          <a:p>
            <a:pPr marL="0" indent="0">
              <a:buNone/>
            </a:pPr>
            <a:r>
              <a:rPr lang="en-US" sz="2400" b="1" dirty="0"/>
              <a:t>3. Remove Filler Words and Qualifiers</a:t>
            </a:r>
          </a:p>
          <a:p>
            <a:pPr marL="0" indent="0">
              <a:buNone/>
            </a:pPr>
            <a:r>
              <a:rPr lang="en-US" sz="2400" dirty="0"/>
              <a:t>Delete words that pads up the sentence but add no real value.</a:t>
            </a:r>
          </a:p>
          <a:p>
            <a:r>
              <a:rPr lang="en-US" sz="2400" dirty="0"/>
              <a:t>Remove: really, very, basically, extremely, actually </a:t>
            </a:r>
          </a:p>
          <a:p>
            <a:r>
              <a:rPr lang="en-US" sz="2400" dirty="0"/>
              <a:t>Remove obvious lead-ins: "I believe that...", "The fact is that...", "There are..."</a:t>
            </a:r>
          </a:p>
          <a:p>
            <a:pPr marL="0" indent="0">
              <a:buNone/>
            </a:pPr>
            <a:r>
              <a:rPr lang="en-US" sz="2400" b="1" dirty="0"/>
              <a:t>4. Use Active Voice</a:t>
            </a:r>
          </a:p>
          <a:p>
            <a:pPr marL="0" indent="0">
              <a:buNone/>
            </a:pPr>
            <a:r>
              <a:rPr lang="en-US" sz="2400" dirty="0"/>
              <a:t>Make the subject of your sentence perform the action.</a:t>
            </a:r>
          </a:p>
          <a:p>
            <a:r>
              <a:rPr lang="en-US" sz="2400" dirty="0"/>
              <a:t>Passive: The report was submitted by the team. (8 words)</a:t>
            </a:r>
          </a:p>
          <a:p>
            <a:r>
              <a:rPr lang="en-US" sz="2400" dirty="0"/>
              <a:t>Active: The team submitted the report. (5 words)</a:t>
            </a:r>
          </a:p>
          <a:p>
            <a:pPr marL="0" indent="0">
              <a:buNone/>
            </a:pPr>
            <a:r>
              <a:rPr lang="en-US" sz="2400" b="1" dirty="0"/>
              <a:t>5. Cut Prepositional Strings</a:t>
            </a:r>
          </a:p>
          <a:p>
            <a:pPr marL="0" indent="0">
              <a:buNone/>
            </a:pPr>
            <a:r>
              <a:rPr lang="en-US" sz="2400" dirty="0"/>
              <a:t>Collapse sentences burdened by too many prepositional phrases (in, of, at, on, with).</a:t>
            </a:r>
          </a:p>
          <a:p>
            <a:r>
              <a:rPr lang="en-US" sz="2400" dirty="0"/>
              <a:t>Wordy: One of the most important indications of the development of the company is seen in the rise of sales.</a:t>
            </a:r>
          </a:p>
          <a:p>
            <a:r>
              <a:rPr lang="en-US" sz="2400" dirty="0"/>
              <a:t>Concise: Rising sales indicate the company's growth.</a:t>
            </a:r>
          </a:p>
        </p:txBody>
      </p:sp>
    </p:spTree>
    <p:extLst>
      <p:ext uri="{BB962C8B-B14F-4D97-AF65-F5344CB8AC3E}">
        <p14:creationId xmlns:p14="http://schemas.microsoft.com/office/powerpoint/2010/main" xmlns="" val="13693146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B5E8D68-8094-B1BE-82AC-3DF0D88F746E}"/>
              </a:ext>
            </a:extLst>
          </p:cNvPr>
          <p:cNvSpPr>
            <a:spLocks noGrp="1"/>
          </p:cNvSpPr>
          <p:nvPr>
            <p:ph idx="1"/>
          </p:nvPr>
        </p:nvSpPr>
        <p:spPr>
          <a:xfrm>
            <a:off x="1329520" y="1365393"/>
            <a:ext cx="8406101" cy="831897"/>
          </a:xfrm>
        </p:spPr>
        <p:txBody>
          <a:bodyPr/>
          <a:lstStyle/>
          <a:p>
            <a:pPr algn="just">
              <a:lnSpc>
                <a:spcPct val="107000"/>
              </a:lnSpc>
              <a:spcAft>
                <a:spcPts val="800"/>
              </a:spcAft>
            </a:pPr>
            <a:r>
              <a:rPr lang="en-IN" sz="2600" kern="100" dirty="0">
                <a:ea typeface="Calibri" panose="020F0502020204030204" pitchFamily="34" charset="0"/>
                <a:cs typeface="Arial" panose="020B0604020202020204" pitchFamily="34" charset="0"/>
                <a:hlinkClick r:id="rId2"/>
              </a:rPr>
              <a:t>https://www.youtube.com/watch?v=6tZsHZP8yEc</a:t>
            </a:r>
            <a:endParaRPr lang="en-IN" sz="2600" kern="100" dirty="0">
              <a:effectLst/>
              <a:ea typeface="Calibri" panose="020F0502020204030204" pitchFamily="34" charset="0"/>
              <a:cs typeface="Arial" panose="020B0604020202020204" pitchFamily="34" charset="0"/>
              <a:hlinkClick r:id="rId2"/>
            </a:endParaRPr>
          </a:p>
        </p:txBody>
      </p:sp>
      <p:sp>
        <p:nvSpPr>
          <p:cNvPr id="4" name="Rounded Rectangle 17">
            <a:extLst>
              <a:ext uri="{FF2B5EF4-FFF2-40B4-BE49-F238E27FC236}">
                <a16:creationId xmlns:a16="http://schemas.microsoft.com/office/drawing/2014/main" xmlns="" id="{6E48150F-81D2-4255-EF87-E903BCD38282}"/>
              </a:ext>
            </a:extLst>
          </p:cNvPr>
          <p:cNvSpPr>
            <a:spLocks noGrp="1"/>
          </p:cNvSpPr>
          <p:nvPr>
            <p:ph type="title"/>
          </p:nvPr>
        </p:nvSpPr>
        <p:spPr>
          <a:xfrm>
            <a:off x="1187355" y="67177"/>
            <a:ext cx="8939284" cy="101161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b="1" dirty="0">
                <a:effectLst/>
                <a:ea typeface="Calibri" panose="020F0502020204030204" pitchFamily="34" charset="0"/>
              </a:rPr>
              <a:t>Let’s Watch…</a:t>
            </a:r>
            <a:endParaRPr lang="en-IN" sz="8000" b="1" dirty="0"/>
          </a:p>
        </p:txBody>
      </p:sp>
    </p:spTree>
    <p:extLst>
      <p:ext uri="{BB962C8B-B14F-4D97-AF65-F5344CB8AC3E}">
        <p14:creationId xmlns:p14="http://schemas.microsoft.com/office/powerpoint/2010/main" xmlns="" val="38889796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2715904" y="70606"/>
            <a:ext cx="6987654" cy="53982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t>Case Study: Concision</a:t>
            </a:r>
            <a:endParaRPr lang="en-IN" sz="40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a:extLst>
              <a:ext uri="{FF2B5EF4-FFF2-40B4-BE49-F238E27FC236}">
                <a16:creationId xmlns:a16="http://schemas.microsoft.com/office/drawing/2014/main" xmlns="" id="{294A9F8A-18BC-7668-CCC4-5C60BC46A168}"/>
              </a:ext>
            </a:extLst>
          </p:cNvPr>
          <p:cNvSpPr>
            <a:spLocks noGrp="1"/>
          </p:cNvSpPr>
          <p:nvPr>
            <p:ph/>
          </p:nvPr>
        </p:nvSpPr>
        <p:spPr>
          <a:xfrm>
            <a:off x="291101" y="837522"/>
            <a:ext cx="11704881" cy="5768762"/>
          </a:xfrm>
        </p:spPr>
        <p:txBody>
          <a:bodyPr/>
          <a:lstStyle/>
          <a:p>
            <a:pPr marL="0" marR="0" indent="0">
              <a:lnSpc>
                <a:spcPct val="107000"/>
              </a:lnSpc>
              <a:spcBef>
                <a:spcPts val="0"/>
              </a:spcBef>
              <a:spcAft>
                <a:spcPts val="0"/>
              </a:spcAft>
              <a:buNone/>
            </a:pPr>
            <a:r>
              <a:rPr lang="en-US" b="1" dirty="0">
                <a:latin typeface="Times New Roman" panose="02020603050405020304" pitchFamily="18" charset="0"/>
                <a:ea typeface="Times New Roman" panose="02020603050405020304" pitchFamily="18" charset="0"/>
                <a:cs typeface="Mangal"/>
              </a:rPr>
              <a:t>Scenario</a:t>
            </a:r>
            <a:endParaRPr lang="en-US" sz="1600" dirty="0">
              <a:latin typeface="Calibri" panose="020F0502020204030204" pitchFamily="34" charset="0"/>
              <a:ea typeface="Calibri" panose="020F0502020204030204" pitchFamily="34" charset="0"/>
              <a:cs typeface="Mangal"/>
            </a:endParaRPr>
          </a:p>
          <a:p>
            <a:pPr marL="0" marR="0">
              <a:lnSpc>
                <a:spcPct val="107000"/>
              </a:lnSpc>
              <a:spcBef>
                <a:spcPts val="0"/>
              </a:spcBef>
              <a:spcAft>
                <a:spcPts val="800"/>
              </a:spcAft>
            </a:pPr>
            <a:r>
              <a:rPr lang="en-US" sz="2000" dirty="0">
                <a:latin typeface="Times New Roman" panose="02020603050405020304" pitchFamily="18" charset="0"/>
                <a:ea typeface="Times New Roman" panose="02020603050405020304" pitchFamily="18" charset="0"/>
                <a:cs typeface="Mangal"/>
              </a:rPr>
              <a:t>A student prepared a presentation and included the following sentence:</a:t>
            </a:r>
            <a:endParaRPr lang="en-US" sz="1800" dirty="0">
              <a:latin typeface="Calibri" panose="020F0502020204030204" pitchFamily="34" charset="0"/>
              <a:ea typeface="Calibri" panose="020F0502020204030204" pitchFamily="34" charset="0"/>
              <a:cs typeface="Mangal"/>
            </a:endParaRPr>
          </a:p>
          <a:p>
            <a:pPr marL="0" marR="0">
              <a:lnSpc>
                <a:spcPct val="107000"/>
              </a:lnSpc>
              <a:spcBef>
                <a:spcPts val="0"/>
              </a:spcBef>
              <a:spcAft>
                <a:spcPts val="800"/>
              </a:spcAft>
            </a:pPr>
            <a:r>
              <a:rPr lang="en-US" sz="2000" b="1" dirty="0">
                <a:latin typeface="Times New Roman" panose="02020603050405020304" pitchFamily="18" charset="0"/>
                <a:ea typeface="Times New Roman" panose="02020603050405020304" pitchFamily="18" charset="0"/>
                <a:cs typeface="Mangal"/>
              </a:rPr>
              <a:t>"At this point in time, it is absolutely essential and completely necessary that every single student should participate in all of the activities."</a:t>
            </a:r>
            <a:endParaRPr lang="en-US" sz="1800" dirty="0">
              <a:latin typeface="Calibri" panose="020F0502020204030204" pitchFamily="34" charset="0"/>
              <a:ea typeface="Calibri" panose="020F0502020204030204" pitchFamily="34" charset="0"/>
              <a:cs typeface="Mangal"/>
            </a:endParaRPr>
          </a:p>
          <a:p>
            <a:pPr marL="0" marR="0">
              <a:lnSpc>
                <a:spcPct val="107000"/>
              </a:lnSpc>
              <a:spcBef>
                <a:spcPts val="0"/>
              </a:spcBef>
              <a:spcAft>
                <a:spcPts val="800"/>
              </a:spcAft>
            </a:pPr>
            <a:r>
              <a:rPr lang="en-US" sz="2000" dirty="0">
                <a:latin typeface="Times New Roman" panose="02020603050405020304" pitchFamily="18" charset="0"/>
                <a:ea typeface="Times New Roman" panose="02020603050405020304" pitchFamily="18" charset="0"/>
                <a:cs typeface="Mangal"/>
              </a:rPr>
              <a:t>The sentence unnecessarily long and difficult to follow.</a:t>
            </a:r>
            <a:endParaRPr lang="en-US" sz="1800" dirty="0">
              <a:latin typeface="Calibri" panose="020F0502020204030204" pitchFamily="34" charset="0"/>
              <a:ea typeface="Calibri" panose="020F0502020204030204" pitchFamily="34" charset="0"/>
              <a:cs typeface="Mangal"/>
            </a:endParaRPr>
          </a:p>
          <a:p>
            <a:pPr marL="0" marR="0">
              <a:lnSpc>
                <a:spcPct val="107000"/>
              </a:lnSpc>
              <a:spcBef>
                <a:spcPts val="0"/>
              </a:spcBef>
              <a:spcAft>
                <a:spcPts val="800"/>
              </a:spcAft>
            </a:pPr>
            <a:r>
              <a:rPr lang="en-US" sz="2400" b="1" dirty="0">
                <a:latin typeface="Times New Roman" panose="02020603050405020304" pitchFamily="18" charset="0"/>
                <a:ea typeface="Times New Roman" panose="02020603050405020304" pitchFamily="18" charset="0"/>
                <a:cs typeface="Mangal"/>
              </a:rPr>
              <a:t>Problem</a:t>
            </a:r>
            <a:endParaRPr lang="en-US" sz="1800" dirty="0">
              <a:latin typeface="Calibri" panose="020F0502020204030204" pitchFamily="34" charset="0"/>
              <a:ea typeface="Calibri" panose="020F0502020204030204" pitchFamily="34" charset="0"/>
              <a:cs typeface="Mangal"/>
            </a:endParaRPr>
          </a:p>
          <a:p>
            <a:pPr marL="0" marR="0">
              <a:lnSpc>
                <a:spcPct val="107000"/>
              </a:lnSpc>
              <a:spcBef>
                <a:spcPts val="0"/>
              </a:spcBef>
              <a:spcAft>
                <a:spcPts val="800"/>
              </a:spcAft>
            </a:pPr>
            <a:r>
              <a:rPr lang="en-US" sz="2000" dirty="0">
                <a:latin typeface="Times New Roman" panose="02020603050405020304" pitchFamily="18" charset="0"/>
                <a:ea typeface="Times New Roman" panose="02020603050405020304" pitchFamily="18" charset="0"/>
                <a:cs typeface="Mangal"/>
              </a:rPr>
              <a:t>The sentence contains </a:t>
            </a:r>
            <a:r>
              <a:rPr lang="en-US" sz="2000" b="1" dirty="0">
                <a:latin typeface="Times New Roman" panose="02020603050405020304" pitchFamily="18" charset="0"/>
                <a:ea typeface="Times New Roman" panose="02020603050405020304" pitchFamily="18" charset="0"/>
                <a:cs typeface="Mangal"/>
              </a:rPr>
              <a:t>redundancy</a:t>
            </a:r>
            <a:r>
              <a:rPr lang="en-US" sz="2000" dirty="0">
                <a:latin typeface="Times New Roman" panose="02020603050405020304" pitchFamily="18" charset="0"/>
                <a:ea typeface="Times New Roman" panose="02020603050405020304" pitchFamily="18" charset="0"/>
                <a:cs typeface="Mangal"/>
              </a:rPr>
              <a:t>, </a:t>
            </a:r>
            <a:r>
              <a:rPr lang="en-US" sz="2000" b="1" dirty="0">
                <a:latin typeface="Times New Roman" panose="02020603050405020304" pitchFamily="18" charset="0"/>
                <a:ea typeface="Times New Roman" panose="02020603050405020304" pitchFamily="18" charset="0"/>
                <a:cs typeface="Mangal"/>
              </a:rPr>
              <a:t>wordiness</a:t>
            </a:r>
            <a:r>
              <a:rPr lang="en-US" sz="2000" dirty="0">
                <a:latin typeface="Times New Roman" panose="02020603050405020304" pitchFamily="18" charset="0"/>
                <a:ea typeface="Times New Roman" panose="02020603050405020304" pitchFamily="18" charset="0"/>
                <a:cs typeface="Mangal"/>
              </a:rPr>
              <a:t>, and unnecessary filler words.</a:t>
            </a:r>
            <a:endParaRPr lang="en-US" sz="1800" dirty="0">
              <a:latin typeface="Calibri" panose="020F0502020204030204" pitchFamily="34" charset="0"/>
              <a:ea typeface="Calibri" panose="020F0502020204030204" pitchFamily="34" charset="0"/>
              <a:cs typeface="Mangal"/>
            </a:endParaRPr>
          </a:p>
          <a:p>
            <a:pPr marL="0" marR="0">
              <a:lnSpc>
                <a:spcPct val="107000"/>
              </a:lnSpc>
              <a:spcBef>
                <a:spcPts val="0"/>
              </a:spcBef>
              <a:spcAft>
                <a:spcPts val="800"/>
              </a:spcAft>
            </a:pPr>
            <a:r>
              <a:rPr lang="en-US" sz="2400" b="1" dirty="0">
                <a:latin typeface="Times New Roman" panose="02020603050405020304" pitchFamily="18" charset="0"/>
                <a:ea typeface="Times New Roman" panose="02020603050405020304" pitchFamily="18" charset="0"/>
                <a:cs typeface="Mangal"/>
              </a:rPr>
              <a:t>Steps to Complete the Task</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7000"/>
              </a:lnSpc>
              <a:spcBef>
                <a:spcPts val="0"/>
              </a:spcBef>
              <a:spcAft>
                <a:spcPts val="80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cs typeface="Mangal"/>
              </a:rPr>
              <a:t>Read the sentence carefully. </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7000"/>
              </a:lnSpc>
              <a:spcBef>
                <a:spcPts val="0"/>
              </a:spcBef>
              <a:spcAft>
                <a:spcPts val="80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cs typeface="Mangal"/>
              </a:rPr>
              <a:t>Identify repeated or unnecessary words. </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7000"/>
              </a:lnSpc>
              <a:spcBef>
                <a:spcPts val="0"/>
              </a:spcBef>
              <a:spcAft>
                <a:spcPts val="80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cs typeface="Mangal"/>
              </a:rPr>
              <a:t>Replace long phrases with shorter alternatives. </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7000"/>
              </a:lnSpc>
              <a:spcBef>
                <a:spcPts val="0"/>
              </a:spcBef>
              <a:spcAft>
                <a:spcPts val="80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cs typeface="Mangal"/>
              </a:rPr>
              <a:t>Keep only words that add meaning. </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7000"/>
              </a:lnSpc>
              <a:spcBef>
                <a:spcPts val="0"/>
              </a:spcBef>
              <a:spcAft>
                <a:spcPts val="80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cs typeface="Mangal"/>
              </a:rPr>
              <a:t>Read the revised sentence to ensure it remains clear. </a:t>
            </a:r>
            <a:endParaRPr lang="en-US" sz="1800" dirty="0">
              <a:effectLst/>
              <a:latin typeface="Calibri" panose="020F0502020204030204" pitchFamily="34" charset="0"/>
              <a:ea typeface="Calibri" panose="020F0502020204030204" pitchFamily="34" charset="0"/>
              <a:cs typeface="Mangal"/>
            </a:endParaRPr>
          </a:p>
        </p:txBody>
      </p:sp>
    </p:spTree>
    <p:extLst>
      <p:ext uri="{BB962C8B-B14F-4D97-AF65-F5344CB8AC3E}">
        <p14:creationId xmlns:p14="http://schemas.microsoft.com/office/powerpoint/2010/main" xmlns="" val="201753227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2355917" y="210091"/>
            <a:ext cx="7733480" cy="52947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t>Standard Varieties and Intelligibility</a:t>
            </a:r>
            <a:endParaRPr lang="en-IN" sz="40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70606"/>
            <a:ext cx="1990725" cy="600076"/>
          </a:xfrm>
          <a:prstGeom prst="rect">
            <a:avLst/>
          </a:prstGeom>
          <a:noFill/>
        </p:spPr>
      </p:pic>
      <p:sp>
        <p:nvSpPr>
          <p:cNvPr id="2" name="Content Placeholder 1">
            <a:extLst>
              <a:ext uri="{FF2B5EF4-FFF2-40B4-BE49-F238E27FC236}">
                <a16:creationId xmlns:a16="http://schemas.microsoft.com/office/drawing/2014/main" xmlns="" id="{294A9F8A-18BC-7668-CCC4-5C60BC46A168}"/>
              </a:ext>
            </a:extLst>
          </p:cNvPr>
          <p:cNvSpPr>
            <a:spLocks noGrp="1"/>
          </p:cNvSpPr>
          <p:nvPr>
            <p:ph/>
          </p:nvPr>
        </p:nvSpPr>
        <p:spPr>
          <a:xfrm>
            <a:off x="1108128" y="937648"/>
            <a:ext cx="10366117" cy="5849746"/>
          </a:xfrm>
        </p:spPr>
        <p:txBody>
          <a:bodyPr/>
          <a:lstStyle/>
          <a:p>
            <a:pPr marL="0" indent="0" algn="just">
              <a:buNone/>
            </a:pPr>
            <a:r>
              <a:rPr lang="en-US" dirty="0"/>
              <a:t>To ensure intelligibility across British, American, and Indian English: </a:t>
            </a:r>
          </a:p>
          <a:p>
            <a:pPr algn="just"/>
            <a:r>
              <a:rPr lang="en-US" b="1" dirty="0"/>
              <a:t>Use simple and standard vocabulary instead of colloquial expressions</a:t>
            </a:r>
          </a:p>
          <a:p>
            <a:pPr marL="0" indent="0" algn="just">
              <a:buNone/>
            </a:pPr>
            <a:r>
              <a:rPr lang="en-US" dirty="0"/>
              <a:t>Example: Let’s figure this out. </a:t>
            </a:r>
          </a:p>
          <a:p>
            <a:pPr marL="0" indent="0" algn="just">
              <a:buNone/>
            </a:pPr>
            <a:r>
              <a:rPr lang="en-US" dirty="0"/>
              <a:t>                  Let’s solve this problem. </a:t>
            </a:r>
          </a:p>
          <a:p>
            <a:pPr algn="just"/>
            <a:r>
              <a:rPr lang="en-US" b="1" dirty="0"/>
              <a:t>Adopt strict spelling consistency and articulate clearly</a:t>
            </a:r>
          </a:p>
          <a:p>
            <a:pPr marL="0" indent="0" algn="just">
              <a:buNone/>
            </a:pPr>
            <a:r>
              <a:rPr lang="en-US" dirty="0"/>
              <a:t>Example:  </a:t>
            </a:r>
            <a:r>
              <a:rPr lang="en-US" i="1" dirty="0" err="1"/>
              <a:t>Colour</a:t>
            </a:r>
            <a:r>
              <a:rPr lang="en-US" i="1" dirty="0"/>
              <a:t> – Color, Program –</a:t>
            </a:r>
            <a:r>
              <a:rPr lang="en-US" dirty="0"/>
              <a:t> </a:t>
            </a:r>
            <a:r>
              <a:rPr lang="en-US" i="1" dirty="0" err="1"/>
              <a:t>Programme</a:t>
            </a:r>
            <a:r>
              <a:rPr lang="en-US" i="1" dirty="0"/>
              <a:t>, </a:t>
            </a:r>
            <a:r>
              <a:rPr lang="en-US" i="1" dirty="0" err="1"/>
              <a:t>Customise</a:t>
            </a:r>
            <a:r>
              <a:rPr lang="en-US" i="1" dirty="0"/>
              <a:t> – Customize, </a:t>
            </a:r>
            <a:r>
              <a:rPr lang="en-US" i="1" dirty="0" err="1"/>
              <a:t>Privatisation</a:t>
            </a:r>
            <a:r>
              <a:rPr lang="en-US" i="1" dirty="0"/>
              <a:t>- Privatization. (Find more like these) </a:t>
            </a:r>
          </a:p>
          <a:p>
            <a:pPr algn="just"/>
            <a:r>
              <a:rPr lang="en-IN" b="1" i="1" dirty="0"/>
              <a:t>Focus on core conventions instead of colloquial expressions</a:t>
            </a:r>
          </a:p>
          <a:p>
            <a:pPr marL="0" indent="0" algn="just">
              <a:buNone/>
            </a:pPr>
            <a:r>
              <a:rPr lang="en-IN" i="1" dirty="0"/>
              <a:t>Example: This function is totally busted, go ping the guy who wrote it.</a:t>
            </a:r>
          </a:p>
          <a:p>
            <a:pPr marL="0" indent="0" algn="just">
              <a:buNone/>
            </a:pPr>
            <a:r>
              <a:rPr lang="en-IN" dirty="0"/>
              <a:t>                  This function returns an error. Please contact the author.</a:t>
            </a:r>
            <a:endParaRPr lang="en-US" i="1" dirty="0"/>
          </a:p>
          <a:p>
            <a:pPr algn="just"/>
            <a:endParaRPr lang="en-US" sz="2400" b="1" dirty="0"/>
          </a:p>
        </p:txBody>
      </p:sp>
    </p:spTree>
    <p:extLst>
      <p:ext uri="{BB962C8B-B14F-4D97-AF65-F5344CB8AC3E}">
        <p14:creationId xmlns:p14="http://schemas.microsoft.com/office/powerpoint/2010/main" xmlns="" val="56623452"/>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1797978" y="70605"/>
            <a:ext cx="9308386" cy="69631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err="1"/>
              <a:t>Cont</a:t>
            </a:r>
            <a:r>
              <a:rPr lang="en-US" sz="4000"/>
              <a:t>…</a:t>
            </a:r>
            <a:endParaRPr lang="en-IN" sz="40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a:extLst>
              <a:ext uri="{FF2B5EF4-FFF2-40B4-BE49-F238E27FC236}">
                <a16:creationId xmlns:a16="http://schemas.microsoft.com/office/drawing/2014/main" xmlns="" id="{294A9F8A-18BC-7668-CCC4-5C60BC46A168}"/>
              </a:ext>
            </a:extLst>
          </p:cNvPr>
          <p:cNvSpPr>
            <a:spLocks noGrp="1"/>
          </p:cNvSpPr>
          <p:nvPr>
            <p:ph/>
          </p:nvPr>
        </p:nvSpPr>
        <p:spPr>
          <a:xfrm>
            <a:off x="272512" y="1077745"/>
            <a:ext cx="11646976" cy="5338554"/>
          </a:xfrm>
        </p:spPr>
        <p:txBody>
          <a:bodyPr/>
          <a:lstStyle/>
          <a:p>
            <a:pPr marL="0" indent="0">
              <a:buNone/>
            </a:pPr>
            <a:r>
              <a:rPr lang="en-US" sz="2000" b="1" dirty="0"/>
              <a:t>Vocabulary: </a:t>
            </a:r>
            <a:r>
              <a:rPr lang="en-US" sz="2000" dirty="0"/>
              <a:t>Everyday objects often have entirely different terms across regions.</a:t>
            </a:r>
          </a:p>
          <a:p>
            <a:r>
              <a:rPr lang="en-US" sz="2000" b="1" dirty="0"/>
              <a:t>British</a:t>
            </a:r>
            <a:r>
              <a:rPr lang="en-US" sz="2000" dirty="0"/>
              <a:t>: Car park, lorry, flat, mobile</a:t>
            </a:r>
          </a:p>
          <a:p>
            <a:r>
              <a:rPr lang="en-US" sz="2000" b="1" dirty="0"/>
              <a:t>American</a:t>
            </a:r>
            <a:r>
              <a:rPr lang="en-US" sz="2000" dirty="0"/>
              <a:t>: Parking lot, truck, apartment, cell phone</a:t>
            </a:r>
          </a:p>
          <a:p>
            <a:r>
              <a:rPr lang="en-US" sz="2000" b="1" dirty="0"/>
              <a:t>Indian: </a:t>
            </a:r>
            <a:r>
              <a:rPr lang="en-US" sz="2000" dirty="0"/>
              <a:t>Car park/parking, truck/lorry, flat, mobile (borrowing from both)</a:t>
            </a:r>
            <a:endParaRPr lang="en-US" sz="2000" b="1" dirty="0"/>
          </a:p>
          <a:p>
            <a:pPr marL="0" indent="0">
              <a:buNone/>
            </a:pPr>
            <a:r>
              <a:rPr lang="en-US" sz="2000" b="1" dirty="0"/>
              <a:t>To ensure your communication is clear globally, rely on the following strategies for writing and speaking conventions:</a:t>
            </a:r>
          </a:p>
          <a:p>
            <a:r>
              <a:rPr lang="en-US" sz="2000" b="1" dirty="0"/>
              <a:t>Pick a Variant and Stick to It</a:t>
            </a:r>
            <a:r>
              <a:rPr lang="en-US" sz="2000" dirty="0"/>
              <a:t>: Never mix spelling conventions within a single document . If writing for international academia or publishers, check their specific style guides .</a:t>
            </a:r>
          </a:p>
          <a:p>
            <a:r>
              <a:rPr lang="en-US" sz="2000" b="1" dirty="0"/>
              <a:t>Write in Plain English: </a:t>
            </a:r>
            <a:r>
              <a:rPr lang="en-US" sz="2000" dirty="0"/>
              <a:t>Avoid idiomatic expressions E.g., Once in a blue moon = Once in a while, rarely </a:t>
            </a:r>
          </a:p>
          <a:p>
            <a:pPr marL="0" indent="0">
              <a:buNone/>
            </a:pPr>
            <a:r>
              <a:rPr lang="en-US" sz="2000" dirty="0"/>
              <a:t>		             Replace phrasal verbs E.g., carry out with simple equivalents = perform.</a:t>
            </a:r>
          </a:p>
          <a:p>
            <a:r>
              <a:rPr lang="en-US" sz="2000" b="1" dirty="0"/>
              <a:t>Format Dates Universally: </a:t>
            </a:r>
            <a:r>
              <a:rPr lang="en-US" sz="2000" dirty="0"/>
              <a:t>Avoid ambiguous numeric formats like 03/05/26 which means March 5th in the US and May 3rd in the UK/India) . Instead, write dates globally as 3 May 2026 or May 3, 2026.</a:t>
            </a:r>
          </a:p>
          <a:p>
            <a:pPr algn="just"/>
            <a:r>
              <a:rPr lang="en-IN" sz="2000" b="1" dirty="0"/>
              <a:t>Moderate your pace and rhythm.</a:t>
            </a:r>
          </a:p>
          <a:p>
            <a:pPr algn="just"/>
            <a:r>
              <a:rPr lang="en-IN" sz="2000" b="1" dirty="0">
                <a:solidFill>
                  <a:prstClr val="black"/>
                </a:solidFill>
              </a:rPr>
              <a:t>Use universally understandable pronunciation instead of mimicking native accent and pronunciation.</a:t>
            </a:r>
            <a:endParaRPr lang="en-US" sz="2300" b="1" dirty="0"/>
          </a:p>
          <a:p>
            <a:endParaRPr lang="en-US" sz="2300" dirty="0"/>
          </a:p>
        </p:txBody>
      </p:sp>
    </p:spTree>
    <p:extLst>
      <p:ext uri="{BB962C8B-B14F-4D97-AF65-F5344CB8AC3E}">
        <p14:creationId xmlns:p14="http://schemas.microsoft.com/office/powerpoint/2010/main" xmlns="" val="1592919305"/>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85A551E7-E880-6770-0365-7E3A5FE73967}"/>
              </a:ext>
            </a:extLst>
          </p:cNvPr>
          <p:cNvSpPr/>
          <p:nvPr/>
        </p:nvSpPr>
        <p:spPr>
          <a:xfrm>
            <a:off x="1990725" y="94372"/>
            <a:ext cx="8160142" cy="77893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t>Let’s Watch…</a:t>
            </a:r>
          </a:p>
        </p:txBody>
      </p:sp>
      <p:sp>
        <p:nvSpPr>
          <p:cNvPr id="6" name="Content Placeholder 5">
            <a:extLst>
              <a:ext uri="{FF2B5EF4-FFF2-40B4-BE49-F238E27FC236}">
                <a16:creationId xmlns:a16="http://schemas.microsoft.com/office/drawing/2014/main" xmlns="" id="{79C105BA-8F0C-9659-56F1-432588FC6D8A}"/>
              </a:ext>
            </a:extLst>
          </p:cNvPr>
          <p:cNvSpPr>
            <a:spLocks noGrp="1"/>
          </p:cNvSpPr>
          <p:nvPr>
            <p:ph idx="1"/>
          </p:nvPr>
        </p:nvSpPr>
        <p:spPr>
          <a:xfrm>
            <a:off x="349321" y="1006867"/>
            <a:ext cx="11486508" cy="3182996"/>
          </a:xfrm>
        </p:spPr>
        <p:txBody>
          <a:bodyPr/>
          <a:lstStyle/>
          <a:p>
            <a:pPr marL="0" indent="0" algn="ctr">
              <a:lnSpc>
                <a:spcPct val="150000"/>
              </a:lnSpc>
              <a:spcAft>
                <a:spcPts val="800"/>
              </a:spcAft>
              <a:buNone/>
            </a:pPr>
            <a:r>
              <a:rPr lang="en-US" sz="2000" b="1" kern="100" dirty="0">
                <a:latin typeface="Times New Roman" panose="02020603050405020304" pitchFamily="18" charset="0"/>
                <a:ea typeface="Calibri" panose="020F0502020204030204" pitchFamily="34" charset="0"/>
                <a:cs typeface="Arial" panose="020B0604020202020204" pitchFamily="34" charset="0"/>
                <a:hlinkClick r:id="rId2"/>
              </a:rPr>
              <a:t>https://www.youtube.com/watch?v=pOHTr-MxtGM</a:t>
            </a:r>
            <a:endParaRPr lang="en-US" sz="2000" b="1" kern="100" dirty="0">
              <a:latin typeface="Times New Roman" panose="02020603050405020304" pitchFamily="18" charset="0"/>
              <a:ea typeface="Calibri" panose="020F0502020204030204" pitchFamily="34" charset="0"/>
              <a:cs typeface="Arial" panose="020B0604020202020204" pitchFamily="34" charset="0"/>
            </a:endParaRPr>
          </a:p>
          <a:p>
            <a:pPr marL="0" indent="0" algn="ctr">
              <a:lnSpc>
                <a:spcPct val="150000"/>
              </a:lnSpc>
              <a:spcAft>
                <a:spcPts val="800"/>
              </a:spcAft>
              <a:buNone/>
            </a:pPr>
            <a:endParaRPr lang="en-IN" sz="2000" dirty="0"/>
          </a:p>
        </p:txBody>
      </p:sp>
    </p:spTree>
    <p:extLst>
      <p:ext uri="{BB962C8B-B14F-4D97-AF65-F5344CB8AC3E}">
        <p14:creationId xmlns:p14="http://schemas.microsoft.com/office/powerpoint/2010/main" xmlns="" val="2146310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1797978" y="70606"/>
            <a:ext cx="9308386" cy="52947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Case Study: Standard Varieties and Intelligibility</a:t>
            </a:r>
            <a:endParaRPr lang="en-IN" sz="32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a:extLst>
              <a:ext uri="{FF2B5EF4-FFF2-40B4-BE49-F238E27FC236}">
                <a16:creationId xmlns:a16="http://schemas.microsoft.com/office/drawing/2014/main" xmlns="" id="{294A9F8A-18BC-7668-CCC4-5C60BC46A168}"/>
              </a:ext>
            </a:extLst>
          </p:cNvPr>
          <p:cNvSpPr>
            <a:spLocks noGrp="1"/>
          </p:cNvSpPr>
          <p:nvPr>
            <p:ph/>
          </p:nvPr>
        </p:nvSpPr>
        <p:spPr>
          <a:xfrm>
            <a:off x="291101" y="670682"/>
            <a:ext cx="11609797" cy="6020478"/>
          </a:xfrm>
        </p:spPr>
        <p:txBody>
          <a:bodyPr/>
          <a:lstStyle/>
          <a:p>
            <a:pPr marL="0" marR="0" indent="0">
              <a:lnSpc>
                <a:spcPct val="100000"/>
              </a:lnSpc>
              <a:spcBef>
                <a:spcPts val="0"/>
              </a:spcBef>
              <a:spcAft>
                <a:spcPts val="0"/>
              </a:spcAft>
              <a:buNone/>
            </a:pPr>
            <a:r>
              <a:rPr lang="en-US" sz="2400" b="1" dirty="0">
                <a:latin typeface="Times New Roman" panose="02020603050405020304" pitchFamily="18" charset="0"/>
                <a:ea typeface="Times New Roman" panose="02020603050405020304" pitchFamily="18" charset="0"/>
                <a:cs typeface="Mangal"/>
              </a:rPr>
              <a:t>Scenario </a:t>
            </a:r>
          </a:p>
          <a:p>
            <a:pPr marL="0" marR="0">
              <a:lnSpc>
                <a:spcPct val="100000"/>
              </a:lnSpc>
              <a:spcBef>
                <a:spcPts val="0"/>
              </a:spcBef>
              <a:spcAft>
                <a:spcPts val="0"/>
              </a:spcAft>
            </a:pPr>
            <a:r>
              <a:rPr lang="en-US" sz="2000" dirty="0">
                <a:latin typeface="Times New Roman" panose="02020603050405020304" pitchFamily="18" charset="0"/>
                <a:ea typeface="Times New Roman" panose="02020603050405020304" pitchFamily="18" charset="0"/>
                <a:cs typeface="Mangal"/>
              </a:rPr>
              <a:t>A software company developed a user manual for customers in different countries. The manual included expressions such as:</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0000"/>
              </a:lnSpc>
              <a:spcBef>
                <a:spcPts val="0"/>
              </a:spcBef>
              <a:spcAft>
                <a:spcPts val="800"/>
              </a:spcAft>
              <a:buSzPts val="1000"/>
              <a:buFont typeface="Symbol" panose="05050102010706020507" pitchFamily="18" charset="2"/>
              <a:buChar char=""/>
              <a:tabLst>
                <a:tab pos="457200" algn="l"/>
              </a:tabLst>
            </a:pPr>
            <a:r>
              <a:rPr lang="en-US" sz="2000" b="1" dirty="0">
                <a:latin typeface="Times New Roman" panose="02020603050405020304" pitchFamily="18" charset="0"/>
                <a:ea typeface="Times New Roman" panose="02020603050405020304" pitchFamily="18" charset="0"/>
                <a:cs typeface="Mangal"/>
              </a:rPr>
              <a:t>Kindly do the needful</a:t>
            </a:r>
            <a:r>
              <a:rPr lang="en-US" sz="2000" dirty="0">
                <a:latin typeface="Times New Roman" panose="02020603050405020304" pitchFamily="18" charset="0"/>
                <a:ea typeface="Times New Roman" panose="02020603050405020304" pitchFamily="18" charset="0"/>
                <a:cs typeface="Mangal"/>
              </a:rPr>
              <a:t> </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0000"/>
              </a:lnSpc>
              <a:spcBef>
                <a:spcPts val="0"/>
              </a:spcBef>
              <a:spcAft>
                <a:spcPts val="800"/>
              </a:spcAft>
              <a:buSzPts val="1000"/>
              <a:buFont typeface="Symbol" panose="05050102010706020507" pitchFamily="18" charset="2"/>
              <a:buChar char=""/>
              <a:tabLst>
                <a:tab pos="457200" algn="l"/>
              </a:tabLst>
            </a:pPr>
            <a:r>
              <a:rPr lang="en-US" sz="2000" b="1" dirty="0">
                <a:latin typeface="Times New Roman" panose="02020603050405020304" pitchFamily="18" charset="0"/>
                <a:ea typeface="Times New Roman" panose="02020603050405020304" pitchFamily="18" charset="0"/>
                <a:cs typeface="Mangal"/>
              </a:rPr>
              <a:t>Prepone the meeting</a:t>
            </a:r>
            <a:r>
              <a:rPr lang="en-US" sz="2000" dirty="0">
                <a:latin typeface="Times New Roman" panose="02020603050405020304" pitchFamily="18" charset="0"/>
                <a:ea typeface="Times New Roman" panose="02020603050405020304" pitchFamily="18" charset="0"/>
                <a:cs typeface="Mangal"/>
              </a:rPr>
              <a:t> </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0000"/>
              </a:lnSpc>
              <a:spcBef>
                <a:spcPts val="0"/>
              </a:spcBef>
              <a:spcAft>
                <a:spcPts val="800"/>
              </a:spcAft>
              <a:buSzPts val="1000"/>
              <a:buFont typeface="Symbol" panose="05050102010706020507" pitchFamily="18" charset="2"/>
              <a:buChar char=""/>
              <a:tabLst>
                <a:tab pos="457200" algn="l"/>
              </a:tabLst>
            </a:pPr>
            <a:r>
              <a:rPr lang="en-US" sz="2000" b="1" dirty="0">
                <a:latin typeface="Times New Roman" panose="02020603050405020304" pitchFamily="18" charset="0"/>
                <a:ea typeface="Times New Roman" panose="02020603050405020304" pitchFamily="18" charset="0"/>
                <a:cs typeface="Mangal"/>
              </a:rPr>
              <a:t>Pass out from college</a:t>
            </a:r>
            <a:r>
              <a:rPr lang="en-US" sz="2000" dirty="0">
                <a:latin typeface="Times New Roman" panose="02020603050405020304" pitchFamily="18" charset="0"/>
                <a:ea typeface="Times New Roman" panose="02020603050405020304" pitchFamily="18" charset="0"/>
                <a:cs typeface="Mangal"/>
              </a:rPr>
              <a:t> </a:t>
            </a:r>
            <a:endParaRPr lang="en-US" sz="1800" dirty="0">
              <a:latin typeface="Calibri" panose="020F0502020204030204" pitchFamily="34" charset="0"/>
              <a:ea typeface="Calibri" panose="020F0502020204030204" pitchFamily="34" charset="0"/>
              <a:cs typeface="Mangal"/>
            </a:endParaRPr>
          </a:p>
          <a:p>
            <a:pPr marL="0" marR="0">
              <a:lnSpc>
                <a:spcPct val="100000"/>
              </a:lnSpc>
              <a:spcBef>
                <a:spcPts val="0"/>
              </a:spcBef>
              <a:spcAft>
                <a:spcPts val="800"/>
              </a:spcAft>
            </a:pPr>
            <a:r>
              <a:rPr lang="en-US" sz="2000" dirty="0">
                <a:latin typeface="Times New Roman" panose="02020603050405020304" pitchFamily="18" charset="0"/>
                <a:ea typeface="Times New Roman" panose="02020603050405020304" pitchFamily="18" charset="0"/>
                <a:cs typeface="Mangal"/>
              </a:rPr>
              <a:t>International users were unfamiliar with these expressions and misunderstood the instructions.</a:t>
            </a:r>
            <a:endParaRPr lang="en-US" sz="1800" dirty="0">
              <a:latin typeface="Calibri" panose="020F0502020204030204" pitchFamily="34" charset="0"/>
              <a:ea typeface="Calibri" panose="020F0502020204030204" pitchFamily="34" charset="0"/>
              <a:cs typeface="Mangal"/>
            </a:endParaRPr>
          </a:p>
          <a:p>
            <a:pPr marL="0" marR="0">
              <a:lnSpc>
                <a:spcPct val="100000"/>
              </a:lnSpc>
              <a:spcBef>
                <a:spcPts val="0"/>
              </a:spcBef>
              <a:spcAft>
                <a:spcPts val="800"/>
              </a:spcAft>
            </a:pPr>
            <a:r>
              <a:rPr lang="en-US" sz="2000" b="1" dirty="0">
                <a:latin typeface="Times New Roman" panose="02020603050405020304" pitchFamily="18" charset="0"/>
                <a:ea typeface="Times New Roman" panose="02020603050405020304" pitchFamily="18" charset="0"/>
                <a:cs typeface="Mangal"/>
              </a:rPr>
              <a:t>Problem</a:t>
            </a:r>
            <a:endParaRPr lang="en-US" sz="1800" dirty="0">
              <a:latin typeface="Calibri" panose="020F0502020204030204" pitchFamily="34" charset="0"/>
              <a:ea typeface="Calibri" panose="020F0502020204030204" pitchFamily="34" charset="0"/>
              <a:cs typeface="Mangal"/>
            </a:endParaRPr>
          </a:p>
          <a:p>
            <a:pPr marL="0" marR="0">
              <a:lnSpc>
                <a:spcPct val="100000"/>
              </a:lnSpc>
              <a:spcBef>
                <a:spcPts val="0"/>
              </a:spcBef>
              <a:spcAft>
                <a:spcPts val="800"/>
              </a:spcAft>
            </a:pPr>
            <a:r>
              <a:rPr lang="en-US" sz="2000" dirty="0">
                <a:latin typeface="Times New Roman" panose="02020603050405020304" pitchFamily="18" charset="0"/>
                <a:ea typeface="Times New Roman" panose="02020603050405020304" pitchFamily="18" charset="0"/>
                <a:cs typeface="Mangal"/>
              </a:rPr>
              <a:t>The manual used expressions common in </a:t>
            </a:r>
            <a:r>
              <a:rPr lang="en-US" sz="2000" b="1" dirty="0">
                <a:latin typeface="Times New Roman" panose="02020603050405020304" pitchFamily="18" charset="0"/>
                <a:ea typeface="Times New Roman" panose="02020603050405020304" pitchFamily="18" charset="0"/>
                <a:cs typeface="Mangal"/>
              </a:rPr>
              <a:t>Indian English</a:t>
            </a:r>
            <a:r>
              <a:rPr lang="en-US" sz="2000" dirty="0">
                <a:latin typeface="Times New Roman" panose="02020603050405020304" pitchFamily="18" charset="0"/>
                <a:ea typeface="Times New Roman" panose="02020603050405020304" pitchFamily="18" charset="0"/>
                <a:cs typeface="Mangal"/>
              </a:rPr>
              <a:t> but less familiar in international communication.</a:t>
            </a:r>
            <a:endParaRPr lang="en-US" sz="1800" dirty="0">
              <a:latin typeface="Calibri" panose="020F0502020204030204" pitchFamily="34" charset="0"/>
              <a:ea typeface="Calibri" panose="020F0502020204030204" pitchFamily="34" charset="0"/>
              <a:cs typeface="Mangal"/>
            </a:endParaRPr>
          </a:p>
          <a:p>
            <a:pPr marL="0" marR="0">
              <a:lnSpc>
                <a:spcPct val="100000"/>
              </a:lnSpc>
              <a:spcBef>
                <a:spcPts val="0"/>
              </a:spcBef>
              <a:spcAft>
                <a:spcPts val="800"/>
              </a:spcAft>
            </a:pPr>
            <a:r>
              <a:rPr lang="en-US" sz="2000" b="1" dirty="0">
                <a:latin typeface="Times New Roman" panose="02020603050405020304" pitchFamily="18" charset="0"/>
                <a:ea typeface="Times New Roman" panose="02020603050405020304" pitchFamily="18" charset="0"/>
                <a:cs typeface="Mangal"/>
              </a:rPr>
              <a:t>Steps to Complete the Task</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0000"/>
              </a:lnSpc>
              <a:spcBef>
                <a:spcPts val="0"/>
              </a:spcBef>
              <a:spcAft>
                <a:spcPts val="80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cs typeface="Mangal"/>
              </a:rPr>
              <a:t>Identify the target audience. </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0000"/>
              </a:lnSpc>
              <a:spcBef>
                <a:spcPts val="0"/>
              </a:spcBef>
              <a:spcAft>
                <a:spcPts val="80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cs typeface="Mangal"/>
              </a:rPr>
              <a:t>Check whether the vocabulary is internationally understood. </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0000"/>
              </a:lnSpc>
              <a:spcBef>
                <a:spcPts val="0"/>
              </a:spcBef>
              <a:spcAft>
                <a:spcPts val="80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cs typeface="Mangal"/>
              </a:rPr>
              <a:t>Replace regional expressions with globally accepted alternatives. </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0000"/>
              </a:lnSpc>
              <a:spcBef>
                <a:spcPts val="0"/>
              </a:spcBef>
              <a:spcAft>
                <a:spcPts val="80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cs typeface="Mangal"/>
              </a:rPr>
              <a:t>Use one standard variety of English consistently. </a:t>
            </a:r>
            <a:endParaRPr lang="en-US" sz="1800" dirty="0">
              <a:latin typeface="Calibri" panose="020F0502020204030204" pitchFamily="34" charset="0"/>
              <a:ea typeface="Calibri" panose="020F0502020204030204" pitchFamily="34" charset="0"/>
              <a:cs typeface="Mangal"/>
            </a:endParaRPr>
          </a:p>
          <a:p>
            <a:pPr marL="342900" marR="0" lvl="0" indent="-342900">
              <a:lnSpc>
                <a:spcPct val="100000"/>
              </a:lnSpc>
              <a:spcBef>
                <a:spcPts val="0"/>
              </a:spcBef>
              <a:spcAft>
                <a:spcPts val="800"/>
              </a:spcAft>
              <a:buFont typeface="+mj-lt"/>
              <a:buAutoNum type="arabicPeriod"/>
              <a:tabLst>
                <a:tab pos="457200" algn="l"/>
              </a:tabLst>
            </a:pPr>
            <a:r>
              <a:rPr lang="en-US" sz="2000" dirty="0">
                <a:latin typeface="Times New Roman" panose="02020603050405020304" pitchFamily="18" charset="0"/>
                <a:ea typeface="Times New Roman" panose="02020603050405020304" pitchFamily="18" charset="0"/>
                <a:cs typeface="Mangal"/>
              </a:rPr>
              <a:t>Ask someone from a different English-speaking background to review the document. </a:t>
            </a:r>
            <a:endParaRPr lang="en-US" sz="1800" dirty="0">
              <a:effectLst/>
              <a:latin typeface="Calibri" panose="020F0502020204030204" pitchFamily="34" charset="0"/>
              <a:ea typeface="Calibri" panose="020F0502020204030204" pitchFamily="34" charset="0"/>
              <a:cs typeface="Mangal"/>
            </a:endParaRPr>
          </a:p>
        </p:txBody>
      </p:sp>
    </p:spTree>
    <p:extLst>
      <p:ext uri="{BB962C8B-B14F-4D97-AF65-F5344CB8AC3E}">
        <p14:creationId xmlns:p14="http://schemas.microsoft.com/office/powerpoint/2010/main" xmlns="" val="3860673442"/>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18B84F3E-0BAB-4FEE-A20F-074E440ADCC6}"/>
              </a:ext>
            </a:extLst>
          </p:cNvPr>
          <p:cNvSpPr/>
          <p:nvPr/>
        </p:nvSpPr>
        <p:spPr>
          <a:xfrm>
            <a:off x="4052806" y="396901"/>
            <a:ext cx="3525342" cy="6000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t>Summary</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a:extLst>
              <a:ext uri="{FF2B5EF4-FFF2-40B4-BE49-F238E27FC236}">
                <a16:creationId xmlns:a16="http://schemas.microsoft.com/office/drawing/2014/main" xmlns="" id="{7C23143F-B5EC-3A12-2D4A-FA7666B2AB88}"/>
              </a:ext>
            </a:extLst>
          </p:cNvPr>
          <p:cNvSpPr>
            <a:spLocks noGrp="1"/>
          </p:cNvSpPr>
          <p:nvPr>
            <p:ph/>
          </p:nvPr>
        </p:nvSpPr>
        <p:spPr>
          <a:xfrm>
            <a:off x="528654" y="1393878"/>
            <a:ext cx="11132403" cy="5341219"/>
          </a:xfrm>
        </p:spPr>
        <p:txBody>
          <a:bodyPr/>
          <a:lstStyle/>
          <a:p>
            <a:pPr marL="0" indent="0" algn="just">
              <a:buNone/>
            </a:pPr>
            <a:r>
              <a:rPr lang="en-US" sz="2400" kern="100" dirty="0">
                <a:ea typeface="Calibri" panose="020F0502020204030204" pitchFamily="34" charset="0"/>
                <a:cs typeface="Arial" panose="020B0604020202020204" pitchFamily="34" charset="0"/>
              </a:rPr>
              <a:t>One should learn to communicate with a wide variety of people. Always remember that effective communication is possible only when there  is clarity, conciseness, correctness, completeness, and coherence in your language.  </a:t>
            </a:r>
          </a:p>
          <a:p>
            <a:pPr algn="just"/>
            <a:r>
              <a:rPr lang="en-US" sz="2400" b="1" kern="100" dirty="0">
                <a:ea typeface="Calibri" panose="020F0502020204030204" pitchFamily="34" charset="0"/>
                <a:cs typeface="Arial" panose="020B0604020202020204" pitchFamily="34" charset="0"/>
              </a:rPr>
              <a:t>Clarity</a:t>
            </a:r>
            <a:r>
              <a:rPr lang="en-US" sz="2400" kern="100" dirty="0">
                <a:ea typeface="Calibri" panose="020F0502020204030204" pitchFamily="34" charset="0"/>
                <a:cs typeface="Arial" panose="020B0604020202020204" pitchFamily="34" charset="0"/>
              </a:rPr>
              <a:t> is attained by expressing one idea per sentence, using active voice where possible, maintaining parallel structure, and avoiding ambiguity. </a:t>
            </a:r>
          </a:p>
          <a:p>
            <a:pPr algn="just"/>
            <a:r>
              <a:rPr lang="en-US" sz="2400" b="1" kern="100" dirty="0">
                <a:ea typeface="Calibri" panose="020F0502020204030204" pitchFamily="34" charset="0"/>
                <a:cs typeface="Arial" panose="020B0604020202020204" pitchFamily="34" charset="0"/>
              </a:rPr>
              <a:t>Register and tone </a:t>
            </a:r>
            <a:r>
              <a:rPr lang="en-US" sz="2400" kern="100" dirty="0">
                <a:ea typeface="Calibri" panose="020F0502020204030204" pitchFamily="34" charset="0"/>
                <a:cs typeface="Arial" panose="020B0604020202020204" pitchFamily="34" charset="0"/>
              </a:rPr>
              <a:t>should match the situation, whether communicating with a manager, peer, or client. </a:t>
            </a:r>
          </a:p>
          <a:p>
            <a:pPr algn="just"/>
            <a:r>
              <a:rPr lang="en-US" sz="2400" b="1" kern="100" dirty="0">
                <a:ea typeface="Calibri" panose="020F0502020204030204" pitchFamily="34" charset="0"/>
                <a:cs typeface="Arial" panose="020B0604020202020204" pitchFamily="34" charset="0"/>
              </a:rPr>
              <a:t>Concision</a:t>
            </a:r>
            <a:r>
              <a:rPr lang="en-US" sz="2400" kern="100" dirty="0">
                <a:ea typeface="Calibri" panose="020F0502020204030204" pitchFamily="34" charset="0"/>
                <a:cs typeface="Arial" panose="020B0604020202020204" pitchFamily="34" charset="0"/>
              </a:rPr>
              <a:t> advances readability by eliminating redundancy, wordiness, and needless filler. </a:t>
            </a:r>
          </a:p>
          <a:p>
            <a:pPr algn="just"/>
            <a:r>
              <a:rPr lang="en-US" sz="2400" kern="100" dirty="0">
                <a:ea typeface="Calibri" panose="020F0502020204030204" pitchFamily="34" charset="0"/>
                <a:cs typeface="Arial" panose="020B0604020202020204" pitchFamily="34" charset="0"/>
              </a:rPr>
              <a:t>Writers should also be aware of British, American, and Indian English conventions and use them consistently. </a:t>
            </a:r>
          </a:p>
          <a:p>
            <a:pPr marL="0" indent="0" algn="just">
              <a:buNone/>
            </a:pPr>
            <a:r>
              <a:rPr lang="en-US" sz="2400" kern="100" dirty="0">
                <a:ea typeface="Calibri" panose="020F0502020204030204" pitchFamily="34" charset="0"/>
                <a:cs typeface="Arial" panose="020B0604020202020204" pitchFamily="34" charset="0"/>
              </a:rPr>
              <a:t>By following these principles, communication becomes more professional, accurate, and easily understood by diverse audiences.</a:t>
            </a:r>
            <a:endParaRPr lang="en-US" sz="2400" kern="100" dirty="0">
              <a:effectLst/>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xmlns="" val="1231051577"/>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797B3B2-1242-F207-6DBA-8E3DBABD1DA6}"/>
            </a:ext>
          </a:extLst>
        </p:cNvPr>
        <p:cNvGrpSpPr/>
        <p:nvPr/>
      </p:nvGrpSpPr>
      <p:grpSpPr>
        <a:xfrm>
          <a:off x="0" y="0"/>
          <a:ext cx="0" cy="0"/>
          <a:chOff x="0" y="0"/>
          <a:chExt cx="0" cy="0"/>
        </a:xfrm>
      </p:grpSpPr>
      <p:pic>
        <p:nvPicPr>
          <p:cNvPr id="31" name="Picture 2" descr="KL Deemed to be University Logo">
            <a:extLst>
              <a:ext uri="{FF2B5EF4-FFF2-40B4-BE49-F238E27FC236}">
                <a16:creationId xmlns:a16="http://schemas.microsoft.com/office/drawing/2014/main" xmlns="" id="{D9EB3ADC-8EE4-550E-DEB1-D39E244D3CF2}"/>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6" name="Content Placeholder 5">
            <a:extLst>
              <a:ext uri="{FF2B5EF4-FFF2-40B4-BE49-F238E27FC236}">
                <a16:creationId xmlns:a16="http://schemas.microsoft.com/office/drawing/2014/main" xmlns="" id="{ABB7F9F1-0E79-1654-F38C-513AD7775A4B}"/>
              </a:ext>
            </a:extLst>
          </p:cNvPr>
          <p:cNvSpPr>
            <a:spLocks noGrp="1"/>
          </p:cNvSpPr>
          <p:nvPr>
            <p:ph idx="1"/>
          </p:nvPr>
        </p:nvSpPr>
        <p:spPr>
          <a:xfrm>
            <a:off x="616296" y="1364965"/>
            <a:ext cx="11291299" cy="2183453"/>
          </a:xfrm>
        </p:spPr>
        <p:txBody>
          <a:bodyPr/>
          <a:lstStyle/>
          <a:p>
            <a:pPr marL="457200" indent="-457200">
              <a:buFont typeface="+mj-lt"/>
              <a:buAutoNum type="arabicPeriod"/>
            </a:pPr>
            <a:r>
              <a:rPr lang="en-US" sz="2400" dirty="0"/>
              <a:t>Am I able to express one clear idea in each sentence I write?</a:t>
            </a:r>
          </a:p>
          <a:p>
            <a:pPr marL="457200" indent="-457200">
              <a:buFont typeface="+mj-lt"/>
              <a:buAutoNum type="arabicPeriod"/>
            </a:pPr>
            <a:r>
              <a:rPr lang="en-US" sz="2400" dirty="0"/>
              <a:t>Is it possible for me to revise a sentences to ensure they have only one clear meaning?</a:t>
            </a:r>
          </a:p>
          <a:p>
            <a:pPr marL="457200" indent="-457200">
              <a:buFont typeface="+mj-lt"/>
              <a:buAutoNum type="arabicPeriod"/>
            </a:pPr>
            <a:r>
              <a:rPr lang="en-US" sz="2400" dirty="0"/>
              <a:t>Can I identify when active voice or passive voice is more appropriate?</a:t>
            </a:r>
          </a:p>
          <a:p>
            <a:pPr marL="457200" indent="-457200">
              <a:buFont typeface="+mj-lt"/>
              <a:buAutoNum type="arabicPeriod"/>
            </a:pPr>
            <a:r>
              <a:rPr lang="en-US" sz="2400" dirty="0"/>
              <a:t>Do I choose the appropriate register and tone for a manager, peer, or client?</a:t>
            </a:r>
          </a:p>
          <a:p>
            <a:pPr marL="457200" indent="-457200">
              <a:buFont typeface="+mj-lt"/>
              <a:buAutoNum type="arabicPeriod"/>
            </a:pPr>
            <a:r>
              <a:rPr lang="en-US" sz="2400" dirty="0"/>
              <a:t>Can I eliminate unnecessary words while keeping my message clear?</a:t>
            </a:r>
            <a:endParaRPr lang="en-IN" sz="2400" dirty="0"/>
          </a:p>
        </p:txBody>
      </p:sp>
      <p:sp>
        <p:nvSpPr>
          <p:cNvPr id="2" name="Rounded Rectangle 17">
            <a:extLst>
              <a:ext uri="{FF2B5EF4-FFF2-40B4-BE49-F238E27FC236}">
                <a16:creationId xmlns:a16="http://schemas.microsoft.com/office/drawing/2014/main" xmlns="" id="{E55344AE-D04F-229C-9D67-F6F35DE0D0BF}"/>
              </a:ext>
            </a:extLst>
          </p:cNvPr>
          <p:cNvSpPr/>
          <p:nvPr/>
        </p:nvSpPr>
        <p:spPr>
          <a:xfrm>
            <a:off x="2789694" y="205371"/>
            <a:ext cx="6282995" cy="777149"/>
          </a:xfrm>
          <a:prstGeom prst="roundRect">
            <a:avLst>
              <a:gd name="adj" fmla="val 50000"/>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3600" dirty="0"/>
              <a:t>SELF-ASSESSMENT QUESTIONS</a:t>
            </a:r>
          </a:p>
        </p:txBody>
      </p:sp>
    </p:spTree>
    <p:extLst>
      <p:ext uri="{BB962C8B-B14F-4D97-AF65-F5344CB8AC3E}">
        <p14:creationId xmlns:p14="http://schemas.microsoft.com/office/powerpoint/2010/main" xmlns="" val="2827086471"/>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1250">
        <p15:prstTrans prst="pageCurlDoubl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18B84F3E-0BAB-4FEE-A20F-074E440ADCC6}"/>
              </a:ext>
            </a:extLst>
          </p:cNvPr>
          <p:cNvSpPr/>
          <p:nvPr/>
        </p:nvSpPr>
        <p:spPr>
          <a:xfrm>
            <a:off x="2390294" y="106917"/>
            <a:ext cx="7541231" cy="72756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Terminal Questions </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Content Placeholder 4">
            <a:extLst>
              <a:ext uri="{FF2B5EF4-FFF2-40B4-BE49-F238E27FC236}">
                <a16:creationId xmlns:a16="http://schemas.microsoft.com/office/drawing/2014/main" xmlns="" id="{C8BC5279-88CD-C714-C8CE-AA942732F218}"/>
              </a:ext>
            </a:extLst>
          </p:cNvPr>
          <p:cNvSpPr>
            <a:spLocks noGrp="1"/>
          </p:cNvSpPr>
          <p:nvPr>
            <p:ph idx="1"/>
          </p:nvPr>
        </p:nvSpPr>
        <p:spPr>
          <a:xfrm>
            <a:off x="723332" y="1036805"/>
            <a:ext cx="11000096" cy="3071171"/>
          </a:xfrm>
        </p:spPr>
        <p:txBody>
          <a:bodyPr/>
          <a:lstStyle/>
          <a:p>
            <a:pPr algn="just"/>
            <a:endParaRPr lang="en-IN" sz="2400" kern="100" dirty="0">
              <a:effectLst/>
              <a:ea typeface="Calibri" panose="020F0502020204030204" pitchFamily="34" charset="0"/>
              <a:cs typeface="Arial" panose="020B0604020202020204" pitchFamily="34" charset="0"/>
            </a:endParaRPr>
          </a:p>
          <a:p>
            <a:pPr algn="just"/>
            <a:endParaRPr lang="en-IN" sz="2400" dirty="0"/>
          </a:p>
        </p:txBody>
      </p:sp>
      <p:sp>
        <p:nvSpPr>
          <p:cNvPr id="3" name="TextBox 2">
            <a:extLst>
              <a:ext uri="{FF2B5EF4-FFF2-40B4-BE49-F238E27FC236}">
                <a16:creationId xmlns:a16="http://schemas.microsoft.com/office/drawing/2014/main" xmlns="" id="{E4BA7E71-E54F-B452-4CC7-4CB1A014B226}"/>
              </a:ext>
            </a:extLst>
          </p:cNvPr>
          <p:cNvSpPr txBox="1"/>
          <p:nvPr/>
        </p:nvSpPr>
        <p:spPr>
          <a:xfrm>
            <a:off x="1148166" y="1661152"/>
            <a:ext cx="9895667" cy="4247317"/>
          </a:xfrm>
          <a:prstGeom prst="rect">
            <a:avLst/>
          </a:prstGeom>
          <a:noFill/>
        </p:spPr>
        <p:txBody>
          <a:bodyPr wrap="square" rtlCol="0">
            <a:spAutoFit/>
          </a:bodyPr>
          <a:lstStyle/>
          <a:p>
            <a:pPr marL="342900" lvl="0" indent="-342900">
              <a:lnSpc>
                <a:spcPct val="150000"/>
              </a:lnSpc>
              <a:buFont typeface="+mj-lt"/>
              <a:buAutoNum type="arabicPeriod"/>
            </a:pPr>
            <a:r>
              <a:rPr lang="en-IN" sz="2400" dirty="0"/>
              <a:t>Explain why a sentence should express only one main idea.</a:t>
            </a:r>
          </a:p>
          <a:p>
            <a:pPr marL="342900" lvl="0" indent="-342900">
              <a:lnSpc>
                <a:spcPct val="150000"/>
              </a:lnSpc>
              <a:buFont typeface="+mj-lt"/>
              <a:buAutoNum type="arabicPeriod"/>
            </a:pPr>
            <a:r>
              <a:rPr lang="en-IN" sz="2400" dirty="0"/>
              <a:t>Demonstrate with appropriate examples how ambiguity can affect the clarity of a message.</a:t>
            </a:r>
          </a:p>
          <a:p>
            <a:pPr marL="342900" lvl="0" indent="-342900">
              <a:lnSpc>
                <a:spcPct val="150000"/>
              </a:lnSpc>
              <a:buFont typeface="+mj-lt"/>
              <a:buAutoNum type="arabicPeriod"/>
            </a:pPr>
            <a:r>
              <a:rPr lang="en-IN" sz="2400" dirty="0"/>
              <a:t>How does the choice of register depend on the audience and the situation?</a:t>
            </a:r>
          </a:p>
          <a:p>
            <a:pPr marL="342900" lvl="0" indent="-342900">
              <a:lnSpc>
                <a:spcPct val="150000"/>
              </a:lnSpc>
              <a:buFont typeface="+mj-lt"/>
              <a:buAutoNum type="arabicPeriod"/>
            </a:pPr>
            <a:r>
              <a:rPr lang="en-IN" sz="2400" dirty="0"/>
              <a:t>Illustrate why concision is important in effective writing.</a:t>
            </a:r>
          </a:p>
          <a:p>
            <a:pPr marL="342900" lvl="0" indent="-342900">
              <a:lnSpc>
                <a:spcPct val="150000"/>
              </a:lnSpc>
              <a:buFont typeface="+mj-lt"/>
              <a:buAutoNum type="arabicPeriod"/>
            </a:pPr>
            <a:r>
              <a:rPr lang="en-IN" sz="2400" dirty="0"/>
              <a:t>Discuss why consistency in using a standard variety of English is important for intelligibility.</a:t>
            </a:r>
          </a:p>
          <a:p>
            <a:endParaRPr lang="en-IN" dirty="0"/>
          </a:p>
        </p:txBody>
      </p:sp>
    </p:spTree>
    <p:extLst>
      <p:ext uri="{BB962C8B-B14F-4D97-AF65-F5344CB8AC3E}">
        <p14:creationId xmlns:p14="http://schemas.microsoft.com/office/powerpoint/2010/main" xmlns="" val="4163397158"/>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1555845" y="93892"/>
            <a:ext cx="10012856" cy="82050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REFERENCES FOR FURTHER LEARNING OF THE SESSION</a:t>
            </a:r>
            <a:endParaRPr lang="en-US" sz="3200" b="1" dirty="0">
              <a:solidFill>
                <a:schemeClr val="bg1"/>
              </a:solidFill>
              <a:latin typeface="Poppins" panose="00000500000000000000" pitchFamily="2" charset="0"/>
              <a:cs typeface="Poppins" panose="00000500000000000000" pitchFamily="2" charset="0"/>
            </a:endParaRP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a:extLst>
              <a:ext uri="{FF2B5EF4-FFF2-40B4-BE49-F238E27FC236}">
                <a16:creationId xmlns:a16="http://schemas.microsoft.com/office/drawing/2014/main" xmlns="" id="{37E76048-7203-9411-74BA-708E6B7C76D0}"/>
              </a:ext>
            </a:extLst>
          </p:cNvPr>
          <p:cNvSpPr>
            <a:spLocks noGrp="1"/>
          </p:cNvSpPr>
          <p:nvPr>
            <p:ph/>
          </p:nvPr>
        </p:nvSpPr>
        <p:spPr>
          <a:xfrm>
            <a:off x="714897" y="1008292"/>
            <a:ext cx="11085816" cy="4738581"/>
          </a:xfrm>
        </p:spPr>
        <p:txBody>
          <a:bodyPr/>
          <a:lstStyle/>
          <a:p>
            <a:pPr marL="0" indent="0" algn="just">
              <a:lnSpc>
                <a:spcPct val="150000"/>
              </a:lnSpc>
              <a:spcAft>
                <a:spcPts val="800"/>
              </a:spcAft>
              <a:buNone/>
            </a:pPr>
            <a:r>
              <a:rPr lang="en-US" sz="3200" b="1" kern="100" dirty="0">
                <a:effectLst/>
                <a:ea typeface="Calibri" panose="020F0502020204030204" pitchFamily="34" charset="0"/>
                <a:cs typeface="Arial" panose="020B0604020202020204" pitchFamily="34" charset="0"/>
              </a:rPr>
              <a:t>e-References:</a:t>
            </a:r>
          </a:p>
          <a:p>
            <a:pPr marL="0" indent="0" algn="just">
              <a:lnSpc>
                <a:spcPct val="100000"/>
              </a:lnSpc>
              <a:spcBef>
                <a:spcPts val="0"/>
              </a:spcBef>
              <a:spcAft>
                <a:spcPts val="1200"/>
              </a:spcAft>
              <a:buNone/>
            </a:pPr>
            <a:r>
              <a:rPr lang="en-IN" sz="2000" kern="100" dirty="0">
                <a:ea typeface="Calibri" panose="020F0502020204030204" pitchFamily="34" charset="0"/>
                <a:cs typeface="Arial" panose="020B0604020202020204" pitchFamily="34" charset="0"/>
                <a:hlinkClick r:id="rId3"/>
              </a:rPr>
              <a:t>https://www.youtube.com/watch?v=fo46yFWIJzU</a:t>
            </a:r>
          </a:p>
          <a:p>
            <a:pPr marL="0" indent="0" algn="just">
              <a:lnSpc>
                <a:spcPct val="100000"/>
              </a:lnSpc>
              <a:spcBef>
                <a:spcPts val="0"/>
              </a:spcBef>
              <a:spcAft>
                <a:spcPts val="1200"/>
              </a:spcAft>
              <a:buNone/>
            </a:pPr>
            <a:r>
              <a:rPr lang="en-US" sz="2000" b="1" kern="100" dirty="0">
                <a:ea typeface="Calibri" panose="020F0502020204030204" pitchFamily="34" charset="0"/>
                <a:cs typeface="Arial" panose="020B0604020202020204" pitchFamily="34" charset="0"/>
                <a:hlinkClick r:id="rId4"/>
              </a:rPr>
              <a:t>https://www.youtube.com/watch?v=QLWBwsRp9Pk</a:t>
            </a:r>
            <a:endParaRPr lang="en-US" sz="2000" b="1" kern="100" dirty="0">
              <a:ea typeface="Calibri" panose="020F0502020204030204" pitchFamily="34" charset="0"/>
              <a:cs typeface="Arial" panose="020B0604020202020204" pitchFamily="34" charset="0"/>
            </a:endParaRPr>
          </a:p>
          <a:p>
            <a:pPr marL="0" indent="0" algn="just">
              <a:lnSpc>
                <a:spcPct val="100000"/>
              </a:lnSpc>
              <a:spcBef>
                <a:spcPts val="0"/>
              </a:spcBef>
              <a:spcAft>
                <a:spcPts val="1200"/>
              </a:spcAft>
              <a:buNone/>
            </a:pPr>
            <a:r>
              <a:rPr lang="en-US" sz="2000" b="1" kern="100" dirty="0">
                <a:ea typeface="Calibri" panose="020F0502020204030204" pitchFamily="34" charset="0"/>
                <a:cs typeface="Arial" panose="020B0604020202020204" pitchFamily="34" charset="0"/>
                <a:hlinkClick r:id="rId5"/>
              </a:rPr>
              <a:t>https://www.youtube.com/watch?v=hhVic18H4u4&amp;t=19s</a:t>
            </a:r>
            <a:endParaRPr lang="en-US" sz="2000" b="1" kern="100" dirty="0">
              <a:ea typeface="Calibri" panose="020F0502020204030204" pitchFamily="34" charset="0"/>
              <a:cs typeface="Arial" panose="020B0604020202020204" pitchFamily="34" charset="0"/>
            </a:endParaRPr>
          </a:p>
          <a:p>
            <a:pPr marL="0" indent="0" algn="just">
              <a:lnSpc>
                <a:spcPct val="100000"/>
              </a:lnSpc>
              <a:spcBef>
                <a:spcPts val="0"/>
              </a:spcBef>
              <a:spcAft>
                <a:spcPts val="1200"/>
              </a:spcAft>
              <a:buNone/>
            </a:pPr>
            <a:r>
              <a:rPr lang="en-IN" sz="2000" kern="100" dirty="0">
                <a:ea typeface="Calibri" panose="020F0502020204030204" pitchFamily="34" charset="0"/>
                <a:cs typeface="Arial" panose="020B0604020202020204" pitchFamily="34" charset="0"/>
                <a:hlinkClick r:id="rId3"/>
              </a:rPr>
              <a:t>https://www.youtube.com/results?search_query=Learn+English+with+Rebecca+Active+vs+Passive+Voice&amp;utm_source=chatgpt.com</a:t>
            </a:r>
          </a:p>
          <a:p>
            <a:pPr marL="0" indent="0" algn="just">
              <a:lnSpc>
                <a:spcPct val="100000"/>
              </a:lnSpc>
              <a:spcBef>
                <a:spcPts val="0"/>
              </a:spcBef>
              <a:spcAft>
                <a:spcPts val="1200"/>
              </a:spcAft>
              <a:buNone/>
            </a:pPr>
            <a:r>
              <a:rPr lang="en-IN" sz="2000" kern="100" dirty="0">
                <a:ea typeface="Calibri" panose="020F0502020204030204" pitchFamily="34" charset="0"/>
                <a:cs typeface="Arial" panose="020B0604020202020204" pitchFamily="34" charset="0"/>
                <a:hlinkClick r:id="rId3"/>
              </a:rPr>
              <a:t>https://www.youtube.com/watch?v=fDnXWxXZekw</a:t>
            </a:r>
          </a:p>
          <a:p>
            <a:pPr marL="0" indent="0" algn="just">
              <a:lnSpc>
                <a:spcPct val="100000"/>
              </a:lnSpc>
              <a:spcBef>
                <a:spcPts val="0"/>
              </a:spcBef>
              <a:spcAft>
                <a:spcPts val="1200"/>
              </a:spcAft>
              <a:buNone/>
            </a:pPr>
            <a:r>
              <a:rPr lang="en-US" sz="2000" dirty="0"/>
              <a:t>Shaw, George Bernard. “Spoken English and Broken English.” Macmillan College Prose. Ed. T. </a:t>
            </a:r>
            <a:r>
              <a:rPr lang="en-US" sz="2000" dirty="0" err="1"/>
              <a:t>Sriraman</a:t>
            </a:r>
            <a:r>
              <a:rPr lang="en-US" sz="2000" dirty="0"/>
              <a:t>. New Delhi: Macmillan, 2001. Print. </a:t>
            </a:r>
          </a:p>
          <a:p>
            <a:pPr marL="0" indent="0" algn="just">
              <a:lnSpc>
                <a:spcPct val="100000"/>
              </a:lnSpc>
              <a:spcBef>
                <a:spcPts val="0"/>
              </a:spcBef>
              <a:spcAft>
                <a:spcPts val="1200"/>
              </a:spcAft>
              <a:buNone/>
            </a:pPr>
            <a:r>
              <a:rPr lang="en-US" sz="2000" dirty="0"/>
              <a:t>Yule, George. The Study of Language. 2nd ed. New York: Cambridge UP, 1985. Print.</a:t>
            </a:r>
            <a:endParaRPr lang="en-IN" sz="2000" kern="100" dirty="0">
              <a:effectLst/>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xmlns="" val="2602073769"/>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xmlns="" id="{E792BE84-3448-2348-B352-CD5BC083E5FD}"/>
              </a:ext>
            </a:extLst>
          </p:cNvPr>
          <p:cNvSpPr/>
          <p:nvPr/>
        </p:nvSpPr>
        <p:spPr>
          <a:xfrm>
            <a:off x="2263476" y="180556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0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Language Skills for Engineers</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BBD0A98-E68B-4DAA-8964-2F739D6D4075}">
  <ds:schemaRefs>
    <ds:schemaRef ds:uri="http://schemas.openxmlformats.org/package/2006/metadata/core-properties"/>
    <ds:schemaRef ds:uri="http://purl.org/dc/dcmitype/"/>
    <ds:schemaRef ds:uri="http://purl.org/dc/terms/"/>
    <ds:schemaRef ds:uri="http://purl.org/dc/elements/1.1/"/>
    <ds:schemaRef ds:uri="d43ee83c-3e71-4748-8ebc-8eaadf793425"/>
    <ds:schemaRef ds:uri="http://schemas.microsoft.com/office/2006/documentManagement/types"/>
    <ds:schemaRef ds:uri="http://www.w3.org/XML/1998/namespace"/>
    <ds:schemaRef ds:uri="http://schemas.microsoft.com/office/2006/metadata/properties"/>
    <ds:schemaRef ds:uri="http://schemas.microsoft.com/office/infopath/2007/PartnerControls"/>
    <ds:schemaRef ds:uri="0125a647-8023-46ae-ae6e-85cf36d841bd"/>
  </ds:schemaRefs>
</ds:datastoreItem>
</file>

<file path=docProps/app.xml><?xml version="1.0" encoding="utf-8"?>
<Properties xmlns="http://schemas.openxmlformats.org/officeDocument/2006/extended-properties" xmlns:vt="http://schemas.openxmlformats.org/officeDocument/2006/docPropsVTypes">
  <Template>Office Theme</Template>
  <TotalTime>3840</TotalTime>
  <Words>2467</Words>
  <Application>Microsoft Office PowerPoint</Application>
  <PresentationFormat>Custom</PresentationFormat>
  <Paragraphs>289</Paragraphs>
  <Slides>27</Slides>
  <Notes>3</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1_Office Theme</vt:lpstr>
      <vt:lpstr>Slide 1</vt:lpstr>
      <vt:lpstr>Slide 2</vt:lpstr>
      <vt:lpstr>Slide 3</vt:lpstr>
      <vt:lpstr>Slide 4</vt:lpstr>
      <vt:lpstr>Slide 5</vt:lpstr>
      <vt:lpstr>Slide 6</vt:lpstr>
      <vt:lpstr>Slide 7</vt:lpstr>
      <vt:lpstr>Let’s Watch…</vt:lpstr>
      <vt:lpstr>Slide 9</vt:lpstr>
      <vt:lpstr>Slide 10</vt:lpstr>
      <vt:lpstr>Slide 11</vt:lpstr>
      <vt:lpstr>Slide 12</vt:lpstr>
      <vt:lpstr>Let’s Watch…</vt:lpstr>
      <vt:lpstr>Slide 14</vt:lpstr>
      <vt:lpstr>Slide 15</vt:lpstr>
      <vt:lpstr>Slide 16</vt:lpstr>
      <vt:lpstr>Let’s Watch…</vt:lpstr>
      <vt:lpstr>Slide 18</vt:lpstr>
      <vt:lpstr>Slide 19</vt:lpstr>
      <vt:lpstr>Slide 20</vt:lpstr>
      <vt:lpstr>Slide 21</vt:lpstr>
      <vt:lpstr>Slide 22</vt:lpstr>
      <vt:lpstr>Slide 23</vt:lpstr>
      <vt:lpstr>Slide 24</vt:lpstr>
      <vt:lpstr>Slide 25</vt:lpstr>
      <vt:lpstr>Slide 26</vt:lpstr>
      <vt:lpstr>Slide 27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hi</cp:lastModifiedBy>
  <cp:revision>524</cp:revision>
  <dcterms:created xsi:type="dcterms:W3CDTF">2020-02-08T09:57:44Z</dcterms:created>
  <dcterms:modified xsi:type="dcterms:W3CDTF">2026-08-10T09:22:48Z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