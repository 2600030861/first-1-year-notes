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5"/>
  </p:notesMasterIdLst>
  <p:sldIdLst>
    <p:sldId id="271" r:id="rId5"/>
    <p:sldId id="300" r:id="rId6"/>
    <p:sldId id="258" r:id="rId7"/>
    <p:sldId id="342" r:id="rId8"/>
    <p:sldId id="343" r:id="rId9"/>
    <p:sldId id="261" r:id="rId10"/>
    <p:sldId id="344" r:id="rId11"/>
    <p:sldId id="334" r:id="rId12"/>
    <p:sldId id="339" r:id="rId13"/>
    <p:sldId id="267" r:id="rId14"/>
    <p:sldId id="268" r:id="rId15"/>
    <p:sldId id="269" r:id="rId16"/>
    <p:sldId id="340" r:id="rId17"/>
    <p:sldId id="270" r:id="rId18"/>
    <p:sldId id="314" r:id="rId19"/>
    <p:sldId id="341" r:id="rId20"/>
    <p:sldId id="262" r:id="rId21"/>
    <p:sldId id="263" r:id="rId22"/>
    <p:sldId id="303" r:id="rId23"/>
    <p:sldId id="3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9E4C"/>
    <a:srgbClr val="A81E24"/>
    <a:srgbClr val="FF9900"/>
    <a:srgbClr val="E84845"/>
    <a:srgbClr val="FAD2D2"/>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47" autoAdjust="0"/>
    <p:restoredTop sz="94689"/>
  </p:normalViewPr>
  <p:slideViewPr>
    <p:cSldViewPr snapToGrid="0" showGuides="1">
      <p:cViewPr varScale="1">
        <p:scale>
          <a:sx n="59" d="100"/>
          <a:sy n="59" d="100"/>
        </p:scale>
        <p:origin x="928"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t>7/17/2026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5EBB8-8867-30B4-DD7D-8A85E29226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34425-3691-CFB8-B7D7-AF4E31594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C5F1F1-8C74-623D-4E52-E3E09E5B5A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F3BB61-8EFF-994B-AEF9-94E706112FB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594011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06634-BFC9-104A-5DEA-2D17A4BB2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2F27C-68ED-24EA-E62B-AB84FCDC92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099B44-DA8E-90A3-9566-D4389CA3EB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6C19D5-D53D-7A32-9122-6D59F89A50BD}"/>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154872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458496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65FDC-63D3-616A-B6F0-BC91CE838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64D8C-FA48-3FBD-5BEE-F83E23812A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82007C-3A47-9F15-C48E-7E8851D517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437275-4978-24DF-1C30-BFA0CC64075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03585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E4ADD7-897F-4F47-A317-DE24AB827DD3}" type="slidenum">
              <a:rPr lang="en-US" smtClean="0"/>
              <a:t>9</a:t>
            </a:fld>
            <a:endParaRPr lang="en-US"/>
          </a:p>
        </p:txBody>
      </p:sp>
    </p:spTree>
    <p:extLst>
      <p:ext uri="{BB962C8B-B14F-4D97-AF65-F5344CB8AC3E}">
        <p14:creationId xmlns:p14="http://schemas.microsoft.com/office/powerpoint/2010/main" val="3749545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7/17/2026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7/17/2026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7/17/2026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7/17/2026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7/17/2026</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7/17/2026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7/17/2026</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7/17/2026</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7/17/2026</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7/17/2026</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0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4">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5">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hyperlink" Target="https://www.21kschool.com/in/blog/how-to-overcome-stage-fear/" TargetMode="External"/><Relationship Id="rId7" Type="http://schemas.openxmlformats.org/officeDocument/2006/relationships/hyperlink" Target="https://www.youtube.com/watch?v=_N0QScyQLD0"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youtube.com/watch?v=zCVX3cqn4ao" TargetMode="External"/><Relationship Id="rId5" Type="http://schemas.openxmlformats.org/officeDocument/2006/relationships/hyperlink" Target="https://www.rockethealth.app/blog/how-to-overcome-stage-fear-proven-strategies-for-confidence/" TargetMode="External"/><Relationship Id="rId4" Type="http://schemas.openxmlformats.org/officeDocument/2006/relationships/hyperlink" Target="https://www.sandrazimmer.com/transform-stage-fright-into-authentic-presence/"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0" y="38946"/>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76" name="Google Shape;476;p16"/>
          <p:cNvSpPr txBox="1"/>
          <p:nvPr/>
        </p:nvSpPr>
        <p:spPr>
          <a:xfrm>
            <a:off x="5971142" y="3613219"/>
            <a:ext cx="5904146" cy="2554505"/>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endParaRPr lang="en-US" sz="2400" b="1" dirty="0">
              <a:solidFill>
                <a:schemeClr val="bg1">
                  <a:lumMod val="50000"/>
                </a:schemeClr>
              </a:solidFill>
              <a:latin typeface="Aptos ExtraBold" panose="020F0502020204030204" pitchFamily="34" charset="0"/>
              <a:ea typeface="BioRhyme ExtraBold"/>
              <a:cs typeface="Poppins" panose="00000500000000000000" pitchFamily="2" charset="0"/>
              <a:sym typeface="BioRhyme ExtraBold"/>
            </a:endParaRPr>
          </a:p>
          <a:p>
            <a:pPr marR="0" lvl="0" indent="0" algn="just">
              <a:spcBef>
                <a:spcPts val="0"/>
              </a:spcBef>
              <a:spcAft>
                <a:spcPts val="0"/>
              </a:spcAft>
              <a:buNone/>
            </a:pPr>
            <a:r>
              <a:rPr lang="en-US" sz="2800" dirty="0">
                <a:latin typeface="Amasis MT Pro Black" panose="02040A04050005020304" pitchFamily="18" charset="0"/>
                <a:ea typeface="BioRhyme ExtraBold"/>
                <a:cs typeface="Poppins" panose="00000500000000000000" pitchFamily="2" charset="0"/>
                <a:sym typeface="BioRhyme ExtraBold"/>
              </a:rPr>
              <a:t>Topic: Foundations of Effective</a:t>
            </a:r>
          </a:p>
          <a:p>
            <a:pPr marR="0" lvl="0" indent="0" algn="just">
              <a:spcBef>
                <a:spcPts val="0"/>
              </a:spcBef>
              <a:spcAft>
                <a:spcPts val="0"/>
              </a:spcAft>
              <a:buNone/>
            </a:pPr>
            <a:r>
              <a:rPr lang="en-US" sz="2800" dirty="0">
                <a:latin typeface="Amasis MT Pro Black" panose="02040A04050005020304" pitchFamily="18" charset="0"/>
                <a:ea typeface="BioRhyme ExtraBold"/>
                <a:cs typeface="Poppins" panose="00000500000000000000" pitchFamily="2" charset="0"/>
                <a:sym typeface="BioRhyme ExtraBold"/>
              </a:rPr>
              <a:t>Professional Writing</a:t>
            </a:r>
          </a:p>
          <a:p>
            <a:pPr algn="just"/>
            <a:r>
              <a:rPr lang="en-US" sz="2800" i="1" dirty="0">
                <a:solidFill>
                  <a:srgbClr val="12AEAE"/>
                </a:solidFill>
              </a:rPr>
              <a:t>Principles, Practices &amp; Application</a:t>
            </a:r>
            <a:endParaRPr lang="en-US" sz="2800" dirty="0"/>
          </a:p>
          <a:p>
            <a:pPr marR="0" lvl="0" indent="0" algn="just">
              <a:spcBef>
                <a:spcPts val="0"/>
              </a:spcBef>
              <a:spcAft>
                <a:spcPts val="0"/>
              </a:spcAft>
              <a:buNone/>
            </a:pPr>
            <a:endParaRPr lang="en-US" sz="2800" b="1" dirty="0">
              <a:solidFill>
                <a:srgbClr val="FF0000"/>
              </a:solidFill>
              <a:latin typeface="Amasis MT Pro Black" panose="02040A04050005020304" pitchFamily="18" charset="0"/>
              <a:ea typeface="BioRhyme ExtraBold"/>
              <a:cs typeface="Poppins" panose="00000500000000000000" pitchFamily="2" charset="0"/>
              <a:sym typeface="BioRhyme ExtraBold"/>
            </a:endParaRPr>
          </a:p>
          <a:p>
            <a:pPr marR="0" lvl="0" indent="0" algn="ctr">
              <a:spcBef>
                <a:spcPts val="0"/>
              </a:spcBef>
              <a:spcAft>
                <a:spcPts val="0"/>
              </a:spcAft>
              <a:buNone/>
            </a:pPr>
            <a:endParaRPr lang="en-US" sz="2400" b="1" dirty="0">
              <a:solidFill>
                <a:schemeClr val="bg1">
                  <a:lumMod val="50000"/>
                </a:schemeClr>
              </a:solidFill>
              <a:latin typeface="Aptos ExtraBold" panose="020F0502020204030204" pitchFamily="34" charset="0"/>
              <a:ea typeface="BioRhyme ExtraBold"/>
              <a:cs typeface="Poppins" panose="00000500000000000000" pitchFamily="2" charset="0"/>
              <a:sym typeface="BioRhyme ExtraBold"/>
            </a:endParaRPr>
          </a:p>
        </p:txBody>
      </p:sp>
      <p:sp>
        <p:nvSpPr>
          <p:cNvPr id="475" name="Google Shape;475;p16"/>
          <p:cNvSpPr txBox="1"/>
          <p:nvPr/>
        </p:nvSpPr>
        <p:spPr>
          <a:xfrm>
            <a:off x="6095998" y="332258"/>
            <a:ext cx="53782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English</a:t>
            </a:r>
          </a:p>
        </p:txBody>
      </p:sp>
      <p:sp>
        <p:nvSpPr>
          <p:cNvPr id="8" name="Google Shape;502;p17"/>
          <p:cNvSpPr/>
          <p:nvPr/>
        </p:nvSpPr>
        <p:spPr>
          <a:xfrm>
            <a:off x="6680332" y="2357610"/>
            <a:ext cx="4357782" cy="1255609"/>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4000" b="1">
                <a:solidFill>
                  <a:schemeClr val="lt1"/>
                </a:solidFill>
                <a:ea typeface="Calibri" panose="020F0502020204030204"/>
                <a:cs typeface="Poppins" panose="00000500000000000000" pitchFamily="2" charset="0"/>
                <a:sym typeface="Calibri" panose="020F0502020204030204"/>
              </a:rPr>
              <a:t>Module 3</a:t>
            </a:r>
          </a:p>
          <a:p>
            <a:pPr marL="0" marR="0" lvl="0" indent="0" algn="ctr" rtl="0">
              <a:spcBef>
                <a:spcPts val="0"/>
              </a:spcBef>
              <a:spcAft>
                <a:spcPts val="0"/>
              </a:spcAft>
              <a:buNone/>
            </a:pPr>
            <a:r>
              <a:rPr lang="en-US" sz="4000" b="1">
                <a:solidFill>
                  <a:schemeClr val="lt1"/>
                </a:solidFill>
                <a:ea typeface="Calibri" panose="020F0502020204030204"/>
                <a:cs typeface="Poppins" panose="00000500000000000000" pitchFamily="2" charset="0"/>
                <a:sym typeface="Calibri" panose="020F0502020204030204"/>
              </a:rPr>
              <a:t>Session </a:t>
            </a:r>
            <a:r>
              <a:rPr lang="en-US" sz="4000" b="1" dirty="0">
                <a:solidFill>
                  <a:schemeClr val="lt1"/>
                </a:solidFill>
                <a:ea typeface="Calibri" panose="020F0502020204030204"/>
                <a:cs typeface="Poppins" panose="00000500000000000000" pitchFamily="2" charset="0"/>
                <a:sym typeface="Calibri" panose="020F0502020204030204"/>
              </a:rPr>
              <a:t>- 8</a:t>
            </a:r>
            <a:endParaRPr sz="4000" b="1" dirty="0">
              <a:solidFill>
                <a:schemeClr val="lt1"/>
              </a:solidFill>
              <a:ea typeface="Calibri" panose="020F0502020204030204"/>
              <a:cs typeface="Poppins" panose="00000500000000000000" pitchFamily="2" charset="0"/>
              <a:sym typeface="Calibri" panose="020F0502020204030204"/>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3"/>
          <a:srcRect/>
          <a:stretch>
            <a:fillRect/>
          </a:stretch>
        </p:blipFill>
        <p:spPr bwMode="auto">
          <a:xfrm>
            <a:off x="222703" y="81945"/>
            <a:ext cx="2509863" cy="1061599"/>
          </a:xfrm>
          <a:prstGeom prst="rect">
            <a:avLst/>
          </a:prstGeom>
          <a:noFill/>
        </p:spPr>
      </p:pic>
      <p:pic>
        <p:nvPicPr>
          <p:cNvPr id="4" name="Picture 3">
            <a:extLst>
              <a:ext uri="{FF2B5EF4-FFF2-40B4-BE49-F238E27FC236}">
                <a16:creationId xmlns:a16="http://schemas.microsoft.com/office/drawing/2014/main" id="{ED540A87-54B4-F728-640E-91A7E4CC232A}"/>
              </a:ext>
            </a:extLst>
          </p:cNvPr>
          <p:cNvPicPr>
            <a:picLocks noChangeAspect="1"/>
          </p:cNvPicPr>
          <p:nvPr/>
        </p:nvPicPr>
        <p:blipFill>
          <a:blip r:embed="rId4"/>
          <a:stretch>
            <a:fillRect/>
          </a:stretch>
        </p:blipFill>
        <p:spPr>
          <a:xfrm>
            <a:off x="400833" y="1452734"/>
            <a:ext cx="4969820" cy="532060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0" y="353683"/>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white"/>
                </a:solidFill>
                <a:effectLst/>
                <a:uLnTx/>
                <a:uFillTx/>
                <a:latin typeface="Calibri"/>
                <a:ea typeface="+mn-ea"/>
                <a:cs typeface="+mn-cs"/>
              </a:rPr>
              <a:t>AIM OF THE SESSION</a:t>
            </a:r>
          </a:p>
        </p:txBody>
      </p:sp>
      <p:sp>
        <p:nvSpPr>
          <p:cNvPr id="5" name="TextBox 4"/>
          <p:cNvSpPr txBox="1"/>
          <p:nvPr/>
        </p:nvSpPr>
        <p:spPr>
          <a:xfrm>
            <a:off x="991709" y="836018"/>
            <a:ext cx="10695218" cy="1169551"/>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lvl="0" algn="just">
              <a:defRPr/>
            </a:pPr>
            <a:r>
              <a:rPr lang="en-US" b="1" dirty="0"/>
              <a:t>To equip learners with the core principles and skills needed to produce clear, concise, and credible professional documents across diverse workplace contexts.</a:t>
            </a:r>
          </a:p>
          <a:p>
            <a:pPr lvl="0" algn="just">
              <a:defRPr/>
            </a:pPr>
            <a:r>
              <a:rPr lang="en-US" b="1" dirty="0"/>
              <a:t> </a:t>
            </a:r>
            <a:br>
              <a:rPr lang="en-US" sz="1600" b="1" dirty="0"/>
            </a:br>
            <a:endParaRPr kumimoji="0" lang="en-US" sz="1600" b="1" i="0" u="none" strike="noStrike" kern="1200" cap="none" spc="0" normalizeH="0" baseline="0" noProof="0" dirty="0">
              <a:ln>
                <a:noFill/>
              </a:ln>
              <a:solidFill>
                <a:prstClr val="black"/>
              </a:solidFill>
              <a:effectLst/>
              <a:uLnTx/>
              <a:uFillTx/>
              <a:latin typeface="Calibri"/>
            </a:endParaRPr>
          </a:p>
        </p:txBody>
      </p:sp>
      <p:sp>
        <p:nvSpPr>
          <p:cNvPr id="7" name="Rounded Rectangle 17"/>
          <p:cNvSpPr/>
          <p:nvPr/>
        </p:nvSpPr>
        <p:spPr>
          <a:xfrm>
            <a:off x="4041743" y="1987847"/>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INSTRUCTIONAL OBJECTIVES</a:t>
            </a:r>
          </a:p>
        </p:txBody>
      </p:sp>
      <p:sp>
        <p:nvSpPr>
          <p:cNvPr id="9" name="TextBox 8"/>
          <p:cNvSpPr txBox="1"/>
          <p:nvPr/>
        </p:nvSpPr>
        <p:spPr>
          <a:xfrm>
            <a:off x="1244906" y="2662149"/>
            <a:ext cx="10278737" cy="200054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marL="0" marR="0" lvl="0" indent="0" algn="just" defTabSz="914400" rtl="0" eaLnBrk="1" fontAlgn="auto" latinLnBrk="0" hangingPunct="1">
              <a:lnSpc>
                <a:spcPct val="2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cs typeface="Poppins"/>
              </a:rPr>
              <a:t>This Session is designed to:</a:t>
            </a:r>
            <a:endParaRPr kumimoji="0" lang="en-US" b="1" i="0" u="none" strike="noStrike" kern="1200" cap="none" spc="0" normalizeH="0" baseline="0" noProof="0" dirty="0">
              <a:ln>
                <a:noFill/>
              </a:ln>
              <a:solidFill>
                <a:prstClr val="black"/>
              </a:solidFill>
              <a:effectLst/>
              <a:uLnTx/>
              <a:uFillTx/>
            </a:endParaRPr>
          </a:p>
          <a:p>
            <a:pPr marL="285750" indent="-285750">
              <a:buFont typeface="Arial" panose="020B0604020202020204" pitchFamily="34" charset="0"/>
              <a:buChar char="•"/>
            </a:pPr>
            <a:r>
              <a:rPr lang="en-IN" b="1" dirty="0"/>
              <a:t>Guide participants through audience and purpose analysis, helping them identify what readers need to know, feel, or do in different professional communication contexts.</a:t>
            </a:r>
          </a:p>
          <a:p>
            <a:pPr marL="285750" indent="-285750">
              <a:buFont typeface="Arial" panose="020B0604020202020204" pitchFamily="34" charset="0"/>
              <a:buChar char="•"/>
            </a:pPr>
            <a:r>
              <a:rPr lang="en-IN" b="1" dirty="0"/>
              <a:t> Demonstrate techniques for achieving coherence and cohesion in writing through transitions, signposting, and given-to-new information flow, using authentic workplace communication examples</a:t>
            </a:r>
          </a:p>
          <a:p>
            <a:pPr algn="just">
              <a:defRPr/>
            </a:pPr>
            <a:endParaRPr kumimoji="0" lang="en-US" sz="1600" b="0" i="0" u="none" strike="noStrike" kern="1200" cap="none" spc="0" normalizeH="0" baseline="0" noProof="0" dirty="0">
              <a:ln>
                <a:noFill/>
              </a:ln>
              <a:solidFill>
                <a:prstClr val="black"/>
              </a:solidFill>
              <a:effectLst/>
              <a:uLnTx/>
              <a:uFillTx/>
              <a:latin typeface="Poppins"/>
              <a:ea typeface="+mn-ea"/>
              <a:cs typeface="Poppins"/>
            </a:endParaRPr>
          </a:p>
        </p:txBody>
      </p:sp>
      <p:pic>
        <p:nvPicPr>
          <p:cNvPr id="11" name="Graphic 10" descr="Bullseye outline"/>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6176" y="1035978"/>
            <a:ext cx="697794" cy="697794"/>
          </a:xfrm>
          <a:prstGeom prst="rect">
            <a:avLst/>
          </a:prstGeom>
        </p:spPr>
      </p:pic>
      <p:pic>
        <p:nvPicPr>
          <p:cNvPr id="27" name="Graphic 26" descr="Presentation with checklist outline"/>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1157" y="2937766"/>
            <a:ext cx="914400" cy="914400"/>
          </a:xfrm>
          <a:prstGeom prst="rect">
            <a:avLst/>
          </a:prstGeom>
        </p:spPr>
      </p:pic>
      <p:sp>
        <p:nvSpPr>
          <p:cNvPr id="29" name="Rounded Rectangle 17"/>
          <p:cNvSpPr/>
          <p:nvPr/>
        </p:nvSpPr>
        <p:spPr>
          <a:xfrm>
            <a:off x="5177927" y="4946301"/>
            <a:ext cx="3547431" cy="3317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LEARNING OUTCOMES</a:t>
            </a:r>
          </a:p>
        </p:txBody>
      </p:sp>
      <p:pic>
        <p:nvPicPr>
          <p:cNvPr id="31" name="Graphic 30" descr="Idea outline"/>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309" y="5421764"/>
            <a:ext cx="914400" cy="914400"/>
          </a:xfrm>
          <a:prstGeom prst="rect">
            <a:avLst/>
          </a:prstGeom>
        </p:spPr>
      </p:pic>
      <p:sp>
        <p:nvSpPr>
          <p:cNvPr id="37" name="TextBox 36"/>
          <p:cNvSpPr txBox="1"/>
          <p:nvPr/>
        </p:nvSpPr>
        <p:spPr>
          <a:xfrm>
            <a:off x="1244906" y="5421764"/>
            <a:ext cx="10759542" cy="120032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marL="0" marR="0" lvl="0" indent="0" algn="l" defTabSz="914400" rtl="0" eaLnBrk="1" fontAlgn="auto" latinLnBrk="0" hangingPunct="1">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cs typeface="Arial" panose="020B0604020202020204"/>
              </a:rPr>
              <a:t>At the end of this session, you should be able to:</a:t>
            </a:r>
          </a:p>
          <a:p>
            <a:pPr marL="285750" lvl="0" indent="-285750">
              <a:buFont typeface="Arial" panose="020B0604020202020204" pitchFamily="34" charset="0"/>
              <a:buChar char="•"/>
              <a:defRPr/>
            </a:pPr>
            <a:r>
              <a:rPr lang="en-IN" b="1" dirty="0"/>
              <a:t>Apply the 7 Cs to professional documents.  </a:t>
            </a:r>
          </a:p>
          <a:p>
            <a:pPr marL="285750" lvl="0" indent="-285750">
              <a:buFont typeface="Arial" panose="020B0604020202020204" pitchFamily="34" charset="0"/>
              <a:buChar char="•"/>
              <a:defRPr/>
            </a:pPr>
            <a:r>
              <a:rPr lang="en-IN" b="1" dirty="0" err="1"/>
              <a:t>Analyze</a:t>
            </a:r>
            <a:r>
              <a:rPr lang="en-IN" b="1" dirty="0"/>
              <a:t> audience and the communication purpose. Use transitions, signposting, and logical flow effectively. Produce clear, coherent, and reader-focused professional writing.</a:t>
            </a:r>
            <a:endParaRPr kumimoji="0" lang="en-US" b="1" i="0" u="none" strike="noStrike" kern="1200" cap="none" spc="0" normalizeH="0" baseline="0" noProof="0" dirty="0">
              <a:ln>
                <a:noFill/>
              </a:ln>
              <a:solidFill>
                <a:prstClr val="black"/>
              </a:solidFill>
              <a:effectLst/>
              <a:uLnTx/>
              <a:uFillTx/>
              <a:cs typeface="Arial" panose="020B0604020202020204"/>
            </a:endParaRPr>
          </a:p>
        </p:txBody>
      </p:sp>
      <p:pic>
        <p:nvPicPr>
          <p:cNvPr id="12"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ldLvl="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3263704" y="84673"/>
            <a:ext cx="6639951" cy="11381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t>INTRODUCTION</a:t>
            </a:r>
            <a:r>
              <a:rPr lang="en-US" sz="2400" dirty="0"/>
              <a:t>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FF2F2C60-611D-20DF-096F-F63853CFF877}"/>
              </a:ext>
            </a:extLst>
          </p:cNvPr>
          <p:cNvSpPr txBox="1"/>
          <p:nvPr/>
        </p:nvSpPr>
        <p:spPr>
          <a:xfrm>
            <a:off x="533401" y="1682610"/>
            <a:ext cx="5845365" cy="5078313"/>
          </a:xfrm>
          <a:prstGeom prst="rect">
            <a:avLst/>
          </a:prstGeom>
          <a:noFill/>
        </p:spPr>
        <p:txBody>
          <a:bodyPr wrap="square">
            <a:spAutoFit/>
          </a:bodyPr>
          <a:lstStyle/>
          <a:p>
            <a:pPr marR="0" lvl="0">
              <a:spcBef>
                <a:spcPts val="0"/>
              </a:spcBef>
              <a:spcAft>
                <a:spcPts val="0"/>
              </a:spcAft>
            </a:pPr>
            <a:r>
              <a:rPr lang="en-US" sz="2800" b="1" i="1" dirty="0">
                <a:latin typeface="Amasis MT Pro" panose="02040504050005020304" pitchFamily="18" charset="0"/>
                <a:ea typeface="BioRhyme ExtraBold"/>
                <a:cs typeface="Poppins" panose="00000500000000000000" pitchFamily="2" charset="0"/>
                <a:sym typeface="BioRhyme ExtraBold"/>
              </a:rPr>
              <a:t>In this session, you will learn:</a:t>
            </a:r>
          </a:p>
          <a:p>
            <a:pPr marL="457200" indent="-457200" algn="just">
              <a:buFont typeface="Arial" panose="020B0604020202020204" pitchFamily="34" charset="0"/>
              <a:buChar char="•"/>
            </a:pPr>
            <a:r>
              <a:rPr lang="en-IN" sz="3200" dirty="0"/>
              <a:t>I. The qualities of effective professional writing (The 7 Cs)</a:t>
            </a:r>
          </a:p>
          <a:p>
            <a:pPr marL="342900" indent="-342900" algn="just">
              <a:buAutoNum type="arabicPeriod"/>
            </a:pPr>
            <a:endParaRPr lang="en-IN" sz="3200" dirty="0"/>
          </a:p>
          <a:p>
            <a:pPr marL="457200" indent="-457200" algn="just">
              <a:buFont typeface="Arial" panose="020B0604020202020204" pitchFamily="34" charset="0"/>
              <a:buChar char="•"/>
            </a:pPr>
            <a:r>
              <a:rPr lang="en-IN" sz="3200" dirty="0"/>
              <a:t>II. Audience and Purpose Analysis</a:t>
            </a:r>
          </a:p>
          <a:p>
            <a:pPr marL="342900" indent="-342900" algn="just">
              <a:buFontTx/>
              <a:buAutoNum type="arabicPeriod"/>
            </a:pPr>
            <a:endParaRPr lang="en-IN" sz="3200" dirty="0"/>
          </a:p>
          <a:p>
            <a:pPr marL="457200" indent="-457200" algn="just">
              <a:buFont typeface="Arial" panose="020B0604020202020204" pitchFamily="34" charset="0"/>
              <a:buChar char="•"/>
            </a:pPr>
            <a:r>
              <a:rPr lang="en-IN" sz="3200" dirty="0"/>
              <a:t>III. Coherence and Cohesion </a:t>
            </a:r>
          </a:p>
          <a:p>
            <a:pPr algn="just"/>
            <a:endParaRPr lang="en-US" sz="4400" dirty="0"/>
          </a:p>
          <a:p>
            <a:pPr marR="0" lvl="0" algn="ctr">
              <a:spcBef>
                <a:spcPts val="0"/>
              </a:spcBef>
              <a:spcAft>
                <a:spcPts val="0"/>
              </a:spcAft>
            </a:pPr>
            <a:endParaRPr lang="en-US" sz="2800" i="1" dirty="0">
              <a:latin typeface="Arial Nova" panose="020F0502020204030204" pitchFamily="34" charset="0"/>
              <a:ea typeface="BioRhyme ExtraBold"/>
              <a:cs typeface="Aparajita" panose="020B0502040204020203" pitchFamily="18" charset="0"/>
              <a:sym typeface="BioRhyme ExtraBold"/>
            </a:endParaRPr>
          </a:p>
        </p:txBody>
      </p:sp>
      <p:pic>
        <p:nvPicPr>
          <p:cNvPr id="4" name="Picture 3">
            <a:extLst>
              <a:ext uri="{FF2B5EF4-FFF2-40B4-BE49-F238E27FC236}">
                <a16:creationId xmlns:a16="http://schemas.microsoft.com/office/drawing/2014/main" id="{2F7A86EB-7802-DE7E-0D65-439A1159BB31}"/>
              </a:ext>
            </a:extLst>
          </p:cNvPr>
          <p:cNvPicPr>
            <a:picLocks noChangeAspect="1"/>
          </p:cNvPicPr>
          <p:nvPr/>
        </p:nvPicPr>
        <p:blipFill>
          <a:blip r:embed="rId4"/>
          <a:stretch>
            <a:fillRect/>
          </a:stretch>
        </p:blipFill>
        <p:spPr>
          <a:xfrm>
            <a:off x="6362700" y="1485899"/>
            <a:ext cx="5829300" cy="5169543"/>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inVertic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inVertic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3CCA8-0ED4-27F8-4BF4-A8946874AFE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356F7D7-5888-8168-9C2F-F2A07DF614EF}"/>
              </a:ext>
            </a:extLst>
          </p:cNvPr>
          <p:cNvSpPr/>
          <p:nvPr/>
        </p:nvSpPr>
        <p:spPr>
          <a:xfrm>
            <a:off x="0" y="0"/>
            <a:ext cx="12192000" cy="1219200"/>
          </a:xfrm>
          <a:prstGeom prst="rect">
            <a:avLst/>
          </a:prstGeom>
          <a:solidFill>
            <a:srgbClr val="1A2E4A"/>
          </a:solidFill>
          <a:ln w="12700">
            <a:solidFill>
              <a:srgbClr val="1A2E4A"/>
            </a:solidFill>
            <a:prstDash val="solid"/>
          </a:ln>
        </p:spPr>
        <p:txBody>
          <a:bodyPr/>
          <a:lstStyle/>
          <a:p>
            <a:endParaRPr lang="en-IN" sz="2400"/>
          </a:p>
        </p:txBody>
      </p:sp>
      <p:sp>
        <p:nvSpPr>
          <p:cNvPr id="3" name="Text 1">
            <a:extLst>
              <a:ext uri="{FF2B5EF4-FFF2-40B4-BE49-F238E27FC236}">
                <a16:creationId xmlns:a16="http://schemas.microsoft.com/office/drawing/2014/main" id="{5E25ECED-8B0C-CEDD-8726-DF4A37F00FFF}"/>
              </a:ext>
            </a:extLst>
          </p:cNvPr>
          <p:cNvSpPr/>
          <p:nvPr/>
        </p:nvSpPr>
        <p:spPr>
          <a:xfrm>
            <a:off x="1001486" y="274320"/>
            <a:ext cx="10458994" cy="822960"/>
          </a:xfrm>
          <a:prstGeom prst="rect">
            <a:avLst/>
          </a:prstGeom>
          <a:noFill/>
          <a:ln/>
        </p:spPr>
        <p:txBody>
          <a:bodyPr wrap="square" lIns="0" tIns="0" rIns="0" bIns="0" rtlCol="0" anchor="ctr"/>
          <a:lstStyle/>
          <a:p>
            <a:r>
              <a:rPr lang="en-US" sz="2667" b="1" dirty="0">
                <a:solidFill>
                  <a:srgbClr val="FFFFFF"/>
                </a:solidFill>
              </a:rPr>
              <a:t>                </a:t>
            </a:r>
            <a:r>
              <a:rPr lang="en-US" sz="3200" b="1" dirty="0">
                <a:solidFill>
                  <a:srgbClr val="FFFFFF"/>
                </a:solidFill>
              </a:rPr>
              <a:t>Problem / Case Analysis</a:t>
            </a:r>
            <a:endParaRPr lang="en-US" sz="2667" dirty="0"/>
          </a:p>
        </p:txBody>
      </p:sp>
      <p:sp>
        <p:nvSpPr>
          <p:cNvPr id="4" name="Text 2">
            <a:extLst>
              <a:ext uri="{FF2B5EF4-FFF2-40B4-BE49-F238E27FC236}">
                <a16:creationId xmlns:a16="http://schemas.microsoft.com/office/drawing/2014/main" id="{D19D3566-2B14-D036-6D65-4537C4033A57}"/>
              </a:ext>
            </a:extLst>
          </p:cNvPr>
          <p:cNvSpPr/>
          <p:nvPr/>
        </p:nvSpPr>
        <p:spPr>
          <a:xfrm>
            <a:off x="365760" y="1316736"/>
            <a:ext cx="11460480" cy="463296"/>
          </a:xfrm>
          <a:prstGeom prst="rect">
            <a:avLst/>
          </a:prstGeom>
          <a:noFill/>
          <a:ln/>
        </p:spPr>
        <p:txBody>
          <a:bodyPr wrap="square" lIns="0" tIns="0" rIns="0" bIns="0" rtlCol="0" anchor="ctr"/>
          <a:lstStyle/>
          <a:p>
            <a:endParaRPr lang="en-US" sz="2400" dirty="0"/>
          </a:p>
        </p:txBody>
      </p:sp>
      <p:sp>
        <p:nvSpPr>
          <p:cNvPr id="5" name="Shape 3">
            <a:extLst>
              <a:ext uri="{FF2B5EF4-FFF2-40B4-BE49-F238E27FC236}">
                <a16:creationId xmlns:a16="http://schemas.microsoft.com/office/drawing/2014/main" id="{29F94D25-EFCF-6F1D-A1AA-E423B4428845}"/>
              </a:ext>
            </a:extLst>
          </p:cNvPr>
          <p:cNvSpPr/>
          <p:nvPr/>
        </p:nvSpPr>
        <p:spPr>
          <a:xfrm>
            <a:off x="365759" y="1853184"/>
            <a:ext cx="11630298" cy="4242816"/>
          </a:xfrm>
          <a:prstGeom prst="roundRect">
            <a:avLst>
              <a:gd name="adj" fmla="val 3846"/>
            </a:avLst>
          </a:prstGeom>
          <a:solidFill>
            <a:srgbClr val="FEF2F2"/>
          </a:solidFill>
          <a:ln w="12700">
            <a:solidFill>
              <a:srgbClr val="FECACA"/>
            </a:solidFill>
            <a:prstDash val="solid"/>
          </a:ln>
          <a:effectLst>
            <a:outerShdw blurRad="101600" dist="38100" dir="2700000" algn="bl" rotWithShape="0">
              <a:srgbClr val="000000">
                <a:alpha val="12000"/>
              </a:srgbClr>
            </a:outerShdw>
          </a:effectLst>
        </p:spPr>
        <p:txBody>
          <a:bodyPr/>
          <a:lstStyle/>
          <a:p>
            <a:r>
              <a:rPr lang="en-IN" sz="3200" dirty="0"/>
              <a:t>                  </a:t>
            </a:r>
          </a:p>
          <a:p>
            <a:pPr algn="just"/>
            <a:r>
              <a:rPr lang="en-IN" sz="2800" dirty="0"/>
              <a:t>A student coordinator is informing participants about a workshop.</a:t>
            </a:r>
          </a:p>
          <a:p>
            <a:pPr algn="just"/>
            <a:r>
              <a:rPr lang="en-IN" sz="2800" dirty="0"/>
              <a:t>Please register using the QR code before 15 August. Participants are requested to report by 9:15 a.m. Dear Students, Certificates will be issued only to participants attending the complete session. The Department of English is organizing a workshop on "Professional Writing in the AI Era" on 18 August. For any queries, contact the event coordinator. Thank you. The venue is Seminar Hall-2.</a:t>
            </a:r>
          </a:p>
          <a:p>
            <a:br>
              <a:rPr lang="en-IN" sz="2000" dirty="0"/>
            </a:br>
            <a:endParaRPr lang="en-IN" sz="2000" dirty="0"/>
          </a:p>
        </p:txBody>
      </p:sp>
      <p:sp>
        <p:nvSpPr>
          <p:cNvPr id="6" name="Text 4">
            <a:extLst>
              <a:ext uri="{FF2B5EF4-FFF2-40B4-BE49-F238E27FC236}">
                <a16:creationId xmlns:a16="http://schemas.microsoft.com/office/drawing/2014/main" id="{14BD9592-76F6-628D-7F7E-1EAB476FA773}"/>
              </a:ext>
            </a:extLst>
          </p:cNvPr>
          <p:cNvSpPr/>
          <p:nvPr/>
        </p:nvSpPr>
        <p:spPr>
          <a:xfrm>
            <a:off x="548640" y="1926336"/>
            <a:ext cx="5120640" cy="268224"/>
          </a:xfrm>
          <a:prstGeom prst="rect">
            <a:avLst/>
          </a:prstGeom>
          <a:noFill/>
          <a:ln/>
        </p:spPr>
        <p:txBody>
          <a:bodyPr wrap="square" lIns="0" tIns="0" rIns="0" bIns="0" rtlCol="0" anchor="ctr"/>
          <a:lstStyle/>
          <a:p>
            <a:r>
              <a:rPr lang="en-US" b="1" dirty="0">
                <a:solidFill>
                  <a:srgbClr val="B91C1C"/>
                </a:solidFill>
              </a:rPr>
              <a:t>❌  BEFORE </a:t>
            </a:r>
            <a:endParaRPr lang="en-US" dirty="0"/>
          </a:p>
        </p:txBody>
      </p:sp>
      <p:sp>
        <p:nvSpPr>
          <p:cNvPr id="7" name="Text 5">
            <a:extLst>
              <a:ext uri="{FF2B5EF4-FFF2-40B4-BE49-F238E27FC236}">
                <a16:creationId xmlns:a16="http://schemas.microsoft.com/office/drawing/2014/main" id="{BD05E02F-D520-5B3C-5E8C-60BBFD5D4624}"/>
              </a:ext>
            </a:extLst>
          </p:cNvPr>
          <p:cNvSpPr/>
          <p:nvPr/>
        </p:nvSpPr>
        <p:spPr>
          <a:xfrm>
            <a:off x="365760" y="2231136"/>
            <a:ext cx="5654040" cy="2645664"/>
          </a:xfrm>
          <a:prstGeom prst="rect">
            <a:avLst/>
          </a:prstGeom>
          <a:noFill/>
          <a:ln/>
        </p:spPr>
        <p:txBody>
          <a:bodyPr wrap="square" lIns="0" tIns="0" rIns="0" bIns="0" rtlCol="0" anchor="ctr"/>
          <a:lstStyle/>
          <a:p>
            <a:r>
              <a:rPr lang="en-US" dirty="0">
                <a:solidFill>
                  <a:srgbClr val="1E293B"/>
                </a:solidFill>
              </a:rPr>
              <a:t>   </a:t>
            </a:r>
          </a:p>
          <a:p>
            <a:endParaRPr lang="en-US" dirty="0"/>
          </a:p>
        </p:txBody>
      </p:sp>
      <p:sp>
        <p:nvSpPr>
          <p:cNvPr id="9" name="Text 7">
            <a:extLst>
              <a:ext uri="{FF2B5EF4-FFF2-40B4-BE49-F238E27FC236}">
                <a16:creationId xmlns:a16="http://schemas.microsoft.com/office/drawing/2014/main" id="{3330CAC4-43E8-3395-D8B0-1CD438E4E745}"/>
              </a:ext>
            </a:extLst>
          </p:cNvPr>
          <p:cNvSpPr/>
          <p:nvPr/>
        </p:nvSpPr>
        <p:spPr>
          <a:xfrm>
            <a:off x="6522720" y="1926336"/>
            <a:ext cx="5120640" cy="463296"/>
          </a:xfrm>
          <a:prstGeom prst="rect">
            <a:avLst/>
          </a:prstGeom>
          <a:noFill/>
          <a:ln/>
        </p:spPr>
        <p:txBody>
          <a:bodyPr wrap="square" lIns="0" tIns="0" rIns="0" bIns="0" rtlCol="0" anchor="ctr"/>
          <a:lstStyle/>
          <a:p>
            <a:endParaRPr lang="en-US" dirty="0"/>
          </a:p>
        </p:txBody>
      </p:sp>
      <p:sp>
        <p:nvSpPr>
          <p:cNvPr id="11" name="Text 9">
            <a:extLst>
              <a:ext uri="{FF2B5EF4-FFF2-40B4-BE49-F238E27FC236}">
                <a16:creationId xmlns:a16="http://schemas.microsoft.com/office/drawing/2014/main" id="{86DC9892-5022-8EDD-1542-91FE7FC5BEC1}"/>
              </a:ext>
            </a:extLst>
          </p:cNvPr>
          <p:cNvSpPr/>
          <p:nvPr/>
        </p:nvSpPr>
        <p:spPr>
          <a:xfrm>
            <a:off x="365760" y="5145024"/>
            <a:ext cx="4876800" cy="426720"/>
          </a:xfrm>
          <a:prstGeom prst="rect">
            <a:avLst/>
          </a:prstGeom>
          <a:noFill/>
          <a:ln/>
        </p:spPr>
        <p:txBody>
          <a:bodyPr wrap="square" lIns="0" tIns="0" rIns="0" bIns="0" rtlCol="0" anchor="ctr"/>
          <a:lstStyle/>
          <a:p>
            <a:endParaRPr lang="en-US" sz="1600" dirty="0"/>
          </a:p>
        </p:txBody>
      </p:sp>
      <p:sp>
        <p:nvSpPr>
          <p:cNvPr id="13" name="Text 11">
            <a:extLst>
              <a:ext uri="{FF2B5EF4-FFF2-40B4-BE49-F238E27FC236}">
                <a16:creationId xmlns:a16="http://schemas.microsoft.com/office/drawing/2014/main" id="{7037A47C-7FA5-22D4-7010-A344A3D1A54B}"/>
              </a:ext>
            </a:extLst>
          </p:cNvPr>
          <p:cNvSpPr/>
          <p:nvPr/>
        </p:nvSpPr>
        <p:spPr>
          <a:xfrm>
            <a:off x="365760" y="5852160"/>
            <a:ext cx="11460480" cy="243840"/>
          </a:xfrm>
          <a:prstGeom prst="rect">
            <a:avLst/>
          </a:prstGeom>
          <a:noFill/>
          <a:ln/>
        </p:spPr>
        <p:txBody>
          <a:bodyPr wrap="square" lIns="0" tIns="0" rIns="0" bIns="0" rtlCol="0" anchor="ctr"/>
          <a:lstStyle/>
          <a:p>
            <a:endParaRPr lang="en-US" sz="1267" dirty="0"/>
          </a:p>
        </p:txBody>
      </p:sp>
      <p:sp>
        <p:nvSpPr>
          <p:cNvPr id="15" name="Text 13">
            <a:extLst>
              <a:ext uri="{FF2B5EF4-FFF2-40B4-BE49-F238E27FC236}">
                <a16:creationId xmlns:a16="http://schemas.microsoft.com/office/drawing/2014/main" id="{23E24E73-F3C2-35A9-7BEB-7BA88FEE5B9A}"/>
              </a:ext>
            </a:extLst>
          </p:cNvPr>
          <p:cNvSpPr/>
          <p:nvPr/>
        </p:nvSpPr>
        <p:spPr>
          <a:xfrm>
            <a:off x="365760" y="6339840"/>
            <a:ext cx="11460480" cy="243840"/>
          </a:xfrm>
          <a:prstGeom prst="rect">
            <a:avLst/>
          </a:prstGeom>
          <a:noFill/>
          <a:ln/>
        </p:spPr>
        <p:txBody>
          <a:bodyPr wrap="square" lIns="0" tIns="0" rIns="0" bIns="0" rtlCol="0" anchor="ctr"/>
          <a:lstStyle/>
          <a:p>
            <a:endParaRPr lang="en-US" sz="1267" dirty="0"/>
          </a:p>
        </p:txBody>
      </p:sp>
      <p:sp>
        <p:nvSpPr>
          <p:cNvPr id="16" name="Text 14">
            <a:extLst>
              <a:ext uri="{FF2B5EF4-FFF2-40B4-BE49-F238E27FC236}">
                <a16:creationId xmlns:a16="http://schemas.microsoft.com/office/drawing/2014/main" id="{BC05CF42-DE93-9B8C-2617-1BE18F5FB971}"/>
              </a:ext>
            </a:extLst>
          </p:cNvPr>
          <p:cNvSpPr/>
          <p:nvPr/>
        </p:nvSpPr>
        <p:spPr>
          <a:xfrm>
            <a:off x="365760" y="6583680"/>
            <a:ext cx="11460480" cy="243840"/>
          </a:xfrm>
          <a:prstGeom prst="rect">
            <a:avLst/>
          </a:prstGeom>
          <a:noFill/>
          <a:ln/>
        </p:spPr>
        <p:txBody>
          <a:bodyPr wrap="square" lIns="0" tIns="0" rIns="0" bIns="0" rtlCol="0" anchor="ctr"/>
          <a:lstStyle/>
          <a:p>
            <a:endParaRPr lang="en-US" sz="1267" dirty="0"/>
          </a:p>
        </p:txBody>
      </p:sp>
      <p:pic>
        <p:nvPicPr>
          <p:cNvPr id="20" name="Picture 2" descr="KL Deemed to be University Logo">
            <a:extLst>
              <a:ext uri="{FF2B5EF4-FFF2-40B4-BE49-F238E27FC236}">
                <a16:creationId xmlns:a16="http://schemas.microsoft.com/office/drawing/2014/main" id="{B0052627-F463-73E9-5354-64C7F651C3B5}"/>
              </a:ext>
            </a:extLst>
          </p:cNvPr>
          <p:cNvPicPr>
            <a:picLocks noChangeAspect="1" noChangeArrowheads="1"/>
          </p:cNvPicPr>
          <p:nvPr/>
        </p:nvPicPr>
        <p:blipFill>
          <a:blip r:embed="rId3"/>
          <a:srcRect/>
          <a:stretch>
            <a:fillRect/>
          </a:stretch>
        </p:blipFill>
        <p:spPr bwMode="auto">
          <a:xfrm>
            <a:off x="176267" y="38407"/>
            <a:ext cx="1229428" cy="914400"/>
          </a:xfrm>
          <a:prstGeom prst="rect">
            <a:avLst/>
          </a:prstGeom>
          <a:noFill/>
        </p:spPr>
      </p:pic>
      <p:sp>
        <p:nvSpPr>
          <p:cNvPr id="18" name="TextBox 17">
            <a:extLst>
              <a:ext uri="{FF2B5EF4-FFF2-40B4-BE49-F238E27FC236}">
                <a16:creationId xmlns:a16="http://schemas.microsoft.com/office/drawing/2014/main" id="{851E3C26-C707-9898-AF24-125F7E9D2654}"/>
              </a:ext>
            </a:extLst>
          </p:cNvPr>
          <p:cNvSpPr txBox="1"/>
          <p:nvPr/>
        </p:nvSpPr>
        <p:spPr>
          <a:xfrm>
            <a:off x="772886" y="1403910"/>
            <a:ext cx="8379278" cy="461665"/>
          </a:xfrm>
          <a:prstGeom prst="rect">
            <a:avLst/>
          </a:prstGeom>
          <a:noFill/>
        </p:spPr>
        <p:txBody>
          <a:bodyPr wrap="square">
            <a:spAutoFit/>
          </a:bodyPr>
          <a:lstStyle/>
          <a:p>
            <a:r>
              <a:rPr lang="en-IN" sz="2400" b="1" dirty="0"/>
              <a:t>The Confusing Event Announcement</a:t>
            </a:r>
          </a:p>
        </p:txBody>
      </p:sp>
    </p:spTree>
    <p:extLst>
      <p:ext uri="{BB962C8B-B14F-4D97-AF65-F5344CB8AC3E}">
        <p14:creationId xmlns:p14="http://schemas.microsoft.com/office/powerpoint/2010/main" val="2136871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9F338-0C7D-C68C-57FB-CDCB918D9D4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C8125D1-BD79-E6B4-FBCD-92C2307E6A03}"/>
              </a:ext>
            </a:extLst>
          </p:cNvPr>
          <p:cNvSpPr/>
          <p:nvPr/>
        </p:nvSpPr>
        <p:spPr>
          <a:xfrm>
            <a:off x="0" y="0"/>
            <a:ext cx="12192000" cy="1219200"/>
          </a:xfrm>
          <a:prstGeom prst="rect">
            <a:avLst/>
          </a:prstGeom>
          <a:solidFill>
            <a:srgbClr val="1A2E4A"/>
          </a:solidFill>
          <a:ln w="12700">
            <a:solidFill>
              <a:srgbClr val="1A2E4A"/>
            </a:solidFill>
            <a:prstDash val="solid"/>
          </a:ln>
        </p:spPr>
        <p:txBody>
          <a:bodyPr/>
          <a:lstStyle/>
          <a:p>
            <a:endParaRPr lang="en-IN" sz="2400"/>
          </a:p>
        </p:txBody>
      </p:sp>
      <p:sp>
        <p:nvSpPr>
          <p:cNvPr id="3" name="Text 1">
            <a:extLst>
              <a:ext uri="{FF2B5EF4-FFF2-40B4-BE49-F238E27FC236}">
                <a16:creationId xmlns:a16="http://schemas.microsoft.com/office/drawing/2014/main" id="{DBF640C0-962C-BBE1-5446-38CB2E0A54E4}"/>
              </a:ext>
            </a:extLst>
          </p:cNvPr>
          <p:cNvSpPr/>
          <p:nvPr/>
        </p:nvSpPr>
        <p:spPr>
          <a:xfrm>
            <a:off x="1001486" y="274320"/>
            <a:ext cx="10458994" cy="822960"/>
          </a:xfrm>
          <a:prstGeom prst="rect">
            <a:avLst/>
          </a:prstGeom>
          <a:noFill/>
          <a:ln/>
        </p:spPr>
        <p:txBody>
          <a:bodyPr wrap="square" lIns="0" tIns="0" rIns="0" bIns="0" rtlCol="0" anchor="ctr"/>
          <a:lstStyle/>
          <a:p>
            <a:r>
              <a:rPr lang="en-US" sz="2667" b="1" dirty="0">
                <a:solidFill>
                  <a:srgbClr val="FFFFFF"/>
                </a:solidFill>
              </a:rPr>
              <a:t>                </a:t>
            </a:r>
            <a:r>
              <a:rPr lang="en-US" sz="3200" b="1" dirty="0">
                <a:solidFill>
                  <a:srgbClr val="FFFFFF"/>
                </a:solidFill>
              </a:rPr>
              <a:t>Problem / Case Analysis</a:t>
            </a:r>
            <a:endParaRPr lang="en-US" sz="2667" dirty="0"/>
          </a:p>
        </p:txBody>
      </p:sp>
      <p:sp>
        <p:nvSpPr>
          <p:cNvPr id="4" name="Text 2">
            <a:extLst>
              <a:ext uri="{FF2B5EF4-FFF2-40B4-BE49-F238E27FC236}">
                <a16:creationId xmlns:a16="http://schemas.microsoft.com/office/drawing/2014/main" id="{60E33948-7050-7C2A-5F0E-399D8818A323}"/>
              </a:ext>
            </a:extLst>
          </p:cNvPr>
          <p:cNvSpPr/>
          <p:nvPr/>
        </p:nvSpPr>
        <p:spPr>
          <a:xfrm>
            <a:off x="365760" y="1316736"/>
            <a:ext cx="11460480" cy="463296"/>
          </a:xfrm>
          <a:prstGeom prst="rect">
            <a:avLst/>
          </a:prstGeom>
          <a:noFill/>
          <a:ln/>
        </p:spPr>
        <p:txBody>
          <a:bodyPr wrap="square" lIns="0" tIns="0" rIns="0" bIns="0" rtlCol="0" anchor="ctr"/>
          <a:lstStyle/>
          <a:p>
            <a:endParaRPr lang="en-US" sz="2400" dirty="0"/>
          </a:p>
        </p:txBody>
      </p:sp>
      <p:sp>
        <p:nvSpPr>
          <p:cNvPr id="5" name="Shape 3">
            <a:extLst>
              <a:ext uri="{FF2B5EF4-FFF2-40B4-BE49-F238E27FC236}">
                <a16:creationId xmlns:a16="http://schemas.microsoft.com/office/drawing/2014/main" id="{E038FC98-0F64-F392-246D-9B215DB8F54D}"/>
              </a:ext>
            </a:extLst>
          </p:cNvPr>
          <p:cNvSpPr/>
          <p:nvPr/>
        </p:nvSpPr>
        <p:spPr>
          <a:xfrm>
            <a:off x="435429" y="2316679"/>
            <a:ext cx="11390811" cy="4242816"/>
          </a:xfrm>
          <a:prstGeom prst="roundRect">
            <a:avLst>
              <a:gd name="adj" fmla="val 3846"/>
            </a:avLst>
          </a:prstGeom>
          <a:solidFill>
            <a:srgbClr val="FEF2F2"/>
          </a:solidFill>
          <a:ln w="12700">
            <a:solidFill>
              <a:srgbClr val="FECACA"/>
            </a:solidFill>
            <a:prstDash val="solid"/>
          </a:ln>
          <a:effectLst>
            <a:outerShdw blurRad="101600" dist="38100" dir="2700000" algn="bl" rotWithShape="0">
              <a:srgbClr val="000000">
                <a:alpha val="12000"/>
              </a:srgbClr>
            </a:outerShdw>
          </a:effectLst>
        </p:spPr>
        <p:txBody>
          <a:bodyPr/>
          <a:lstStyle/>
          <a:p>
            <a:r>
              <a:rPr lang="en-IN" sz="3200" dirty="0"/>
              <a:t>             </a:t>
            </a:r>
          </a:p>
          <a:p>
            <a:pPr algn="just"/>
            <a:r>
              <a:rPr lang="en-IN" sz="2800" dirty="0"/>
              <a:t>Dear Students,</a:t>
            </a:r>
          </a:p>
          <a:p>
            <a:pPr algn="just"/>
            <a:r>
              <a:rPr lang="en-IN" sz="2800" dirty="0"/>
              <a:t>The Department of English is organizing a workshop on "Professional Writing in the AI Era" on 18 August. The venue is Seminar Hall-2. Participants are requested to report by 9:15 a.m. Please register using the QR code before 15 August. Certificates will be issued only to participants attending the complete session. For any queries, contact the event coordinator. Thank you.</a:t>
            </a:r>
            <a:br>
              <a:rPr lang="en-IN" sz="2800" dirty="0"/>
            </a:br>
            <a:endParaRPr lang="en-IN" sz="2800" dirty="0"/>
          </a:p>
        </p:txBody>
      </p:sp>
      <p:sp>
        <p:nvSpPr>
          <p:cNvPr id="6" name="Text 4">
            <a:extLst>
              <a:ext uri="{FF2B5EF4-FFF2-40B4-BE49-F238E27FC236}">
                <a16:creationId xmlns:a16="http://schemas.microsoft.com/office/drawing/2014/main" id="{D863E91B-8BDE-498C-D39F-AA3345C402D2}"/>
              </a:ext>
            </a:extLst>
          </p:cNvPr>
          <p:cNvSpPr/>
          <p:nvPr/>
        </p:nvSpPr>
        <p:spPr>
          <a:xfrm>
            <a:off x="548640" y="1926336"/>
            <a:ext cx="5120640" cy="268224"/>
          </a:xfrm>
          <a:prstGeom prst="rect">
            <a:avLst/>
          </a:prstGeom>
          <a:noFill/>
          <a:ln/>
        </p:spPr>
        <p:txBody>
          <a:bodyPr wrap="square" lIns="0" tIns="0" rIns="0" bIns="0" rtlCol="0" anchor="ctr"/>
          <a:lstStyle/>
          <a:p>
            <a:r>
              <a:rPr lang="en-US" b="1" dirty="0">
                <a:solidFill>
                  <a:srgbClr val="166534"/>
                </a:solidFill>
              </a:rPr>
              <a:t>✅  AFTER</a:t>
            </a:r>
            <a:endParaRPr lang="en-US" dirty="0"/>
          </a:p>
        </p:txBody>
      </p:sp>
      <p:sp>
        <p:nvSpPr>
          <p:cNvPr id="7" name="Text 5">
            <a:extLst>
              <a:ext uri="{FF2B5EF4-FFF2-40B4-BE49-F238E27FC236}">
                <a16:creationId xmlns:a16="http://schemas.microsoft.com/office/drawing/2014/main" id="{F44AD325-536D-1B91-E394-24AFB001C5CF}"/>
              </a:ext>
            </a:extLst>
          </p:cNvPr>
          <p:cNvSpPr/>
          <p:nvPr/>
        </p:nvSpPr>
        <p:spPr>
          <a:xfrm>
            <a:off x="365760" y="2231136"/>
            <a:ext cx="5654040" cy="2645664"/>
          </a:xfrm>
          <a:prstGeom prst="rect">
            <a:avLst/>
          </a:prstGeom>
          <a:noFill/>
          <a:ln/>
        </p:spPr>
        <p:txBody>
          <a:bodyPr wrap="square" lIns="0" tIns="0" rIns="0" bIns="0" rtlCol="0" anchor="ctr"/>
          <a:lstStyle/>
          <a:p>
            <a:r>
              <a:rPr lang="en-US" dirty="0">
                <a:solidFill>
                  <a:srgbClr val="1E293B"/>
                </a:solidFill>
              </a:rPr>
              <a:t>   </a:t>
            </a:r>
          </a:p>
          <a:p>
            <a:endParaRPr lang="en-US" dirty="0"/>
          </a:p>
        </p:txBody>
      </p:sp>
      <p:sp>
        <p:nvSpPr>
          <p:cNvPr id="9" name="Text 7">
            <a:extLst>
              <a:ext uri="{FF2B5EF4-FFF2-40B4-BE49-F238E27FC236}">
                <a16:creationId xmlns:a16="http://schemas.microsoft.com/office/drawing/2014/main" id="{78C9AE56-B409-65F6-4D78-7D5E8B6ACAA9}"/>
              </a:ext>
            </a:extLst>
          </p:cNvPr>
          <p:cNvSpPr/>
          <p:nvPr/>
        </p:nvSpPr>
        <p:spPr>
          <a:xfrm>
            <a:off x="6522720" y="1926336"/>
            <a:ext cx="5120640" cy="463296"/>
          </a:xfrm>
          <a:prstGeom prst="rect">
            <a:avLst/>
          </a:prstGeom>
          <a:noFill/>
          <a:ln/>
        </p:spPr>
        <p:txBody>
          <a:bodyPr wrap="square" lIns="0" tIns="0" rIns="0" bIns="0" rtlCol="0" anchor="ctr"/>
          <a:lstStyle/>
          <a:p>
            <a:endParaRPr lang="en-US" dirty="0"/>
          </a:p>
        </p:txBody>
      </p:sp>
      <p:sp>
        <p:nvSpPr>
          <p:cNvPr id="11" name="Text 9">
            <a:extLst>
              <a:ext uri="{FF2B5EF4-FFF2-40B4-BE49-F238E27FC236}">
                <a16:creationId xmlns:a16="http://schemas.microsoft.com/office/drawing/2014/main" id="{D946E1FA-9586-8CAD-4AC2-C36C2C9B6303}"/>
              </a:ext>
            </a:extLst>
          </p:cNvPr>
          <p:cNvSpPr/>
          <p:nvPr/>
        </p:nvSpPr>
        <p:spPr>
          <a:xfrm>
            <a:off x="365760" y="5145024"/>
            <a:ext cx="4876800" cy="426720"/>
          </a:xfrm>
          <a:prstGeom prst="rect">
            <a:avLst/>
          </a:prstGeom>
          <a:noFill/>
          <a:ln/>
        </p:spPr>
        <p:txBody>
          <a:bodyPr wrap="square" lIns="0" tIns="0" rIns="0" bIns="0" rtlCol="0" anchor="ctr"/>
          <a:lstStyle/>
          <a:p>
            <a:endParaRPr lang="en-US" sz="1600" dirty="0"/>
          </a:p>
        </p:txBody>
      </p:sp>
      <p:sp>
        <p:nvSpPr>
          <p:cNvPr id="13" name="Text 11">
            <a:extLst>
              <a:ext uri="{FF2B5EF4-FFF2-40B4-BE49-F238E27FC236}">
                <a16:creationId xmlns:a16="http://schemas.microsoft.com/office/drawing/2014/main" id="{C388F216-BE51-8288-5381-C6A160531CF2}"/>
              </a:ext>
            </a:extLst>
          </p:cNvPr>
          <p:cNvSpPr/>
          <p:nvPr/>
        </p:nvSpPr>
        <p:spPr>
          <a:xfrm>
            <a:off x="365760" y="5852160"/>
            <a:ext cx="11460480" cy="243840"/>
          </a:xfrm>
          <a:prstGeom prst="rect">
            <a:avLst/>
          </a:prstGeom>
          <a:noFill/>
          <a:ln/>
        </p:spPr>
        <p:txBody>
          <a:bodyPr wrap="square" lIns="0" tIns="0" rIns="0" bIns="0" rtlCol="0" anchor="ctr"/>
          <a:lstStyle/>
          <a:p>
            <a:endParaRPr lang="en-US" sz="1267" dirty="0"/>
          </a:p>
        </p:txBody>
      </p:sp>
      <p:sp>
        <p:nvSpPr>
          <p:cNvPr id="15" name="Text 13">
            <a:extLst>
              <a:ext uri="{FF2B5EF4-FFF2-40B4-BE49-F238E27FC236}">
                <a16:creationId xmlns:a16="http://schemas.microsoft.com/office/drawing/2014/main" id="{60ABFA2A-C342-AB80-C871-50413830A366}"/>
              </a:ext>
            </a:extLst>
          </p:cNvPr>
          <p:cNvSpPr/>
          <p:nvPr/>
        </p:nvSpPr>
        <p:spPr>
          <a:xfrm>
            <a:off x="365760" y="6339840"/>
            <a:ext cx="11460480" cy="243840"/>
          </a:xfrm>
          <a:prstGeom prst="rect">
            <a:avLst/>
          </a:prstGeom>
          <a:noFill/>
          <a:ln/>
        </p:spPr>
        <p:txBody>
          <a:bodyPr wrap="square" lIns="0" tIns="0" rIns="0" bIns="0" rtlCol="0" anchor="ctr"/>
          <a:lstStyle/>
          <a:p>
            <a:endParaRPr lang="en-US" sz="1267" dirty="0"/>
          </a:p>
        </p:txBody>
      </p:sp>
      <p:sp>
        <p:nvSpPr>
          <p:cNvPr id="16" name="Text 14">
            <a:extLst>
              <a:ext uri="{FF2B5EF4-FFF2-40B4-BE49-F238E27FC236}">
                <a16:creationId xmlns:a16="http://schemas.microsoft.com/office/drawing/2014/main" id="{3A5F0CC7-C282-5A0D-3574-B4C72A62982B}"/>
              </a:ext>
            </a:extLst>
          </p:cNvPr>
          <p:cNvSpPr/>
          <p:nvPr/>
        </p:nvSpPr>
        <p:spPr>
          <a:xfrm>
            <a:off x="365760" y="6583680"/>
            <a:ext cx="11460480" cy="243840"/>
          </a:xfrm>
          <a:prstGeom prst="rect">
            <a:avLst/>
          </a:prstGeom>
          <a:noFill/>
          <a:ln/>
        </p:spPr>
        <p:txBody>
          <a:bodyPr wrap="square" lIns="0" tIns="0" rIns="0" bIns="0" rtlCol="0" anchor="ctr"/>
          <a:lstStyle/>
          <a:p>
            <a:endParaRPr lang="en-US" sz="1267" dirty="0"/>
          </a:p>
        </p:txBody>
      </p:sp>
      <p:pic>
        <p:nvPicPr>
          <p:cNvPr id="20" name="Picture 2" descr="KL Deemed to be University Logo">
            <a:extLst>
              <a:ext uri="{FF2B5EF4-FFF2-40B4-BE49-F238E27FC236}">
                <a16:creationId xmlns:a16="http://schemas.microsoft.com/office/drawing/2014/main" id="{076062ED-DF30-CE57-06ED-B4E77F9239BF}"/>
              </a:ext>
            </a:extLst>
          </p:cNvPr>
          <p:cNvPicPr>
            <a:picLocks noChangeAspect="1" noChangeArrowheads="1"/>
          </p:cNvPicPr>
          <p:nvPr/>
        </p:nvPicPr>
        <p:blipFill>
          <a:blip r:embed="rId3"/>
          <a:srcRect/>
          <a:stretch>
            <a:fillRect/>
          </a:stretch>
        </p:blipFill>
        <p:spPr bwMode="auto">
          <a:xfrm>
            <a:off x="176267" y="38407"/>
            <a:ext cx="1229428" cy="914400"/>
          </a:xfrm>
          <a:prstGeom prst="rect">
            <a:avLst/>
          </a:prstGeom>
          <a:noFill/>
        </p:spPr>
      </p:pic>
      <p:sp>
        <p:nvSpPr>
          <p:cNvPr id="18" name="TextBox 17">
            <a:extLst>
              <a:ext uri="{FF2B5EF4-FFF2-40B4-BE49-F238E27FC236}">
                <a16:creationId xmlns:a16="http://schemas.microsoft.com/office/drawing/2014/main" id="{3E179AB5-380F-54D2-FD73-9EA00047C6D9}"/>
              </a:ext>
            </a:extLst>
          </p:cNvPr>
          <p:cNvSpPr txBox="1"/>
          <p:nvPr/>
        </p:nvSpPr>
        <p:spPr>
          <a:xfrm>
            <a:off x="772886" y="1403910"/>
            <a:ext cx="8379278" cy="461665"/>
          </a:xfrm>
          <a:prstGeom prst="rect">
            <a:avLst/>
          </a:prstGeom>
          <a:noFill/>
        </p:spPr>
        <p:txBody>
          <a:bodyPr wrap="square">
            <a:spAutoFit/>
          </a:bodyPr>
          <a:lstStyle/>
          <a:p>
            <a:r>
              <a:rPr lang="en-IN" sz="2400" b="1" dirty="0"/>
              <a:t>The Confusing Event Announcement</a:t>
            </a:r>
          </a:p>
        </p:txBody>
      </p:sp>
    </p:spTree>
    <p:extLst>
      <p:ext uri="{BB962C8B-B14F-4D97-AF65-F5344CB8AC3E}">
        <p14:creationId xmlns:p14="http://schemas.microsoft.com/office/powerpoint/2010/main" val="3372190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A2E4A"/>
          </a:solidFill>
          <a:ln w="12700">
            <a:solidFill>
              <a:srgbClr val="1A2E4A"/>
            </a:solidFill>
            <a:prstDash val="solid"/>
          </a:ln>
        </p:spPr>
        <p:txBody>
          <a:bodyPr/>
          <a:lstStyle/>
          <a:p>
            <a:endParaRPr lang="en-IN" sz="2400"/>
          </a:p>
        </p:txBody>
      </p:sp>
      <p:sp>
        <p:nvSpPr>
          <p:cNvPr id="3" name="Text 1"/>
          <p:cNvSpPr/>
          <p:nvPr/>
        </p:nvSpPr>
        <p:spPr>
          <a:xfrm>
            <a:off x="1001486" y="274320"/>
            <a:ext cx="10458994" cy="822960"/>
          </a:xfrm>
          <a:prstGeom prst="rect">
            <a:avLst/>
          </a:prstGeom>
          <a:noFill/>
          <a:ln/>
        </p:spPr>
        <p:txBody>
          <a:bodyPr wrap="square" lIns="0" tIns="0" rIns="0" bIns="0" rtlCol="0" anchor="ctr"/>
          <a:lstStyle/>
          <a:p>
            <a:r>
              <a:rPr lang="en-US" sz="2667" b="1" dirty="0">
                <a:solidFill>
                  <a:srgbClr val="FFFFFF"/>
                </a:solidFill>
              </a:rPr>
              <a:t>                </a:t>
            </a:r>
            <a:r>
              <a:rPr lang="en-US" sz="3200" b="1" dirty="0">
                <a:solidFill>
                  <a:srgbClr val="FFFFFF"/>
                </a:solidFill>
              </a:rPr>
              <a:t>Problem / Case Analysis</a:t>
            </a:r>
            <a:endParaRPr lang="en-US" sz="2667" dirty="0"/>
          </a:p>
        </p:txBody>
      </p:sp>
      <p:sp>
        <p:nvSpPr>
          <p:cNvPr id="4" name="Text 2"/>
          <p:cNvSpPr/>
          <p:nvPr/>
        </p:nvSpPr>
        <p:spPr>
          <a:xfrm>
            <a:off x="365760" y="1316736"/>
            <a:ext cx="11460480" cy="463296"/>
          </a:xfrm>
          <a:prstGeom prst="rect">
            <a:avLst/>
          </a:prstGeom>
          <a:noFill/>
          <a:ln/>
        </p:spPr>
        <p:txBody>
          <a:bodyPr wrap="square" lIns="0" tIns="0" rIns="0" bIns="0" rtlCol="0" anchor="ctr"/>
          <a:lstStyle/>
          <a:p>
            <a:r>
              <a:rPr lang="en-US" sz="2400" b="1" dirty="0" err="1">
                <a:solidFill>
                  <a:srgbClr val="1A2E4A"/>
                </a:solidFill>
              </a:rPr>
              <a:t>Analysing</a:t>
            </a:r>
            <a:r>
              <a:rPr lang="en-US" sz="2400" b="1" dirty="0">
                <a:solidFill>
                  <a:srgbClr val="1A2E4A"/>
                </a:solidFill>
              </a:rPr>
              <a:t> an Email — Before vs. After Revision</a:t>
            </a:r>
            <a:endParaRPr lang="en-US" sz="2400" dirty="0"/>
          </a:p>
        </p:txBody>
      </p:sp>
      <p:sp>
        <p:nvSpPr>
          <p:cNvPr id="5" name="Shape 3"/>
          <p:cNvSpPr/>
          <p:nvPr/>
        </p:nvSpPr>
        <p:spPr>
          <a:xfrm>
            <a:off x="0" y="2286000"/>
            <a:ext cx="12015735" cy="4145280"/>
          </a:xfrm>
          <a:prstGeom prst="roundRect">
            <a:avLst>
              <a:gd name="adj" fmla="val 3846"/>
            </a:avLst>
          </a:prstGeom>
          <a:solidFill>
            <a:srgbClr val="FEF2F2"/>
          </a:solidFill>
          <a:ln w="12700">
            <a:solidFill>
              <a:srgbClr val="FECACA"/>
            </a:solidFill>
            <a:prstDash val="solid"/>
          </a:ln>
          <a:effectLst>
            <a:outerShdw blurRad="101600" dist="38100" dir="2700000" algn="bl" rotWithShape="0">
              <a:srgbClr val="000000">
                <a:alpha val="12000"/>
              </a:srgbClr>
            </a:outerShdw>
          </a:effectLst>
        </p:spPr>
        <p:txBody>
          <a:bodyPr/>
          <a:lstStyle/>
          <a:p>
            <a:endParaRPr lang="en-IN" sz="2400" dirty="0"/>
          </a:p>
        </p:txBody>
      </p:sp>
      <p:sp>
        <p:nvSpPr>
          <p:cNvPr id="6" name="Text 4"/>
          <p:cNvSpPr/>
          <p:nvPr/>
        </p:nvSpPr>
        <p:spPr>
          <a:xfrm>
            <a:off x="548640" y="1926336"/>
            <a:ext cx="5120640" cy="268224"/>
          </a:xfrm>
          <a:prstGeom prst="rect">
            <a:avLst/>
          </a:prstGeom>
          <a:noFill/>
          <a:ln/>
        </p:spPr>
        <p:txBody>
          <a:bodyPr wrap="square" lIns="0" tIns="0" rIns="0" bIns="0" rtlCol="0" anchor="ctr"/>
          <a:lstStyle/>
          <a:p>
            <a:r>
              <a:rPr lang="en-US" b="1" dirty="0">
                <a:solidFill>
                  <a:srgbClr val="B91C1C"/>
                </a:solidFill>
              </a:rPr>
              <a:t>❌  BEFORE (Original Email)</a:t>
            </a:r>
            <a:endParaRPr lang="en-US" dirty="0"/>
          </a:p>
        </p:txBody>
      </p:sp>
      <p:sp>
        <p:nvSpPr>
          <p:cNvPr id="7" name="Text 5"/>
          <p:cNvSpPr/>
          <p:nvPr/>
        </p:nvSpPr>
        <p:spPr>
          <a:xfrm>
            <a:off x="176265" y="2231136"/>
            <a:ext cx="11839470" cy="4200144"/>
          </a:xfrm>
          <a:prstGeom prst="rect">
            <a:avLst/>
          </a:prstGeom>
          <a:noFill/>
          <a:ln/>
        </p:spPr>
        <p:txBody>
          <a:bodyPr wrap="square" lIns="0" tIns="0" rIns="0" bIns="0" rtlCol="0" anchor="ctr"/>
          <a:lstStyle/>
          <a:p>
            <a:r>
              <a:rPr lang="en-US" dirty="0">
                <a:solidFill>
                  <a:srgbClr val="1E293B"/>
                </a:solidFill>
              </a:rPr>
              <a:t> </a:t>
            </a:r>
          </a:p>
          <a:p>
            <a:r>
              <a:rPr lang="en-US" sz="2800" dirty="0">
                <a:solidFill>
                  <a:srgbClr val="1E293B"/>
                </a:solidFill>
              </a:rPr>
              <a:t>Subject: Update</a:t>
            </a:r>
            <a:endParaRPr lang="en-US" sz="2800" dirty="0"/>
          </a:p>
          <a:p>
            <a:pPr algn="just"/>
            <a:endParaRPr lang="en-US" sz="2800" dirty="0"/>
          </a:p>
          <a:p>
            <a:pPr algn="just"/>
            <a:r>
              <a:rPr lang="en-US" sz="2800" dirty="0">
                <a:solidFill>
                  <a:srgbClr val="1E293B"/>
                </a:solidFill>
              </a:rPr>
              <a:t>Hi,</a:t>
            </a:r>
            <a:endParaRPr lang="en-US" sz="2800" dirty="0"/>
          </a:p>
          <a:p>
            <a:pPr algn="just"/>
            <a:endParaRPr lang="en-US" sz="2800" dirty="0"/>
          </a:p>
          <a:p>
            <a:pPr algn="just"/>
            <a:r>
              <a:rPr lang="en-US" sz="2800" dirty="0">
                <a:solidFill>
                  <a:srgbClr val="1E293B"/>
                </a:solidFill>
              </a:rPr>
              <a:t>Just wanted to touch base regarding the deliverable situation. As per our previous correspondence, it has been observed that there have been certain issues with respect to the timeline due to scope-related parameters that were encountered by our team.</a:t>
            </a:r>
            <a:endParaRPr lang="en-US" sz="2800" dirty="0"/>
          </a:p>
          <a:p>
            <a:pPr algn="just"/>
            <a:r>
              <a:rPr lang="en-US" sz="2800" dirty="0">
                <a:solidFill>
                  <a:srgbClr val="1E293B"/>
                </a:solidFill>
              </a:rPr>
              <a:t>Kindly revert at your earliest convenience.</a:t>
            </a:r>
            <a:endParaRPr lang="en-US" sz="2800" dirty="0"/>
          </a:p>
        </p:txBody>
      </p:sp>
      <p:sp>
        <p:nvSpPr>
          <p:cNvPr id="9" name="Text 7"/>
          <p:cNvSpPr/>
          <p:nvPr/>
        </p:nvSpPr>
        <p:spPr>
          <a:xfrm>
            <a:off x="6522720" y="1926336"/>
            <a:ext cx="5120640" cy="463296"/>
          </a:xfrm>
          <a:prstGeom prst="rect">
            <a:avLst/>
          </a:prstGeom>
          <a:noFill/>
          <a:ln/>
        </p:spPr>
        <p:txBody>
          <a:bodyPr wrap="square" lIns="0" tIns="0" rIns="0" bIns="0" rtlCol="0" anchor="ctr"/>
          <a:lstStyle/>
          <a:p>
            <a:endParaRPr lang="en-US" dirty="0"/>
          </a:p>
        </p:txBody>
      </p:sp>
      <p:sp>
        <p:nvSpPr>
          <p:cNvPr id="12" name="Text 10"/>
          <p:cNvSpPr/>
          <p:nvPr/>
        </p:nvSpPr>
        <p:spPr>
          <a:xfrm>
            <a:off x="365760" y="5608320"/>
            <a:ext cx="11460480" cy="243840"/>
          </a:xfrm>
          <a:prstGeom prst="rect">
            <a:avLst/>
          </a:prstGeom>
          <a:noFill/>
          <a:ln/>
        </p:spPr>
        <p:txBody>
          <a:bodyPr wrap="square" lIns="0" tIns="0" rIns="0" bIns="0" rtlCol="0" anchor="ctr"/>
          <a:lstStyle/>
          <a:p>
            <a:endParaRPr lang="en-US" sz="1267" dirty="0"/>
          </a:p>
        </p:txBody>
      </p:sp>
      <p:sp>
        <p:nvSpPr>
          <p:cNvPr id="13" name="Text 11"/>
          <p:cNvSpPr/>
          <p:nvPr/>
        </p:nvSpPr>
        <p:spPr>
          <a:xfrm>
            <a:off x="365760" y="5852160"/>
            <a:ext cx="11460480" cy="243840"/>
          </a:xfrm>
          <a:prstGeom prst="rect">
            <a:avLst/>
          </a:prstGeom>
          <a:noFill/>
          <a:ln/>
        </p:spPr>
        <p:txBody>
          <a:bodyPr wrap="square" lIns="0" tIns="0" rIns="0" bIns="0" rtlCol="0" anchor="ctr"/>
          <a:lstStyle/>
          <a:p>
            <a:endParaRPr lang="en-US" sz="1267" dirty="0"/>
          </a:p>
        </p:txBody>
      </p:sp>
      <p:sp>
        <p:nvSpPr>
          <p:cNvPr id="14" name="Text 12"/>
          <p:cNvSpPr/>
          <p:nvPr/>
        </p:nvSpPr>
        <p:spPr>
          <a:xfrm>
            <a:off x="365760" y="6096000"/>
            <a:ext cx="11460480" cy="243840"/>
          </a:xfrm>
          <a:prstGeom prst="rect">
            <a:avLst/>
          </a:prstGeom>
          <a:noFill/>
          <a:ln/>
        </p:spPr>
        <p:txBody>
          <a:bodyPr wrap="square" lIns="0" tIns="0" rIns="0" bIns="0" rtlCol="0" anchor="ctr"/>
          <a:lstStyle/>
          <a:p>
            <a:endParaRPr lang="en-US" sz="1267" dirty="0"/>
          </a:p>
        </p:txBody>
      </p:sp>
      <p:sp>
        <p:nvSpPr>
          <p:cNvPr id="15" name="Text 13"/>
          <p:cNvSpPr/>
          <p:nvPr/>
        </p:nvSpPr>
        <p:spPr>
          <a:xfrm>
            <a:off x="365760" y="6339840"/>
            <a:ext cx="11460480" cy="243840"/>
          </a:xfrm>
          <a:prstGeom prst="rect">
            <a:avLst/>
          </a:prstGeom>
          <a:noFill/>
          <a:ln/>
        </p:spPr>
        <p:txBody>
          <a:bodyPr wrap="square" lIns="0" tIns="0" rIns="0" bIns="0" rtlCol="0" anchor="ctr"/>
          <a:lstStyle/>
          <a:p>
            <a:endParaRPr lang="en-US" sz="1267" dirty="0"/>
          </a:p>
        </p:txBody>
      </p:sp>
      <p:sp>
        <p:nvSpPr>
          <p:cNvPr id="16" name="Text 14"/>
          <p:cNvSpPr/>
          <p:nvPr/>
        </p:nvSpPr>
        <p:spPr>
          <a:xfrm>
            <a:off x="365760" y="6583680"/>
            <a:ext cx="11460480" cy="243840"/>
          </a:xfrm>
          <a:prstGeom prst="rect">
            <a:avLst/>
          </a:prstGeom>
          <a:noFill/>
          <a:ln/>
        </p:spPr>
        <p:txBody>
          <a:bodyPr wrap="square" lIns="0" tIns="0" rIns="0" bIns="0" rtlCol="0" anchor="ctr"/>
          <a:lstStyle/>
          <a:p>
            <a:endParaRPr lang="en-US" sz="1267" dirty="0"/>
          </a:p>
        </p:txBody>
      </p:sp>
      <p:pic>
        <p:nvPicPr>
          <p:cNvPr id="20" name="Picture 2" descr="KL Deemed to be University Logo">
            <a:extLst>
              <a:ext uri="{FF2B5EF4-FFF2-40B4-BE49-F238E27FC236}">
                <a16:creationId xmlns:a16="http://schemas.microsoft.com/office/drawing/2014/main" id="{F2E18530-6880-1CDF-717F-C4CCB0F65B16}"/>
              </a:ext>
            </a:extLst>
          </p:cNvPr>
          <p:cNvPicPr>
            <a:picLocks noChangeAspect="1" noChangeArrowheads="1"/>
          </p:cNvPicPr>
          <p:nvPr/>
        </p:nvPicPr>
        <p:blipFill>
          <a:blip r:embed="rId3"/>
          <a:srcRect/>
          <a:stretch>
            <a:fillRect/>
          </a:stretch>
        </p:blipFill>
        <p:spPr bwMode="auto">
          <a:xfrm>
            <a:off x="176267" y="38407"/>
            <a:ext cx="1229428" cy="914400"/>
          </a:xfrm>
          <a:prstGeom prst="rect">
            <a:avLst/>
          </a:prstGeom>
          <a:noFill/>
        </p:spPr>
      </p:pic>
    </p:spTree>
    <p:extLst>
      <p:ext uri="{BB962C8B-B14F-4D97-AF65-F5344CB8AC3E}">
        <p14:creationId xmlns:p14="http://schemas.microsoft.com/office/powerpoint/2010/main" val="2575054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7B10-DA14-C239-8D52-AD6E3E60A9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A50C0A6-329B-7B47-A587-9E5B54536881}"/>
              </a:ext>
            </a:extLst>
          </p:cNvPr>
          <p:cNvSpPr/>
          <p:nvPr/>
        </p:nvSpPr>
        <p:spPr>
          <a:xfrm>
            <a:off x="0" y="0"/>
            <a:ext cx="12192000" cy="1219200"/>
          </a:xfrm>
          <a:prstGeom prst="rect">
            <a:avLst/>
          </a:prstGeom>
          <a:solidFill>
            <a:srgbClr val="1A2E4A"/>
          </a:solidFill>
          <a:ln w="12700">
            <a:solidFill>
              <a:srgbClr val="1A2E4A"/>
            </a:solidFill>
            <a:prstDash val="solid"/>
          </a:ln>
        </p:spPr>
        <p:txBody>
          <a:bodyPr/>
          <a:lstStyle/>
          <a:p>
            <a:endParaRPr lang="en-IN" sz="2400"/>
          </a:p>
        </p:txBody>
      </p:sp>
      <p:sp>
        <p:nvSpPr>
          <p:cNvPr id="3" name="Text 1">
            <a:extLst>
              <a:ext uri="{FF2B5EF4-FFF2-40B4-BE49-F238E27FC236}">
                <a16:creationId xmlns:a16="http://schemas.microsoft.com/office/drawing/2014/main" id="{E362B2CC-9880-EA9A-340D-DCCD1B34970C}"/>
              </a:ext>
            </a:extLst>
          </p:cNvPr>
          <p:cNvSpPr/>
          <p:nvPr/>
        </p:nvSpPr>
        <p:spPr>
          <a:xfrm>
            <a:off x="1001486" y="274320"/>
            <a:ext cx="10458994" cy="822960"/>
          </a:xfrm>
          <a:prstGeom prst="rect">
            <a:avLst/>
          </a:prstGeom>
          <a:noFill/>
          <a:ln/>
        </p:spPr>
        <p:txBody>
          <a:bodyPr wrap="square" lIns="0" tIns="0" rIns="0" bIns="0" rtlCol="0" anchor="ctr"/>
          <a:lstStyle/>
          <a:p>
            <a:r>
              <a:rPr lang="en-US" sz="2667" b="1" dirty="0">
                <a:solidFill>
                  <a:srgbClr val="FFFFFF"/>
                </a:solidFill>
              </a:rPr>
              <a:t>                </a:t>
            </a:r>
            <a:r>
              <a:rPr lang="en-US" sz="3200" b="1" dirty="0">
                <a:solidFill>
                  <a:srgbClr val="FFFFFF"/>
                </a:solidFill>
              </a:rPr>
              <a:t>Problem / Case Analysis</a:t>
            </a:r>
            <a:endParaRPr lang="en-US" sz="2667" dirty="0"/>
          </a:p>
        </p:txBody>
      </p:sp>
      <p:sp>
        <p:nvSpPr>
          <p:cNvPr id="4" name="Text 2">
            <a:extLst>
              <a:ext uri="{FF2B5EF4-FFF2-40B4-BE49-F238E27FC236}">
                <a16:creationId xmlns:a16="http://schemas.microsoft.com/office/drawing/2014/main" id="{07688464-92E3-84E1-C1B5-305F8296FE9A}"/>
              </a:ext>
            </a:extLst>
          </p:cNvPr>
          <p:cNvSpPr/>
          <p:nvPr/>
        </p:nvSpPr>
        <p:spPr>
          <a:xfrm>
            <a:off x="365760" y="1316736"/>
            <a:ext cx="11460480" cy="463296"/>
          </a:xfrm>
          <a:prstGeom prst="rect">
            <a:avLst/>
          </a:prstGeom>
          <a:noFill/>
          <a:ln/>
        </p:spPr>
        <p:txBody>
          <a:bodyPr wrap="square" lIns="0" tIns="0" rIns="0" bIns="0" rtlCol="0" anchor="ctr"/>
          <a:lstStyle/>
          <a:p>
            <a:r>
              <a:rPr lang="en-US" sz="2400" b="1" dirty="0" err="1">
                <a:solidFill>
                  <a:srgbClr val="1A2E4A"/>
                </a:solidFill>
              </a:rPr>
              <a:t>Analysing</a:t>
            </a:r>
            <a:r>
              <a:rPr lang="en-US" sz="2400" b="1" dirty="0">
                <a:solidFill>
                  <a:srgbClr val="1A2E4A"/>
                </a:solidFill>
              </a:rPr>
              <a:t> an Email —After Revision</a:t>
            </a:r>
            <a:endParaRPr lang="en-US" sz="2400" dirty="0"/>
          </a:p>
        </p:txBody>
      </p:sp>
      <p:sp>
        <p:nvSpPr>
          <p:cNvPr id="6" name="Text 4">
            <a:extLst>
              <a:ext uri="{FF2B5EF4-FFF2-40B4-BE49-F238E27FC236}">
                <a16:creationId xmlns:a16="http://schemas.microsoft.com/office/drawing/2014/main" id="{85D3F4AE-E753-5DE7-BE38-BC423332AE2E}"/>
              </a:ext>
            </a:extLst>
          </p:cNvPr>
          <p:cNvSpPr/>
          <p:nvPr/>
        </p:nvSpPr>
        <p:spPr>
          <a:xfrm>
            <a:off x="548640" y="1926336"/>
            <a:ext cx="5120640" cy="268224"/>
          </a:xfrm>
          <a:prstGeom prst="rect">
            <a:avLst/>
          </a:prstGeom>
          <a:noFill/>
          <a:ln/>
        </p:spPr>
        <p:txBody>
          <a:bodyPr wrap="square" lIns="0" tIns="0" rIns="0" bIns="0" rtlCol="0" anchor="ctr"/>
          <a:lstStyle/>
          <a:p>
            <a:endParaRPr lang="en-US" dirty="0"/>
          </a:p>
        </p:txBody>
      </p:sp>
      <p:sp>
        <p:nvSpPr>
          <p:cNvPr id="8" name="Shape 6">
            <a:extLst>
              <a:ext uri="{FF2B5EF4-FFF2-40B4-BE49-F238E27FC236}">
                <a16:creationId xmlns:a16="http://schemas.microsoft.com/office/drawing/2014/main" id="{089A3511-5EFB-7930-8EB0-AC67962736C1}"/>
              </a:ext>
            </a:extLst>
          </p:cNvPr>
          <p:cNvSpPr/>
          <p:nvPr/>
        </p:nvSpPr>
        <p:spPr>
          <a:xfrm>
            <a:off x="76200" y="2123238"/>
            <a:ext cx="8098973" cy="3383045"/>
          </a:xfrm>
          <a:prstGeom prst="roundRect">
            <a:avLst>
              <a:gd name="adj" fmla="val 3846"/>
            </a:avLst>
          </a:prstGeom>
          <a:solidFill>
            <a:srgbClr val="F0FDF4"/>
          </a:solidFill>
          <a:ln w="12700">
            <a:solidFill>
              <a:srgbClr val="BBF7D0"/>
            </a:solidFill>
            <a:prstDash val="solid"/>
          </a:ln>
          <a:effectLst>
            <a:outerShdw blurRad="101600" dist="38100" dir="2700000" algn="bl" rotWithShape="0">
              <a:srgbClr val="000000">
                <a:alpha val="12000"/>
              </a:srgbClr>
            </a:outerShdw>
          </a:effectLst>
        </p:spPr>
        <p:txBody>
          <a:bodyPr/>
          <a:lstStyle/>
          <a:p>
            <a:endParaRPr lang="en-IN" sz="2400" dirty="0"/>
          </a:p>
        </p:txBody>
      </p:sp>
      <p:sp>
        <p:nvSpPr>
          <p:cNvPr id="10" name="Text 8">
            <a:extLst>
              <a:ext uri="{FF2B5EF4-FFF2-40B4-BE49-F238E27FC236}">
                <a16:creationId xmlns:a16="http://schemas.microsoft.com/office/drawing/2014/main" id="{D7270BAA-B89D-EC11-5F03-5D6DEC8E3CDA}"/>
              </a:ext>
            </a:extLst>
          </p:cNvPr>
          <p:cNvSpPr/>
          <p:nvPr/>
        </p:nvSpPr>
        <p:spPr>
          <a:xfrm>
            <a:off x="631371" y="3113314"/>
            <a:ext cx="7543801" cy="1324574"/>
          </a:xfrm>
          <a:prstGeom prst="rect">
            <a:avLst/>
          </a:prstGeom>
          <a:noFill/>
          <a:ln/>
        </p:spPr>
        <p:txBody>
          <a:bodyPr wrap="square" lIns="0" tIns="0" rIns="0" bIns="0" rtlCol="0" anchor="ctr"/>
          <a:lstStyle/>
          <a:p>
            <a:r>
              <a:rPr lang="en-US" b="1" dirty="0">
                <a:solidFill>
                  <a:srgbClr val="1E293B"/>
                </a:solidFill>
              </a:rPr>
              <a:t>Subject: Project Timeline Update — Delivery Extended to 15 July</a:t>
            </a:r>
            <a:endParaRPr lang="en-US" b="1" dirty="0"/>
          </a:p>
          <a:p>
            <a:endParaRPr lang="en-US" b="1" dirty="0"/>
          </a:p>
          <a:p>
            <a:r>
              <a:rPr lang="en-US" b="1" dirty="0">
                <a:solidFill>
                  <a:srgbClr val="1E293B"/>
                </a:solidFill>
              </a:rPr>
              <a:t>Dear Ms. Sharma,</a:t>
            </a:r>
            <a:endParaRPr lang="en-US" b="1" dirty="0"/>
          </a:p>
          <a:p>
            <a:endParaRPr lang="en-US" b="1" dirty="0"/>
          </a:p>
          <a:p>
            <a:r>
              <a:rPr lang="en-US" b="1" dirty="0">
                <a:solidFill>
                  <a:srgbClr val="1E293B"/>
                </a:solidFill>
              </a:rPr>
              <a:t>I am writing to inform you that due to a client-approved scope addition (approved 3 July), our delivery date has moved from 10 July to 15 July.</a:t>
            </a:r>
            <a:endParaRPr lang="en-US" b="1" dirty="0"/>
          </a:p>
          <a:p>
            <a:endParaRPr lang="en-US" b="1" dirty="0"/>
          </a:p>
          <a:p>
            <a:r>
              <a:rPr lang="en-US" b="1" dirty="0">
                <a:solidFill>
                  <a:srgbClr val="1E293B"/>
                </a:solidFill>
              </a:rPr>
              <a:t>Action required: Please confirm if this revised date works for your team by 8 July.</a:t>
            </a:r>
            <a:endParaRPr lang="en-US" b="1" dirty="0"/>
          </a:p>
          <a:p>
            <a:r>
              <a:rPr lang="en-US" b="1" dirty="0">
                <a:solidFill>
                  <a:srgbClr val="1E293B"/>
                </a:solidFill>
              </a:rPr>
              <a:t>I am available for a call this week if you have questions.</a:t>
            </a:r>
            <a:endParaRPr lang="en-US" b="1" dirty="0"/>
          </a:p>
        </p:txBody>
      </p:sp>
      <p:sp>
        <p:nvSpPr>
          <p:cNvPr id="12" name="Text 10">
            <a:extLst>
              <a:ext uri="{FF2B5EF4-FFF2-40B4-BE49-F238E27FC236}">
                <a16:creationId xmlns:a16="http://schemas.microsoft.com/office/drawing/2014/main" id="{A3C9C6D6-FC2F-52AA-6F4B-D3961B764E22}"/>
              </a:ext>
            </a:extLst>
          </p:cNvPr>
          <p:cNvSpPr/>
          <p:nvPr/>
        </p:nvSpPr>
        <p:spPr>
          <a:xfrm>
            <a:off x="365760" y="5608320"/>
            <a:ext cx="11460480" cy="243840"/>
          </a:xfrm>
          <a:prstGeom prst="rect">
            <a:avLst/>
          </a:prstGeom>
          <a:noFill/>
          <a:ln/>
        </p:spPr>
        <p:txBody>
          <a:bodyPr wrap="square" lIns="0" tIns="0" rIns="0" bIns="0" rtlCol="0" anchor="ctr"/>
          <a:lstStyle/>
          <a:p>
            <a:endParaRPr lang="en-US" sz="1400" b="1" dirty="0"/>
          </a:p>
        </p:txBody>
      </p:sp>
      <p:sp>
        <p:nvSpPr>
          <p:cNvPr id="13" name="Text 11">
            <a:extLst>
              <a:ext uri="{FF2B5EF4-FFF2-40B4-BE49-F238E27FC236}">
                <a16:creationId xmlns:a16="http://schemas.microsoft.com/office/drawing/2014/main" id="{4AD8D3BF-85A4-8614-426E-E59C40957392}"/>
              </a:ext>
            </a:extLst>
          </p:cNvPr>
          <p:cNvSpPr/>
          <p:nvPr/>
        </p:nvSpPr>
        <p:spPr>
          <a:xfrm>
            <a:off x="365760" y="5852160"/>
            <a:ext cx="11460480" cy="243840"/>
          </a:xfrm>
          <a:prstGeom prst="rect">
            <a:avLst/>
          </a:prstGeom>
          <a:noFill/>
          <a:ln/>
        </p:spPr>
        <p:txBody>
          <a:bodyPr wrap="square" lIns="0" tIns="0" rIns="0" bIns="0" rtlCol="0" anchor="ctr"/>
          <a:lstStyle/>
          <a:p>
            <a:endParaRPr lang="en-US" sz="1400" b="1" dirty="0"/>
          </a:p>
        </p:txBody>
      </p:sp>
      <p:pic>
        <p:nvPicPr>
          <p:cNvPr id="20" name="Picture 2" descr="KL Deemed to be University Logo">
            <a:extLst>
              <a:ext uri="{FF2B5EF4-FFF2-40B4-BE49-F238E27FC236}">
                <a16:creationId xmlns:a16="http://schemas.microsoft.com/office/drawing/2014/main" id="{6F48B565-359D-0440-B3A3-45F704967A01}"/>
              </a:ext>
            </a:extLst>
          </p:cNvPr>
          <p:cNvPicPr>
            <a:picLocks noChangeAspect="1" noChangeArrowheads="1"/>
          </p:cNvPicPr>
          <p:nvPr/>
        </p:nvPicPr>
        <p:blipFill>
          <a:blip r:embed="rId3"/>
          <a:srcRect/>
          <a:stretch>
            <a:fillRect/>
          </a:stretch>
        </p:blipFill>
        <p:spPr bwMode="auto">
          <a:xfrm>
            <a:off x="176267" y="38407"/>
            <a:ext cx="1229428" cy="914400"/>
          </a:xfrm>
          <a:prstGeom prst="rect">
            <a:avLst/>
          </a:prstGeom>
          <a:noFill/>
        </p:spPr>
      </p:pic>
      <p:sp>
        <p:nvSpPr>
          <p:cNvPr id="18" name="TextBox 17">
            <a:extLst>
              <a:ext uri="{FF2B5EF4-FFF2-40B4-BE49-F238E27FC236}">
                <a16:creationId xmlns:a16="http://schemas.microsoft.com/office/drawing/2014/main" id="{975A618C-6C86-8EEE-CBD5-1B0D8D47D8EB}"/>
              </a:ext>
            </a:extLst>
          </p:cNvPr>
          <p:cNvSpPr txBox="1"/>
          <p:nvPr/>
        </p:nvSpPr>
        <p:spPr>
          <a:xfrm>
            <a:off x="8338456" y="2194560"/>
            <a:ext cx="3657601" cy="3139321"/>
          </a:xfrm>
          <a:prstGeom prst="rect">
            <a:avLst/>
          </a:prstGeom>
          <a:noFill/>
        </p:spPr>
        <p:txBody>
          <a:bodyPr wrap="square">
            <a:spAutoFit/>
          </a:bodyPr>
          <a:lstStyle/>
          <a:p>
            <a:r>
              <a:rPr lang="en-US" sz="1800" b="1" dirty="0">
                <a:solidFill>
                  <a:srgbClr val="1A2E4A"/>
                </a:solidFill>
              </a:rPr>
              <a:t>Key Improvements</a:t>
            </a:r>
          </a:p>
          <a:p>
            <a:r>
              <a:rPr lang="en-US" b="1" dirty="0">
                <a:solidFill>
                  <a:srgbClr val="0D8A8A"/>
                </a:solidFill>
              </a:rPr>
              <a:t>→  Vague subject → Specific subject with date</a:t>
            </a:r>
            <a:endParaRPr lang="en-US" b="1" dirty="0"/>
          </a:p>
          <a:p>
            <a:r>
              <a:rPr lang="en-US" b="1" dirty="0">
                <a:solidFill>
                  <a:srgbClr val="0D8A8A"/>
                </a:solidFill>
              </a:rPr>
              <a:t>→  Jargon removed → Plain English used</a:t>
            </a:r>
          </a:p>
          <a:p>
            <a:r>
              <a:rPr lang="en-US" b="1" dirty="0">
                <a:solidFill>
                  <a:srgbClr val="0D8A8A"/>
                </a:solidFill>
              </a:rPr>
              <a:t>→  Passive voice → Active, direct sentences</a:t>
            </a:r>
          </a:p>
          <a:p>
            <a:r>
              <a:rPr lang="en-US" b="1" dirty="0">
                <a:solidFill>
                  <a:srgbClr val="0D8A8A"/>
                </a:solidFill>
              </a:rPr>
              <a:t>→  No action item → Clear CTA with deadline</a:t>
            </a:r>
          </a:p>
          <a:p>
            <a:r>
              <a:rPr lang="en-US" b="1" dirty="0">
                <a:solidFill>
                  <a:srgbClr val="0D8A8A"/>
                </a:solidFill>
              </a:rPr>
              <a:t>→  Ambiguous tone → Confident and courteous</a:t>
            </a:r>
            <a:endParaRPr lang="en-US" sz="1800" dirty="0"/>
          </a:p>
        </p:txBody>
      </p:sp>
    </p:spTree>
    <p:extLst>
      <p:ext uri="{BB962C8B-B14F-4D97-AF65-F5344CB8AC3E}">
        <p14:creationId xmlns:p14="http://schemas.microsoft.com/office/powerpoint/2010/main" val="4245948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5ECA2C-0793-F54A-24B4-F7DC7A358529}"/>
              </a:ext>
            </a:extLst>
          </p:cNvPr>
          <p:cNvSpPr>
            <a:spLocks noGrp="1"/>
          </p:cNvSpPr>
          <p:nvPr>
            <p:ph sz="half" idx="1"/>
          </p:nvPr>
        </p:nvSpPr>
        <p:spPr>
          <a:xfrm>
            <a:off x="176269" y="1410158"/>
            <a:ext cx="11600761" cy="4285561"/>
          </a:xfrm>
        </p:spPr>
        <p:txBody>
          <a:bodyPr/>
          <a:lstStyle/>
          <a:p>
            <a:endParaRPr lang="en-US" dirty="0"/>
          </a:p>
          <a:p>
            <a:endParaRPr lang="en-IN" dirty="0"/>
          </a:p>
        </p:txBody>
      </p:sp>
      <p:sp>
        <p:nvSpPr>
          <p:cNvPr id="14" name="Title 13">
            <a:extLst>
              <a:ext uri="{FF2B5EF4-FFF2-40B4-BE49-F238E27FC236}">
                <a16:creationId xmlns:a16="http://schemas.microsoft.com/office/drawing/2014/main" id="{74669788-2842-A7C2-5BC1-7E953E49D294}"/>
              </a:ext>
            </a:extLst>
          </p:cNvPr>
          <p:cNvSpPr>
            <a:spLocks noGrp="1"/>
          </p:cNvSpPr>
          <p:nvPr>
            <p:ph type="title"/>
          </p:nvPr>
        </p:nvSpPr>
        <p:spPr>
          <a:xfrm>
            <a:off x="1322140" y="282546"/>
            <a:ext cx="9547719" cy="883473"/>
          </a:xfrm>
        </p:spPr>
        <p:txBody>
          <a:bodyPr/>
          <a:lstStyle/>
          <a:p>
            <a:endParaRPr lang="en-IN" dirty="0"/>
          </a:p>
        </p:txBody>
      </p:sp>
      <p:pic>
        <p:nvPicPr>
          <p:cNvPr id="7" name="Picture 6">
            <a:extLst>
              <a:ext uri="{FF2B5EF4-FFF2-40B4-BE49-F238E27FC236}">
                <a16:creationId xmlns:a16="http://schemas.microsoft.com/office/drawing/2014/main" id="{82958176-BC06-78CB-910F-C78535A95D3C}"/>
              </a:ext>
            </a:extLst>
          </p:cNvPr>
          <p:cNvPicPr>
            <a:picLocks noChangeAspect="1"/>
          </p:cNvPicPr>
          <p:nvPr/>
        </p:nvPicPr>
        <p:blipFill>
          <a:blip r:embed="rId2"/>
          <a:stretch>
            <a:fillRect/>
          </a:stretch>
        </p:blipFill>
        <p:spPr>
          <a:xfrm>
            <a:off x="176268" y="150471"/>
            <a:ext cx="12015732" cy="6484283"/>
          </a:xfrm>
          <a:prstGeom prst="rect">
            <a:avLst/>
          </a:prstGeom>
        </p:spPr>
      </p:pic>
      <p:pic>
        <p:nvPicPr>
          <p:cNvPr id="4" name="Picture 2" descr="KL Deemed to be University Logo">
            <a:extLst>
              <a:ext uri="{FF2B5EF4-FFF2-40B4-BE49-F238E27FC236}">
                <a16:creationId xmlns:a16="http://schemas.microsoft.com/office/drawing/2014/main" id="{853A972D-AC6A-2DDB-5C3B-3D511124D58A}"/>
              </a:ext>
            </a:extLst>
          </p:cNvPr>
          <p:cNvPicPr>
            <a:picLocks noChangeAspect="1" noChangeArrowheads="1"/>
          </p:cNvPicPr>
          <p:nvPr/>
        </p:nvPicPr>
        <p:blipFill>
          <a:blip r:embed="rId3"/>
          <a:srcRect/>
          <a:stretch>
            <a:fillRect/>
          </a:stretch>
        </p:blipFill>
        <p:spPr bwMode="auto">
          <a:xfrm>
            <a:off x="176267" y="38407"/>
            <a:ext cx="1229428" cy="914400"/>
          </a:xfrm>
          <a:prstGeom prst="rect">
            <a:avLst/>
          </a:prstGeom>
          <a:noFill/>
        </p:spPr>
      </p:pic>
    </p:spTree>
    <p:extLst>
      <p:ext uri="{BB962C8B-B14F-4D97-AF65-F5344CB8AC3E}">
        <p14:creationId xmlns:p14="http://schemas.microsoft.com/office/powerpoint/2010/main" val="1519017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nodePh="1">
                                  <p:stCondLst>
                                    <p:cond delay="0"/>
                                  </p:stCondLst>
                                  <p:endCondLst>
                                    <p:cond evt="begin" delay="0">
                                      <p:tn val="5"/>
                                    </p:cond>
                                  </p:end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5C398-A91D-C2EE-AF9C-3CB8E70428D4}"/>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E193F58B-6342-CCE5-3ED6-65614936BF60}"/>
              </a:ext>
            </a:extLst>
          </p:cNvPr>
          <p:cNvSpPr>
            <a:spLocks noGrp="1"/>
          </p:cNvSpPr>
          <p:nvPr>
            <p:ph type="title"/>
          </p:nvPr>
        </p:nvSpPr>
        <p:spPr>
          <a:xfrm>
            <a:off x="1751681" y="66105"/>
            <a:ext cx="8491913" cy="883473"/>
          </a:xfrm>
        </p:spPr>
        <p:txBody>
          <a:bodyPr/>
          <a:lstStyle/>
          <a:p>
            <a:endParaRPr lang="en-IN" dirty="0"/>
          </a:p>
        </p:txBody>
      </p:sp>
      <p:sp>
        <p:nvSpPr>
          <p:cNvPr id="4" name="AutoShape 4" descr="Generated image: Common causes of stage fright">
            <a:extLst>
              <a:ext uri="{FF2B5EF4-FFF2-40B4-BE49-F238E27FC236}">
                <a16:creationId xmlns:a16="http://schemas.microsoft.com/office/drawing/2014/main" id="{FD4F7BDC-F48A-E77C-06AB-B822BACBD1E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Content Placeholder 6">
            <a:extLst>
              <a:ext uri="{FF2B5EF4-FFF2-40B4-BE49-F238E27FC236}">
                <a16:creationId xmlns:a16="http://schemas.microsoft.com/office/drawing/2014/main" id="{B3ABAA61-481B-920D-E592-CFEEAD8BD6D8}"/>
              </a:ext>
            </a:extLst>
          </p:cNvPr>
          <p:cNvPicPr>
            <a:picLocks noGrp="1" noChangeAspect="1"/>
          </p:cNvPicPr>
          <p:nvPr>
            <p:ph sz="half" idx="1"/>
          </p:nvPr>
        </p:nvPicPr>
        <p:blipFill>
          <a:blip r:embed="rId3"/>
          <a:stretch>
            <a:fillRect/>
          </a:stretch>
        </p:blipFill>
        <p:spPr>
          <a:xfrm>
            <a:off x="0" y="66105"/>
            <a:ext cx="12192000" cy="6612487"/>
          </a:xfrm>
          <a:prstGeom prst="rect">
            <a:avLst/>
          </a:prstGeom>
        </p:spPr>
      </p:pic>
      <p:pic>
        <p:nvPicPr>
          <p:cNvPr id="3" name="Picture 2" descr="KL Deemed to be University Logo">
            <a:extLst>
              <a:ext uri="{FF2B5EF4-FFF2-40B4-BE49-F238E27FC236}">
                <a16:creationId xmlns:a16="http://schemas.microsoft.com/office/drawing/2014/main" id="{E4163B67-658C-25B9-9890-2909B00E3090}"/>
              </a:ext>
            </a:extLst>
          </p:cNvPr>
          <p:cNvPicPr>
            <a:picLocks noChangeAspect="1" noChangeArrowheads="1"/>
          </p:cNvPicPr>
          <p:nvPr/>
        </p:nvPicPr>
        <p:blipFill>
          <a:blip r:embed="rId4"/>
          <a:srcRect/>
          <a:stretch>
            <a:fillRect/>
          </a:stretch>
        </p:blipFill>
        <p:spPr bwMode="auto">
          <a:xfrm>
            <a:off x="176267" y="38407"/>
            <a:ext cx="1229428" cy="914400"/>
          </a:xfrm>
          <a:prstGeom prst="rect">
            <a:avLst/>
          </a:prstGeom>
          <a:noFill/>
        </p:spPr>
      </p:pic>
    </p:spTree>
    <p:extLst>
      <p:ext uri="{BB962C8B-B14F-4D97-AF65-F5344CB8AC3E}">
        <p14:creationId xmlns:p14="http://schemas.microsoft.com/office/powerpoint/2010/main" val="72246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nodePh="1">
                                  <p:stCondLst>
                                    <p:cond delay="0"/>
                                  </p:stCondLst>
                                  <p:endCondLst>
                                    <p:cond evt="begin" delay="0">
                                      <p:tn val="5"/>
                                    </p:cond>
                                  </p:end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D8A8A"/>
          </a:solidFill>
          <a:ln w="12700">
            <a:solidFill>
              <a:srgbClr val="0D8A8A"/>
            </a:solidFill>
            <a:prstDash val="solid"/>
          </a:ln>
        </p:spPr>
        <p:txBody>
          <a:bodyPr/>
          <a:lstStyle/>
          <a:p>
            <a:endParaRPr lang="en-IN" sz="2400"/>
          </a:p>
        </p:txBody>
      </p:sp>
      <p:sp>
        <p:nvSpPr>
          <p:cNvPr id="3" name="Text 1"/>
          <p:cNvSpPr/>
          <p:nvPr/>
        </p:nvSpPr>
        <p:spPr>
          <a:xfrm>
            <a:off x="487680" y="121920"/>
            <a:ext cx="10972800" cy="975360"/>
          </a:xfrm>
          <a:prstGeom prst="rect">
            <a:avLst/>
          </a:prstGeom>
          <a:noFill/>
          <a:ln/>
        </p:spPr>
        <p:txBody>
          <a:bodyPr wrap="square" lIns="0" tIns="0" rIns="0" bIns="0" rtlCol="0" anchor="ctr"/>
          <a:lstStyle/>
          <a:p>
            <a:r>
              <a:rPr lang="en-US" sz="2533" b="1" dirty="0">
                <a:solidFill>
                  <a:srgbClr val="FFFFFF"/>
                </a:solidFill>
              </a:rPr>
              <a:t>                     I- </a:t>
            </a:r>
            <a:r>
              <a:rPr lang="en-US" sz="3200" b="1" dirty="0">
                <a:solidFill>
                  <a:srgbClr val="FFFFFF"/>
                </a:solidFill>
              </a:rPr>
              <a:t>The 7 Cs of Effective Professional Writing — Part I</a:t>
            </a:r>
            <a:endParaRPr lang="en-US" sz="2533" dirty="0"/>
          </a:p>
        </p:txBody>
      </p:sp>
      <p:sp>
        <p:nvSpPr>
          <p:cNvPr id="4" name="Text 2"/>
          <p:cNvSpPr/>
          <p:nvPr/>
        </p:nvSpPr>
        <p:spPr>
          <a:xfrm>
            <a:off x="365760" y="1280160"/>
            <a:ext cx="11460480" cy="426720"/>
          </a:xfrm>
          <a:prstGeom prst="rect">
            <a:avLst/>
          </a:prstGeom>
          <a:noFill/>
          <a:ln/>
        </p:spPr>
        <p:txBody>
          <a:bodyPr wrap="square" lIns="0" tIns="0" rIns="0" bIns="0" rtlCol="0" anchor="ctr"/>
          <a:lstStyle/>
          <a:p>
            <a:r>
              <a:rPr lang="en-US" sz="2000" i="1" dirty="0">
                <a:solidFill>
                  <a:srgbClr val="64748B"/>
                </a:solidFill>
              </a:rPr>
              <a:t>Qualities that define excellence in professional communication</a:t>
            </a:r>
            <a:endParaRPr lang="en-US" sz="2000" dirty="0"/>
          </a:p>
        </p:txBody>
      </p:sp>
      <p:sp>
        <p:nvSpPr>
          <p:cNvPr id="5" name="Shape 3"/>
          <p:cNvSpPr/>
          <p:nvPr/>
        </p:nvSpPr>
        <p:spPr>
          <a:xfrm>
            <a:off x="365760" y="1767840"/>
            <a:ext cx="5608320" cy="2316480"/>
          </a:xfrm>
          <a:prstGeom prst="roundRect">
            <a:avLst>
              <a:gd name="adj" fmla="val 5263"/>
            </a:avLst>
          </a:prstGeom>
          <a:solidFill>
            <a:srgbClr val="EFF6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dirty="0"/>
          </a:p>
        </p:txBody>
      </p:sp>
      <p:sp>
        <p:nvSpPr>
          <p:cNvPr id="6" name="Shape 4"/>
          <p:cNvSpPr/>
          <p:nvPr/>
        </p:nvSpPr>
        <p:spPr>
          <a:xfrm>
            <a:off x="512064" y="1914144"/>
            <a:ext cx="633984" cy="633984"/>
          </a:xfrm>
          <a:prstGeom prst="ellipse">
            <a:avLst/>
          </a:prstGeom>
          <a:solidFill>
            <a:srgbClr val="0369A1"/>
          </a:solidFill>
          <a:ln w="12700">
            <a:solidFill>
              <a:srgbClr val="0369A1"/>
            </a:solidFill>
            <a:prstDash val="solid"/>
          </a:ln>
        </p:spPr>
        <p:txBody>
          <a:bodyPr/>
          <a:lstStyle/>
          <a:p>
            <a:endParaRPr lang="en-IN" sz="2400"/>
          </a:p>
        </p:txBody>
      </p:sp>
      <p:sp>
        <p:nvSpPr>
          <p:cNvPr id="7" name="Text 5"/>
          <p:cNvSpPr/>
          <p:nvPr/>
        </p:nvSpPr>
        <p:spPr>
          <a:xfrm>
            <a:off x="512064" y="1914144"/>
            <a:ext cx="633984" cy="633984"/>
          </a:xfrm>
          <a:prstGeom prst="rect">
            <a:avLst/>
          </a:prstGeom>
          <a:noFill/>
          <a:ln/>
        </p:spPr>
        <p:txBody>
          <a:bodyPr wrap="square" lIns="0" tIns="0" rIns="0" bIns="0" rtlCol="0" anchor="ctr"/>
          <a:lstStyle/>
          <a:p>
            <a:pPr algn="ctr"/>
            <a:r>
              <a:rPr lang="en-US" sz="1733" dirty="0">
                <a:solidFill>
                  <a:srgbClr val="000000"/>
                </a:solidFill>
              </a:rPr>
              <a:t>💡</a:t>
            </a:r>
            <a:endParaRPr lang="en-US" sz="1733" dirty="0"/>
          </a:p>
        </p:txBody>
      </p:sp>
      <p:sp>
        <p:nvSpPr>
          <p:cNvPr id="8" name="Text 6"/>
          <p:cNvSpPr/>
          <p:nvPr/>
        </p:nvSpPr>
        <p:spPr>
          <a:xfrm>
            <a:off x="1280160" y="1914144"/>
            <a:ext cx="4511040" cy="390144"/>
          </a:xfrm>
          <a:prstGeom prst="rect">
            <a:avLst/>
          </a:prstGeom>
          <a:noFill/>
          <a:ln/>
        </p:spPr>
        <p:txBody>
          <a:bodyPr wrap="square" lIns="0" tIns="0" rIns="0" bIns="0" rtlCol="0" anchor="ctr"/>
          <a:lstStyle/>
          <a:p>
            <a:r>
              <a:rPr lang="en-US" sz="2800" b="1" dirty="0">
                <a:solidFill>
                  <a:srgbClr val="0369A1"/>
                </a:solidFill>
              </a:rPr>
              <a:t>Clarity</a:t>
            </a:r>
            <a:endParaRPr lang="en-US" sz="2800" dirty="0"/>
          </a:p>
        </p:txBody>
      </p:sp>
      <p:sp>
        <p:nvSpPr>
          <p:cNvPr id="9" name="Text 7"/>
          <p:cNvSpPr/>
          <p:nvPr/>
        </p:nvSpPr>
        <p:spPr>
          <a:xfrm>
            <a:off x="512064" y="2572512"/>
            <a:ext cx="5303520" cy="426720"/>
          </a:xfrm>
          <a:prstGeom prst="rect">
            <a:avLst/>
          </a:prstGeom>
          <a:noFill/>
          <a:ln/>
        </p:spPr>
        <p:txBody>
          <a:bodyPr wrap="square" lIns="0" tIns="0" rIns="0" bIns="0" rtlCol="0" anchor="ctr"/>
          <a:lstStyle/>
          <a:p>
            <a:r>
              <a:rPr lang="en-US" dirty="0">
                <a:solidFill>
                  <a:srgbClr val="1E293B"/>
                </a:solidFill>
              </a:rPr>
              <a:t>The reader understands the message on first reading — no ambiguity, no re-reading needed.</a:t>
            </a:r>
            <a:endParaRPr lang="en-US" dirty="0"/>
          </a:p>
        </p:txBody>
      </p:sp>
      <p:sp>
        <p:nvSpPr>
          <p:cNvPr id="10" name="Shape 8"/>
          <p:cNvSpPr/>
          <p:nvPr/>
        </p:nvSpPr>
        <p:spPr>
          <a:xfrm>
            <a:off x="512064" y="3023616"/>
            <a:ext cx="2535936" cy="1121664"/>
          </a:xfrm>
          <a:prstGeom prst="roundRect">
            <a:avLst>
              <a:gd name="adj" fmla="val 6944"/>
            </a:avLst>
          </a:prstGeom>
          <a:solidFill>
            <a:srgbClr val="FEF2F2"/>
          </a:solidFill>
          <a:ln w="12700">
            <a:solidFill>
              <a:srgbClr val="FECACA"/>
            </a:solidFill>
            <a:prstDash val="solid"/>
          </a:ln>
        </p:spPr>
        <p:txBody>
          <a:bodyPr/>
          <a:lstStyle/>
          <a:p>
            <a:endParaRPr lang="en-IN" sz="2400"/>
          </a:p>
        </p:txBody>
      </p:sp>
      <p:sp>
        <p:nvSpPr>
          <p:cNvPr id="11" name="Text 9"/>
          <p:cNvSpPr/>
          <p:nvPr/>
        </p:nvSpPr>
        <p:spPr>
          <a:xfrm>
            <a:off x="414528" y="2999232"/>
            <a:ext cx="2584704" cy="633984"/>
          </a:xfrm>
          <a:prstGeom prst="rect">
            <a:avLst/>
          </a:prstGeom>
          <a:noFill/>
          <a:ln/>
        </p:spPr>
        <p:txBody>
          <a:bodyPr wrap="square" lIns="0" tIns="0" rIns="0" bIns="0" rtlCol="0" anchor="ctr"/>
          <a:lstStyle/>
          <a:p>
            <a:endParaRPr lang="en-US" sz="1400" dirty="0">
              <a:solidFill>
                <a:srgbClr val="991B1B"/>
              </a:solidFill>
            </a:endParaRPr>
          </a:p>
          <a:p>
            <a:endParaRPr lang="en-US" sz="1400" dirty="0">
              <a:solidFill>
                <a:srgbClr val="991B1B"/>
              </a:solidFill>
            </a:endParaRPr>
          </a:p>
          <a:p>
            <a:r>
              <a:rPr lang="en-US" sz="1400" dirty="0">
                <a:solidFill>
                  <a:srgbClr val="991B1B"/>
                </a:solidFill>
              </a:rPr>
              <a:t>❌  The utilisation of convoluted sentence structures may engender comprehension difficulties.</a:t>
            </a:r>
            <a:endParaRPr lang="en-US" sz="1400" dirty="0"/>
          </a:p>
        </p:txBody>
      </p:sp>
      <p:sp>
        <p:nvSpPr>
          <p:cNvPr id="12" name="Shape 10"/>
          <p:cNvSpPr/>
          <p:nvPr/>
        </p:nvSpPr>
        <p:spPr>
          <a:xfrm>
            <a:off x="3145536" y="3048000"/>
            <a:ext cx="2682240" cy="877824"/>
          </a:xfrm>
          <a:prstGeom prst="roundRect">
            <a:avLst>
              <a:gd name="adj" fmla="val 6944"/>
            </a:avLst>
          </a:prstGeom>
          <a:solidFill>
            <a:srgbClr val="F0FDF4"/>
          </a:solidFill>
          <a:ln w="12700">
            <a:solidFill>
              <a:srgbClr val="BBF7D0"/>
            </a:solidFill>
            <a:prstDash val="solid"/>
          </a:ln>
        </p:spPr>
        <p:txBody>
          <a:bodyPr/>
          <a:lstStyle/>
          <a:p>
            <a:endParaRPr lang="en-IN" sz="2400"/>
          </a:p>
        </p:txBody>
      </p:sp>
      <p:sp>
        <p:nvSpPr>
          <p:cNvPr id="13" name="Text 11"/>
          <p:cNvSpPr/>
          <p:nvPr/>
        </p:nvSpPr>
        <p:spPr>
          <a:xfrm>
            <a:off x="3194304" y="3084576"/>
            <a:ext cx="2584704" cy="804672"/>
          </a:xfrm>
          <a:prstGeom prst="rect">
            <a:avLst/>
          </a:prstGeom>
          <a:noFill/>
          <a:ln/>
        </p:spPr>
        <p:txBody>
          <a:bodyPr wrap="square" lIns="0" tIns="0" rIns="0" bIns="0" rtlCol="0" anchor="ctr"/>
          <a:lstStyle/>
          <a:p>
            <a:r>
              <a:rPr lang="en-US" sz="1067" dirty="0">
                <a:solidFill>
                  <a:srgbClr val="166534"/>
                </a:solidFill>
              </a:rPr>
              <a:t>✅  </a:t>
            </a:r>
            <a:r>
              <a:rPr lang="en-US" sz="1600" dirty="0">
                <a:solidFill>
                  <a:srgbClr val="166534"/>
                </a:solidFill>
              </a:rPr>
              <a:t>Use short sentences. Say what you mean directly.</a:t>
            </a:r>
            <a:endParaRPr lang="en-US" sz="1067" dirty="0"/>
          </a:p>
        </p:txBody>
      </p:sp>
      <p:sp>
        <p:nvSpPr>
          <p:cNvPr id="14" name="Shape 12"/>
          <p:cNvSpPr/>
          <p:nvPr/>
        </p:nvSpPr>
        <p:spPr>
          <a:xfrm>
            <a:off x="365760" y="4267200"/>
            <a:ext cx="5608320" cy="2316480"/>
          </a:xfrm>
          <a:prstGeom prst="roundRect">
            <a:avLst>
              <a:gd name="adj" fmla="val 5263"/>
            </a:avLst>
          </a:prstGeom>
          <a:solidFill>
            <a:srgbClr val="F0FDFA"/>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15" name="Shape 13"/>
          <p:cNvSpPr/>
          <p:nvPr/>
        </p:nvSpPr>
        <p:spPr>
          <a:xfrm>
            <a:off x="512064" y="4413504"/>
            <a:ext cx="633984" cy="633984"/>
          </a:xfrm>
          <a:prstGeom prst="ellipse">
            <a:avLst/>
          </a:prstGeom>
          <a:solidFill>
            <a:srgbClr val="0F766E"/>
          </a:solidFill>
          <a:ln w="12700">
            <a:solidFill>
              <a:srgbClr val="0F766E"/>
            </a:solidFill>
            <a:prstDash val="solid"/>
          </a:ln>
        </p:spPr>
        <p:txBody>
          <a:bodyPr/>
          <a:lstStyle/>
          <a:p>
            <a:endParaRPr lang="en-IN" sz="2400"/>
          </a:p>
        </p:txBody>
      </p:sp>
      <p:sp>
        <p:nvSpPr>
          <p:cNvPr id="16" name="Text 14"/>
          <p:cNvSpPr/>
          <p:nvPr/>
        </p:nvSpPr>
        <p:spPr>
          <a:xfrm>
            <a:off x="512064" y="4413504"/>
            <a:ext cx="633984" cy="633984"/>
          </a:xfrm>
          <a:prstGeom prst="rect">
            <a:avLst/>
          </a:prstGeom>
          <a:noFill/>
          <a:ln/>
        </p:spPr>
        <p:txBody>
          <a:bodyPr wrap="square" lIns="0" tIns="0" rIns="0" bIns="0" rtlCol="0" anchor="ctr"/>
          <a:lstStyle/>
          <a:p>
            <a:pPr algn="ctr"/>
            <a:r>
              <a:rPr lang="en-US" sz="1733" dirty="0">
                <a:solidFill>
                  <a:srgbClr val="000000"/>
                </a:solidFill>
              </a:rPr>
              <a:t>✂️</a:t>
            </a:r>
            <a:endParaRPr lang="en-US" sz="1733" dirty="0"/>
          </a:p>
        </p:txBody>
      </p:sp>
      <p:sp>
        <p:nvSpPr>
          <p:cNvPr id="17" name="Text 15"/>
          <p:cNvSpPr/>
          <p:nvPr/>
        </p:nvSpPr>
        <p:spPr>
          <a:xfrm>
            <a:off x="1280160" y="4413504"/>
            <a:ext cx="4511040" cy="390144"/>
          </a:xfrm>
          <a:prstGeom prst="rect">
            <a:avLst/>
          </a:prstGeom>
          <a:noFill/>
          <a:ln/>
        </p:spPr>
        <p:txBody>
          <a:bodyPr wrap="square" lIns="0" tIns="0" rIns="0" bIns="0" rtlCol="0" anchor="ctr"/>
          <a:lstStyle/>
          <a:p>
            <a:r>
              <a:rPr lang="en-US" sz="2800" b="1" dirty="0">
                <a:solidFill>
                  <a:srgbClr val="0F766E"/>
                </a:solidFill>
              </a:rPr>
              <a:t>Concise</a:t>
            </a:r>
            <a:endParaRPr lang="en-US" sz="2800" dirty="0"/>
          </a:p>
        </p:txBody>
      </p:sp>
      <p:sp>
        <p:nvSpPr>
          <p:cNvPr id="18" name="Text 16"/>
          <p:cNvSpPr/>
          <p:nvPr/>
        </p:nvSpPr>
        <p:spPr>
          <a:xfrm>
            <a:off x="512064" y="5071872"/>
            <a:ext cx="5303520" cy="505968"/>
          </a:xfrm>
          <a:prstGeom prst="rect">
            <a:avLst/>
          </a:prstGeom>
          <a:noFill/>
          <a:ln/>
        </p:spPr>
        <p:txBody>
          <a:bodyPr wrap="square" lIns="0" tIns="0" rIns="0" bIns="0" rtlCol="0" anchor="ctr"/>
          <a:lstStyle/>
          <a:p>
            <a:r>
              <a:rPr lang="en-US" dirty="0">
                <a:solidFill>
                  <a:srgbClr val="1E293B"/>
                </a:solidFill>
              </a:rPr>
              <a:t>Every word earns its place. Brevity is not sacrificing content — it's removing excess.</a:t>
            </a:r>
            <a:endParaRPr lang="en-US" dirty="0"/>
          </a:p>
        </p:txBody>
      </p:sp>
      <p:sp>
        <p:nvSpPr>
          <p:cNvPr id="19" name="Shape 17"/>
          <p:cNvSpPr/>
          <p:nvPr/>
        </p:nvSpPr>
        <p:spPr>
          <a:xfrm>
            <a:off x="512064" y="5547360"/>
            <a:ext cx="2535936" cy="877824"/>
          </a:xfrm>
          <a:prstGeom prst="roundRect">
            <a:avLst>
              <a:gd name="adj" fmla="val 6944"/>
            </a:avLst>
          </a:prstGeom>
          <a:solidFill>
            <a:srgbClr val="FEF2F2"/>
          </a:solidFill>
          <a:ln w="12700">
            <a:solidFill>
              <a:srgbClr val="FECACA"/>
            </a:solidFill>
            <a:prstDash val="solid"/>
          </a:ln>
        </p:spPr>
        <p:txBody>
          <a:bodyPr/>
          <a:lstStyle/>
          <a:p>
            <a:endParaRPr lang="en-IN" sz="2400"/>
          </a:p>
        </p:txBody>
      </p:sp>
      <p:sp>
        <p:nvSpPr>
          <p:cNvPr id="20" name="Text 18"/>
          <p:cNvSpPr/>
          <p:nvPr/>
        </p:nvSpPr>
        <p:spPr>
          <a:xfrm>
            <a:off x="560832" y="5583936"/>
            <a:ext cx="2438400" cy="804672"/>
          </a:xfrm>
          <a:prstGeom prst="rect">
            <a:avLst/>
          </a:prstGeom>
          <a:noFill/>
          <a:ln/>
        </p:spPr>
        <p:txBody>
          <a:bodyPr wrap="square" lIns="0" tIns="0" rIns="0" bIns="0" rtlCol="0" anchor="ctr"/>
          <a:lstStyle/>
          <a:p>
            <a:r>
              <a:rPr lang="en-US" sz="1400" dirty="0">
                <a:solidFill>
                  <a:srgbClr val="991B1B"/>
                </a:solidFill>
              </a:rPr>
              <a:t>❌  I am writing this email in order to inform you about the fact that...</a:t>
            </a:r>
            <a:endParaRPr lang="en-US" sz="1400" dirty="0"/>
          </a:p>
        </p:txBody>
      </p:sp>
      <p:sp>
        <p:nvSpPr>
          <p:cNvPr id="21" name="Shape 19"/>
          <p:cNvSpPr/>
          <p:nvPr/>
        </p:nvSpPr>
        <p:spPr>
          <a:xfrm>
            <a:off x="3145536" y="5602224"/>
            <a:ext cx="2682240" cy="877824"/>
          </a:xfrm>
          <a:prstGeom prst="roundRect">
            <a:avLst>
              <a:gd name="adj" fmla="val 6944"/>
            </a:avLst>
          </a:prstGeom>
          <a:solidFill>
            <a:srgbClr val="F0FDF4"/>
          </a:solidFill>
          <a:ln w="12700">
            <a:solidFill>
              <a:srgbClr val="BBF7D0"/>
            </a:solidFill>
            <a:prstDash val="solid"/>
          </a:ln>
        </p:spPr>
        <p:txBody>
          <a:bodyPr/>
          <a:lstStyle/>
          <a:p>
            <a:endParaRPr lang="en-IN" sz="2400"/>
          </a:p>
        </p:txBody>
      </p:sp>
      <p:sp>
        <p:nvSpPr>
          <p:cNvPr id="22" name="Text 20"/>
          <p:cNvSpPr/>
          <p:nvPr/>
        </p:nvSpPr>
        <p:spPr>
          <a:xfrm>
            <a:off x="3194304" y="5583936"/>
            <a:ext cx="2584704" cy="804672"/>
          </a:xfrm>
          <a:prstGeom prst="rect">
            <a:avLst/>
          </a:prstGeom>
          <a:noFill/>
          <a:ln/>
        </p:spPr>
        <p:txBody>
          <a:bodyPr wrap="square" lIns="0" tIns="0" rIns="0" bIns="0" rtlCol="0" anchor="ctr"/>
          <a:lstStyle/>
          <a:p>
            <a:r>
              <a:rPr lang="en-US" sz="1600" dirty="0">
                <a:solidFill>
                  <a:srgbClr val="166534"/>
                </a:solidFill>
              </a:rPr>
              <a:t>✅  I am writing to inform you that</a:t>
            </a:r>
            <a:r>
              <a:rPr lang="en-US" sz="1067" dirty="0">
                <a:solidFill>
                  <a:srgbClr val="166534"/>
                </a:solidFill>
              </a:rPr>
              <a:t>...</a:t>
            </a:r>
            <a:endParaRPr lang="en-US" sz="1067" dirty="0"/>
          </a:p>
        </p:txBody>
      </p:sp>
      <p:sp>
        <p:nvSpPr>
          <p:cNvPr id="23" name="Shape 21"/>
          <p:cNvSpPr/>
          <p:nvPr/>
        </p:nvSpPr>
        <p:spPr>
          <a:xfrm>
            <a:off x="6278880" y="1767840"/>
            <a:ext cx="5608320" cy="2316480"/>
          </a:xfrm>
          <a:prstGeom prst="roundRect">
            <a:avLst>
              <a:gd name="adj" fmla="val 5263"/>
            </a:avLst>
          </a:prstGeom>
          <a:solidFill>
            <a:srgbClr val="F0FDF4"/>
          </a:solidFill>
          <a:ln w="12700">
            <a:solidFill>
              <a:srgbClr val="E8EFF7"/>
            </a:solidFill>
            <a:prstDash val="solid"/>
          </a:ln>
          <a:effectLst>
            <a:outerShdw blurRad="101600" dist="38100" dir="2700000" algn="bl" rotWithShape="0">
              <a:srgbClr val="000000">
                <a:alpha val="12000"/>
              </a:srgbClr>
            </a:outerShdw>
          </a:effectLst>
        </p:spPr>
        <p:txBody>
          <a:bodyPr/>
          <a:lstStyle/>
          <a:p>
            <a:r>
              <a:rPr lang="en-IN" sz="2400" dirty="0"/>
              <a:t>s</a:t>
            </a:r>
          </a:p>
        </p:txBody>
      </p:sp>
      <p:sp>
        <p:nvSpPr>
          <p:cNvPr id="24" name="Shape 22"/>
          <p:cNvSpPr/>
          <p:nvPr/>
        </p:nvSpPr>
        <p:spPr>
          <a:xfrm>
            <a:off x="6242304" y="1829671"/>
            <a:ext cx="633984" cy="694944"/>
          </a:xfrm>
          <a:prstGeom prst="ellipse">
            <a:avLst/>
          </a:prstGeom>
          <a:solidFill>
            <a:srgbClr val="15803D"/>
          </a:solidFill>
          <a:ln w="12700">
            <a:solidFill>
              <a:srgbClr val="15803D"/>
            </a:solidFill>
            <a:prstDash val="solid"/>
          </a:ln>
        </p:spPr>
        <p:txBody>
          <a:bodyPr/>
          <a:lstStyle/>
          <a:p>
            <a:endParaRPr lang="en-IN" sz="2400"/>
          </a:p>
        </p:txBody>
      </p:sp>
      <p:sp>
        <p:nvSpPr>
          <p:cNvPr id="25" name="Text 23"/>
          <p:cNvSpPr/>
          <p:nvPr/>
        </p:nvSpPr>
        <p:spPr>
          <a:xfrm>
            <a:off x="6242304" y="1767840"/>
            <a:ext cx="816864" cy="780288"/>
          </a:xfrm>
          <a:prstGeom prst="rect">
            <a:avLst/>
          </a:prstGeom>
          <a:noFill/>
          <a:ln/>
        </p:spPr>
        <p:txBody>
          <a:bodyPr wrap="square" lIns="0" tIns="0" rIns="0" bIns="0" rtlCol="0" anchor="ctr"/>
          <a:lstStyle/>
          <a:p>
            <a:pPr algn="ctr"/>
            <a:r>
              <a:rPr lang="en-US" sz="1733" dirty="0">
                <a:solidFill>
                  <a:srgbClr val="000000"/>
                </a:solidFill>
              </a:rPr>
              <a:t>✅</a:t>
            </a:r>
            <a:endParaRPr lang="en-US" sz="1733" dirty="0"/>
          </a:p>
        </p:txBody>
      </p:sp>
      <p:sp>
        <p:nvSpPr>
          <p:cNvPr id="26" name="Text 24"/>
          <p:cNvSpPr/>
          <p:nvPr/>
        </p:nvSpPr>
        <p:spPr>
          <a:xfrm>
            <a:off x="7193280" y="1914144"/>
            <a:ext cx="4511040" cy="390144"/>
          </a:xfrm>
          <a:prstGeom prst="rect">
            <a:avLst/>
          </a:prstGeom>
          <a:noFill/>
          <a:ln/>
        </p:spPr>
        <p:txBody>
          <a:bodyPr wrap="square" lIns="0" tIns="0" rIns="0" bIns="0" rtlCol="0" anchor="ctr"/>
          <a:lstStyle/>
          <a:p>
            <a:r>
              <a:rPr lang="en-US" sz="2800" b="1" dirty="0">
                <a:solidFill>
                  <a:srgbClr val="15803D"/>
                </a:solidFill>
              </a:rPr>
              <a:t>Correct</a:t>
            </a:r>
            <a:endParaRPr lang="en-US" sz="2800" dirty="0"/>
          </a:p>
        </p:txBody>
      </p:sp>
      <p:sp>
        <p:nvSpPr>
          <p:cNvPr id="27" name="Text 25"/>
          <p:cNvSpPr/>
          <p:nvPr/>
        </p:nvSpPr>
        <p:spPr>
          <a:xfrm>
            <a:off x="6425184" y="2572512"/>
            <a:ext cx="5303520" cy="426720"/>
          </a:xfrm>
          <a:prstGeom prst="rect">
            <a:avLst/>
          </a:prstGeom>
          <a:noFill/>
          <a:ln/>
        </p:spPr>
        <p:txBody>
          <a:bodyPr wrap="square" lIns="0" tIns="0" rIns="0" bIns="0" rtlCol="0" anchor="ctr"/>
          <a:lstStyle/>
          <a:p>
            <a:r>
              <a:rPr lang="en-US" sz="1600" dirty="0">
                <a:solidFill>
                  <a:srgbClr val="1E293B"/>
                </a:solidFill>
              </a:rPr>
              <a:t>Accurate in grammar, spelling, punctuation, data, and facts. Errors destroy credibility.</a:t>
            </a:r>
            <a:endParaRPr lang="en-US" sz="1600" dirty="0"/>
          </a:p>
        </p:txBody>
      </p:sp>
      <p:sp>
        <p:nvSpPr>
          <p:cNvPr id="28" name="Shape 26"/>
          <p:cNvSpPr/>
          <p:nvPr/>
        </p:nvSpPr>
        <p:spPr>
          <a:xfrm>
            <a:off x="6425184" y="3048000"/>
            <a:ext cx="2535936" cy="877824"/>
          </a:xfrm>
          <a:prstGeom prst="roundRect">
            <a:avLst>
              <a:gd name="adj" fmla="val 6944"/>
            </a:avLst>
          </a:prstGeom>
          <a:solidFill>
            <a:srgbClr val="FEF2F2"/>
          </a:solidFill>
          <a:ln w="12700">
            <a:solidFill>
              <a:srgbClr val="FECACA"/>
            </a:solidFill>
            <a:prstDash val="solid"/>
          </a:ln>
        </p:spPr>
        <p:txBody>
          <a:bodyPr/>
          <a:lstStyle/>
          <a:p>
            <a:endParaRPr lang="en-IN" sz="2400"/>
          </a:p>
        </p:txBody>
      </p:sp>
      <p:sp>
        <p:nvSpPr>
          <p:cNvPr id="29" name="Text 27"/>
          <p:cNvSpPr/>
          <p:nvPr/>
        </p:nvSpPr>
        <p:spPr>
          <a:xfrm>
            <a:off x="6473952" y="3084576"/>
            <a:ext cx="2438400" cy="804672"/>
          </a:xfrm>
          <a:prstGeom prst="rect">
            <a:avLst/>
          </a:prstGeom>
          <a:noFill/>
          <a:ln/>
        </p:spPr>
        <p:txBody>
          <a:bodyPr wrap="square" lIns="0" tIns="0" rIns="0" bIns="0" rtlCol="0" anchor="ctr"/>
          <a:lstStyle/>
          <a:p>
            <a:r>
              <a:rPr lang="en-US" sz="1400" dirty="0">
                <a:solidFill>
                  <a:srgbClr val="991B1B"/>
                </a:solidFill>
              </a:rPr>
              <a:t>❌  The meeting is schedule for Tuesday, 14th july at 2 pm</a:t>
            </a:r>
            <a:r>
              <a:rPr lang="en-US" sz="1067" dirty="0">
                <a:solidFill>
                  <a:srgbClr val="991B1B"/>
                </a:solidFill>
              </a:rPr>
              <a:t>.</a:t>
            </a:r>
            <a:endParaRPr lang="en-US" sz="1067" dirty="0"/>
          </a:p>
        </p:txBody>
      </p:sp>
      <p:sp>
        <p:nvSpPr>
          <p:cNvPr id="30" name="Shape 28"/>
          <p:cNvSpPr/>
          <p:nvPr/>
        </p:nvSpPr>
        <p:spPr>
          <a:xfrm>
            <a:off x="9058656" y="3048000"/>
            <a:ext cx="2682240" cy="877824"/>
          </a:xfrm>
          <a:prstGeom prst="roundRect">
            <a:avLst>
              <a:gd name="adj" fmla="val 6944"/>
            </a:avLst>
          </a:prstGeom>
          <a:solidFill>
            <a:srgbClr val="F0FDF4"/>
          </a:solidFill>
          <a:ln w="12700">
            <a:solidFill>
              <a:srgbClr val="BBF7D0"/>
            </a:solidFill>
            <a:prstDash val="solid"/>
          </a:ln>
        </p:spPr>
        <p:txBody>
          <a:bodyPr/>
          <a:lstStyle/>
          <a:p>
            <a:endParaRPr lang="en-IN" sz="2400"/>
          </a:p>
        </p:txBody>
      </p:sp>
      <p:sp>
        <p:nvSpPr>
          <p:cNvPr id="31" name="Text 29"/>
          <p:cNvSpPr/>
          <p:nvPr/>
        </p:nvSpPr>
        <p:spPr>
          <a:xfrm>
            <a:off x="9107424" y="3084576"/>
            <a:ext cx="2584704" cy="804672"/>
          </a:xfrm>
          <a:prstGeom prst="rect">
            <a:avLst/>
          </a:prstGeom>
          <a:noFill/>
          <a:ln/>
        </p:spPr>
        <p:txBody>
          <a:bodyPr wrap="square" lIns="0" tIns="0" rIns="0" bIns="0" rtlCol="0" anchor="ctr"/>
          <a:lstStyle/>
          <a:p>
            <a:r>
              <a:rPr lang="en-US" sz="1400" dirty="0">
                <a:solidFill>
                  <a:srgbClr val="166534"/>
                </a:solidFill>
              </a:rPr>
              <a:t>✅  The meeting is scheduled for Tuesday, 14 July at 2:00 PM</a:t>
            </a:r>
            <a:r>
              <a:rPr lang="en-US" sz="1067" dirty="0">
                <a:solidFill>
                  <a:srgbClr val="166534"/>
                </a:solidFill>
              </a:rPr>
              <a:t>.</a:t>
            </a:r>
            <a:endParaRPr lang="en-US" sz="1067" dirty="0"/>
          </a:p>
        </p:txBody>
      </p:sp>
      <p:sp>
        <p:nvSpPr>
          <p:cNvPr id="32" name="Shape 30"/>
          <p:cNvSpPr/>
          <p:nvPr/>
        </p:nvSpPr>
        <p:spPr>
          <a:xfrm>
            <a:off x="6278880" y="4267200"/>
            <a:ext cx="5608320" cy="2316480"/>
          </a:xfrm>
          <a:prstGeom prst="roundRect">
            <a:avLst>
              <a:gd name="adj" fmla="val 5263"/>
            </a:avLst>
          </a:prstGeom>
          <a:solidFill>
            <a:srgbClr val="FAF5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33" name="Shape 31"/>
          <p:cNvSpPr/>
          <p:nvPr/>
        </p:nvSpPr>
        <p:spPr>
          <a:xfrm>
            <a:off x="6425184" y="4413504"/>
            <a:ext cx="633984" cy="633984"/>
          </a:xfrm>
          <a:prstGeom prst="ellipse">
            <a:avLst/>
          </a:prstGeom>
          <a:solidFill>
            <a:srgbClr val="7C3AED"/>
          </a:solidFill>
          <a:ln w="12700">
            <a:solidFill>
              <a:srgbClr val="7C3AED"/>
            </a:solidFill>
            <a:prstDash val="solid"/>
          </a:ln>
        </p:spPr>
        <p:txBody>
          <a:bodyPr/>
          <a:lstStyle/>
          <a:p>
            <a:endParaRPr lang="en-IN" sz="2400"/>
          </a:p>
        </p:txBody>
      </p:sp>
      <p:sp>
        <p:nvSpPr>
          <p:cNvPr id="34" name="Text 32"/>
          <p:cNvSpPr/>
          <p:nvPr/>
        </p:nvSpPr>
        <p:spPr>
          <a:xfrm>
            <a:off x="6425184" y="4413504"/>
            <a:ext cx="633984" cy="633984"/>
          </a:xfrm>
          <a:prstGeom prst="rect">
            <a:avLst/>
          </a:prstGeom>
          <a:noFill/>
          <a:ln/>
        </p:spPr>
        <p:txBody>
          <a:bodyPr wrap="square" lIns="0" tIns="0" rIns="0" bIns="0" rtlCol="0" anchor="ctr"/>
          <a:lstStyle/>
          <a:p>
            <a:pPr algn="ctr"/>
            <a:r>
              <a:rPr lang="en-US" sz="1733" dirty="0">
                <a:solidFill>
                  <a:srgbClr val="000000"/>
                </a:solidFill>
              </a:rPr>
              <a:t>📋</a:t>
            </a:r>
            <a:endParaRPr lang="en-US" sz="1733" dirty="0"/>
          </a:p>
        </p:txBody>
      </p:sp>
      <p:sp>
        <p:nvSpPr>
          <p:cNvPr id="35" name="Text 33"/>
          <p:cNvSpPr/>
          <p:nvPr/>
        </p:nvSpPr>
        <p:spPr>
          <a:xfrm>
            <a:off x="7193280" y="4413504"/>
            <a:ext cx="4511040" cy="390144"/>
          </a:xfrm>
          <a:prstGeom prst="rect">
            <a:avLst/>
          </a:prstGeom>
          <a:noFill/>
          <a:ln/>
        </p:spPr>
        <p:txBody>
          <a:bodyPr wrap="square" lIns="0" tIns="0" rIns="0" bIns="0" rtlCol="0" anchor="ctr"/>
          <a:lstStyle/>
          <a:p>
            <a:r>
              <a:rPr lang="en-US" sz="2800" b="1" dirty="0">
                <a:solidFill>
                  <a:srgbClr val="7C3AED"/>
                </a:solidFill>
              </a:rPr>
              <a:t>Complete</a:t>
            </a:r>
            <a:endParaRPr lang="en-US" sz="2800" dirty="0"/>
          </a:p>
        </p:txBody>
      </p:sp>
      <p:sp>
        <p:nvSpPr>
          <p:cNvPr id="36" name="Text 34"/>
          <p:cNvSpPr/>
          <p:nvPr/>
        </p:nvSpPr>
        <p:spPr>
          <a:xfrm>
            <a:off x="6425184" y="5071872"/>
            <a:ext cx="5303520" cy="426720"/>
          </a:xfrm>
          <a:prstGeom prst="rect">
            <a:avLst/>
          </a:prstGeom>
          <a:noFill/>
          <a:ln/>
        </p:spPr>
        <p:txBody>
          <a:bodyPr wrap="square" lIns="0" tIns="0" rIns="0" bIns="0" rtlCol="0" anchor="ctr"/>
          <a:lstStyle/>
          <a:p>
            <a:r>
              <a:rPr lang="en-US" dirty="0">
                <a:solidFill>
                  <a:srgbClr val="1E293B"/>
                </a:solidFill>
              </a:rPr>
              <a:t>Includes all information the reader needs to act, decide, or respond. No missing pieces.</a:t>
            </a:r>
            <a:endParaRPr lang="en-US" dirty="0"/>
          </a:p>
        </p:txBody>
      </p:sp>
      <p:sp>
        <p:nvSpPr>
          <p:cNvPr id="37" name="Shape 35"/>
          <p:cNvSpPr/>
          <p:nvPr/>
        </p:nvSpPr>
        <p:spPr>
          <a:xfrm>
            <a:off x="6425184" y="5547360"/>
            <a:ext cx="2535936" cy="877824"/>
          </a:xfrm>
          <a:prstGeom prst="roundRect">
            <a:avLst>
              <a:gd name="adj" fmla="val 6944"/>
            </a:avLst>
          </a:prstGeom>
          <a:solidFill>
            <a:srgbClr val="FEF2F2"/>
          </a:solidFill>
          <a:ln w="12700">
            <a:solidFill>
              <a:srgbClr val="FECACA"/>
            </a:solidFill>
            <a:prstDash val="solid"/>
          </a:ln>
        </p:spPr>
        <p:txBody>
          <a:bodyPr/>
          <a:lstStyle/>
          <a:p>
            <a:endParaRPr lang="en-IN" sz="2400"/>
          </a:p>
        </p:txBody>
      </p:sp>
      <p:sp>
        <p:nvSpPr>
          <p:cNvPr id="38" name="Text 36"/>
          <p:cNvSpPr/>
          <p:nvPr/>
        </p:nvSpPr>
        <p:spPr>
          <a:xfrm>
            <a:off x="6473952" y="5583936"/>
            <a:ext cx="2438400" cy="804672"/>
          </a:xfrm>
          <a:prstGeom prst="rect">
            <a:avLst/>
          </a:prstGeom>
          <a:noFill/>
          <a:ln/>
        </p:spPr>
        <p:txBody>
          <a:bodyPr wrap="square" lIns="0" tIns="0" rIns="0" bIns="0" rtlCol="0" anchor="ctr"/>
          <a:lstStyle/>
          <a:p>
            <a:r>
              <a:rPr lang="en-US" sz="1600" dirty="0">
                <a:solidFill>
                  <a:srgbClr val="991B1B"/>
                </a:solidFill>
              </a:rPr>
              <a:t>❌  Please send us the documents soon.</a:t>
            </a:r>
            <a:endParaRPr lang="en-US" sz="1600" dirty="0"/>
          </a:p>
        </p:txBody>
      </p:sp>
      <p:sp>
        <p:nvSpPr>
          <p:cNvPr id="39" name="Shape 37"/>
          <p:cNvSpPr/>
          <p:nvPr/>
        </p:nvSpPr>
        <p:spPr>
          <a:xfrm>
            <a:off x="9058656" y="5547360"/>
            <a:ext cx="2682240" cy="877824"/>
          </a:xfrm>
          <a:prstGeom prst="roundRect">
            <a:avLst>
              <a:gd name="adj" fmla="val 6944"/>
            </a:avLst>
          </a:prstGeom>
          <a:solidFill>
            <a:srgbClr val="F0FDF4"/>
          </a:solidFill>
          <a:ln w="12700">
            <a:solidFill>
              <a:srgbClr val="BBF7D0"/>
            </a:solidFill>
            <a:prstDash val="solid"/>
          </a:ln>
        </p:spPr>
        <p:txBody>
          <a:bodyPr/>
          <a:lstStyle/>
          <a:p>
            <a:endParaRPr lang="en-IN" sz="2400"/>
          </a:p>
        </p:txBody>
      </p:sp>
      <p:sp>
        <p:nvSpPr>
          <p:cNvPr id="40" name="Text 38"/>
          <p:cNvSpPr/>
          <p:nvPr/>
        </p:nvSpPr>
        <p:spPr>
          <a:xfrm>
            <a:off x="9107424" y="5583936"/>
            <a:ext cx="2584704" cy="804672"/>
          </a:xfrm>
          <a:prstGeom prst="rect">
            <a:avLst/>
          </a:prstGeom>
          <a:noFill/>
          <a:ln/>
        </p:spPr>
        <p:txBody>
          <a:bodyPr wrap="square" lIns="0" tIns="0" rIns="0" bIns="0" rtlCol="0" anchor="ctr"/>
          <a:lstStyle/>
          <a:p>
            <a:r>
              <a:rPr lang="en-US" sz="1400" dirty="0">
                <a:solidFill>
                  <a:srgbClr val="166534"/>
                </a:solidFill>
              </a:rPr>
              <a:t>✅  Please send the signed NDA and project brief to hr@firm.com by Friday, 27 June, 5 PM IST.</a:t>
            </a:r>
            <a:endParaRPr lang="en-US" sz="1400" dirty="0"/>
          </a:p>
        </p:txBody>
      </p:sp>
      <p:pic>
        <p:nvPicPr>
          <p:cNvPr id="42" name="Picture 2" descr="KL Deemed to be University Logo">
            <a:extLst>
              <a:ext uri="{FF2B5EF4-FFF2-40B4-BE49-F238E27FC236}">
                <a16:creationId xmlns:a16="http://schemas.microsoft.com/office/drawing/2014/main" id="{E3B75C64-9B28-55E0-7FEA-7B9C9267391A}"/>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0960"/>
            <a:ext cx="12192000" cy="1219200"/>
          </a:xfrm>
          <a:prstGeom prst="rect">
            <a:avLst/>
          </a:prstGeom>
          <a:solidFill>
            <a:srgbClr val="0D8A8A"/>
          </a:solidFill>
          <a:ln w="12700">
            <a:solidFill>
              <a:srgbClr val="0D8A8A"/>
            </a:solidFill>
            <a:prstDash val="solid"/>
          </a:ln>
        </p:spPr>
        <p:txBody>
          <a:bodyPr/>
          <a:lstStyle/>
          <a:p>
            <a:endParaRPr lang="en-IN" sz="2400"/>
          </a:p>
        </p:txBody>
      </p:sp>
      <p:sp>
        <p:nvSpPr>
          <p:cNvPr id="3" name="Text 1"/>
          <p:cNvSpPr/>
          <p:nvPr/>
        </p:nvSpPr>
        <p:spPr>
          <a:xfrm>
            <a:off x="487680" y="121920"/>
            <a:ext cx="10972800" cy="746380"/>
          </a:xfrm>
          <a:prstGeom prst="rect">
            <a:avLst/>
          </a:prstGeom>
          <a:noFill/>
          <a:ln/>
        </p:spPr>
        <p:txBody>
          <a:bodyPr wrap="square" lIns="0" tIns="0" rIns="0" bIns="0" rtlCol="0" anchor="ctr"/>
          <a:lstStyle/>
          <a:p>
            <a:r>
              <a:rPr lang="en-US" sz="2533" b="1" dirty="0">
                <a:solidFill>
                  <a:srgbClr val="FFFFFF"/>
                </a:solidFill>
              </a:rPr>
              <a:t>                 </a:t>
            </a:r>
            <a:r>
              <a:rPr lang="en-US" sz="3600" b="1" dirty="0">
                <a:solidFill>
                  <a:srgbClr val="FFFFFF"/>
                </a:solidFill>
              </a:rPr>
              <a:t>The 7 Cs of Effective Professional Writing — Part II</a:t>
            </a:r>
            <a:endParaRPr lang="en-US" sz="2533" dirty="0"/>
          </a:p>
        </p:txBody>
      </p:sp>
      <p:sp>
        <p:nvSpPr>
          <p:cNvPr id="4" name="Shape 2"/>
          <p:cNvSpPr/>
          <p:nvPr/>
        </p:nvSpPr>
        <p:spPr>
          <a:xfrm>
            <a:off x="414528" y="1365504"/>
            <a:ext cx="3779520" cy="5425440"/>
          </a:xfrm>
          <a:prstGeom prst="roundRect">
            <a:avLst>
              <a:gd name="adj" fmla="val 3226"/>
            </a:avLst>
          </a:prstGeom>
          <a:solidFill>
            <a:srgbClr val="FFFBEB"/>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5" name="Shape 3"/>
          <p:cNvSpPr/>
          <p:nvPr/>
        </p:nvSpPr>
        <p:spPr>
          <a:xfrm>
            <a:off x="512064" y="1511808"/>
            <a:ext cx="682752" cy="682752"/>
          </a:xfrm>
          <a:prstGeom prst="ellipse">
            <a:avLst/>
          </a:prstGeom>
          <a:solidFill>
            <a:srgbClr val="B45309"/>
          </a:solidFill>
          <a:ln w="12700">
            <a:solidFill>
              <a:srgbClr val="B45309"/>
            </a:solidFill>
            <a:prstDash val="solid"/>
          </a:ln>
        </p:spPr>
        <p:txBody>
          <a:bodyPr/>
          <a:lstStyle/>
          <a:p>
            <a:endParaRPr lang="en-IN" sz="2400"/>
          </a:p>
        </p:txBody>
      </p:sp>
      <p:sp>
        <p:nvSpPr>
          <p:cNvPr id="6" name="Text 4"/>
          <p:cNvSpPr/>
          <p:nvPr/>
        </p:nvSpPr>
        <p:spPr>
          <a:xfrm>
            <a:off x="512064" y="1511808"/>
            <a:ext cx="682752" cy="682752"/>
          </a:xfrm>
          <a:prstGeom prst="rect">
            <a:avLst/>
          </a:prstGeom>
          <a:noFill/>
          <a:ln/>
        </p:spPr>
        <p:txBody>
          <a:bodyPr wrap="square" lIns="0" tIns="0" rIns="0" bIns="0" rtlCol="0" anchor="ctr"/>
          <a:lstStyle/>
          <a:p>
            <a:pPr algn="ctr"/>
            <a:r>
              <a:rPr lang="en-US" sz="1867" dirty="0">
                <a:solidFill>
                  <a:srgbClr val="000000"/>
                </a:solidFill>
              </a:rPr>
              <a:t>🤝</a:t>
            </a:r>
            <a:endParaRPr lang="en-US" sz="1867" dirty="0"/>
          </a:p>
        </p:txBody>
      </p:sp>
      <p:sp>
        <p:nvSpPr>
          <p:cNvPr id="7" name="Text 5"/>
          <p:cNvSpPr/>
          <p:nvPr/>
        </p:nvSpPr>
        <p:spPr>
          <a:xfrm>
            <a:off x="1316736" y="1536192"/>
            <a:ext cx="2682240" cy="463296"/>
          </a:xfrm>
          <a:prstGeom prst="rect">
            <a:avLst/>
          </a:prstGeom>
          <a:noFill/>
          <a:ln/>
        </p:spPr>
        <p:txBody>
          <a:bodyPr wrap="square" lIns="0" tIns="0" rIns="0" bIns="0" rtlCol="0" anchor="ctr"/>
          <a:lstStyle/>
          <a:p>
            <a:r>
              <a:rPr lang="en-US" sz="3200" b="1" dirty="0">
                <a:solidFill>
                  <a:srgbClr val="B45309"/>
                </a:solidFill>
              </a:rPr>
              <a:t>Courteous</a:t>
            </a:r>
            <a:endParaRPr lang="en-US" sz="3200" dirty="0"/>
          </a:p>
        </p:txBody>
      </p:sp>
      <p:sp>
        <p:nvSpPr>
          <p:cNvPr id="8" name="Text 6"/>
          <p:cNvSpPr/>
          <p:nvPr/>
        </p:nvSpPr>
        <p:spPr>
          <a:xfrm>
            <a:off x="512064" y="2292096"/>
            <a:ext cx="3474720" cy="914400"/>
          </a:xfrm>
          <a:prstGeom prst="rect">
            <a:avLst/>
          </a:prstGeom>
          <a:noFill/>
          <a:ln/>
        </p:spPr>
        <p:txBody>
          <a:bodyPr wrap="square" lIns="0" tIns="0" rIns="0" bIns="0" rtlCol="0" anchor="ctr"/>
          <a:lstStyle/>
          <a:p>
            <a:r>
              <a:rPr lang="en-US" dirty="0">
                <a:solidFill>
                  <a:srgbClr val="1E293B"/>
                </a:solidFill>
              </a:rPr>
              <a:t>Respectful, polite, and positive. Avoids sarcasm, condescension, or aggressive language</a:t>
            </a:r>
            <a:r>
              <a:rPr lang="en-US" sz="1400" dirty="0">
                <a:solidFill>
                  <a:srgbClr val="1E293B"/>
                </a:solidFill>
              </a:rPr>
              <a:t>.</a:t>
            </a:r>
            <a:endParaRPr lang="en-US" sz="1400" dirty="0"/>
          </a:p>
        </p:txBody>
      </p:sp>
      <p:sp>
        <p:nvSpPr>
          <p:cNvPr id="9" name="Shape 7"/>
          <p:cNvSpPr/>
          <p:nvPr/>
        </p:nvSpPr>
        <p:spPr>
          <a:xfrm>
            <a:off x="512064" y="3291840"/>
            <a:ext cx="3474720" cy="1219200"/>
          </a:xfrm>
          <a:prstGeom prst="roundRect">
            <a:avLst>
              <a:gd name="adj" fmla="val 6000"/>
            </a:avLst>
          </a:prstGeom>
          <a:solidFill>
            <a:srgbClr val="FEF2F2"/>
          </a:solidFill>
          <a:ln w="12700">
            <a:solidFill>
              <a:srgbClr val="FECACA"/>
            </a:solidFill>
            <a:prstDash val="solid"/>
          </a:ln>
        </p:spPr>
        <p:txBody>
          <a:bodyPr/>
          <a:lstStyle/>
          <a:p>
            <a:endParaRPr lang="en-IN" sz="2400"/>
          </a:p>
        </p:txBody>
      </p:sp>
      <p:sp>
        <p:nvSpPr>
          <p:cNvPr id="10" name="Text 8"/>
          <p:cNvSpPr/>
          <p:nvPr/>
        </p:nvSpPr>
        <p:spPr>
          <a:xfrm>
            <a:off x="548640" y="3328416"/>
            <a:ext cx="365760" cy="268224"/>
          </a:xfrm>
          <a:prstGeom prst="rect">
            <a:avLst/>
          </a:prstGeom>
          <a:noFill/>
          <a:ln/>
        </p:spPr>
        <p:txBody>
          <a:bodyPr wrap="square" lIns="0" tIns="0" rIns="0" bIns="0" rtlCol="0" anchor="ctr"/>
          <a:lstStyle/>
          <a:p>
            <a:r>
              <a:rPr lang="en-US" sz="1200" dirty="0">
                <a:solidFill>
                  <a:srgbClr val="000000"/>
                </a:solidFill>
              </a:rPr>
              <a:t>❌</a:t>
            </a:r>
            <a:endParaRPr lang="en-US" sz="1200" dirty="0"/>
          </a:p>
        </p:txBody>
      </p:sp>
      <p:sp>
        <p:nvSpPr>
          <p:cNvPr id="11" name="Text 9"/>
          <p:cNvSpPr/>
          <p:nvPr/>
        </p:nvSpPr>
        <p:spPr>
          <a:xfrm>
            <a:off x="548640" y="3596640"/>
            <a:ext cx="3352800" cy="853440"/>
          </a:xfrm>
          <a:prstGeom prst="rect">
            <a:avLst/>
          </a:prstGeom>
          <a:noFill/>
          <a:ln/>
        </p:spPr>
        <p:txBody>
          <a:bodyPr wrap="square" lIns="0" tIns="0" rIns="0" bIns="0" rtlCol="0" anchor="ctr"/>
          <a:lstStyle/>
          <a:p>
            <a:r>
              <a:rPr lang="en-US" sz="2000" i="1" dirty="0">
                <a:solidFill>
                  <a:srgbClr val="991B1B"/>
                </a:solidFill>
              </a:rPr>
              <a:t>As I already stated in my previous email, the deadline was missed.</a:t>
            </a:r>
            <a:endParaRPr lang="en-US" sz="2000" dirty="0"/>
          </a:p>
        </p:txBody>
      </p:sp>
      <p:sp>
        <p:nvSpPr>
          <p:cNvPr id="12" name="Shape 10"/>
          <p:cNvSpPr/>
          <p:nvPr/>
        </p:nvSpPr>
        <p:spPr>
          <a:xfrm>
            <a:off x="512064" y="4608576"/>
            <a:ext cx="3474720" cy="1219200"/>
          </a:xfrm>
          <a:prstGeom prst="roundRect">
            <a:avLst>
              <a:gd name="adj" fmla="val 6000"/>
            </a:avLst>
          </a:prstGeom>
          <a:solidFill>
            <a:srgbClr val="F0FDF4"/>
          </a:solidFill>
          <a:ln w="12700">
            <a:solidFill>
              <a:srgbClr val="BBF7D0"/>
            </a:solidFill>
            <a:prstDash val="solid"/>
          </a:ln>
        </p:spPr>
        <p:txBody>
          <a:bodyPr/>
          <a:lstStyle/>
          <a:p>
            <a:endParaRPr lang="en-IN" sz="2400"/>
          </a:p>
        </p:txBody>
      </p:sp>
      <p:sp>
        <p:nvSpPr>
          <p:cNvPr id="13" name="Text 11"/>
          <p:cNvSpPr/>
          <p:nvPr/>
        </p:nvSpPr>
        <p:spPr>
          <a:xfrm>
            <a:off x="548640" y="4645152"/>
            <a:ext cx="365760" cy="268224"/>
          </a:xfrm>
          <a:prstGeom prst="rect">
            <a:avLst/>
          </a:prstGeom>
          <a:noFill/>
          <a:ln/>
        </p:spPr>
        <p:txBody>
          <a:bodyPr wrap="square" lIns="0" tIns="0" rIns="0" bIns="0" rtlCol="0" anchor="ctr"/>
          <a:lstStyle/>
          <a:p>
            <a:r>
              <a:rPr lang="en-US" sz="1200" dirty="0">
                <a:solidFill>
                  <a:srgbClr val="000000"/>
                </a:solidFill>
              </a:rPr>
              <a:t>✅</a:t>
            </a:r>
            <a:endParaRPr lang="en-US" sz="1200" dirty="0"/>
          </a:p>
        </p:txBody>
      </p:sp>
      <p:sp>
        <p:nvSpPr>
          <p:cNvPr id="14" name="Text 12"/>
          <p:cNvSpPr/>
          <p:nvPr/>
        </p:nvSpPr>
        <p:spPr>
          <a:xfrm>
            <a:off x="548640" y="4913376"/>
            <a:ext cx="3352800" cy="853440"/>
          </a:xfrm>
          <a:prstGeom prst="rect">
            <a:avLst/>
          </a:prstGeom>
          <a:noFill/>
          <a:ln/>
        </p:spPr>
        <p:txBody>
          <a:bodyPr wrap="square" lIns="0" tIns="0" rIns="0" bIns="0" rtlCol="0" anchor="ctr"/>
          <a:lstStyle/>
          <a:p>
            <a:r>
              <a:rPr lang="en-US" i="1" dirty="0">
                <a:solidFill>
                  <a:srgbClr val="166534"/>
                </a:solidFill>
              </a:rPr>
              <a:t>To recap our earlier discussion, the deadline has passed — could we agree on a revised date?</a:t>
            </a:r>
            <a:endParaRPr lang="en-US" dirty="0"/>
          </a:p>
        </p:txBody>
      </p:sp>
      <p:sp>
        <p:nvSpPr>
          <p:cNvPr id="15" name="Shape 13"/>
          <p:cNvSpPr/>
          <p:nvPr/>
        </p:nvSpPr>
        <p:spPr>
          <a:xfrm>
            <a:off x="4303776" y="1365504"/>
            <a:ext cx="3779520" cy="5425440"/>
          </a:xfrm>
          <a:prstGeom prst="roundRect">
            <a:avLst>
              <a:gd name="adj" fmla="val 3226"/>
            </a:avLst>
          </a:prstGeom>
          <a:solidFill>
            <a:srgbClr val="EFF6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16" name="Shape 14"/>
          <p:cNvSpPr/>
          <p:nvPr/>
        </p:nvSpPr>
        <p:spPr>
          <a:xfrm>
            <a:off x="4450080" y="1511808"/>
            <a:ext cx="682752" cy="682752"/>
          </a:xfrm>
          <a:prstGeom prst="ellipse">
            <a:avLst/>
          </a:prstGeom>
          <a:solidFill>
            <a:srgbClr val="0369A1"/>
          </a:solidFill>
          <a:ln w="12700">
            <a:solidFill>
              <a:srgbClr val="0369A1"/>
            </a:solidFill>
            <a:prstDash val="solid"/>
          </a:ln>
        </p:spPr>
        <p:txBody>
          <a:bodyPr/>
          <a:lstStyle/>
          <a:p>
            <a:endParaRPr lang="en-IN" sz="2400"/>
          </a:p>
        </p:txBody>
      </p:sp>
      <p:sp>
        <p:nvSpPr>
          <p:cNvPr id="17" name="Text 15"/>
          <p:cNvSpPr/>
          <p:nvPr/>
        </p:nvSpPr>
        <p:spPr>
          <a:xfrm>
            <a:off x="4450080" y="1511808"/>
            <a:ext cx="682752" cy="682752"/>
          </a:xfrm>
          <a:prstGeom prst="rect">
            <a:avLst/>
          </a:prstGeom>
          <a:noFill/>
          <a:ln/>
        </p:spPr>
        <p:txBody>
          <a:bodyPr wrap="square" lIns="0" tIns="0" rIns="0" bIns="0" rtlCol="0" anchor="ctr"/>
          <a:lstStyle/>
          <a:p>
            <a:pPr algn="ctr"/>
            <a:r>
              <a:rPr lang="en-US" sz="1867" dirty="0">
                <a:solidFill>
                  <a:srgbClr val="000000"/>
                </a:solidFill>
              </a:rPr>
              <a:t>👁️</a:t>
            </a:r>
            <a:endParaRPr lang="en-US" sz="1867" dirty="0"/>
          </a:p>
        </p:txBody>
      </p:sp>
      <p:sp>
        <p:nvSpPr>
          <p:cNvPr id="18" name="Text 16"/>
          <p:cNvSpPr/>
          <p:nvPr/>
        </p:nvSpPr>
        <p:spPr>
          <a:xfrm>
            <a:off x="5254752" y="1536192"/>
            <a:ext cx="2682240" cy="463296"/>
          </a:xfrm>
          <a:prstGeom prst="rect">
            <a:avLst/>
          </a:prstGeom>
          <a:noFill/>
          <a:ln/>
        </p:spPr>
        <p:txBody>
          <a:bodyPr wrap="square" lIns="0" tIns="0" rIns="0" bIns="0" rtlCol="0" anchor="ctr"/>
          <a:lstStyle/>
          <a:p>
            <a:r>
              <a:rPr lang="en-US" sz="2800" b="1" dirty="0">
                <a:solidFill>
                  <a:srgbClr val="0369A1"/>
                </a:solidFill>
              </a:rPr>
              <a:t>Considerate</a:t>
            </a:r>
            <a:endParaRPr lang="en-US" sz="2800" dirty="0"/>
          </a:p>
        </p:txBody>
      </p:sp>
      <p:sp>
        <p:nvSpPr>
          <p:cNvPr id="19" name="Text 17"/>
          <p:cNvSpPr/>
          <p:nvPr/>
        </p:nvSpPr>
        <p:spPr>
          <a:xfrm>
            <a:off x="4450080" y="2292096"/>
            <a:ext cx="3474720" cy="914400"/>
          </a:xfrm>
          <a:prstGeom prst="rect">
            <a:avLst/>
          </a:prstGeom>
          <a:noFill/>
          <a:ln/>
        </p:spPr>
        <p:txBody>
          <a:bodyPr wrap="square" lIns="0" tIns="0" rIns="0" bIns="0" rtlCol="0" anchor="ctr"/>
          <a:lstStyle/>
          <a:p>
            <a:r>
              <a:rPr lang="en-US" dirty="0">
                <a:solidFill>
                  <a:srgbClr val="1E293B"/>
                </a:solidFill>
              </a:rPr>
              <a:t>Centres the reader's needs, knowledge, and perspective — not just the writer's</a:t>
            </a:r>
            <a:r>
              <a:rPr lang="en-US" sz="1267" dirty="0">
                <a:solidFill>
                  <a:srgbClr val="1E293B"/>
                </a:solidFill>
              </a:rPr>
              <a:t>.</a:t>
            </a:r>
            <a:endParaRPr lang="en-US" sz="1267" dirty="0"/>
          </a:p>
        </p:txBody>
      </p:sp>
      <p:sp>
        <p:nvSpPr>
          <p:cNvPr id="20" name="Shape 18"/>
          <p:cNvSpPr/>
          <p:nvPr/>
        </p:nvSpPr>
        <p:spPr>
          <a:xfrm>
            <a:off x="4450080" y="3291840"/>
            <a:ext cx="3474720" cy="1219200"/>
          </a:xfrm>
          <a:prstGeom prst="roundRect">
            <a:avLst>
              <a:gd name="adj" fmla="val 6000"/>
            </a:avLst>
          </a:prstGeom>
          <a:solidFill>
            <a:srgbClr val="FEF2F2"/>
          </a:solidFill>
          <a:ln w="12700">
            <a:solidFill>
              <a:srgbClr val="FECACA"/>
            </a:solidFill>
            <a:prstDash val="solid"/>
          </a:ln>
        </p:spPr>
        <p:txBody>
          <a:bodyPr/>
          <a:lstStyle/>
          <a:p>
            <a:endParaRPr lang="en-IN" sz="2400"/>
          </a:p>
        </p:txBody>
      </p:sp>
      <p:sp>
        <p:nvSpPr>
          <p:cNvPr id="21" name="Text 19"/>
          <p:cNvSpPr/>
          <p:nvPr/>
        </p:nvSpPr>
        <p:spPr>
          <a:xfrm>
            <a:off x="4486656" y="3328416"/>
            <a:ext cx="365760" cy="268224"/>
          </a:xfrm>
          <a:prstGeom prst="rect">
            <a:avLst/>
          </a:prstGeom>
          <a:noFill/>
          <a:ln/>
        </p:spPr>
        <p:txBody>
          <a:bodyPr wrap="square" lIns="0" tIns="0" rIns="0" bIns="0" rtlCol="0" anchor="ctr"/>
          <a:lstStyle/>
          <a:p>
            <a:r>
              <a:rPr lang="en-US" sz="1200" dirty="0">
                <a:solidFill>
                  <a:srgbClr val="000000"/>
                </a:solidFill>
              </a:rPr>
              <a:t>❌</a:t>
            </a:r>
            <a:endParaRPr lang="en-US" sz="1200" dirty="0"/>
          </a:p>
        </p:txBody>
      </p:sp>
      <p:sp>
        <p:nvSpPr>
          <p:cNvPr id="22" name="Text 20"/>
          <p:cNvSpPr/>
          <p:nvPr/>
        </p:nvSpPr>
        <p:spPr>
          <a:xfrm>
            <a:off x="4486656" y="3596640"/>
            <a:ext cx="3352800" cy="853440"/>
          </a:xfrm>
          <a:prstGeom prst="rect">
            <a:avLst/>
          </a:prstGeom>
          <a:noFill/>
          <a:ln/>
        </p:spPr>
        <p:txBody>
          <a:bodyPr wrap="square" lIns="0" tIns="0" rIns="0" bIns="0" rtlCol="0" anchor="ctr"/>
          <a:lstStyle/>
          <a:p>
            <a:r>
              <a:rPr lang="en-US" i="1" dirty="0">
                <a:solidFill>
                  <a:srgbClr val="991B1B"/>
                </a:solidFill>
              </a:rPr>
              <a:t>Refer to Section 4.2(b)(iii) of the aforementioned circular for further details.</a:t>
            </a:r>
            <a:endParaRPr lang="en-US" dirty="0"/>
          </a:p>
        </p:txBody>
      </p:sp>
      <p:sp>
        <p:nvSpPr>
          <p:cNvPr id="23" name="Shape 21"/>
          <p:cNvSpPr/>
          <p:nvPr/>
        </p:nvSpPr>
        <p:spPr>
          <a:xfrm>
            <a:off x="4450080" y="4608576"/>
            <a:ext cx="3474720" cy="1219200"/>
          </a:xfrm>
          <a:prstGeom prst="roundRect">
            <a:avLst>
              <a:gd name="adj" fmla="val 6000"/>
            </a:avLst>
          </a:prstGeom>
          <a:solidFill>
            <a:srgbClr val="F0FDF4"/>
          </a:solidFill>
          <a:ln w="12700">
            <a:solidFill>
              <a:srgbClr val="BBF7D0"/>
            </a:solidFill>
            <a:prstDash val="solid"/>
          </a:ln>
        </p:spPr>
        <p:txBody>
          <a:bodyPr/>
          <a:lstStyle/>
          <a:p>
            <a:endParaRPr lang="en-IN" sz="2400"/>
          </a:p>
        </p:txBody>
      </p:sp>
      <p:sp>
        <p:nvSpPr>
          <p:cNvPr id="24" name="Text 22"/>
          <p:cNvSpPr/>
          <p:nvPr/>
        </p:nvSpPr>
        <p:spPr>
          <a:xfrm>
            <a:off x="4486656" y="4645152"/>
            <a:ext cx="365760" cy="268224"/>
          </a:xfrm>
          <a:prstGeom prst="rect">
            <a:avLst/>
          </a:prstGeom>
          <a:noFill/>
          <a:ln/>
        </p:spPr>
        <p:txBody>
          <a:bodyPr wrap="square" lIns="0" tIns="0" rIns="0" bIns="0" rtlCol="0" anchor="ctr"/>
          <a:lstStyle/>
          <a:p>
            <a:r>
              <a:rPr lang="en-US" sz="1200" dirty="0">
                <a:solidFill>
                  <a:srgbClr val="000000"/>
                </a:solidFill>
              </a:rPr>
              <a:t>✅</a:t>
            </a:r>
            <a:endParaRPr lang="en-US" sz="1200" dirty="0"/>
          </a:p>
        </p:txBody>
      </p:sp>
      <p:sp>
        <p:nvSpPr>
          <p:cNvPr id="25" name="Text 23"/>
          <p:cNvSpPr/>
          <p:nvPr/>
        </p:nvSpPr>
        <p:spPr>
          <a:xfrm>
            <a:off x="4486656" y="4913376"/>
            <a:ext cx="3352800" cy="853440"/>
          </a:xfrm>
          <a:prstGeom prst="rect">
            <a:avLst/>
          </a:prstGeom>
          <a:noFill/>
          <a:ln/>
        </p:spPr>
        <p:txBody>
          <a:bodyPr wrap="square" lIns="0" tIns="0" rIns="0" bIns="0" rtlCol="0" anchor="ctr"/>
          <a:lstStyle/>
          <a:p>
            <a:r>
              <a:rPr lang="en-US" i="1" dirty="0">
                <a:solidFill>
                  <a:srgbClr val="166534"/>
                </a:solidFill>
              </a:rPr>
              <a:t>For details on this policy, see page 12 of the attached circular (Section 4.2).</a:t>
            </a:r>
            <a:endParaRPr lang="en-US" dirty="0"/>
          </a:p>
        </p:txBody>
      </p:sp>
      <p:sp>
        <p:nvSpPr>
          <p:cNvPr id="26" name="Shape 24"/>
          <p:cNvSpPr/>
          <p:nvPr/>
        </p:nvSpPr>
        <p:spPr>
          <a:xfrm>
            <a:off x="8241792" y="1365504"/>
            <a:ext cx="3779520" cy="5425440"/>
          </a:xfrm>
          <a:prstGeom prst="roundRect">
            <a:avLst>
              <a:gd name="adj" fmla="val 3226"/>
            </a:avLst>
          </a:prstGeom>
          <a:solidFill>
            <a:srgbClr val="F5F3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27" name="Shape 25"/>
          <p:cNvSpPr/>
          <p:nvPr/>
        </p:nvSpPr>
        <p:spPr>
          <a:xfrm>
            <a:off x="8388096" y="1511808"/>
            <a:ext cx="682752" cy="682752"/>
          </a:xfrm>
          <a:prstGeom prst="ellipse">
            <a:avLst/>
          </a:prstGeom>
          <a:solidFill>
            <a:srgbClr val="6D28D9"/>
          </a:solidFill>
          <a:ln w="12700">
            <a:solidFill>
              <a:srgbClr val="6D28D9"/>
            </a:solidFill>
            <a:prstDash val="solid"/>
          </a:ln>
        </p:spPr>
        <p:txBody>
          <a:bodyPr/>
          <a:lstStyle/>
          <a:p>
            <a:endParaRPr lang="en-IN" sz="2400"/>
          </a:p>
        </p:txBody>
      </p:sp>
      <p:sp>
        <p:nvSpPr>
          <p:cNvPr id="28" name="Text 26"/>
          <p:cNvSpPr/>
          <p:nvPr/>
        </p:nvSpPr>
        <p:spPr>
          <a:xfrm>
            <a:off x="8388096" y="1511808"/>
            <a:ext cx="682752" cy="682752"/>
          </a:xfrm>
          <a:prstGeom prst="rect">
            <a:avLst/>
          </a:prstGeom>
          <a:noFill/>
          <a:ln/>
        </p:spPr>
        <p:txBody>
          <a:bodyPr wrap="square" lIns="0" tIns="0" rIns="0" bIns="0" rtlCol="0" anchor="ctr"/>
          <a:lstStyle/>
          <a:p>
            <a:pPr algn="ctr"/>
            <a:r>
              <a:rPr lang="en-US" sz="1867" dirty="0">
                <a:solidFill>
                  <a:srgbClr val="000000"/>
                </a:solidFill>
              </a:rPr>
              <a:t>🧱</a:t>
            </a:r>
            <a:endParaRPr lang="en-US" sz="1867" dirty="0"/>
          </a:p>
        </p:txBody>
      </p:sp>
      <p:sp>
        <p:nvSpPr>
          <p:cNvPr id="29" name="Text 27"/>
          <p:cNvSpPr/>
          <p:nvPr/>
        </p:nvSpPr>
        <p:spPr>
          <a:xfrm>
            <a:off x="9229344" y="1536192"/>
            <a:ext cx="2645664" cy="463296"/>
          </a:xfrm>
          <a:prstGeom prst="rect">
            <a:avLst/>
          </a:prstGeom>
          <a:noFill/>
          <a:ln/>
        </p:spPr>
        <p:txBody>
          <a:bodyPr wrap="square" lIns="0" tIns="0" rIns="0" bIns="0" rtlCol="0" anchor="ctr"/>
          <a:lstStyle/>
          <a:p>
            <a:r>
              <a:rPr lang="en-US" sz="2800" b="1" dirty="0">
                <a:solidFill>
                  <a:srgbClr val="6D28D9"/>
                </a:solidFill>
              </a:rPr>
              <a:t>Concrete</a:t>
            </a:r>
            <a:endParaRPr lang="en-US" sz="2800" dirty="0"/>
          </a:p>
        </p:txBody>
      </p:sp>
      <p:sp>
        <p:nvSpPr>
          <p:cNvPr id="30" name="Text 28"/>
          <p:cNvSpPr/>
          <p:nvPr/>
        </p:nvSpPr>
        <p:spPr>
          <a:xfrm>
            <a:off x="8388096" y="2292096"/>
            <a:ext cx="3474720" cy="914400"/>
          </a:xfrm>
          <a:prstGeom prst="rect">
            <a:avLst/>
          </a:prstGeom>
          <a:noFill/>
          <a:ln/>
        </p:spPr>
        <p:txBody>
          <a:bodyPr wrap="square" lIns="0" tIns="0" rIns="0" bIns="0" rtlCol="0" anchor="ctr"/>
          <a:lstStyle/>
          <a:p>
            <a:r>
              <a:rPr lang="en-US" sz="1600" dirty="0">
                <a:solidFill>
                  <a:srgbClr val="1E293B"/>
                </a:solidFill>
              </a:rPr>
              <a:t>Uses specific facts, measurable data, and vivid examples instead of vague generalities</a:t>
            </a:r>
            <a:r>
              <a:rPr lang="en-US" sz="1267" dirty="0">
                <a:solidFill>
                  <a:srgbClr val="1E293B"/>
                </a:solidFill>
              </a:rPr>
              <a:t>.</a:t>
            </a:r>
            <a:endParaRPr lang="en-US" sz="1267" dirty="0"/>
          </a:p>
        </p:txBody>
      </p:sp>
      <p:sp>
        <p:nvSpPr>
          <p:cNvPr id="31" name="Shape 29"/>
          <p:cNvSpPr/>
          <p:nvPr/>
        </p:nvSpPr>
        <p:spPr>
          <a:xfrm>
            <a:off x="8388096" y="3291840"/>
            <a:ext cx="3474720" cy="1219200"/>
          </a:xfrm>
          <a:prstGeom prst="roundRect">
            <a:avLst>
              <a:gd name="adj" fmla="val 6000"/>
            </a:avLst>
          </a:prstGeom>
          <a:solidFill>
            <a:srgbClr val="FEF2F2"/>
          </a:solidFill>
          <a:ln w="12700">
            <a:solidFill>
              <a:srgbClr val="FECACA"/>
            </a:solidFill>
            <a:prstDash val="solid"/>
          </a:ln>
        </p:spPr>
        <p:txBody>
          <a:bodyPr/>
          <a:lstStyle/>
          <a:p>
            <a:endParaRPr lang="en-IN" sz="2400"/>
          </a:p>
        </p:txBody>
      </p:sp>
      <p:sp>
        <p:nvSpPr>
          <p:cNvPr id="32" name="Text 30"/>
          <p:cNvSpPr/>
          <p:nvPr/>
        </p:nvSpPr>
        <p:spPr>
          <a:xfrm>
            <a:off x="8424672" y="3328416"/>
            <a:ext cx="365760" cy="268224"/>
          </a:xfrm>
          <a:prstGeom prst="rect">
            <a:avLst/>
          </a:prstGeom>
          <a:noFill/>
          <a:ln/>
        </p:spPr>
        <p:txBody>
          <a:bodyPr wrap="square" lIns="0" tIns="0" rIns="0" bIns="0" rtlCol="0" anchor="ctr"/>
          <a:lstStyle/>
          <a:p>
            <a:r>
              <a:rPr lang="en-US" sz="1200" dirty="0">
                <a:solidFill>
                  <a:srgbClr val="000000"/>
                </a:solidFill>
              </a:rPr>
              <a:t>❌</a:t>
            </a:r>
            <a:endParaRPr lang="en-US" sz="1200" dirty="0"/>
          </a:p>
        </p:txBody>
      </p:sp>
      <p:sp>
        <p:nvSpPr>
          <p:cNvPr id="33" name="Text 31"/>
          <p:cNvSpPr/>
          <p:nvPr/>
        </p:nvSpPr>
        <p:spPr>
          <a:xfrm>
            <a:off x="8424672" y="3596640"/>
            <a:ext cx="3352800" cy="853440"/>
          </a:xfrm>
          <a:prstGeom prst="rect">
            <a:avLst/>
          </a:prstGeom>
          <a:noFill/>
          <a:ln/>
        </p:spPr>
        <p:txBody>
          <a:bodyPr wrap="square" lIns="0" tIns="0" rIns="0" bIns="0" rtlCol="0" anchor="ctr"/>
          <a:lstStyle/>
          <a:p>
            <a:r>
              <a:rPr lang="en-US" i="1" dirty="0">
                <a:solidFill>
                  <a:srgbClr val="991B1B"/>
                </a:solidFill>
              </a:rPr>
              <a:t>Sales improved significantly this quarter, showing great results.</a:t>
            </a:r>
            <a:endParaRPr lang="en-US" dirty="0"/>
          </a:p>
        </p:txBody>
      </p:sp>
      <p:sp>
        <p:nvSpPr>
          <p:cNvPr id="34" name="Shape 32"/>
          <p:cNvSpPr/>
          <p:nvPr/>
        </p:nvSpPr>
        <p:spPr>
          <a:xfrm>
            <a:off x="8388096" y="4608576"/>
            <a:ext cx="3474720" cy="1219200"/>
          </a:xfrm>
          <a:prstGeom prst="roundRect">
            <a:avLst>
              <a:gd name="adj" fmla="val 6000"/>
            </a:avLst>
          </a:prstGeom>
          <a:solidFill>
            <a:srgbClr val="F0FDF4"/>
          </a:solidFill>
          <a:ln w="12700">
            <a:solidFill>
              <a:srgbClr val="BBF7D0"/>
            </a:solidFill>
            <a:prstDash val="solid"/>
          </a:ln>
        </p:spPr>
        <p:txBody>
          <a:bodyPr/>
          <a:lstStyle/>
          <a:p>
            <a:endParaRPr lang="en-IN" sz="2400"/>
          </a:p>
        </p:txBody>
      </p:sp>
      <p:sp>
        <p:nvSpPr>
          <p:cNvPr id="35" name="Text 33"/>
          <p:cNvSpPr/>
          <p:nvPr/>
        </p:nvSpPr>
        <p:spPr>
          <a:xfrm>
            <a:off x="8424672" y="4645152"/>
            <a:ext cx="365760" cy="268224"/>
          </a:xfrm>
          <a:prstGeom prst="rect">
            <a:avLst/>
          </a:prstGeom>
          <a:noFill/>
          <a:ln/>
        </p:spPr>
        <p:txBody>
          <a:bodyPr wrap="square" lIns="0" tIns="0" rIns="0" bIns="0" rtlCol="0" anchor="ctr"/>
          <a:lstStyle/>
          <a:p>
            <a:r>
              <a:rPr lang="en-US" sz="1200" dirty="0">
                <a:solidFill>
                  <a:srgbClr val="000000"/>
                </a:solidFill>
              </a:rPr>
              <a:t>✅</a:t>
            </a:r>
            <a:endParaRPr lang="en-US" sz="1200" dirty="0"/>
          </a:p>
        </p:txBody>
      </p:sp>
      <p:sp>
        <p:nvSpPr>
          <p:cNvPr id="36" name="Text 34"/>
          <p:cNvSpPr/>
          <p:nvPr/>
        </p:nvSpPr>
        <p:spPr>
          <a:xfrm>
            <a:off x="8424672" y="4913376"/>
            <a:ext cx="3352800" cy="853440"/>
          </a:xfrm>
          <a:prstGeom prst="rect">
            <a:avLst/>
          </a:prstGeom>
          <a:noFill/>
          <a:ln/>
        </p:spPr>
        <p:txBody>
          <a:bodyPr wrap="square" lIns="0" tIns="0" rIns="0" bIns="0" rtlCol="0" anchor="ctr"/>
          <a:lstStyle/>
          <a:p>
            <a:r>
              <a:rPr lang="en-US" sz="1600" i="1" dirty="0">
                <a:solidFill>
                  <a:srgbClr val="166534"/>
                </a:solidFill>
              </a:rPr>
              <a:t>Sales rose by 28% in Q2 2026, driven by a 40% increase in enterprise client sign-ups.</a:t>
            </a:r>
            <a:endParaRPr lang="en-US" sz="1600" dirty="0"/>
          </a:p>
        </p:txBody>
      </p:sp>
      <p:sp>
        <p:nvSpPr>
          <p:cNvPr id="37" name="Shape 35"/>
          <p:cNvSpPr/>
          <p:nvPr/>
        </p:nvSpPr>
        <p:spPr>
          <a:xfrm>
            <a:off x="365760" y="6803136"/>
            <a:ext cx="11460480" cy="548640"/>
          </a:xfrm>
          <a:prstGeom prst="roundRect">
            <a:avLst>
              <a:gd name="adj" fmla="val 15556"/>
            </a:avLst>
          </a:prstGeom>
          <a:solidFill>
            <a:srgbClr val="1A2E4A"/>
          </a:solidFill>
          <a:ln w="12700">
            <a:solidFill>
              <a:srgbClr val="1A2E4A"/>
            </a:solidFill>
            <a:prstDash val="solid"/>
          </a:ln>
        </p:spPr>
        <p:txBody>
          <a:bodyPr/>
          <a:lstStyle/>
          <a:p>
            <a:endParaRPr lang="en-IN" sz="2400"/>
          </a:p>
        </p:txBody>
      </p:sp>
      <p:sp>
        <p:nvSpPr>
          <p:cNvPr id="38" name="Text 36"/>
          <p:cNvSpPr/>
          <p:nvPr/>
        </p:nvSpPr>
        <p:spPr>
          <a:xfrm>
            <a:off x="548640" y="6864096"/>
            <a:ext cx="11094720" cy="426720"/>
          </a:xfrm>
          <a:prstGeom prst="rect">
            <a:avLst/>
          </a:prstGeom>
          <a:noFill/>
          <a:ln/>
        </p:spPr>
        <p:txBody>
          <a:bodyPr wrap="square" lIns="0" tIns="0" rIns="0" bIns="0" rtlCol="0" anchor="ctr"/>
          <a:lstStyle/>
          <a:p>
            <a:r>
              <a:rPr lang="en-US" sz="1267" dirty="0">
                <a:solidFill>
                  <a:srgbClr val="12AEAE"/>
                </a:solidFill>
              </a:rPr>
              <a:t>💡  Quick Self-Check: Before sending, ask — Is this Courteous in tone? Considerate of the reader? Concrete with evidence?</a:t>
            </a:r>
            <a:endParaRPr lang="en-US" sz="1267" dirty="0"/>
          </a:p>
        </p:txBody>
      </p:sp>
      <p:pic>
        <p:nvPicPr>
          <p:cNvPr id="40" name="Picture 2" descr="KL Deemed to be University Logo">
            <a:extLst>
              <a:ext uri="{FF2B5EF4-FFF2-40B4-BE49-F238E27FC236}">
                <a16:creationId xmlns:a16="http://schemas.microsoft.com/office/drawing/2014/main" id="{6BC0272E-A00D-E5AF-A4CD-71E45E02E1B4}"/>
              </a:ext>
            </a:extLst>
          </p:cNvPr>
          <p:cNvPicPr>
            <a:picLocks noChangeAspect="1" noChangeArrowheads="1"/>
          </p:cNvPicPr>
          <p:nvPr/>
        </p:nvPicPr>
        <p:blipFill>
          <a:blip r:embed="rId3"/>
          <a:srcRect/>
          <a:stretch>
            <a:fillRect/>
          </a:stretch>
        </p:blipFill>
        <p:spPr bwMode="auto">
          <a:xfrm>
            <a:off x="0" y="36576"/>
            <a:ext cx="1990725" cy="600076"/>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152396"/>
            <a:ext cx="12192000" cy="707139"/>
          </a:xfrm>
          <a:prstGeom prst="rect">
            <a:avLst/>
          </a:prstGeom>
          <a:solidFill>
            <a:srgbClr val="22405F"/>
          </a:solidFill>
          <a:ln w="12700">
            <a:solidFill>
              <a:srgbClr val="22405F"/>
            </a:solidFill>
            <a:prstDash val="solid"/>
          </a:ln>
        </p:spPr>
        <p:txBody>
          <a:bodyPr/>
          <a:lstStyle/>
          <a:p>
            <a:endParaRPr lang="en-IN" sz="2400"/>
          </a:p>
        </p:txBody>
      </p:sp>
      <p:sp>
        <p:nvSpPr>
          <p:cNvPr id="3" name="Text 1"/>
          <p:cNvSpPr/>
          <p:nvPr/>
        </p:nvSpPr>
        <p:spPr>
          <a:xfrm>
            <a:off x="487680" y="121920"/>
            <a:ext cx="10972800" cy="975360"/>
          </a:xfrm>
          <a:prstGeom prst="rect">
            <a:avLst/>
          </a:prstGeom>
          <a:noFill/>
          <a:ln/>
        </p:spPr>
        <p:txBody>
          <a:bodyPr wrap="square" lIns="0" tIns="0" rIns="0" bIns="0" rtlCol="0" anchor="ctr"/>
          <a:lstStyle/>
          <a:p>
            <a:r>
              <a:rPr lang="en-US" sz="3600" b="1" dirty="0">
                <a:solidFill>
                  <a:srgbClr val="FFFFFF"/>
                </a:solidFill>
              </a:rPr>
              <a:t>                 II - Audience &amp; Purpose Analysis</a:t>
            </a:r>
            <a:endParaRPr lang="en-US" sz="3600" dirty="0"/>
          </a:p>
        </p:txBody>
      </p:sp>
      <p:sp>
        <p:nvSpPr>
          <p:cNvPr id="4" name="Shape 2"/>
          <p:cNvSpPr/>
          <p:nvPr/>
        </p:nvSpPr>
        <p:spPr>
          <a:xfrm>
            <a:off x="585216" y="902208"/>
            <a:ext cx="11460480" cy="792480"/>
          </a:xfrm>
          <a:prstGeom prst="roundRect">
            <a:avLst>
              <a:gd name="adj" fmla="val 12308"/>
            </a:avLst>
          </a:prstGeom>
          <a:solidFill>
            <a:srgbClr val="0D8A8A"/>
          </a:solidFill>
          <a:ln w="12700">
            <a:solidFill>
              <a:srgbClr val="0D8A8A"/>
            </a:solidFill>
            <a:prstDash val="solid"/>
          </a:ln>
        </p:spPr>
        <p:txBody>
          <a:bodyPr/>
          <a:lstStyle/>
          <a:p>
            <a:endParaRPr lang="en-IN" sz="2400"/>
          </a:p>
        </p:txBody>
      </p:sp>
      <p:sp>
        <p:nvSpPr>
          <p:cNvPr id="5" name="Text 3"/>
          <p:cNvSpPr/>
          <p:nvPr/>
        </p:nvSpPr>
        <p:spPr>
          <a:xfrm>
            <a:off x="548640" y="990600"/>
            <a:ext cx="11094720" cy="752856"/>
          </a:xfrm>
          <a:prstGeom prst="rect">
            <a:avLst/>
          </a:prstGeom>
          <a:noFill/>
          <a:ln/>
        </p:spPr>
        <p:txBody>
          <a:bodyPr wrap="square" lIns="0" tIns="0" rIns="0" bIns="0" rtlCol="0" anchor="ctr"/>
          <a:lstStyle/>
          <a:p>
            <a:r>
              <a:rPr lang="en-US" sz="2400" b="1" dirty="0">
                <a:solidFill>
                  <a:srgbClr val="FFFFFF"/>
                </a:solidFill>
              </a:rPr>
              <a:t>🎯  The Golden Rule: Know WHO you are writing for and WHY before you write a single word.</a:t>
            </a:r>
            <a:endParaRPr lang="en-US" sz="2400" dirty="0"/>
          </a:p>
        </p:txBody>
      </p:sp>
      <p:sp>
        <p:nvSpPr>
          <p:cNvPr id="6" name="Shape 4"/>
          <p:cNvSpPr/>
          <p:nvPr/>
        </p:nvSpPr>
        <p:spPr>
          <a:xfrm>
            <a:off x="365760" y="1825752"/>
            <a:ext cx="5608320" cy="4550664"/>
          </a:xfrm>
          <a:prstGeom prst="roundRect">
            <a:avLst>
              <a:gd name="adj" fmla="val 1028"/>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dirty="0"/>
          </a:p>
        </p:txBody>
      </p:sp>
      <p:sp>
        <p:nvSpPr>
          <p:cNvPr id="7" name="Text 5"/>
          <p:cNvSpPr/>
          <p:nvPr/>
        </p:nvSpPr>
        <p:spPr>
          <a:xfrm>
            <a:off x="548640" y="1935480"/>
            <a:ext cx="5242560" cy="487680"/>
          </a:xfrm>
          <a:prstGeom prst="rect">
            <a:avLst/>
          </a:prstGeom>
          <a:noFill/>
          <a:ln/>
        </p:spPr>
        <p:txBody>
          <a:bodyPr wrap="square" lIns="0" tIns="0" rIns="0" bIns="0" rtlCol="0" anchor="ctr"/>
          <a:lstStyle/>
          <a:p>
            <a:r>
              <a:rPr lang="en-US" sz="2800" b="1" dirty="0">
                <a:solidFill>
                  <a:srgbClr val="1A2E4A"/>
                </a:solidFill>
              </a:rPr>
              <a:t>👥  Audience Analysis</a:t>
            </a:r>
            <a:endParaRPr lang="en-US" sz="2800" dirty="0"/>
          </a:p>
        </p:txBody>
      </p:sp>
      <p:sp>
        <p:nvSpPr>
          <p:cNvPr id="8" name="Text 6"/>
          <p:cNvSpPr/>
          <p:nvPr/>
        </p:nvSpPr>
        <p:spPr>
          <a:xfrm>
            <a:off x="524256" y="2351532"/>
            <a:ext cx="5181600" cy="341376"/>
          </a:xfrm>
          <a:prstGeom prst="rect">
            <a:avLst/>
          </a:prstGeom>
          <a:noFill/>
          <a:ln/>
        </p:spPr>
        <p:txBody>
          <a:bodyPr wrap="square" lIns="0" tIns="0" rIns="0" bIns="0" rtlCol="0" anchor="ctr"/>
          <a:lstStyle/>
          <a:p>
            <a:r>
              <a:rPr lang="en-US" i="1" dirty="0">
                <a:solidFill>
                  <a:srgbClr val="64748B"/>
                </a:solidFill>
              </a:rPr>
              <a:t>Ask yourself these key questions:</a:t>
            </a:r>
            <a:endParaRPr lang="en-US" dirty="0"/>
          </a:p>
        </p:txBody>
      </p:sp>
      <p:sp>
        <p:nvSpPr>
          <p:cNvPr id="9" name="Shape 7"/>
          <p:cNvSpPr/>
          <p:nvPr/>
        </p:nvSpPr>
        <p:spPr>
          <a:xfrm>
            <a:off x="524256" y="3183636"/>
            <a:ext cx="73152" cy="426720"/>
          </a:xfrm>
          <a:prstGeom prst="rect">
            <a:avLst/>
          </a:prstGeom>
          <a:solidFill>
            <a:srgbClr val="0D8A8A"/>
          </a:solidFill>
          <a:ln w="12700">
            <a:solidFill>
              <a:srgbClr val="0D8A8A"/>
            </a:solidFill>
            <a:prstDash val="solid"/>
          </a:ln>
        </p:spPr>
        <p:txBody>
          <a:bodyPr/>
          <a:lstStyle/>
          <a:p>
            <a:endParaRPr lang="en-IN" sz="2400"/>
          </a:p>
        </p:txBody>
      </p:sp>
      <p:sp>
        <p:nvSpPr>
          <p:cNvPr id="10" name="Text 8"/>
          <p:cNvSpPr/>
          <p:nvPr/>
        </p:nvSpPr>
        <p:spPr>
          <a:xfrm>
            <a:off x="707136" y="2828544"/>
            <a:ext cx="1950720" cy="323088"/>
          </a:xfrm>
          <a:prstGeom prst="rect">
            <a:avLst/>
          </a:prstGeom>
          <a:noFill/>
          <a:ln/>
        </p:spPr>
        <p:txBody>
          <a:bodyPr wrap="square" lIns="0" tIns="0" rIns="0" bIns="0" rtlCol="0" anchor="ctr"/>
          <a:lstStyle/>
          <a:p>
            <a:r>
              <a:rPr lang="en-US" sz="2000" b="1" dirty="0">
                <a:solidFill>
                  <a:srgbClr val="1A2E4A"/>
                </a:solidFill>
              </a:rPr>
              <a:t>Who are they?</a:t>
            </a:r>
            <a:endParaRPr lang="en-US" sz="2000" dirty="0"/>
          </a:p>
        </p:txBody>
      </p:sp>
      <p:sp>
        <p:nvSpPr>
          <p:cNvPr id="11" name="Text 9"/>
          <p:cNvSpPr/>
          <p:nvPr/>
        </p:nvSpPr>
        <p:spPr>
          <a:xfrm>
            <a:off x="707136" y="3169920"/>
            <a:ext cx="4998720" cy="426720"/>
          </a:xfrm>
          <a:prstGeom prst="rect">
            <a:avLst/>
          </a:prstGeom>
          <a:noFill/>
          <a:ln/>
        </p:spPr>
        <p:txBody>
          <a:bodyPr wrap="square" lIns="0" tIns="0" rIns="0" bIns="0" rtlCol="0" anchor="ctr"/>
          <a:lstStyle/>
          <a:p>
            <a:r>
              <a:rPr lang="en-US" sz="1600" dirty="0"/>
              <a:t>Expert / non-expert / decision-maker / peer / external client</a:t>
            </a:r>
          </a:p>
        </p:txBody>
      </p:sp>
      <p:sp>
        <p:nvSpPr>
          <p:cNvPr id="12" name="Shape 10"/>
          <p:cNvSpPr/>
          <p:nvPr/>
        </p:nvSpPr>
        <p:spPr>
          <a:xfrm>
            <a:off x="512064" y="3816096"/>
            <a:ext cx="73152" cy="426720"/>
          </a:xfrm>
          <a:prstGeom prst="rect">
            <a:avLst/>
          </a:prstGeom>
          <a:solidFill>
            <a:srgbClr val="0D8A8A"/>
          </a:solidFill>
          <a:ln w="12700">
            <a:solidFill>
              <a:srgbClr val="0D8A8A"/>
            </a:solidFill>
            <a:prstDash val="solid"/>
          </a:ln>
        </p:spPr>
        <p:txBody>
          <a:bodyPr/>
          <a:lstStyle/>
          <a:p>
            <a:endParaRPr lang="en-IN" sz="2400"/>
          </a:p>
        </p:txBody>
      </p:sp>
      <p:sp>
        <p:nvSpPr>
          <p:cNvPr id="13" name="Text 11"/>
          <p:cNvSpPr/>
          <p:nvPr/>
        </p:nvSpPr>
        <p:spPr>
          <a:xfrm>
            <a:off x="707136" y="3785616"/>
            <a:ext cx="2084832" cy="274320"/>
          </a:xfrm>
          <a:prstGeom prst="rect">
            <a:avLst/>
          </a:prstGeom>
          <a:noFill/>
          <a:ln/>
        </p:spPr>
        <p:txBody>
          <a:bodyPr wrap="square" lIns="0" tIns="0" rIns="0" bIns="0" rtlCol="0" anchor="ctr"/>
          <a:lstStyle/>
          <a:p>
            <a:r>
              <a:rPr lang="en-US" b="1" dirty="0">
                <a:solidFill>
                  <a:srgbClr val="1A2E4A"/>
                </a:solidFill>
              </a:rPr>
              <a:t>What do they know?</a:t>
            </a:r>
            <a:endParaRPr lang="en-US" dirty="0"/>
          </a:p>
        </p:txBody>
      </p:sp>
      <p:sp>
        <p:nvSpPr>
          <p:cNvPr id="14" name="Text 12"/>
          <p:cNvSpPr/>
          <p:nvPr/>
        </p:nvSpPr>
        <p:spPr>
          <a:xfrm>
            <a:off x="707136" y="4059936"/>
            <a:ext cx="5181600" cy="350520"/>
          </a:xfrm>
          <a:prstGeom prst="rect">
            <a:avLst/>
          </a:prstGeom>
          <a:noFill/>
          <a:ln/>
        </p:spPr>
        <p:txBody>
          <a:bodyPr wrap="square" lIns="0" tIns="0" rIns="0" bIns="0" rtlCol="0" anchor="ctr"/>
          <a:lstStyle/>
          <a:p>
            <a:r>
              <a:rPr lang="en-US" sz="1400" dirty="0">
                <a:solidFill>
                  <a:srgbClr val="64748B"/>
                </a:solidFill>
              </a:rPr>
              <a:t>Assume their background knowledge accurately — avoid over- or under-explaining</a:t>
            </a:r>
            <a:endParaRPr lang="en-US" sz="1400" dirty="0"/>
          </a:p>
        </p:txBody>
      </p:sp>
      <p:sp>
        <p:nvSpPr>
          <p:cNvPr id="15" name="Shape 13"/>
          <p:cNvSpPr/>
          <p:nvPr/>
        </p:nvSpPr>
        <p:spPr>
          <a:xfrm>
            <a:off x="512064" y="4401312"/>
            <a:ext cx="73152" cy="426720"/>
          </a:xfrm>
          <a:prstGeom prst="rect">
            <a:avLst/>
          </a:prstGeom>
          <a:solidFill>
            <a:srgbClr val="0D8A8A"/>
          </a:solidFill>
          <a:ln w="12700">
            <a:solidFill>
              <a:srgbClr val="0D8A8A"/>
            </a:solidFill>
            <a:prstDash val="solid"/>
          </a:ln>
        </p:spPr>
        <p:txBody>
          <a:bodyPr/>
          <a:lstStyle/>
          <a:p>
            <a:endParaRPr lang="en-IN" sz="2400"/>
          </a:p>
        </p:txBody>
      </p:sp>
      <p:sp>
        <p:nvSpPr>
          <p:cNvPr id="16" name="Text 14"/>
          <p:cNvSpPr/>
          <p:nvPr/>
        </p:nvSpPr>
        <p:spPr>
          <a:xfrm>
            <a:off x="707136" y="4422648"/>
            <a:ext cx="2157984" cy="222504"/>
          </a:xfrm>
          <a:prstGeom prst="rect">
            <a:avLst/>
          </a:prstGeom>
          <a:noFill/>
          <a:ln/>
        </p:spPr>
        <p:txBody>
          <a:bodyPr wrap="square" lIns="0" tIns="0" rIns="0" bIns="0" rtlCol="0" anchor="ctr"/>
          <a:lstStyle/>
          <a:p>
            <a:r>
              <a:rPr lang="en-US" sz="2000" b="1" dirty="0">
                <a:solidFill>
                  <a:srgbClr val="1A2E4A"/>
                </a:solidFill>
              </a:rPr>
              <a:t>What do they need?</a:t>
            </a:r>
            <a:endParaRPr lang="en-US" sz="2000" dirty="0"/>
          </a:p>
        </p:txBody>
      </p:sp>
      <p:sp>
        <p:nvSpPr>
          <p:cNvPr id="17" name="Text 15"/>
          <p:cNvSpPr/>
          <p:nvPr/>
        </p:nvSpPr>
        <p:spPr>
          <a:xfrm>
            <a:off x="707136" y="4645152"/>
            <a:ext cx="4998720" cy="268224"/>
          </a:xfrm>
          <a:prstGeom prst="rect">
            <a:avLst/>
          </a:prstGeom>
          <a:noFill/>
          <a:ln/>
        </p:spPr>
        <p:txBody>
          <a:bodyPr wrap="square" lIns="0" tIns="0" rIns="0" bIns="0" rtlCol="0" anchor="ctr"/>
          <a:lstStyle/>
          <a:p>
            <a:r>
              <a:rPr lang="en-US" sz="1600" dirty="0">
                <a:solidFill>
                  <a:srgbClr val="64748B"/>
                </a:solidFill>
              </a:rPr>
              <a:t>Information, a decision, an action, reassurance, or approval?</a:t>
            </a:r>
            <a:endParaRPr lang="en-US" sz="1600" dirty="0"/>
          </a:p>
        </p:txBody>
      </p:sp>
      <p:sp>
        <p:nvSpPr>
          <p:cNvPr id="18" name="Shape 16"/>
          <p:cNvSpPr/>
          <p:nvPr/>
        </p:nvSpPr>
        <p:spPr>
          <a:xfrm>
            <a:off x="512064" y="4986528"/>
            <a:ext cx="73152" cy="426720"/>
          </a:xfrm>
          <a:prstGeom prst="rect">
            <a:avLst/>
          </a:prstGeom>
          <a:solidFill>
            <a:srgbClr val="0D8A8A"/>
          </a:solidFill>
          <a:ln w="12700">
            <a:solidFill>
              <a:srgbClr val="0D8A8A"/>
            </a:solidFill>
            <a:prstDash val="solid"/>
          </a:ln>
        </p:spPr>
        <p:txBody>
          <a:bodyPr/>
          <a:lstStyle/>
          <a:p>
            <a:endParaRPr lang="en-IN" sz="2400"/>
          </a:p>
        </p:txBody>
      </p:sp>
      <p:sp>
        <p:nvSpPr>
          <p:cNvPr id="19" name="Text 17"/>
          <p:cNvSpPr/>
          <p:nvPr/>
        </p:nvSpPr>
        <p:spPr>
          <a:xfrm>
            <a:off x="707136" y="4949572"/>
            <a:ext cx="2157984" cy="280796"/>
          </a:xfrm>
          <a:prstGeom prst="rect">
            <a:avLst/>
          </a:prstGeom>
          <a:noFill/>
          <a:ln/>
        </p:spPr>
        <p:txBody>
          <a:bodyPr wrap="square" lIns="0" tIns="0" rIns="0" bIns="0" rtlCol="0" anchor="ctr"/>
          <a:lstStyle/>
          <a:p>
            <a:r>
              <a:rPr lang="en-US" b="1" dirty="0">
                <a:solidFill>
                  <a:srgbClr val="1A2E4A"/>
                </a:solidFill>
              </a:rPr>
              <a:t>What is their attitude?</a:t>
            </a:r>
            <a:endParaRPr lang="en-US" dirty="0"/>
          </a:p>
        </p:txBody>
      </p:sp>
      <p:sp>
        <p:nvSpPr>
          <p:cNvPr id="20" name="Text 18"/>
          <p:cNvSpPr/>
          <p:nvPr/>
        </p:nvSpPr>
        <p:spPr>
          <a:xfrm>
            <a:off x="707136" y="5230368"/>
            <a:ext cx="4998720" cy="268224"/>
          </a:xfrm>
          <a:prstGeom prst="rect">
            <a:avLst/>
          </a:prstGeom>
          <a:noFill/>
          <a:ln/>
        </p:spPr>
        <p:txBody>
          <a:bodyPr wrap="square" lIns="0" tIns="0" rIns="0" bIns="0" rtlCol="0" anchor="ctr"/>
          <a:lstStyle/>
          <a:p>
            <a:r>
              <a:rPr lang="en-US" sz="1600" dirty="0">
                <a:solidFill>
                  <a:srgbClr val="64748B"/>
                </a:solidFill>
              </a:rPr>
              <a:t>Receptive / sceptical / neutral / hostile — tone must match</a:t>
            </a:r>
            <a:endParaRPr lang="en-US" sz="1600" dirty="0"/>
          </a:p>
        </p:txBody>
      </p:sp>
      <p:sp>
        <p:nvSpPr>
          <p:cNvPr id="21" name="Shape 19"/>
          <p:cNvSpPr/>
          <p:nvPr/>
        </p:nvSpPr>
        <p:spPr>
          <a:xfrm>
            <a:off x="512064" y="5571744"/>
            <a:ext cx="73152" cy="426720"/>
          </a:xfrm>
          <a:prstGeom prst="rect">
            <a:avLst/>
          </a:prstGeom>
          <a:solidFill>
            <a:srgbClr val="0D8A8A"/>
          </a:solidFill>
          <a:ln w="12700">
            <a:solidFill>
              <a:srgbClr val="0D8A8A"/>
            </a:solidFill>
            <a:prstDash val="solid"/>
          </a:ln>
        </p:spPr>
        <p:txBody>
          <a:bodyPr/>
          <a:lstStyle/>
          <a:p>
            <a:endParaRPr lang="en-IN" sz="2400"/>
          </a:p>
        </p:txBody>
      </p:sp>
      <p:sp>
        <p:nvSpPr>
          <p:cNvPr id="22" name="Text 20"/>
          <p:cNvSpPr/>
          <p:nvPr/>
        </p:nvSpPr>
        <p:spPr>
          <a:xfrm>
            <a:off x="707135" y="5696712"/>
            <a:ext cx="2242893" cy="118872"/>
          </a:xfrm>
          <a:prstGeom prst="rect">
            <a:avLst/>
          </a:prstGeom>
          <a:noFill/>
          <a:ln/>
        </p:spPr>
        <p:txBody>
          <a:bodyPr wrap="square" lIns="0" tIns="0" rIns="0" bIns="0" rtlCol="0" anchor="ctr"/>
          <a:lstStyle/>
          <a:p>
            <a:r>
              <a:rPr lang="en-US" b="1" dirty="0">
                <a:solidFill>
                  <a:srgbClr val="1A2E4A"/>
                </a:solidFill>
              </a:rPr>
              <a:t>What is the context?</a:t>
            </a:r>
            <a:endParaRPr lang="en-US" dirty="0"/>
          </a:p>
        </p:txBody>
      </p:sp>
      <p:sp>
        <p:nvSpPr>
          <p:cNvPr id="23" name="Text 21"/>
          <p:cNvSpPr/>
          <p:nvPr/>
        </p:nvSpPr>
        <p:spPr>
          <a:xfrm>
            <a:off x="707136" y="5815584"/>
            <a:ext cx="4998720" cy="268224"/>
          </a:xfrm>
          <a:prstGeom prst="rect">
            <a:avLst/>
          </a:prstGeom>
          <a:noFill/>
          <a:ln/>
        </p:spPr>
        <p:txBody>
          <a:bodyPr wrap="square" lIns="0" tIns="0" rIns="0" bIns="0" rtlCol="0" anchor="ctr"/>
          <a:lstStyle/>
          <a:p>
            <a:r>
              <a:rPr lang="en-US" sz="1400" dirty="0">
                <a:solidFill>
                  <a:srgbClr val="64748B"/>
                </a:solidFill>
              </a:rPr>
              <a:t>Formal org culture, urgent situation, multicultural audience</a:t>
            </a:r>
            <a:r>
              <a:rPr lang="en-US" sz="1133" dirty="0">
                <a:solidFill>
                  <a:srgbClr val="64748B"/>
                </a:solidFill>
              </a:rPr>
              <a:t>?</a:t>
            </a:r>
            <a:endParaRPr lang="en-US" sz="1133" dirty="0"/>
          </a:p>
        </p:txBody>
      </p:sp>
      <p:sp>
        <p:nvSpPr>
          <p:cNvPr id="24" name="Shape 22"/>
          <p:cNvSpPr/>
          <p:nvPr/>
        </p:nvSpPr>
        <p:spPr>
          <a:xfrm>
            <a:off x="6217920" y="1737360"/>
            <a:ext cx="5608320" cy="4578096"/>
          </a:xfrm>
          <a:prstGeom prst="roundRect">
            <a:avLst>
              <a:gd name="adj" fmla="val 2740"/>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25" name="Text 23"/>
          <p:cNvSpPr/>
          <p:nvPr/>
        </p:nvSpPr>
        <p:spPr>
          <a:xfrm>
            <a:off x="6400800" y="1868424"/>
            <a:ext cx="5181600" cy="454152"/>
          </a:xfrm>
          <a:prstGeom prst="rect">
            <a:avLst/>
          </a:prstGeom>
          <a:noFill/>
          <a:ln/>
        </p:spPr>
        <p:txBody>
          <a:bodyPr wrap="square" lIns="0" tIns="0" rIns="0" bIns="0" rtlCol="0" anchor="ctr"/>
          <a:lstStyle/>
          <a:p>
            <a:r>
              <a:rPr lang="en-US" sz="2800" b="1" dirty="0">
                <a:solidFill>
                  <a:srgbClr val="1A2E4A"/>
                </a:solidFill>
              </a:rPr>
              <a:t>🎯  Purpose Analysis</a:t>
            </a:r>
            <a:endParaRPr lang="en-US" sz="2800" dirty="0"/>
          </a:p>
        </p:txBody>
      </p:sp>
      <p:sp>
        <p:nvSpPr>
          <p:cNvPr id="26" name="Text 24"/>
          <p:cNvSpPr/>
          <p:nvPr/>
        </p:nvSpPr>
        <p:spPr>
          <a:xfrm>
            <a:off x="6400800" y="2563368"/>
            <a:ext cx="5181600" cy="606552"/>
          </a:xfrm>
          <a:prstGeom prst="rect">
            <a:avLst/>
          </a:prstGeom>
          <a:noFill/>
          <a:ln/>
        </p:spPr>
        <p:txBody>
          <a:bodyPr wrap="square" lIns="0" tIns="0" rIns="0" bIns="0" rtlCol="0" anchor="ctr"/>
          <a:lstStyle/>
          <a:p>
            <a:r>
              <a:rPr lang="en-US" sz="2000" i="1" dirty="0"/>
              <a:t>Every professional document has a primary purpose</a:t>
            </a:r>
            <a:r>
              <a:rPr lang="en-US" sz="1333" i="1" dirty="0"/>
              <a:t>:</a:t>
            </a:r>
            <a:endParaRPr lang="en-US" sz="1333" dirty="0"/>
          </a:p>
        </p:txBody>
      </p:sp>
      <p:sp>
        <p:nvSpPr>
          <p:cNvPr id="27" name="Shape 25"/>
          <p:cNvSpPr/>
          <p:nvPr/>
        </p:nvSpPr>
        <p:spPr>
          <a:xfrm>
            <a:off x="6364224" y="3230880"/>
            <a:ext cx="5303520" cy="560832"/>
          </a:xfrm>
          <a:prstGeom prst="roundRect">
            <a:avLst>
              <a:gd name="adj" fmla="val 13043"/>
            </a:avLst>
          </a:prstGeom>
          <a:solidFill>
            <a:srgbClr val="F8FAFC"/>
          </a:solidFill>
          <a:ln w="12700">
            <a:solidFill>
              <a:srgbClr val="E8EFF7"/>
            </a:solidFill>
            <a:prstDash val="solid"/>
          </a:ln>
        </p:spPr>
        <p:txBody>
          <a:bodyPr/>
          <a:lstStyle/>
          <a:p>
            <a:endParaRPr lang="en-IN" sz="2400"/>
          </a:p>
        </p:txBody>
      </p:sp>
      <p:sp>
        <p:nvSpPr>
          <p:cNvPr id="28" name="Shape 26"/>
          <p:cNvSpPr/>
          <p:nvPr/>
        </p:nvSpPr>
        <p:spPr>
          <a:xfrm>
            <a:off x="6425184" y="3267456"/>
            <a:ext cx="463296" cy="463296"/>
          </a:xfrm>
          <a:prstGeom prst="ellipse">
            <a:avLst/>
          </a:prstGeom>
          <a:solidFill>
            <a:srgbClr val="0369A1"/>
          </a:solidFill>
          <a:ln w="12700">
            <a:solidFill>
              <a:srgbClr val="0369A1"/>
            </a:solidFill>
            <a:prstDash val="solid"/>
          </a:ln>
        </p:spPr>
        <p:txBody>
          <a:bodyPr/>
          <a:lstStyle/>
          <a:p>
            <a:endParaRPr lang="en-IN" sz="2400"/>
          </a:p>
        </p:txBody>
      </p:sp>
      <p:sp>
        <p:nvSpPr>
          <p:cNvPr id="29" name="Text 27"/>
          <p:cNvSpPr/>
          <p:nvPr/>
        </p:nvSpPr>
        <p:spPr>
          <a:xfrm>
            <a:off x="6973824" y="3255264"/>
            <a:ext cx="1341120" cy="268224"/>
          </a:xfrm>
          <a:prstGeom prst="rect">
            <a:avLst/>
          </a:prstGeom>
          <a:noFill/>
          <a:ln/>
        </p:spPr>
        <p:txBody>
          <a:bodyPr wrap="square" lIns="0" tIns="0" rIns="0" bIns="0" rtlCol="0" anchor="ctr"/>
          <a:lstStyle/>
          <a:p>
            <a:r>
              <a:rPr lang="en-US" sz="2000" b="1" dirty="0">
                <a:solidFill>
                  <a:srgbClr val="0369A1"/>
                </a:solidFill>
              </a:rPr>
              <a:t>Inform</a:t>
            </a:r>
            <a:endParaRPr lang="en-US" sz="2000" dirty="0"/>
          </a:p>
        </p:txBody>
      </p:sp>
      <p:sp>
        <p:nvSpPr>
          <p:cNvPr id="30" name="Text 28"/>
          <p:cNvSpPr/>
          <p:nvPr/>
        </p:nvSpPr>
        <p:spPr>
          <a:xfrm>
            <a:off x="6973824" y="3499104"/>
            <a:ext cx="4511040" cy="243840"/>
          </a:xfrm>
          <a:prstGeom prst="rect">
            <a:avLst/>
          </a:prstGeom>
          <a:noFill/>
          <a:ln/>
        </p:spPr>
        <p:txBody>
          <a:bodyPr wrap="square" lIns="0" tIns="0" rIns="0" bIns="0" rtlCol="0" anchor="ctr"/>
          <a:lstStyle/>
          <a:p>
            <a:r>
              <a:rPr lang="en-US" sz="1600" dirty="0">
                <a:solidFill>
                  <a:srgbClr val="64748B"/>
                </a:solidFill>
              </a:rPr>
              <a:t>Status report, meeting minutes, newsletter</a:t>
            </a:r>
            <a:endParaRPr lang="en-US" sz="1600" dirty="0"/>
          </a:p>
        </p:txBody>
      </p:sp>
      <p:sp>
        <p:nvSpPr>
          <p:cNvPr id="31" name="Shape 29"/>
          <p:cNvSpPr/>
          <p:nvPr/>
        </p:nvSpPr>
        <p:spPr>
          <a:xfrm>
            <a:off x="6364224" y="3877056"/>
            <a:ext cx="5303520" cy="560832"/>
          </a:xfrm>
          <a:prstGeom prst="roundRect">
            <a:avLst>
              <a:gd name="adj" fmla="val 13043"/>
            </a:avLst>
          </a:prstGeom>
          <a:solidFill>
            <a:srgbClr val="F8FAFC"/>
          </a:solidFill>
          <a:ln w="12700">
            <a:solidFill>
              <a:srgbClr val="E8EFF7"/>
            </a:solidFill>
            <a:prstDash val="solid"/>
          </a:ln>
        </p:spPr>
        <p:txBody>
          <a:bodyPr/>
          <a:lstStyle/>
          <a:p>
            <a:endParaRPr lang="en-IN" sz="2400"/>
          </a:p>
        </p:txBody>
      </p:sp>
      <p:sp>
        <p:nvSpPr>
          <p:cNvPr id="32" name="Shape 30"/>
          <p:cNvSpPr/>
          <p:nvPr/>
        </p:nvSpPr>
        <p:spPr>
          <a:xfrm>
            <a:off x="6425184" y="3913632"/>
            <a:ext cx="463296" cy="463296"/>
          </a:xfrm>
          <a:prstGeom prst="ellipse">
            <a:avLst/>
          </a:prstGeom>
          <a:solidFill>
            <a:srgbClr val="7C3AED"/>
          </a:solidFill>
          <a:ln w="12700">
            <a:solidFill>
              <a:srgbClr val="7C3AED"/>
            </a:solidFill>
            <a:prstDash val="solid"/>
          </a:ln>
        </p:spPr>
        <p:txBody>
          <a:bodyPr/>
          <a:lstStyle/>
          <a:p>
            <a:endParaRPr lang="en-IN" sz="2400"/>
          </a:p>
        </p:txBody>
      </p:sp>
      <p:sp>
        <p:nvSpPr>
          <p:cNvPr id="33" name="Text 31"/>
          <p:cNvSpPr/>
          <p:nvPr/>
        </p:nvSpPr>
        <p:spPr>
          <a:xfrm>
            <a:off x="6973824" y="3901440"/>
            <a:ext cx="1341120" cy="268224"/>
          </a:xfrm>
          <a:prstGeom prst="rect">
            <a:avLst/>
          </a:prstGeom>
          <a:noFill/>
          <a:ln/>
        </p:spPr>
        <p:txBody>
          <a:bodyPr wrap="square" lIns="0" tIns="0" rIns="0" bIns="0" rtlCol="0" anchor="ctr"/>
          <a:lstStyle/>
          <a:p>
            <a:r>
              <a:rPr lang="en-US" sz="2000" b="1" dirty="0">
                <a:solidFill>
                  <a:srgbClr val="7C3AED"/>
                </a:solidFill>
              </a:rPr>
              <a:t>Persuade</a:t>
            </a:r>
            <a:endParaRPr lang="en-US" sz="2000" dirty="0"/>
          </a:p>
        </p:txBody>
      </p:sp>
      <p:sp>
        <p:nvSpPr>
          <p:cNvPr id="34" name="Text 32"/>
          <p:cNvSpPr/>
          <p:nvPr/>
        </p:nvSpPr>
        <p:spPr>
          <a:xfrm>
            <a:off x="6973824" y="4145280"/>
            <a:ext cx="4511040" cy="243840"/>
          </a:xfrm>
          <a:prstGeom prst="rect">
            <a:avLst/>
          </a:prstGeom>
          <a:noFill/>
          <a:ln/>
        </p:spPr>
        <p:txBody>
          <a:bodyPr wrap="square" lIns="0" tIns="0" rIns="0" bIns="0" rtlCol="0" anchor="ctr"/>
          <a:lstStyle/>
          <a:p>
            <a:r>
              <a:rPr lang="en-US" sz="1600" dirty="0">
                <a:solidFill>
                  <a:srgbClr val="64748B"/>
                </a:solidFill>
              </a:rPr>
              <a:t>Proposal, sales pitch, recommendation letter</a:t>
            </a:r>
            <a:endParaRPr lang="en-US" sz="1600" dirty="0"/>
          </a:p>
        </p:txBody>
      </p:sp>
      <p:sp>
        <p:nvSpPr>
          <p:cNvPr id="35" name="Shape 33"/>
          <p:cNvSpPr/>
          <p:nvPr/>
        </p:nvSpPr>
        <p:spPr>
          <a:xfrm>
            <a:off x="6364224" y="4523232"/>
            <a:ext cx="5303520" cy="560832"/>
          </a:xfrm>
          <a:prstGeom prst="roundRect">
            <a:avLst>
              <a:gd name="adj" fmla="val 13043"/>
            </a:avLst>
          </a:prstGeom>
          <a:solidFill>
            <a:srgbClr val="F8FAFC"/>
          </a:solidFill>
          <a:ln w="12700">
            <a:solidFill>
              <a:srgbClr val="E8EFF7"/>
            </a:solidFill>
            <a:prstDash val="solid"/>
          </a:ln>
        </p:spPr>
        <p:txBody>
          <a:bodyPr/>
          <a:lstStyle/>
          <a:p>
            <a:endParaRPr lang="en-IN" sz="2400"/>
          </a:p>
        </p:txBody>
      </p:sp>
      <p:sp>
        <p:nvSpPr>
          <p:cNvPr id="36" name="Shape 34"/>
          <p:cNvSpPr/>
          <p:nvPr/>
        </p:nvSpPr>
        <p:spPr>
          <a:xfrm>
            <a:off x="6425184" y="4559808"/>
            <a:ext cx="463296" cy="463296"/>
          </a:xfrm>
          <a:prstGeom prst="ellipse">
            <a:avLst/>
          </a:prstGeom>
          <a:solidFill>
            <a:srgbClr val="0F766E"/>
          </a:solidFill>
          <a:ln w="12700">
            <a:solidFill>
              <a:srgbClr val="0F766E"/>
            </a:solidFill>
            <a:prstDash val="solid"/>
          </a:ln>
        </p:spPr>
        <p:txBody>
          <a:bodyPr/>
          <a:lstStyle/>
          <a:p>
            <a:endParaRPr lang="en-IN" sz="2400"/>
          </a:p>
        </p:txBody>
      </p:sp>
      <p:sp>
        <p:nvSpPr>
          <p:cNvPr id="37" name="Text 35"/>
          <p:cNvSpPr/>
          <p:nvPr/>
        </p:nvSpPr>
        <p:spPr>
          <a:xfrm>
            <a:off x="6973824" y="4547616"/>
            <a:ext cx="1341120" cy="268224"/>
          </a:xfrm>
          <a:prstGeom prst="rect">
            <a:avLst/>
          </a:prstGeom>
          <a:noFill/>
          <a:ln/>
        </p:spPr>
        <p:txBody>
          <a:bodyPr wrap="square" lIns="0" tIns="0" rIns="0" bIns="0" rtlCol="0" anchor="ctr"/>
          <a:lstStyle/>
          <a:p>
            <a:r>
              <a:rPr lang="en-US" sz="2000" b="1" dirty="0">
                <a:solidFill>
                  <a:srgbClr val="0F766E"/>
                </a:solidFill>
              </a:rPr>
              <a:t>Request</a:t>
            </a:r>
            <a:endParaRPr lang="en-US" sz="2000" dirty="0"/>
          </a:p>
        </p:txBody>
      </p:sp>
      <p:sp>
        <p:nvSpPr>
          <p:cNvPr id="38" name="Text 36"/>
          <p:cNvSpPr/>
          <p:nvPr/>
        </p:nvSpPr>
        <p:spPr>
          <a:xfrm>
            <a:off x="6973824" y="4791456"/>
            <a:ext cx="4511040" cy="243840"/>
          </a:xfrm>
          <a:prstGeom prst="rect">
            <a:avLst/>
          </a:prstGeom>
          <a:noFill/>
          <a:ln/>
        </p:spPr>
        <p:txBody>
          <a:bodyPr wrap="square" lIns="0" tIns="0" rIns="0" bIns="0" rtlCol="0" anchor="ctr"/>
          <a:lstStyle/>
          <a:p>
            <a:r>
              <a:rPr lang="en-US" dirty="0">
                <a:solidFill>
                  <a:srgbClr val="64748B"/>
                </a:solidFill>
              </a:rPr>
              <a:t>Email asking for data, approval, or a meeting</a:t>
            </a:r>
            <a:endParaRPr lang="en-US" dirty="0"/>
          </a:p>
        </p:txBody>
      </p:sp>
      <p:sp>
        <p:nvSpPr>
          <p:cNvPr id="39" name="Shape 37"/>
          <p:cNvSpPr/>
          <p:nvPr/>
        </p:nvSpPr>
        <p:spPr>
          <a:xfrm>
            <a:off x="6364224" y="5169408"/>
            <a:ext cx="5303520" cy="560832"/>
          </a:xfrm>
          <a:prstGeom prst="roundRect">
            <a:avLst>
              <a:gd name="adj" fmla="val 13043"/>
            </a:avLst>
          </a:prstGeom>
          <a:solidFill>
            <a:srgbClr val="F8FAFC"/>
          </a:solidFill>
          <a:ln w="12700">
            <a:solidFill>
              <a:srgbClr val="E8EFF7"/>
            </a:solidFill>
            <a:prstDash val="solid"/>
          </a:ln>
        </p:spPr>
        <p:txBody>
          <a:bodyPr/>
          <a:lstStyle/>
          <a:p>
            <a:endParaRPr lang="en-IN" sz="2400"/>
          </a:p>
        </p:txBody>
      </p:sp>
      <p:sp>
        <p:nvSpPr>
          <p:cNvPr id="40" name="Shape 38"/>
          <p:cNvSpPr/>
          <p:nvPr/>
        </p:nvSpPr>
        <p:spPr>
          <a:xfrm>
            <a:off x="6425184" y="5205984"/>
            <a:ext cx="463296" cy="463296"/>
          </a:xfrm>
          <a:prstGeom prst="ellipse">
            <a:avLst/>
          </a:prstGeom>
          <a:solidFill>
            <a:srgbClr val="B45309"/>
          </a:solidFill>
          <a:ln w="12700">
            <a:solidFill>
              <a:srgbClr val="B45309"/>
            </a:solidFill>
            <a:prstDash val="solid"/>
          </a:ln>
        </p:spPr>
        <p:txBody>
          <a:bodyPr/>
          <a:lstStyle/>
          <a:p>
            <a:endParaRPr lang="en-IN" sz="2400"/>
          </a:p>
        </p:txBody>
      </p:sp>
      <p:sp>
        <p:nvSpPr>
          <p:cNvPr id="41" name="Text 39"/>
          <p:cNvSpPr/>
          <p:nvPr/>
        </p:nvSpPr>
        <p:spPr>
          <a:xfrm>
            <a:off x="6973824" y="5193792"/>
            <a:ext cx="1341120" cy="268224"/>
          </a:xfrm>
          <a:prstGeom prst="rect">
            <a:avLst/>
          </a:prstGeom>
          <a:noFill/>
          <a:ln/>
        </p:spPr>
        <p:txBody>
          <a:bodyPr wrap="square" lIns="0" tIns="0" rIns="0" bIns="0" rtlCol="0" anchor="ctr"/>
          <a:lstStyle/>
          <a:p>
            <a:r>
              <a:rPr lang="en-US" b="1" dirty="0">
                <a:solidFill>
                  <a:srgbClr val="B45309"/>
                </a:solidFill>
              </a:rPr>
              <a:t>Instruct</a:t>
            </a:r>
            <a:endParaRPr lang="en-US" dirty="0"/>
          </a:p>
        </p:txBody>
      </p:sp>
      <p:sp>
        <p:nvSpPr>
          <p:cNvPr id="42" name="Text 40"/>
          <p:cNvSpPr/>
          <p:nvPr/>
        </p:nvSpPr>
        <p:spPr>
          <a:xfrm>
            <a:off x="6973824" y="5437632"/>
            <a:ext cx="4511040" cy="243840"/>
          </a:xfrm>
          <a:prstGeom prst="rect">
            <a:avLst/>
          </a:prstGeom>
          <a:noFill/>
          <a:ln/>
        </p:spPr>
        <p:txBody>
          <a:bodyPr wrap="square" lIns="0" tIns="0" rIns="0" bIns="0" rtlCol="0" anchor="ctr"/>
          <a:lstStyle/>
          <a:p>
            <a:r>
              <a:rPr lang="en-US" sz="1600" dirty="0">
                <a:solidFill>
                  <a:srgbClr val="64748B"/>
                </a:solidFill>
              </a:rPr>
              <a:t>SOPs, training manuals, how-to guides</a:t>
            </a:r>
            <a:endParaRPr lang="en-US" sz="1600" dirty="0"/>
          </a:p>
        </p:txBody>
      </p:sp>
      <p:sp>
        <p:nvSpPr>
          <p:cNvPr id="43" name="Shape 41"/>
          <p:cNvSpPr/>
          <p:nvPr/>
        </p:nvSpPr>
        <p:spPr>
          <a:xfrm>
            <a:off x="6364224" y="5815584"/>
            <a:ext cx="5303520" cy="560832"/>
          </a:xfrm>
          <a:prstGeom prst="roundRect">
            <a:avLst>
              <a:gd name="adj" fmla="val 13043"/>
            </a:avLst>
          </a:prstGeom>
          <a:solidFill>
            <a:srgbClr val="F8FAFC"/>
          </a:solidFill>
          <a:ln w="12700">
            <a:solidFill>
              <a:srgbClr val="E8EFF7"/>
            </a:solidFill>
            <a:prstDash val="solid"/>
          </a:ln>
        </p:spPr>
        <p:txBody>
          <a:bodyPr/>
          <a:lstStyle/>
          <a:p>
            <a:endParaRPr lang="en-IN" sz="2400"/>
          </a:p>
        </p:txBody>
      </p:sp>
      <p:sp>
        <p:nvSpPr>
          <p:cNvPr id="44" name="Shape 42"/>
          <p:cNvSpPr/>
          <p:nvPr/>
        </p:nvSpPr>
        <p:spPr>
          <a:xfrm>
            <a:off x="6425184" y="5852160"/>
            <a:ext cx="463296" cy="463296"/>
          </a:xfrm>
          <a:prstGeom prst="ellipse">
            <a:avLst/>
          </a:prstGeom>
          <a:solidFill>
            <a:srgbClr val="6D28D9"/>
          </a:solidFill>
          <a:ln w="12700">
            <a:solidFill>
              <a:srgbClr val="6D28D9"/>
            </a:solidFill>
            <a:prstDash val="solid"/>
          </a:ln>
        </p:spPr>
        <p:txBody>
          <a:bodyPr/>
          <a:lstStyle/>
          <a:p>
            <a:endParaRPr lang="en-IN" sz="2400"/>
          </a:p>
        </p:txBody>
      </p:sp>
      <p:sp>
        <p:nvSpPr>
          <p:cNvPr id="45" name="Text 43"/>
          <p:cNvSpPr/>
          <p:nvPr/>
        </p:nvSpPr>
        <p:spPr>
          <a:xfrm>
            <a:off x="6973824" y="5839968"/>
            <a:ext cx="1341120" cy="268224"/>
          </a:xfrm>
          <a:prstGeom prst="rect">
            <a:avLst/>
          </a:prstGeom>
          <a:noFill/>
          <a:ln/>
        </p:spPr>
        <p:txBody>
          <a:bodyPr wrap="square" lIns="0" tIns="0" rIns="0" bIns="0" rtlCol="0" anchor="ctr"/>
          <a:lstStyle/>
          <a:p>
            <a:r>
              <a:rPr lang="en-US" sz="2000" b="1" dirty="0">
                <a:solidFill>
                  <a:srgbClr val="6D28D9"/>
                </a:solidFill>
              </a:rPr>
              <a:t>Record</a:t>
            </a:r>
            <a:endParaRPr lang="en-US" sz="2000" dirty="0"/>
          </a:p>
        </p:txBody>
      </p:sp>
      <p:sp>
        <p:nvSpPr>
          <p:cNvPr id="46" name="Text 44"/>
          <p:cNvSpPr/>
          <p:nvPr/>
        </p:nvSpPr>
        <p:spPr>
          <a:xfrm>
            <a:off x="6973824" y="6083808"/>
            <a:ext cx="4511040" cy="243840"/>
          </a:xfrm>
          <a:prstGeom prst="rect">
            <a:avLst/>
          </a:prstGeom>
          <a:noFill/>
          <a:ln/>
        </p:spPr>
        <p:txBody>
          <a:bodyPr wrap="square" lIns="0" tIns="0" rIns="0" bIns="0" rtlCol="0" anchor="ctr"/>
          <a:lstStyle/>
          <a:p>
            <a:r>
              <a:rPr lang="en-US" sz="1600" dirty="0">
                <a:solidFill>
                  <a:srgbClr val="64748B"/>
                </a:solidFill>
              </a:rPr>
              <a:t>MoM, incident reports, audit logs</a:t>
            </a:r>
            <a:endParaRPr lang="en-US" sz="1600" dirty="0"/>
          </a:p>
        </p:txBody>
      </p:sp>
      <p:sp>
        <p:nvSpPr>
          <p:cNvPr id="47" name="Shape 45"/>
          <p:cNvSpPr/>
          <p:nvPr/>
        </p:nvSpPr>
        <p:spPr>
          <a:xfrm>
            <a:off x="365760" y="6726936"/>
            <a:ext cx="11460480" cy="45719"/>
          </a:xfrm>
          <a:prstGeom prst="roundRect">
            <a:avLst>
              <a:gd name="adj" fmla="val 14000"/>
            </a:avLst>
          </a:prstGeom>
          <a:solidFill>
            <a:srgbClr val="E8EFF7"/>
          </a:solidFill>
          <a:ln w="12700">
            <a:solidFill>
              <a:srgbClr val="E8EFF7"/>
            </a:solidFill>
            <a:prstDash val="solid"/>
          </a:ln>
        </p:spPr>
        <p:txBody>
          <a:bodyPr/>
          <a:lstStyle/>
          <a:p>
            <a:endParaRPr lang="en-IN" sz="2400"/>
          </a:p>
        </p:txBody>
      </p:sp>
      <p:sp>
        <p:nvSpPr>
          <p:cNvPr id="48" name="Text 46"/>
          <p:cNvSpPr/>
          <p:nvPr/>
        </p:nvSpPr>
        <p:spPr>
          <a:xfrm>
            <a:off x="707136" y="6092952"/>
            <a:ext cx="10936224" cy="1185672"/>
          </a:xfrm>
          <a:prstGeom prst="rect">
            <a:avLst/>
          </a:prstGeom>
          <a:noFill/>
          <a:ln/>
        </p:spPr>
        <p:txBody>
          <a:bodyPr wrap="square" lIns="0" tIns="0" rIns="0" bIns="0" rtlCol="0" anchor="ctr"/>
          <a:lstStyle/>
          <a:p>
            <a:endParaRPr lang="en-US" sz="1333" dirty="0"/>
          </a:p>
        </p:txBody>
      </p:sp>
      <p:pic>
        <p:nvPicPr>
          <p:cNvPr id="50" name="Picture 2" descr="KL Deemed to be University Logo">
            <a:extLst>
              <a:ext uri="{FF2B5EF4-FFF2-40B4-BE49-F238E27FC236}">
                <a16:creationId xmlns:a16="http://schemas.microsoft.com/office/drawing/2014/main" id="{9B7081A7-28EF-D965-A076-1DCDCAC16A77}"/>
              </a:ext>
            </a:extLst>
          </p:cNvPr>
          <p:cNvPicPr>
            <a:picLocks noChangeAspect="1" noChangeArrowheads="1"/>
          </p:cNvPicPr>
          <p:nvPr/>
        </p:nvPicPr>
        <p:blipFill>
          <a:blip r:embed="rId3"/>
          <a:srcRect/>
          <a:stretch>
            <a:fillRect/>
          </a:stretch>
        </p:blipFill>
        <p:spPr bwMode="auto">
          <a:xfrm>
            <a:off x="0" y="0"/>
            <a:ext cx="1480457" cy="600076"/>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EE05E-482B-977A-51CE-B90FFB79D203}"/>
            </a:ext>
          </a:extLst>
        </p:cNvPr>
        <p:cNvGrpSpPr/>
        <p:nvPr/>
      </p:nvGrpSpPr>
      <p:grpSpPr>
        <a:xfrm>
          <a:off x="0" y="0"/>
          <a:ext cx="0" cy="0"/>
          <a:chOff x="0" y="0"/>
          <a:chExt cx="0" cy="0"/>
        </a:xfrm>
      </p:grpSpPr>
      <p:sp>
        <p:nvSpPr>
          <p:cNvPr id="6" name="Rounded Rectangle 17">
            <a:extLst>
              <a:ext uri="{FF2B5EF4-FFF2-40B4-BE49-F238E27FC236}">
                <a16:creationId xmlns:a16="http://schemas.microsoft.com/office/drawing/2014/main" id="{D47DA732-160A-86DA-535B-59412F8A8057}"/>
              </a:ext>
            </a:extLst>
          </p:cNvPr>
          <p:cNvSpPr/>
          <p:nvPr/>
        </p:nvSpPr>
        <p:spPr>
          <a:xfrm>
            <a:off x="2291508" y="198304"/>
            <a:ext cx="8185534" cy="705079"/>
          </a:xfrm>
          <a:prstGeom prst="roundRect">
            <a:avLst>
              <a:gd name="adj" fmla="val 5000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Video: </a:t>
            </a:r>
            <a:r>
              <a:rPr lang="en-US" sz="3600" b="1" dirty="0">
                <a:solidFill>
                  <a:srgbClr val="FFFFFF"/>
                </a:solidFill>
              </a:rPr>
              <a:t>Audience &amp; Purpose Analysis</a:t>
            </a:r>
            <a:endParaRPr lang="en-US" sz="36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12" name="Picture 2" descr="KL Deemed to be University Logo">
            <a:extLst>
              <a:ext uri="{FF2B5EF4-FFF2-40B4-BE49-F238E27FC236}">
                <a16:creationId xmlns:a16="http://schemas.microsoft.com/office/drawing/2014/main" id="{378C5B8D-3A61-9359-2C6B-D641A1D0DA37}"/>
              </a:ext>
            </a:extLst>
          </p:cNvPr>
          <p:cNvPicPr>
            <a:picLocks noChangeAspect="1" noChangeArrowheads="1"/>
          </p:cNvPicPr>
          <p:nvPr/>
        </p:nvPicPr>
        <p:blipFill>
          <a:blip r:embed="rId4"/>
          <a:srcRect/>
          <a:stretch>
            <a:fillRect/>
          </a:stretch>
        </p:blipFill>
        <p:spPr bwMode="auto">
          <a:xfrm>
            <a:off x="0" y="0"/>
            <a:ext cx="1990725" cy="600076"/>
          </a:xfrm>
          <a:prstGeom prst="rect">
            <a:avLst/>
          </a:prstGeom>
          <a:noFill/>
        </p:spPr>
      </p:pic>
      <p:sp>
        <p:nvSpPr>
          <p:cNvPr id="3" name="TextBox 2">
            <a:extLst>
              <a:ext uri="{FF2B5EF4-FFF2-40B4-BE49-F238E27FC236}">
                <a16:creationId xmlns:a16="http://schemas.microsoft.com/office/drawing/2014/main" id="{F93C4DDB-2128-AE36-712A-27A5105F6720}"/>
              </a:ext>
            </a:extLst>
          </p:cNvPr>
          <p:cNvSpPr txBox="1"/>
          <p:nvPr/>
        </p:nvSpPr>
        <p:spPr>
          <a:xfrm>
            <a:off x="1203592" y="1229562"/>
            <a:ext cx="6770914" cy="523220"/>
          </a:xfrm>
          <a:prstGeom prst="rect">
            <a:avLst/>
          </a:prstGeom>
          <a:noFill/>
        </p:spPr>
        <p:txBody>
          <a:bodyPr wrap="square">
            <a:spAutoFit/>
          </a:bodyPr>
          <a:lstStyle/>
          <a:p>
            <a:pPr algn="l" fontAlgn="ctr">
              <a:spcAft>
                <a:spcPts val="750"/>
              </a:spcAft>
            </a:pPr>
            <a:endParaRPr lang="en-US" sz="2800" b="0" i="0" dirty="0">
              <a:solidFill>
                <a:srgbClr val="001D35"/>
              </a:solidFill>
              <a:effectLst/>
              <a:latin typeface="Gill Sans Nova" panose="020B0602020104020203" pitchFamily="34" charset="0"/>
            </a:endParaRPr>
          </a:p>
        </p:txBody>
      </p:sp>
      <p:sp>
        <p:nvSpPr>
          <p:cNvPr id="4" name="TextBox 3">
            <a:extLst>
              <a:ext uri="{FF2B5EF4-FFF2-40B4-BE49-F238E27FC236}">
                <a16:creationId xmlns:a16="http://schemas.microsoft.com/office/drawing/2014/main" id="{72688EC0-F3B9-65EC-4DE1-118290FCE99C}"/>
              </a:ext>
            </a:extLst>
          </p:cNvPr>
          <p:cNvSpPr txBox="1"/>
          <p:nvPr/>
        </p:nvSpPr>
        <p:spPr>
          <a:xfrm>
            <a:off x="649995" y="1229562"/>
            <a:ext cx="10653311" cy="1359346"/>
          </a:xfrm>
          <a:prstGeom prst="rect">
            <a:avLst/>
          </a:prstGeom>
          <a:noFill/>
        </p:spPr>
        <p:txBody>
          <a:bodyPr wrap="square">
            <a:spAutoFit/>
          </a:bodyPr>
          <a:lstStyle/>
          <a:p>
            <a:pPr algn="l">
              <a:spcBef>
                <a:spcPts val="450"/>
              </a:spcBef>
              <a:spcAft>
                <a:spcPts val="1200"/>
              </a:spcAft>
              <a:buFont typeface="Arial" panose="020B0604020202020204" pitchFamily="34" charset="0"/>
              <a:buChar char="•"/>
            </a:pPr>
            <a:endParaRPr lang="en-US" b="0" i="0" dirty="0">
              <a:solidFill>
                <a:srgbClr val="0F1115"/>
              </a:solidFill>
              <a:effectLst/>
              <a:latin typeface="quote-cjk-patch"/>
            </a:endParaRPr>
          </a:p>
          <a:p>
            <a:pPr algn="l">
              <a:spcBef>
                <a:spcPts val="450"/>
              </a:spcBef>
              <a:spcAft>
                <a:spcPts val="1200"/>
              </a:spcAft>
              <a:buFont typeface="Arial" panose="020B0604020202020204" pitchFamily="34" charset="0"/>
              <a:buChar char="•"/>
            </a:pPr>
            <a:endParaRPr lang="en-US" dirty="0">
              <a:solidFill>
                <a:srgbClr val="0F1115"/>
              </a:solidFill>
              <a:latin typeface="quote-cjk-patch"/>
            </a:endParaRPr>
          </a:p>
          <a:p>
            <a:pPr algn="l">
              <a:spcBef>
                <a:spcPts val="450"/>
              </a:spcBef>
              <a:spcAft>
                <a:spcPts val="1200"/>
              </a:spcAft>
              <a:buFont typeface="Arial" panose="020B0604020202020204" pitchFamily="34" charset="0"/>
              <a:buChar char="•"/>
            </a:pPr>
            <a:endParaRPr lang="en-US" b="0" i="0" dirty="0">
              <a:solidFill>
                <a:srgbClr val="0F1115"/>
              </a:solidFill>
              <a:effectLst/>
              <a:latin typeface="quote-cjk-patch"/>
            </a:endParaRPr>
          </a:p>
        </p:txBody>
      </p:sp>
      <p:pic>
        <p:nvPicPr>
          <p:cNvPr id="2" name="Purpose, Audience and Tone">
            <a:hlinkClick r:id="" action="ppaction://media"/>
            <a:extLst>
              <a:ext uri="{FF2B5EF4-FFF2-40B4-BE49-F238E27FC236}">
                <a16:creationId xmlns:a16="http://schemas.microsoft.com/office/drawing/2014/main" id="{8BAA354B-52CF-DF6C-BC2E-F9D8A0E90DF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08857" y="1229562"/>
            <a:ext cx="11669486" cy="5095037"/>
          </a:xfrm>
          <a:prstGeom prst="rect">
            <a:avLst/>
          </a:prstGeom>
        </p:spPr>
      </p:pic>
    </p:spTree>
    <p:extLst>
      <p:ext uri="{BB962C8B-B14F-4D97-AF65-F5344CB8AC3E}">
        <p14:creationId xmlns:p14="http://schemas.microsoft.com/office/powerpoint/2010/main" val="7778239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7644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2"/>
                </p:tgtEl>
              </p:cMediaNode>
            </p:video>
            <p:seq concurrent="1" nextAc="seek">
              <p:cTn id="13" restart="whenNotActive" fill="hold" evtFilter="cancelBubble" nodeType="interactiveSeq">
                <p:stCondLst>
                  <p:cond evt="onClick" delay="0">
                    <p:tgtEl>
                      <p:spTgt spid="2"/>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2"/>
                                        </p:tgtEl>
                                      </p:cBhvr>
                                    </p:cmd>
                                  </p:childTnLst>
                                </p:cTn>
                              </p:par>
                            </p:childTnLst>
                          </p:cTn>
                        </p:par>
                      </p:childTnLst>
                    </p:cTn>
                  </p:par>
                </p:childTnLst>
              </p:cTn>
              <p:nextCondLst>
                <p:cond evt="onClick" delay="0">
                  <p:tgtEl>
                    <p:spTgt spid="2"/>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1A2E4A"/>
          </a:solidFill>
          <a:ln w="12700">
            <a:solidFill>
              <a:srgbClr val="1A2E4A"/>
            </a:solidFill>
            <a:prstDash val="solid"/>
          </a:ln>
        </p:spPr>
        <p:txBody>
          <a:bodyPr/>
          <a:lstStyle/>
          <a:p>
            <a:endParaRPr lang="en-IN" sz="2400" dirty="0">
              <a:solidFill>
                <a:schemeClr val="accent2"/>
              </a:solidFill>
            </a:endParaRPr>
          </a:p>
        </p:txBody>
      </p:sp>
      <p:sp>
        <p:nvSpPr>
          <p:cNvPr id="3" name="Text 1"/>
          <p:cNvSpPr/>
          <p:nvPr/>
        </p:nvSpPr>
        <p:spPr>
          <a:xfrm>
            <a:off x="487680" y="121920"/>
            <a:ext cx="10972800" cy="975360"/>
          </a:xfrm>
          <a:prstGeom prst="rect">
            <a:avLst/>
          </a:prstGeom>
          <a:noFill/>
          <a:ln/>
        </p:spPr>
        <p:txBody>
          <a:bodyPr wrap="square" lIns="0" tIns="0" rIns="0" bIns="0" rtlCol="0" anchor="ctr"/>
          <a:lstStyle/>
          <a:p>
            <a:r>
              <a:rPr lang="en-US" sz="3600" b="1" dirty="0">
                <a:solidFill>
                  <a:srgbClr val="FFFFFF"/>
                </a:solidFill>
              </a:rPr>
              <a:t>                III. Coherence &amp; Cohesion in Professional Writing</a:t>
            </a:r>
            <a:endParaRPr lang="en-US" sz="3600" dirty="0"/>
          </a:p>
        </p:txBody>
      </p:sp>
      <p:sp>
        <p:nvSpPr>
          <p:cNvPr id="4" name="Shape 2"/>
          <p:cNvSpPr/>
          <p:nvPr/>
        </p:nvSpPr>
        <p:spPr>
          <a:xfrm>
            <a:off x="365760" y="1316736"/>
            <a:ext cx="5608320" cy="1463040"/>
          </a:xfrm>
          <a:prstGeom prst="roundRect">
            <a:avLst>
              <a:gd name="adj" fmla="val 8333"/>
            </a:avLst>
          </a:prstGeom>
          <a:solidFill>
            <a:srgbClr val="EFF6FF"/>
          </a:solidFill>
          <a:ln w="12700">
            <a:solidFill>
              <a:srgbClr val="BFDBFE"/>
            </a:solidFill>
            <a:prstDash val="solid"/>
          </a:ln>
          <a:effectLst>
            <a:outerShdw blurRad="101600" dist="38100" dir="2700000" algn="bl" rotWithShape="0">
              <a:srgbClr val="000000">
                <a:alpha val="12000"/>
              </a:srgbClr>
            </a:outerShdw>
          </a:effectLst>
        </p:spPr>
        <p:txBody>
          <a:bodyPr/>
          <a:lstStyle/>
          <a:p>
            <a:endParaRPr lang="en-IN" sz="2400"/>
          </a:p>
        </p:txBody>
      </p:sp>
      <p:sp>
        <p:nvSpPr>
          <p:cNvPr id="5" name="Text 3"/>
          <p:cNvSpPr/>
          <p:nvPr/>
        </p:nvSpPr>
        <p:spPr>
          <a:xfrm>
            <a:off x="548640" y="1389888"/>
            <a:ext cx="5242560" cy="463296"/>
          </a:xfrm>
          <a:prstGeom prst="rect">
            <a:avLst/>
          </a:prstGeom>
          <a:noFill/>
          <a:ln/>
        </p:spPr>
        <p:txBody>
          <a:bodyPr wrap="square" lIns="0" tIns="0" rIns="0" bIns="0" rtlCol="0" anchor="ctr"/>
          <a:lstStyle/>
          <a:p>
            <a:r>
              <a:rPr lang="en-US" sz="3200" b="1" dirty="0">
                <a:solidFill>
                  <a:srgbClr val="0369A1"/>
                </a:solidFill>
              </a:rPr>
              <a:t>🔗  Cohesion</a:t>
            </a:r>
            <a:endParaRPr lang="en-US" sz="3200" dirty="0"/>
          </a:p>
        </p:txBody>
      </p:sp>
      <p:sp>
        <p:nvSpPr>
          <p:cNvPr id="6" name="Text 4"/>
          <p:cNvSpPr/>
          <p:nvPr/>
        </p:nvSpPr>
        <p:spPr>
          <a:xfrm>
            <a:off x="548640" y="1853184"/>
            <a:ext cx="5242560" cy="829056"/>
          </a:xfrm>
          <a:prstGeom prst="rect">
            <a:avLst/>
          </a:prstGeom>
          <a:noFill/>
          <a:ln/>
        </p:spPr>
        <p:txBody>
          <a:bodyPr wrap="square" lIns="0" tIns="0" rIns="0" bIns="0" rtlCol="0" anchor="ctr"/>
          <a:lstStyle/>
          <a:p>
            <a:r>
              <a:rPr lang="en-US" dirty="0">
                <a:solidFill>
                  <a:srgbClr val="1E293B"/>
                </a:solidFill>
              </a:rPr>
              <a:t>The surface-level linguistic links that connect sentences and paragraphs — pronouns, conjunctions, transition words, and repetition of key terms.</a:t>
            </a:r>
            <a:endParaRPr lang="en-US" dirty="0"/>
          </a:p>
        </p:txBody>
      </p:sp>
      <p:sp>
        <p:nvSpPr>
          <p:cNvPr id="7" name="Shape 5"/>
          <p:cNvSpPr/>
          <p:nvPr/>
        </p:nvSpPr>
        <p:spPr>
          <a:xfrm>
            <a:off x="6217920" y="1316736"/>
            <a:ext cx="5608320" cy="1463040"/>
          </a:xfrm>
          <a:prstGeom prst="roundRect">
            <a:avLst>
              <a:gd name="adj" fmla="val 8333"/>
            </a:avLst>
          </a:prstGeom>
          <a:solidFill>
            <a:srgbClr val="F5F3FF"/>
          </a:solidFill>
          <a:ln w="12700">
            <a:solidFill>
              <a:srgbClr val="DDD6FE"/>
            </a:solidFill>
            <a:prstDash val="solid"/>
          </a:ln>
          <a:effectLst>
            <a:outerShdw blurRad="101600" dist="38100" dir="2700000" algn="bl" rotWithShape="0">
              <a:srgbClr val="000000">
                <a:alpha val="12000"/>
              </a:srgbClr>
            </a:outerShdw>
          </a:effectLst>
        </p:spPr>
        <p:txBody>
          <a:bodyPr/>
          <a:lstStyle/>
          <a:p>
            <a:endParaRPr lang="en-IN" sz="2400"/>
          </a:p>
        </p:txBody>
      </p:sp>
      <p:sp>
        <p:nvSpPr>
          <p:cNvPr id="8" name="Text 6"/>
          <p:cNvSpPr/>
          <p:nvPr/>
        </p:nvSpPr>
        <p:spPr>
          <a:xfrm>
            <a:off x="6400800" y="1389888"/>
            <a:ext cx="5242560" cy="463296"/>
          </a:xfrm>
          <a:prstGeom prst="rect">
            <a:avLst/>
          </a:prstGeom>
          <a:noFill/>
          <a:ln/>
        </p:spPr>
        <p:txBody>
          <a:bodyPr wrap="square" lIns="0" tIns="0" rIns="0" bIns="0" rtlCol="0" anchor="ctr"/>
          <a:lstStyle/>
          <a:p>
            <a:r>
              <a:rPr lang="en-US" sz="2800" b="1" dirty="0">
                <a:solidFill>
                  <a:srgbClr val="6D28D9"/>
                </a:solidFill>
              </a:rPr>
              <a:t>🧩  Coherence</a:t>
            </a:r>
            <a:endParaRPr lang="en-US" sz="2800" dirty="0"/>
          </a:p>
        </p:txBody>
      </p:sp>
      <p:sp>
        <p:nvSpPr>
          <p:cNvPr id="9" name="Text 7"/>
          <p:cNvSpPr/>
          <p:nvPr/>
        </p:nvSpPr>
        <p:spPr>
          <a:xfrm>
            <a:off x="6400800" y="1853184"/>
            <a:ext cx="5242560" cy="829056"/>
          </a:xfrm>
          <a:prstGeom prst="rect">
            <a:avLst/>
          </a:prstGeom>
          <a:noFill/>
          <a:ln/>
        </p:spPr>
        <p:txBody>
          <a:bodyPr wrap="square" lIns="0" tIns="0" rIns="0" bIns="0" rtlCol="0" anchor="ctr"/>
          <a:lstStyle/>
          <a:p>
            <a:r>
              <a:rPr lang="en-US" dirty="0">
                <a:solidFill>
                  <a:srgbClr val="1E293B"/>
                </a:solidFill>
              </a:rPr>
              <a:t>The deeper logical organisation of ideas — each paragraph has a clear purpose, ideas flow in a logical order, and the whole document makes unified sense</a:t>
            </a:r>
            <a:r>
              <a:rPr lang="en-US" sz="1267" dirty="0">
                <a:solidFill>
                  <a:srgbClr val="1E293B"/>
                </a:solidFill>
              </a:rPr>
              <a:t>.</a:t>
            </a:r>
            <a:endParaRPr lang="en-US" sz="1267" dirty="0"/>
          </a:p>
        </p:txBody>
      </p:sp>
      <p:sp>
        <p:nvSpPr>
          <p:cNvPr id="10" name="Shape 8"/>
          <p:cNvSpPr/>
          <p:nvPr/>
        </p:nvSpPr>
        <p:spPr>
          <a:xfrm>
            <a:off x="365760" y="2901696"/>
            <a:ext cx="5608320" cy="3840480"/>
          </a:xfrm>
          <a:prstGeom prst="roundRect">
            <a:avLst>
              <a:gd name="adj" fmla="val 3175"/>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11" name="Text 9"/>
          <p:cNvSpPr/>
          <p:nvPr/>
        </p:nvSpPr>
        <p:spPr>
          <a:xfrm>
            <a:off x="548640" y="2999232"/>
            <a:ext cx="5242560" cy="426720"/>
          </a:xfrm>
          <a:prstGeom prst="rect">
            <a:avLst/>
          </a:prstGeom>
          <a:noFill/>
          <a:ln/>
        </p:spPr>
        <p:txBody>
          <a:bodyPr wrap="square" lIns="0" tIns="0" rIns="0" bIns="0" rtlCol="0" anchor="ctr"/>
          <a:lstStyle/>
          <a:p>
            <a:r>
              <a:rPr lang="en-US" sz="2400" b="1" dirty="0">
                <a:solidFill>
                  <a:srgbClr val="0369A1"/>
                </a:solidFill>
              </a:rPr>
              <a:t>Cohesion Devices</a:t>
            </a:r>
            <a:endParaRPr lang="en-US" sz="2400" dirty="0"/>
          </a:p>
        </p:txBody>
      </p:sp>
      <p:sp>
        <p:nvSpPr>
          <p:cNvPr id="12" name="Shape 10"/>
          <p:cNvSpPr/>
          <p:nvPr/>
        </p:nvSpPr>
        <p:spPr>
          <a:xfrm>
            <a:off x="487680" y="3499104"/>
            <a:ext cx="5340096" cy="560832"/>
          </a:xfrm>
          <a:prstGeom prst="roundRect">
            <a:avLst>
              <a:gd name="adj" fmla="val 10870"/>
            </a:avLst>
          </a:prstGeom>
          <a:solidFill>
            <a:srgbClr val="EFF6FF"/>
          </a:solidFill>
          <a:ln w="12700">
            <a:solidFill>
              <a:srgbClr val="BFDBFE"/>
            </a:solidFill>
            <a:prstDash val="solid"/>
          </a:ln>
        </p:spPr>
        <p:txBody>
          <a:bodyPr/>
          <a:lstStyle/>
          <a:p>
            <a:endParaRPr lang="en-IN" sz="2400"/>
          </a:p>
        </p:txBody>
      </p:sp>
      <p:sp>
        <p:nvSpPr>
          <p:cNvPr id="13" name="Text 11"/>
          <p:cNvSpPr/>
          <p:nvPr/>
        </p:nvSpPr>
        <p:spPr>
          <a:xfrm>
            <a:off x="585216" y="3462528"/>
            <a:ext cx="1463040" cy="243840"/>
          </a:xfrm>
          <a:prstGeom prst="rect">
            <a:avLst/>
          </a:prstGeom>
          <a:noFill/>
          <a:ln/>
        </p:spPr>
        <p:txBody>
          <a:bodyPr wrap="square" lIns="0" tIns="0" rIns="0" bIns="0" rtlCol="0" anchor="ctr"/>
          <a:lstStyle/>
          <a:p>
            <a:r>
              <a:rPr lang="en-US" sz="1600" b="1" dirty="0">
                <a:solidFill>
                  <a:srgbClr val="0369A1"/>
                </a:solidFill>
              </a:rPr>
              <a:t>Transitional:  </a:t>
            </a:r>
            <a:endParaRPr lang="en-US" sz="1600" dirty="0"/>
          </a:p>
        </p:txBody>
      </p:sp>
      <p:sp>
        <p:nvSpPr>
          <p:cNvPr id="14" name="Text 12"/>
          <p:cNvSpPr/>
          <p:nvPr/>
        </p:nvSpPr>
        <p:spPr>
          <a:xfrm>
            <a:off x="585216" y="3669792"/>
            <a:ext cx="5242560" cy="353568"/>
          </a:xfrm>
          <a:prstGeom prst="rect">
            <a:avLst/>
          </a:prstGeom>
          <a:noFill/>
          <a:ln/>
        </p:spPr>
        <p:txBody>
          <a:bodyPr wrap="square" lIns="0" tIns="0" rIns="0" bIns="0" rtlCol="0" anchor="ctr"/>
          <a:lstStyle/>
          <a:p>
            <a:r>
              <a:rPr lang="en-US" sz="1400" i="1" dirty="0">
                <a:solidFill>
                  <a:srgbClr val="1E293B"/>
                </a:solidFill>
              </a:rPr>
              <a:t>However, Therefore, Furthermore, Consequently, In addition, Nevertheless</a:t>
            </a:r>
            <a:endParaRPr lang="en-US" sz="1400" dirty="0"/>
          </a:p>
        </p:txBody>
      </p:sp>
      <p:sp>
        <p:nvSpPr>
          <p:cNvPr id="15" name="Shape 13"/>
          <p:cNvSpPr/>
          <p:nvPr/>
        </p:nvSpPr>
        <p:spPr>
          <a:xfrm>
            <a:off x="487680" y="4133088"/>
            <a:ext cx="5340096" cy="560832"/>
          </a:xfrm>
          <a:prstGeom prst="roundRect">
            <a:avLst>
              <a:gd name="adj" fmla="val 10870"/>
            </a:avLst>
          </a:prstGeom>
          <a:solidFill>
            <a:srgbClr val="EFF6FF"/>
          </a:solidFill>
          <a:ln w="12700">
            <a:solidFill>
              <a:srgbClr val="BFDBFE"/>
            </a:solidFill>
            <a:prstDash val="solid"/>
          </a:ln>
        </p:spPr>
        <p:txBody>
          <a:bodyPr/>
          <a:lstStyle/>
          <a:p>
            <a:endParaRPr lang="en-IN" sz="2400"/>
          </a:p>
        </p:txBody>
      </p:sp>
      <p:sp>
        <p:nvSpPr>
          <p:cNvPr id="16" name="Text 14"/>
          <p:cNvSpPr/>
          <p:nvPr/>
        </p:nvSpPr>
        <p:spPr>
          <a:xfrm>
            <a:off x="585216" y="4169664"/>
            <a:ext cx="1463040" cy="268224"/>
          </a:xfrm>
          <a:prstGeom prst="rect">
            <a:avLst/>
          </a:prstGeom>
          <a:noFill/>
          <a:ln/>
        </p:spPr>
        <p:txBody>
          <a:bodyPr wrap="square" lIns="0" tIns="0" rIns="0" bIns="0" rtlCol="0" anchor="ctr"/>
          <a:lstStyle/>
          <a:p>
            <a:r>
              <a:rPr lang="en-US" sz="1600" b="1" dirty="0">
                <a:solidFill>
                  <a:srgbClr val="0369A1"/>
                </a:solidFill>
              </a:rPr>
              <a:t>Referential:  </a:t>
            </a:r>
            <a:endParaRPr lang="en-US" sz="1600" dirty="0"/>
          </a:p>
        </p:txBody>
      </p:sp>
      <p:sp>
        <p:nvSpPr>
          <p:cNvPr id="17" name="Text 15"/>
          <p:cNvSpPr/>
          <p:nvPr/>
        </p:nvSpPr>
        <p:spPr>
          <a:xfrm>
            <a:off x="585216" y="4413504"/>
            <a:ext cx="5120640" cy="243840"/>
          </a:xfrm>
          <a:prstGeom prst="rect">
            <a:avLst/>
          </a:prstGeom>
          <a:noFill/>
          <a:ln/>
        </p:spPr>
        <p:txBody>
          <a:bodyPr wrap="square" lIns="0" tIns="0" rIns="0" bIns="0" rtlCol="0" anchor="ctr"/>
          <a:lstStyle/>
          <a:p>
            <a:r>
              <a:rPr lang="en-US" sz="1400" i="1" dirty="0">
                <a:solidFill>
                  <a:srgbClr val="1E293B"/>
                </a:solidFill>
              </a:rPr>
              <a:t>this, these, that, those, it, they, he, she (link back to earlier nouns)</a:t>
            </a:r>
            <a:endParaRPr lang="en-US" sz="1400" dirty="0"/>
          </a:p>
        </p:txBody>
      </p:sp>
      <p:sp>
        <p:nvSpPr>
          <p:cNvPr id="18" name="Shape 16"/>
          <p:cNvSpPr/>
          <p:nvPr/>
        </p:nvSpPr>
        <p:spPr>
          <a:xfrm>
            <a:off x="487680" y="4767072"/>
            <a:ext cx="5340096" cy="560832"/>
          </a:xfrm>
          <a:prstGeom prst="roundRect">
            <a:avLst>
              <a:gd name="adj" fmla="val 10870"/>
            </a:avLst>
          </a:prstGeom>
          <a:solidFill>
            <a:srgbClr val="EFF6FF"/>
          </a:solidFill>
          <a:ln w="12700">
            <a:solidFill>
              <a:srgbClr val="BFDBFE"/>
            </a:solidFill>
            <a:prstDash val="solid"/>
          </a:ln>
        </p:spPr>
        <p:txBody>
          <a:bodyPr/>
          <a:lstStyle/>
          <a:p>
            <a:endParaRPr lang="en-IN" sz="2400"/>
          </a:p>
        </p:txBody>
      </p:sp>
      <p:sp>
        <p:nvSpPr>
          <p:cNvPr id="19" name="Text 17"/>
          <p:cNvSpPr/>
          <p:nvPr/>
        </p:nvSpPr>
        <p:spPr>
          <a:xfrm>
            <a:off x="585216" y="4803648"/>
            <a:ext cx="1463040" cy="268224"/>
          </a:xfrm>
          <a:prstGeom prst="rect">
            <a:avLst/>
          </a:prstGeom>
          <a:noFill/>
          <a:ln/>
        </p:spPr>
        <p:txBody>
          <a:bodyPr wrap="square" lIns="0" tIns="0" rIns="0" bIns="0" rtlCol="0" anchor="ctr"/>
          <a:lstStyle/>
          <a:p>
            <a:r>
              <a:rPr lang="en-US" sz="1600" b="1" dirty="0">
                <a:solidFill>
                  <a:srgbClr val="0369A1"/>
                </a:solidFill>
              </a:rPr>
              <a:t>Additive:  </a:t>
            </a:r>
            <a:endParaRPr lang="en-US" sz="1600" dirty="0"/>
          </a:p>
        </p:txBody>
      </p:sp>
      <p:sp>
        <p:nvSpPr>
          <p:cNvPr id="20" name="Text 18"/>
          <p:cNvSpPr/>
          <p:nvPr/>
        </p:nvSpPr>
        <p:spPr>
          <a:xfrm>
            <a:off x="585216" y="5047488"/>
            <a:ext cx="5120640" cy="243840"/>
          </a:xfrm>
          <a:prstGeom prst="rect">
            <a:avLst/>
          </a:prstGeom>
          <a:noFill/>
          <a:ln/>
        </p:spPr>
        <p:txBody>
          <a:bodyPr wrap="square" lIns="0" tIns="0" rIns="0" bIns="0" rtlCol="0" anchor="ctr"/>
          <a:lstStyle/>
          <a:p>
            <a:r>
              <a:rPr lang="en-US" sz="1400" i="1" dirty="0">
                <a:solidFill>
                  <a:srgbClr val="1E293B"/>
                </a:solidFill>
              </a:rPr>
              <a:t>also, moreover, in addition, equally, likewise, similarly</a:t>
            </a:r>
            <a:endParaRPr lang="en-US" sz="1400" dirty="0"/>
          </a:p>
        </p:txBody>
      </p:sp>
      <p:sp>
        <p:nvSpPr>
          <p:cNvPr id="21" name="Shape 19"/>
          <p:cNvSpPr/>
          <p:nvPr/>
        </p:nvSpPr>
        <p:spPr>
          <a:xfrm>
            <a:off x="487680" y="5401056"/>
            <a:ext cx="5340096" cy="560832"/>
          </a:xfrm>
          <a:prstGeom prst="roundRect">
            <a:avLst>
              <a:gd name="adj" fmla="val 10870"/>
            </a:avLst>
          </a:prstGeom>
          <a:solidFill>
            <a:srgbClr val="EFF6FF"/>
          </a:solidFill>
          <a:ln w="12700">
            <a:solidFill>
              <a:srgbClr val="BFDBFE"/>
            </a:solidFill>
            <a:prstDash val="solid"/>
          </a:ln>
        </p:spPr>
        <p:txBody>
          <a:bodyPr/>
          <a:lstStyle/>
          <a:p>
            <a:endParaRPr lang="en-IN" sz="2400"/>
          </a:p>
        </p:txBody>
      </p:sp>
      <p:sp>
        <p:nvSpPr>
          <p:cNvPr id="22" name="Text 20"/>
          <p:cNvSpPr/>
          <p:nvPr/>
        </p:nvSpPr>
        <p:spPr>
          <a:xfrm>
            <a:off x="585216" y="5437632"/>
            <a:ext cx="1463040" cy="268224"/>
          </a:xfrm>
          <a:prstGeom prst="rect">
            <a:avLst/>
          </a:prstGeom>
          <a:noFill/>
          <a:ln/>
        </p:spPr>
        <p:txBody>
          <a:bodyPr wrap="square" lIns="0" tIns="0" rIns="0" bIns="0" rtlCol="0" anchor="ctr"/>
          <a:lstStyle/>
          <a:p>
            <a:r>
              <a:rPr lang="en-US" sz="1600" b="1" dirty="0">
                <a:solidFill>
                  <a:srgbClr val="0369A1"/>
                </a:solidFill>
              </a:rPr>
              <a:t>Contrastive:</a:t>
            </a:r>
            <a:r>
              <a:rPr lang="en-US" sz="1200" b="1" dirty="0">
                <a:solidFill>
                  <a:srgbClr val="0369A1"/>
                </a:solidFill>
              </a:rPr>
              <a:t>  </a:t>
            </a:r>
            <a:endParaRPr lang="en-US" sz="1200" dirty="0"/>
          </a:p>
        </p:txBody>
      </p:sp>
      <p:sp>
        <p:nvSpPr>
          <p:cNvPr id="23" name="Text 21"/>
          <p:cNvSpPr/>
          <p:nvPr/>
        </p:nvSpPr>
        <p:spPr>
          <a:xfrm>
            <a:off x="585216" y="5681472"/>
            <a:ext cx="5120640" cy="243840"/>
          </a:xfrm>
          <a:prstGeom prst="rect">
            <a:avLst/>
          </a:prstGeom>
          <a:noFill/>
          <a:ln/>
        </p:spPr>
        <p:txBody>
          <a:bodyPr wrap="square" lIns="0" tIns="0" rIns="0" bIns="0" rtlCol="0" anchor="ctr"/>
          <a:lstStyle/>
          <a:p>
            <a:r>
              <a:rPr lang="en-US" sz="1400" i="1" dirty="0">
                <a:solidFill>
                  <a:srgbClr val="1E293B"/>
                </a:solidFill>
              </a:rPr>
              <a:t>however, although, despite this, on the other hand, yet, whereas</a:t>
            </a:r>
            <a:endParaRPr lang="en-US" sz="1400" dirty="0"/>
          </a:p>
        </p:txBody>
      </p:sp>
      <p:sp>
        <p:nvSpPr>
          <p:cNvPr id="24" name="Shape 22"/>
          <p:cNvSpPr/>
          <p:nvPr/>
        </p:nvSpPr>
        <p:spPr>
          <a:xfrm>
            <a:off x="487680" y="6035040"/>
            <a:ext cx="5340096" cy="560832"/>
          </a:xfrm>
          <a:prstGeom prst="roundRect">
            <a:avLst>
              <a:gd name="adj" fmla="val 10870"/>
            </a:avLst>
          </a:prstGeom>
          <a:solidFill>
            <a:srgbClr val="EFF6FF"/>
          </a:solidFill>
          <a:ln w="12700">
            <a:solidFill>
              <a:srgbClr val="BFDBFE"/>
            </a:solidFill>
            <a:prstDash val="solid"/>
          </a:ln>
        </p:spPr>
        <p:txBody>
          <a:bodyPr/>
          <a:lstStyle/>
          <a:p>
            <a:endParaRPr lang="en-IN" sz="2400"/>
          </a:p>
        </p:txBody>
      </p:sp>
      <p:sp>
        <p:nvSpPr>
          <p:cNvPr id="25" name="Text 23"/>
          <p:cNvSpPr/>
          <p:nvPr/>
        </p:nvSpPr>
        <p:spPr>
          <a:xfrm>
            <a:off x="585216" y="6071616"/>
            <a:ext cx="1463040" cy="268224"/>
          </a:xfrm>
          <a:prstGeom prst="rect">
            <a:avLst/>
          </a:prstGeom>
          <a:noFill/>
          <a:ln/>
        </p:spPr>
        <p:txBody>
          <a:bodyPr wrap="square" lIns="0" tIns="0" rIns="0" bIns="0" rtlCol="0" anchor="ctr"/>
          <a:lstStyle/>
          <a:p>
            <a:r>
              <a:rPr lang="en-US" sz="1600" b="1" dirty="0">
                <a:solidFill>
                  <a:srgbClr val="0369A1"/>
                </a:solidFill>
              </a:rPr>
              <a:t>Causal:  </a:t>
            </a:r>
            <a:endParaRPr lang="en-US" sz="1600" dirty="0"/>
          </a:p>
        </p:txBody>
      </p:sp>
      <p:sp>
        <p:nvSpPr>
          <p:cNvPr id="26" name="Text 24"/>
          <p:cNvSpPr/>
          <p:nvPr/>
        </p:nvSpPr>
        <p:spPr>
          <a:xfrm>
            <a:off x="585216" y="6315456"/>
            <a:ext cx="5120640" cy="243840"/>
          </a:xfrm>
          <a:prstGeom prst="rect">
            <a:avLst/>
          </a:prstGeom>
          <a:noFill/>
          <a:ln/>
        </p:spPr>
        <p:txBody>
          <a:bodyPr wrap="square" lIns="0" tIns="0" rIns="0" bIns="0" rtlCol="0" anchor="ctr"/>
          <a:lstStyle/>
          <a:p>
            <a:r>
              <a:rPr lang="en-US" sz="1400" i="1" dirty="0">
                <a:solidFill>
                  <a:srgbClr val="1E293B"/>
                </a:solidFill>
              </a:rPr>
              <a:t>because, since, as a result, therefore, consequently, due to</a:t>
            </a:r>
            <a:endParaRPr lang="en-US" sz="1400" dirty="0"/>
          </a:p>
        </p:txBody>
      </p:sp>
      <p:sp>
        <p:nvSpPr>
          <p:cNvPr id="27" name="Shape 25"/>
          <p:cNvSpPr/>
          <p:nvPr/>
        </p:nvSpPr>
        <p:spPr>
          <a:xfrm>
            <a:off x="6047232" y="3006634"/>
            <a:ext cx="5608320" cy="3840480"/>
          </a:xfrm>
          <a:prstGeom prst="roundRect">
            <a:avLst>
              <a:gd name="adj" fmla="val 3175"/>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28" name="Text 26"/>
          <p:cNvSpPr/>
          <p:nvPr/>
        </p:nvSpPr>
        <p:spPr>
          <a:xfrm>
            <a:off x="6400800" y="2999232"/>
            <a:ext cx="5242560" cy="426720"/>
          </a:xfrm>
          <a:prstGeom prst="rect">
            <a:avLst/>
          </a:prstGeom>
          <a:noFill/>
          <a:ln/>
        </p:spPr>
        <p:txBody>
          <a:bodyPr wrap="square" lIns="0" tIns="0" rIns="0" bIns="0" rtlCol="0" anchor="ctr"/>
          <a:lstStyle/>
          <a:p>
            <a:r>
              <a:rPr lang="en-US" sz="2400" b="1" dirty="0">
                <a:solidFill>
                  <a:srgbClr val="6D28D9"/>
                </a:solidFill>
              </a:rPr>
              <a:t>Coherence Principles</a:t>
            </a:r>
            <a:endParaRPr lang="en-US" sz="2400" dirty="0"/>
          </a:p>
        </p:txBody>
      </p:sp>
      <p:sp>
        <p:nvSpPr>
          <p:cNvPr id="29" name="Shape 27"/>
          <p:cNvSpPr/>
          <p:nvPr/>
        </p:nvSpPr>
        <p:spPr>
          <a:xfrm>
            <a:off x="6315456" y="3535680"/>
            <a:ext cx="365760" cy="365760"/>
          </a:xfrm>
          <a:prstGeom prst="ellipse">
            <a:avLst/>
          </a:prstGeom>
          <a:solidFill>
            <a:srgbClr val="6D28D9"/>
          </a:solidFill>
          <a:ln w="12700">
            <a:solidFill>
              <a:srgbClr val="6D28D9"/>
            </a:solidFill>
            <a:prstDash val="solid"/>
          </a:ln>
        </p:spPr>
        <p:txBody>
          <a:bodyPr/>
          <a:lstStyle/>
          <a:p>
            <a:endParaRPr lang="en-IN" sz="2400"/>
          </a:p>
        </p:txBody>
      </p:sp>
      <p:sp>
        <p:nvSpPr>
          <p:cNvPr id="30" name="Text 28"/>
          <p:cNvSpPr/>
          <p:nvPr/>
        </p:nvSpPr>
        <p:spPr>
          <a:xfrm>
            <a:off x="6766560" y="3535680"/>
            <a:ext cx="4937760" cy="268224"/>
          </a:xfrm>
          <a:prstGeom prst="rect">
            <a:avLst/>
          </a:prstGeom>
          <a:noFill/>
          <a:ln/>
        </p:spPr>
        <p:txBody>
          <a:bodyPr wrap="square" lIns="0" tIns="0" rIns="0" bIns="0" rtlCol="0" anchor="ctr"/>
          <a:lstStyle/>
          <a:p>
            <a:r>
              <a:rPr lang="en-US" sz="1600" b="1" dirty="0">
                <a:solidFill>
                  <a:srgbClr val="6D28D9"/>
                </a:solidFill>
              </a:rPr>
              <a:t>One Idea Per Paragraph</a:t>
            </a:r>
            <a:endParaRPr lang="en-US" sz="1600" dirty="0"/>
          </a:p>
        </p:txBody>
      </p:sp>
      <p:sp>
        <p:nvSpPr>
          <p:cNvPr id="31" name="Text 29"/>
          <p:cNvSpPr/>
          <p:nvPr/>
        </p:nvSpPr>
        <p:spPr>
          <a:xfrm>
            <a:off x="6766560" y="3779520"/>
            <a:ext cx="4937760" cy="243840"/>
          </a:xfrm>
          <a:prstGeom prst="rect">
            <a:avLst/>
          </a:prstGeom>
          <a:noFill/>
          <a:ln/>
        </p:spPr>
        <p:txBody>
          <a:bodyPr wrap="square" lIns="0" tIns="0" rIns="0" bIns="0" rtlCol="0" anchor="ctr"/>
          <a:lstStyle/>
          <a:p>
            <a:r>
              <a:rPr lang="en-US" sz="1133" dirty="0">
                <a:solidFill>
                  <a:srgbClr val="1E293B"/>
                </a:solidFill>
              </a:rPr>
              <a:t>Each paragraph has a topic sentence, supporting detail, and a link to the next.</a:t>
            </a:r>
            <a:endParaRPr lang="en-US" sz="1133" dirty="0"/>
          </a:p>
        </p:txBody>
      </p:sp>
      <p:sp>
        <p:nvSpPr>
          <p:cNvPr id="32" name="Shape 30"/>
          <p:cNvSpPr/>
          <p:nvPr/>
        </p:nvSpPr>
        <p:spPr>
          <a:xfrm>
            <a:off x="6315456" y="4169664"/>
            <a:ext cx="365760" cy="365760"/>
          </a:xfrm>
          <a:prstGeom prst="ellipse">
            <a:avLst/>
          </a:prstGeom>
          <a:solidFill>
            <a:srgbClr val="6D28D9"/>
          </a:solidFill>
          <a:ln w="12700">
            <a:solidFill>
              <a:srgbClr val="6D28D9"/>
            </a:solidFill>
            <a:prstDash val="solid"/>
          </a:ln>
        </p:spPr>
        <p:txBody>
          <a:bodyPr/>
          <a:lstStyle/>
          <a:p>
            <a:endParaRPr lang="en-IN" sz="2400"/>
          </a:p>
        </p:txBody>
      </p:sp>
      <p:sp>
        <p:nvSpPr>
          <p:cNvPr id="33" name="Text 31"/>
          <p:cNvSpPr/>
          <p:nvPr/>
        </p:nvSpPr>
        <p:spPr>
          <a:xfrm>
            <a:off x="6766560" y="4169664"/>
            <a:ext cx="4937760" cy="268224"/>
          </a:xfrm>
          <a:prstGeom prst="rect">
            <a:avLst/>
          </a:prstGeom>
          <a:noFill/>
          <a:ln/>
        </p:spPr>
        <p:txBody>
          <a:bodyPr wrap="square" lIns="0" tIns="0" rIns="0" bIns="0" rtlCol="0" anchor="ctr"/>
          <a:lstStyle/>
          <a:p>
            <a:r>
              <a:rPr lang="en-US" sz="1600" b="1" dirty="0">
                <a:solidFill>
                  <a:srgbClr val="6D28D9"/>
                </a:solidFill>
              </a:rPr>
              <a:t>Logical Sequencing</a:t>
            </a:r>
            <a:endParaRPr lang="en-US" sz="1600" dirty="0"/>
          </a:p>
        </p:txBody>
      </p:sp>
      <p:sp>
        <p:nvSpPr>
          <p:cNvPr id="34" name="Text 32"/>
          <p:cNvSpPr/>
          <p:nvPr/>
        </p:nvSpPr>
        <p:spPr>
          <a:xfrm>
            <a:off x="6766560" y="4413504"/>
            <a:ext cx="4937760" cy="243840"/>
          </a:xfrm>
          <a:prstGeom prst="rect">
            <a:avLst/>
          </a:prstGeom>
          <a:noFill/>
          <a:ln/>
        </p:spPr>
        <p:txBody>
          <a:bodyPr wrap="square" lIns="0" tIns="0" rIns="0" bIns="0" rtlCol="0" anchor="ctr"/>
          <a:lstStyle/>
          <a:p>
            <a:r>
              <a:rPr lang="en-US" sz="1133" dirty="0">
                <a:solidFill>
                  <a:srgbClr val="1E293B"/>
                </a:solidFill>
              </a:rPr>
              <a:t>General → Specific, Problem → Solution, Chronological, or Order of Importance.</a:t>
            </a:r>
            <a:endParaRPr lang="en-US" sz="1133" dirty="0"/>
          </a:p>
        </p:txBody>
      </p:sp>
      <p:sp>
        <p:nvSpPr>
          <p:cNvPr id="35" name="Shape 33"/>
          <p:cNvSpPr/>
          <p:nvPr/>
        </p:nvSpPr>
        <p:spPr>
          <a:xfrm>
            <a:off x="6315456" y="4803648"/>
            <a:ext cx="365760" cy="365760"/>
          </a:xfrm>
          <a:prstGeom prst="ellipse">
            <a:avLst/>
          </a:prstGeom>
          <a:solidFill>
            <a:srgbClr val="6D28D9"/>
          </a:solidFill>
          <a:ln w="12700">
            <a:solidFill>
              <a:srgbClr val="6D28D9"/>
            </a:solidFill>
            <a:prstDash val="solid"/>
          </a:ln>
        </p:spPr>
        <p:txBody>
          <a:bodyPr/>
          <a:lstStyle/>
          <a:p>
            <a:endParaRPr lang="en-IN" sz="2400"/>
          </a:p>
        </p:txBody>
      </p:sp>
      <p:sp>
        <p:nvSpPr>
          <p:cNvPr id="36" name="Text 34"/>
          <p:cNvSpPr/>
          <p:nvPr/>
        </p:nvSpPr>
        <p:spPr>
          <a:xfrm>
            <a:off x="6766560" y="4693920"/>
            <a:ext cx="4937760" cy="377952"/>
          </a:xfrm>
          <a:prstGeom prst="rect">
            <a:avLst/>
          </a:prstGeom>
          <a:noFill/>
          <a:ln/>
        </p:spPr>
        <p:txBody>
          <a:bodyPr wrap="square" lIns="0" tIns="0" rIns="0" bIns="0" rtlCol="0" anchor="ctr"/>
          <a:lstStyle/>
          <a:p>
            <a:r>
              <a:rPr lang="en-US" sz="1600" b="1" dirty="0">
                <a:solidFill>
                  <a:srgbClr val="6D28D9"/>
                </a:solidFill>
              </a:rPr>
              <a:t>Consistent Focus</a:t>
            </a:r>
            <a:endParaRPr lang="en-US" sz="1600" dirty="0"/>
          </a:p>
        </p:txBody>
      </p:sp>
      <p:sp>
        <p:nvSpPr>
          <p:cNvPr id="37" name="Text 35"/>
          <p:cNvSpPr/>
          <p:nvPr/>
        </p:nvSpPr>
        <p:spPr>
          <a:xfrm>
            <a:off x="6766560" y="5023104"/>
            <a:ext cx="4937760" cy="268224"/>
          </a:xfrm>
          <a:prstGeom prst="rect">
            <a:avLst/>
          </a:prstGeom>
          <a:noFill/>
          <a:ln/>
        </p:spPr>
        <p:txBody>
          <a:bodyPr wrap="square" lIns="0" tIns="0" rIns="0" bIns="0" rtlCol="0" anchor="ctr"/>
          <a:lstStyle/>
          <a:p>
            <a:r>
              <a:rPr lang="en-US" sz="1400" dirty="0">
                <a:solidFill>
                  <a:srgbClr val="1E293B"/>
                </a:solidFill>
              </a:rPr>
              <a:t>Stick to the document's stated purpose — don't introduce unrelated ideas.</a:t>
            </a:r>
            <a:endParaRPr lang="en-US" sz="1400" dirty="0"/>
          </a:p>
        </p:txBody>
      </p:sp>
      <p:sp>
        <p:nvSpPr>
          <p:cNvPr id="38" name="Shape 36"/>
          <p:cNvSpPr/>
          <p:nvPr/>
        </p:nvSpPr>
        <p:spPr>
          <a:xfrm>
            <a:off x="6315456" y="5437632"/>
            <a:ext cx="365760" cy="365760"/>
          </a:xfrm>
          <a:prstGeom prst="ellipse">
            <a:avLst/>
          </a:prstGeom>
          <a:solidFill>
            <a:srgbClr val="6D28D9"/>
          </a:solidFill>
          <a:ln w="12700">
            <a:solidFill>
              <a:srgbClr val="6D28D9"/>
            </a:solidFill>
            <a:prstDash val="solid"/>
          </a:ln>
        </p:spPr>
        <p:txBody>
          <a:bodyPr/>
          <a:lstStyle/>
          <a:p>
            <a:endParaRPr lang="en-IN" sz="2400"/>
          </a:p>
        </p:txBody>
      </p:sp>
      <p:sp>
        <p:nvSpPr>
          <p:cNvPr id="39" name="Text 37"/>
          <p:cNvSpPr/>
          <p:nvPr/>
        </p:nvSpPr>
        <p:spPr>
          <a:xfrm>
            <a:off x="6766560" y="5437632"/>
            <a:ext cx="4937760" cy="268224"/>
          </a:xfrm>
          <a:prstGeom prst="rect">
            <a:avLst/>
          </a:prstGeom>
          <a:noFill/>
          <a:ln/>
        </p:spPr>
        <p:txBody>
          <a:bodyPr wrap="square" lIns="0" tIns="0" rIns="0" bIns="0" rtlCol="0" anchor="ctr"/>
          <a:lstStyle/>
          <a:p>
            <a:r>
              <a:rPr lang="en-US" sz="1600" b="1" dirty="0">
                <a:solidFill>
                  <a:srgbClr val="6D28D9"/>
                </a:solidFill>
              </a:rPr>
              <a:t>Signposting</a:t>
            </a:r>
            <a:endParaRPr lang="en-US" sz="1600" dirty="0"/>
          </a:p>
        </p:txBody>
      </p:sp>
      <p:sp>
        <p:nvSpPr>
          <p:cNvPr id="40" name="Text 38"/>
          <p:cNvSpPr/>
          <p:nvPr/>
        </p:nvSpPr>
        <p:spPr>
          <a:xfrm>
            <a:off x="6766560" y="5681472"/>
            <a:ext cx="4937760" cy="329184"/>
          </a:xfrm>
          <a:prstGeom prst="rect">
            <a:avLst/>
          </a:prstGeom>
          <a:noFill/>
          <a:ln/>
        </p:spPr>
        <p:txBody>
          <a:bodyPr wrap="square" lIns="0" tIns="0" rIns="0" bIns="0" rtlCol="0" anchor="ctr"/>
          <a:lstStyle/>
          <a:p>
            <a:endParaRPr lang="en-US" sz="1400" dirty="0">
              <a:solidFill>
                <a:srgbClr val="1E293B"/>
              </a:solidFill>
            </a:endParaRPr>
          </a:p>
          <a:p>
            <a:r>
              <a:rPr lang="en-US" sz="1400" dirty="0">
                <a:solidFill>
                  <a:srgbClr val="1E293B"/>
                </a:solidFill>
              </a:rPr>
              <a:t>Use headings, sub-headings, and numbered sections to guide the reader</a:t>
            </a:r>
            <a:r>
              <a:rPr lang="en-US" sz="1133" dirty="0">
                <a:solidFill>
                  <a:srgbClr val="1E293B"/>
                </a:solidFill>
              </a:rPr>
              <a:t>.</a:t>
            </a:r>
            <a:endParaRPr lang="en-US" sz="1133" dirty="0"/>
          </a:p>
        </p:txBody>
      </p:sp>
      <p:sp>
        <p:nvSpPr>
          <p:cNvPr id="41" name="Shape 39"/>
          <p:cNvSpPr/>
          <p:nvPr/>
        </p:nvSpPr>
        <p:spPr>
          <a:xfrm>
            <a:off x="6315456" y="6071616"/>
            <a:ext cx="365760" cy="365760"/>
          </a:xfrm>
          <a:prstGeom prst="ellipse">
            <a:avLst/>
          </a:prstGeom>
          <a:solidFill>
            <a:srgbClr val="6D28D9"/>
          </a:solidFill>
          <a:ln w="12700">
            <a:solidFill>
              <a:srgbClr val="6D28D9"/>
            </a:solidFill>
            <a:prstDash val="solid"/>
          </a:ln>
        </p:spPr>
        <p:txBody>
          <a:bodyPr/>
          <a:lstStyle/>
          <a:p>
            <a:endParaRPr lang="en-IN" sz="2400"/>
          </a:p>
        </p:txBody>
      </p:sp>
      <p:sp>
        <p:nvSpPr>
          <p:cNvPr id="42" name="Text 40"/>
          <p:cNvSpPr/>
          <p:nvPr/>
        </p:nvSpPr>
        <p:spPr>
          <a:xfrm>
            <a:off x="6766560" y="6071616"/>
            <a:ext cx="4937760" cy="268224"/>
          </a:xfrm>
          <a:prstGeom prst="rect">
            <a:avLst/>
          </a:prstGeom>
          <a:noFill/>
          <a:ln/>
        </p:spPr>
        <p:txBody>
          <a:bodyPr wrap="square" lIns="0" tIns="0" rIns="0" bIns="0" rtlCol="0" anchor="ctr"/>
          <a:lstStyle/>
          <a:p>
            <a:r>
              <a:rPr lang="en-US" sz="1600" b="1" dirty="0">
                <a:solidFill>
                  <a:srgbClr val="6D28D9"/>
                </a:solidFill>
              </a:rPr>
              <a:t>Parallel Structure</a:t>
            </a:r>
            <a:endParaRPr lang="en-US" sz="1600" dirty="0"/>
          </a:p>
        </p:txBody>
      </p:sp>
      <p:sp>
        <p:nvSpPr>
          <p:cNvPr id="43" name="Text 41"/>
          <p:cNvSpPr/>
          <p:nvPr/>
        </p:nvSpPr>
        <p:spPr>
          <a:xfrm>
            <a:off x="6766560" y="6315456"/>
            <a:ext cx="4937760" cy="243840"/>
          </a:xfrm>
          <a:prstGeom prst="rect">
            <a:avLst/>
          </a:prstGeom>
          <a:noFill/>
          <a:ln/>
        </p:spPr>
        <p:txBody>
          <a:bodyPr wrap="square" lIns="0" tIns="0" rIns="0" bIns="0" rtlCol="0" anchor="ctr"/>
          <a:lstStyle/>
          <a:p>
            <a:r>
              <a:rPr lang="en-US" sz="1400" dirty="0">
                <a:solidFill>
                  <a:srgbClr val="1E293B"/>
                </a:solidFill>
              </a:rPr>
              <a:t>Use consistent grammatical patterns in lists and headings for clarity</a:t>
            </a:r>
            <a:r>
              <a:rPr lang="en-US" sz="1133" dirty="0">
                <a:solidFill>
                  <a:srgbClr val="1E293B"/>
                </a:solidFill>
              </a:rPr>
              <a:t>.</a:t>
            </a:r>
            <a:endParaRPr lang="en-US" sz="1133" dirty="0"/>
          </a:p>
        </p:txBody>
      </p:sp>
      <p:sp>
        <p:nvSpPr>
          <p:cNvPr id="44" name="Shape 42"/>
          <p:cNvSpPr/>
          <p:nvPr/>
        </p:nvSpPr>
        <p:spPr>
          <a:xfrm>
            <a:off x="365760" y="6827520"/>
            <a:ext cx="11460480" cy="512064"/>
          </a:xfrm>
          <a:prstGeom prst="roundRect">
            <a:avLst>
              <a:gd name="adj" fmla="val 16667"/>
            </a:avLst>
          </a:prstGeom>
          <a:solidFill>
            <a:srgbClr val="1A2E4A"/>
          </a:solidFill>
          <a:ln w="12700">
            <a:solidFill>
              <a:srgbClr val="1A2E4A"/>
            </a:solidFill>
            <a:prstDash val="solid"/>
          </a:ln>
        </p:spPr>
        <p:txBody>
          <a:bodyPr/>
          <a:lstStyle/>
          <a:p>
            <a:endParaRPr lang="en-IN" sz="2400"/>
          </a:p>
        </p:txBody>
      </p:sp>
      <p:sp>
        <p:nvSpPr>
          <p:cNvPr id="45" name="Text 43"/>
          <p:cNvSpPr/>
          <p:nvPr/>
        </p:nvSpPr>
        <p:spPr>
          <a:xfrm>
            <a:off x="548640" y="6888480"/>
            <a:ext cx="11094720" cy="390144"/>
          </a:xfrm>
          <a:prstGeom prst="rect">
            <a:avLst/>
          </a:prstGeom>
          <a:noFill/>
          <a:ln/>
        </p:spPr>
        <p:txBody>
          <a:bodyPr wrap="square" lIns="0" tIns="0" rIns="0" bIns="0" rtlCol="0" anchor="ctr"/>
          <a:lstStyle/>
          <a:p>
            <a:r>
              <a:rPr lang="en-US" sz="1267" dirty="0">
                <a:solidFill>
                  <a:srgbClr val="12AEAE"/>
                </a:solidFill>
              </a:rPr>
              <a:t>📝  Activity: Identify the cohesion devices and structural signals in the paragraph on Handout C. Label each type.</a:t>
            </a:r>
            <a:endParaRPr lang="en-US" sz="1267" dirty="0"/>
          </a:p>
        </p:txBody>
      </p:sp>
      <p:pic>
        <p:nvPicPr>
          <p:cNvPr id="47" name="Picture 2" descr="KL Deemed to be University Logo">
            <a:extLst>
              <a:ext uri="{FF2B5EF4-FFF2-40B4-BE49-F238E27FC236}">
                <a16:creationId xmlns:a16="http://schemas.microsoft.com/office/drawing/2014/main" id="{95851CD1-8205-C3B1-F9DD-8240B47E9D1D}"/>
              </a:ext>
            </a:extLst>
          </p:cNvPr>
          <p:cNvPicPr>
            <a:picLocks noChangeAspect="1" noChangeArrowheads="1"/>
          </p:cNvPicPr>
          <p:nvPr/>
        </p:nvPicPr>
        <p:blipFill>
          <a:blip r:embed="rId3"/>
          <a:srcRect/>
          <a:stretch>
            <a:fillRect/>
          </a:stretch>
        </p:blipFill>
        <p:spPr bwMode="auto">
          <a:xfrm>
            <a:off x="0" y="184974"/>
            <a:ext cx="1480457" cy="600076"/>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2117992" y="148319"/>
            <a:ext cx="9581921" cy="90351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Amasis MT Pro" panose="02040504050005020304" pitchFamily="18" charset="0"/>
                <a:ea typeface="BioRhyme ExtraBold"/>
                <a:cs typeface="Poppins" panose="00000500000000000000" pitchFamily="2" charset="0"/>
                <a:sym typeface="BioRhyme ExtraBold"/>
              </a:rPr>
              <a:t>Video: </a:t>
            </a:r>
            <a:r>
              <a:rPr lang="en-US" sz="3200" b="1" dirty="0">
                <a:solidFill>
                  <a:srgbClr val="FFFFFF"/>
                </a:solidFill>
              </a:rPr>
              <a:t>Coherence &amp; Cohesion </a:t>
            </a:r>
            <a:endParaRPr lang="en-US" sz="3200" dirty="0">
              <a:latin typeface="Amasis MT Pro" panose="02040504050005020304" pitchFamily="18" charset="0"/>
              <a:ea typeface="BioRhyme ExtraBold"/>
              <a:cs typeface="Poppins" panose="00000500000000000000" pitchFamily="2" charset="0"/>
              <a:sym typeface="BioRhyme ExtraBold"/>
            </a:endParaRPr>
          </a:p>
        </p:txBody>
      </p:sp>
      <p:pic>
        <p:nvPicPr>
          <p:cNvPr id="12" name="Picture 2" descr="KL Deemed to be University Logo"/>
          <p:cNvPicPr>
            <a:picLocks noChangeAspect="1" noChangeArrowheads="1"/>
          </p:cNvPicPr>
          <p:nvPr/>
        </p:nvPicPr>
        <p:blipFill>
          <a:blip r:embed="rId4"/>
          <a:srcRect/>
          <a:stretch>
            <a:fillRect/>
          </a:stretch>
        </p:blipFill>
        <p:spPr bwMode="auto">
          <a:xfrm>
            <a:off x="0" y="0"/>
            <a:ext cx="1990725" cy="600076"/>
          </a:xfrm>
          <a:prstGeom prst="rect">
            <a:avLst/>
          </a:prstGeom>
          <a:noFill/>
        </p:spPr>
      </p:pic>
      <p:pic>
        <p:nvPicPr>
          <p:cNvPr id="3" name="Coherence and Cohesion - Why They Matter in Your Writing_">
            <a:hlinkClick r:id="" action="ppaction://media"/>
            <a:extLst>
              <a:ext uri="{FF2B5EF4-FFF2-40B4-BE49-F238E27FC236}">
                <a16:creationId xmlns:a16="http://schemas.microsoft.com/office/drawing/2014/main" id="{D47015F6-AACD-52A0-4F5D-E8AD8993DAA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08768" y="1230539"/>
            <a:ext cx="8128000" cy="4572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1568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2" fill="hold" display="0">
                  <p:stCondLst>
                    <p:cond delay="indefinite"/>
                  </p:stCondLst>
                </p:cTn>
                <p:tgtEl>
                  <p:spTgt spid="3"/>
                </p:tgtEl>
              </p:cMediaNode>
            </p:video>
            <p:seq concurrent="1" nextAc="seek">
              <p:cTn id="13" restart="whenNotActive" fill="hold" evtFilter="cancelBubble" nodeType="interactiveSeq">
                <p:stCondLst>
                  <p:cond evt="onClick" delay="0">
                    <p:tgtEl>
                      <p:spTgt spid="3"/>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3"/>
                                        </p:tgtEl>
                                      </p:cBhvr>
                                    </p:cmd>
                                  </p:childTnLst>
                                </p:cTn>
                              </p:par>
                            </p:childTnLst>
                          </p:cTn>
                        </p:par>
                      </p:childTnLst>
                    </p:cTn>
                  </p:par>
                </p:childTnLst>
              </p:cTn>
              <p:nextCondLst>
                <p:cond evt="onClick" delay="0">
                  <p:tgtEl>
                    <p:spTgt spid="3"/>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70560" y="-609600"/>
            <a:ext cx="5547360" cy="5522976"/>
          </a:xfrm>
          <a:prstGeom prst="ellipse">
            <a:avLst/>
          </a:prstGeom>
          <a:solidFill>
            <a:srgbClr val="0D8A8A">
              <a:alpha val="12000"/>
            </a:srgbClr>
          </a:solidFill>
          <a:ln w="12700">
            <a:solidFill>
              <a:srgbClr val="0D8A8A">
                <a:alpha val="20000"/>
              </a:srgbClr>
            </a:solidFill>
            <a:prstDash val="solid"/>
          </a:ln>
        </p:spPr>
        <p:txBody>
          <a:bodyPr/>
          <a:lstStyle/>
          <a:p>
            <a:endParaRPr lang="en-IN" sz="2400"/>
          </a:p>
        </p:txBody>
      </p:sp>
      <p:sp>
        <p:nvSpPr>
          <p:cNvPr id="3" name="Shape 1"/>
          <p:cNvSpPr/>
          <p:nvPr/>
        </p:nvSpPr>
        <p:spPr>
          <a:xfrm>
            <a:off x="9144000" y="3657600"/>
            <a:ext cx="4876800" cy="4876800"/>
          </a:xfrm>
          <a:prstGeom prst="ellipse">
            <a:avLst/>
          </a:prstGeom>
          <a:solidFill>
            <a:srgbClr val="E8A020">
              <a:alpha val="12000"/>
            </a:srgbClr>
          </a:solidFill>
          <a:ln w="12700">
            <a:solidFill>
              <a:srgbClr val="E8A020">
                <a:alpha val="20000"/>
              </a:srgbClr>
            </a:solidFill>
            <a:prstDash val="solid"/>
          </a:ln>
        </p:spPr>
        <p:txBody>
          <a:bodyPr/>
          <a:lstStyle/>
          <a:p>
            <a:endParaRPr lang="en-IN" sz="2400"/>
          </a:p>
        </p:txBody>
      </p:sp>
      <p:sp>
        <p:nvSpPr>
          <p:cNvPr id="4" name="Text 2"/>
          <p:cNvSpPr/>
          <p:nvPr/>
        </p:nvSpPr>
        <p:spPr>
          <a:xfrm>
            <a:off x="609600" y="487680"/>
            <a:ext cx="10972800" cy="731520"/>
          </a:xfrm>
          <a:prstGeom prst="rect">
            <a:avLst/>
          </a:prstGeom>
          <a:noFill/>
          <a:ln/>
        </p:spPr>
        <p:txBody>
          <a:bodyPr wrap="square" lIns="0" tIns="0" rIns="0" bIns="0" rtlCol="0" anchor="ctr"/>
          <a:lstStyle/>
          <a:p>
            <a:pPr algn="ctr"/>
            <a:r>
              <a:rPr lang="en-US" sz="3467" b="1" dirty="0"/>
              <a:t>Session Summary</a:t>
            </a:r>
            <a:endParaRPr lang="en-US" sz="3467" dirty="0"/>
          </a:p>
        </p:txBody>
      </p:sp>
      <p:sp>
        <p:nvSpPr>
          <p:cNvPr id="5" name="Text 3"/>
          <p:cNvSpPr/>
          <p:nvPr/>
        </p:nvSpPr>
        <p:spPr>
          <a:xfrm>
            <a:off x="609600" y="1219200"/>
            <a:ext cx="10972800" cy="487680"/>
          </a:xfrm>
          <a:prstGeom prst="rect">
            <a:avLst/>
          </a:prstGeom>
          <a:noFill/>
          <a:ln/>
        </p:spPr>
        <p:txBody>
          <a:bodyPr wrap="square" lIns="0" tIns="0" rIns="0" bIns="0" rtlCol="0" anchor="ctr"/>
          <a:lstStyle/>
          <a:p>
            <a:pPr algn="ctr"/>
            <a:r>
              <a:rPr lang="en-US" sz="2800" b="1" i="1" dirty="0">
                <a:solidFill>
                  <a:schemeClr val="accent6"/>
                </a:solidFill>
              </a:rPr>
              <a:t>Foundations of Effective Professional Writing</a:t>
            </a:r>
            <a:endParaRPr lang="en-US" sz="2800" b="1" dirty="0">
              <a:solidFill>
                <a:schemeClr val="accent6"/>
              </a:solidFill>
            </a:endParaRPr>
          </a:p>
        </p:txBody>
      </p:sp>
      <p:sp>
        <p:nvSpPr>
          <p:cNvPr id="6" name="Shape 4"/>
          <p:cNvSpPr/>
          <p:nvPr/>
        </p:nvSpPr>
        <p:spPr>
          <a:xfrm>
            <a:off x="365760" y="1889760"/>
            <a:ext cx="5547360" cy="1097280"/>
          </a:xfrm>
          <a:prstGeom prst="roundRect">
            <a:avLst>
              <a:gd name="adj" fmla="val 11111"/>
            </a:avLst>
          </a:prstGeom>
          <a:solidFill>
            <a:srgbClr val="1E3A52"/>
          </a:solidFill>
          <a:ln w="12700">
            <a:solidFill>
              <a:srgbClr val="12AEAE"/>
            </a:solidFill>
            <a:prstDash val="solid"/>
          </a:ln>
        </p:spPr>
        <p:txBody>
          <a:bodyPr/>
          <a:lstStyle/>
          <a:p>
            <a:endParaRPr lang="en-IN" sz="2400"/>
          </a:p>
        </p:txBody>
      </p:sp>
      <p:sp>
        <p:nvSpPr>
          <p:cNvPr id="7" name="Text 5"/>
          <p:cNvSpPr/>
          <p:nvPr/>
        </p:nvSpPr>
        <p:spPr>
          <a:xfrm>
            <a:off x="548640" y="1987296"/>
            <a:ext cx="5303520" cy="365760"/>
          </a:xfrm>
          <a:prstGeom prst="rect">
            <a:avLst/>
          </a:prstGeom>
          <a:noFill/>
          <a:ln/>
        </p:spPr>
        <p:txBody>
          <a:bodyPr wrap="square" lIns="0" tIns="0" rIns="0" bIns="0" rtlCol="0" anchor="ctr"/>
          <a:lstStyle/>
          <a:p>
            <a:r>
              <a:rPr lang="en-US" sz="2400" b="1" dirty="0">
                <a:solidFill>
                  <a:srgbClr val="12AEAE"/>
                </a:solidFill>
              </a:rPr>
              <a:t>Purpose drives format</a:t>
            </a:r>
            <a:endParaRPr lang="en-US" sz="2400" b="1" dirty="0"/>
          </a:p>
        </p:txBody>
      </p:sp>
      <p:sp>
        <p:nvSpPr>
          <p:cNvPr id="8" name="Text 6"/>
          <p:cNvSpPr/>
          <p:nvPr/>
        </p:nvSpPr>
        <p:spPr>
          <a:xfrm>
            <a:off x="548640" y="2377440"/>
            <a:ext cx="5303520" cy="512064"/>
          </a:xfrm>
          <a:prstGeom prst="rect">
            <a:avLst/>
          </a:prstGeom>
          <a:noFill/>
          <a:ln/>
        </p:spPr>
        <p:txBody>
          <a:bodyPr wrap="square" lIns="0" tIns="0" rIns="0" bIns="0" rtlCol="0" anchor="ctr"/>
          <a:lstStyle/>
          <a:p>
            <a:r>
              <a:rPr lang="en-US" b="1" dirty="0">
                <a:solidFill>
                  <a:srgbClr val="C8E6E6"/>
                </a:solidFill>
              </a:rPr>
              <a:t>Always identify who you're writing for and why before you begin</a:t>
            </a:r>
            <a:r>
              <a:rPr lang="en-US" dirty="0">
                <a:solidFill>
                  <a:srgbClr val="C8E6E6"/>
                </a:solidFill>
              </a:rPr>
              <a:t>.</a:t>
            </a:r>
            <a:endParaRPr lang="en-US" dirty="0"/>
          </a:p>
        </p:txBody>
      </p:sp>
      <p:sp>
        <p:nvSpPr>
          <p:cNvPr id="9" name="Shape 7"/>
          <p:cNvSpPr/>
          <p:nvPr/>
        </p:nvSpPr>
        <p:spPr>
          <a:xfrm>
            <a:off x="6278880" y="1889760"/>
            <a:ext cx="5547360" cy="1097280"/>
          </a:xfrm>
          <a:prstGeom prst="roundRect">
            <a:avLst>
              <a:gd name="adj" fmla="val 11111"/>
            </a:avLst>
          </a:prstGeom>
          <a:solidFill>
            <a:srgbClr val="1E3A52"/>
          </a:solidFill>
          <a:ln w="12700">
            <a:solidFill>
              <a:srgbClr val="12AEAE"/>
            </a:solidFill>
            <a:prstDash val="solid"/>
          </a:ln>
        </p:spPr>
        <p:txBody>
          <a:bodyPr/>
          <a:lstStyle/>
          <a:p>
            <a:endParaRPr lang="en-IN" sz="2400"/>
          </a:p>
        </p:txBody>
      </p:sp>
      <p:sp>
        <p:nvSpPr>
          <p:cNvPr id="10" name="Text 8"/>
          <p:cNvSpPr/>
          <p:nvPr/>
        </p:nvSpPr>
        <p:spPr>
          <a:xfrm>
            <a:off x="6461760" y="1987296"/>
            <a:ext cx="5303520" cy="365760"/>
          </a:xfrm>
          <a:prstGeom prst="rect">
            <a:avLst/>
          </a:prstGeom>
          <a:noFill/>
          <a:ln/>
        </p:spPr>
        <p:txBody>
          <a:bodyPr wrap="square" lIns="0" tIns="0" rIns="0" bIns="0" rtlCol="0" anchor="ctr"/>
          <a:lstStyle/>
          <a:p>
            <a:r>
              <a:rPr lang="en-US" sz="2400" b="1" dirty="0">
                <a:solidFill>
                  <a:srgbClr val="12AEAE"/>
                </a:solidFill>
              </a:rPr>
              <a:t>The 7 Cs are your checklist</a:t>
            </a:r>
            <a:endParaRPr lang="en-US" sz="2400" dirty="0"/>
          </a:p>
        </p:txBody>
      </p:sp>
      <p:sp>
        <p:nvSpPr>
          <p:cNvPr id="11" name="Text 9"/>
          <p:cNvSpPr/>
          <p:nvPr/>
        </p:nvSpPr>
        <p:spPr>
          <a:xfrm>
            <a:off x="7032170" y="2377440"/>
            <a:ext cx="4733109" cy="512064"/>
          </a:xfrm>
          <a:prstGeom prst="rect">
            <a:avLst/>
          </a:prstGeom>
          <a:noFill/>
          <a:ln/>
        </p:spPr>
        <p:txBody>
          <a:bodyPr wrap="square" lIns="0" tIns="0" rIns="0" bIns="0" rtlCol="0" anchor="ctr"/>
          <a:lstStyle/>
          <a:p>
            <a:r>
              <a:rPr lang="en-US" b="1" dirty="0">
                <a:solidFill>
                  <a:srgbClr val="C8E6E6"/>
                </a:solidFill>
              </a:rPr>
              <a:t>Clear, Concise, Correct, Complete, Courteous, Considerate, Concrete.</a:t>
            </a:r>
            <a:endParaRPr lang="en-US" b="1" dirty="0"/>
          </a:p>
        </p:txBody>
      </p:sp>
      <p:sp>
        <p:nvSpPr>
          <p:cNvPr id="12" name="Shape 10"/>
          <p:cNvSpPr/>
          <p:nvPr/>
        </p:nvSpPr>
        <p:spPr>
          <a:xfrm>
            <a:off x="365760" y="3202142"/>
            <a:ext cx="5547360" cy="1097280"/>
          </a:xfrm>
          <a:prstGeom prst="roundRect">
            <a:avLst>
              <a:gd name="adj" fmla="val 11111"/>
            </a:avLst>
          </a:prstGeom>
          <a:solidFill>
            <a:srgbClr val="1E3A52"/>
          </a:solidFill>
          <a:ln w="12700">
            <a:solidFill>
              <a:srgbClr val="12AEAE"/>
            </a:solidFill>
            <a:prstDash val="solid"/>
          </a:ln>
        </p:spPr>
        <p:txBody>
          <a:bodyPr/>
          <a:lstStyle/>
          <a:p>
            <a:endParaRPr lang="en-IN" sz="2400"/>
          </a:p>
        </p:txBody>
      </p:sp>
      <p:sp>
        <p:nvSpPr>
          <p:cNvPr id="13" name="Text 11"/>
          <p:cNvSpPr/>
          <p:nvPr/>
        </p:nvSpPr>
        <p:spPr>
          <a:xfrm>
            <a:off x="548640" y="3267456"/>
            <a:ext cx="5303520" cy="365760"/>
          </a:xfrm>
          <a:prstGeom prst="rect">
            <a:avLst/>
          </a:prstGeom>
          <a:noFill/>
          <a:ln/>
        </p:spPr>
        <p:txBody>
          <a:bodyPr wrap="square" lIns="0" tIns="0" rIns="0" bIns="0" rtlCol="0" anchor="ctr"/>
          <a:lstStyle/>
          <a:p>
            <a:r>
              <a:rPr lang="en-US" sz="2400" b="1" dirty="0">
                <a:solidFill>
                  <a:srgbClr val="12AEAE"/>
                </a:solidFill>
              </a:rPr>
              <a:t>Structure signals professionalism</a:t>
            </a:r>
            <a:endParaRPr lang="en-US" sz="2400" b="1" dirty="0"/>
          </a:p>
        </p:txBody>
      </p:sp>
      <p:sp>
        <p:nvSpPr>
          <p:cNvPr id="14" name="Text 12"/>
          <p:cNvSpPr/>
          <p:nvPr/>
        </p:nvSpPr>
        <p:spPr>
          <a:xfrm>
            <a:off x="548640" y="3657600"/>
            <a:ext cx="5303520" cy="512064"/>
          </a:xfrm>
          <a:prstGeom prst="rect">
            <a:avLst/>
          </a:prstGeom>
          <a:noFill/>
          <a:ln/>
        </p:spPr>
        <p:txBody>
          <a:bodyPr wrap="square" lIns="0" tIns="0" rIns="0" bIns="0" rtlCol="0" anchor="ctr"/>
          <a:lstStyle/>
          <a:p>
            <a:r>
              <a:rPr lang="en-US" b="1" dirty="0">
                <a:solidFill>
                  <a:srgbClr val="C8E6E6"/>
                </a:solidFill>
              </a:rPr>
              <a:t>Opening → Body → Closing, with a clear call to action.</a:t>
            </a:r>
            <a:endParaRPr lang="en-US" b="1" dirty="0"/>
          </a:p>
        </p:txBody>
      </p:sp>
      <p:sp>
        <p:nvSpPr>
          <p:cNvPr id="15" name="Shape 13"/>
          <p:cNvSpPr/>
          <p:nvPr/>
        </p:nvSpPr>
        <p:spPr>
          <a:xfrm>
            <a:off x="6217919" y="3061498"/>
            <a:ext cx="5547360" cy="1097280"/>
          </a:xfrm>
          <a:prstGeom prst="roundRect">
            <a:avLst>
              <a:gd name="adj" fmla="val 11111"/>
            </a:avLst>
          </a:prstGeom>
          <a:solidFill>
            <a:srgbClr val="1E3A52"/>
          </a:solidFill>
          <a:ln w="12700">
            <a:solidFill>
              <a:srgbClr val="12AEAE"/>
            </a:solidFill>
            <a:prstDash val="solid"/>
          </a:ln>
        </p:spPr>
        <p:txBody>
          <a:bodyPr/>
          <a:lstStyle/>
          <a:p>
            <a:endParaRPr lang="en-IN" sz="2400"/>
          </a:p>
        </p:txBody>
      </p:sp>
      <p:sp>
        <p:nvSpPr>
          <p:cNvPr id="16" name="Text 14"/>
          <p:cNvSpPr/>
          <p:nvPr/>
        </p:nvSpPr>
        <p:spPr>
          <a:xfrm>
            <a:off x="6461760" y="3267456"/>
            <a:ext cx="5303520" cy="365760"/>
          </a:xfrm>
          <a:prstGeom prst="rect">
            <a:avLst/>
          </a:prstGeom>
          <a:noFill/>
          <a:ln/>
        </p:spPr>
        <p:txBody>
          <a:bodyPr wrap="square" lIns="0" tIns="0" rIns="0" bIns="0" rtlCol="0" anchor="ctr"/>
          <a:lstStyle/>
          <a:p>
            <a:r>
              <a:rPr lang="en-US" sz="2400" b="1" dirty="0">
                <a:solidFill>
                  <a:srgbClr val="12AEAE"/>
                </a:solidFill>
              </a:rPr>
              <a:t>Tone matters as much as content</a:t>
            </a:r>
            <a:endParaRPr lang="en-US" sz="2400" dirty="0"/>
          </a:p>
        </p:txBody>
      </p:sp>
      <p:sp>
        <p:nvSpPr>
          <p:cNvPr id="17" name="Text 15"/>
          <p:cNvSpPr/>
          <p:nvPr/>
        </p:nvSpPr>
        <p:spPr>
          <a:xfrm>
            <a:off x="6461760" y="3657600"/>
            <a:ext cx="5303520" cy="512064"/>
          </a:xfrm>
          <a:prstGeom prst="rect">
            <a:avLst/>
          </a:prstGeom>
          <a:noFill/>
          <a:ln/>
        </p:spPr>
        <p:txBody>
          <a:bodyPr wrap="square" lIns="0" tIns="0" rIns="0" bIns="0" rtlCol="0" anchor="ctr"/>
          <a:lstStyle/>
          <a:p>
            <a:r>
              <a:rPr lang="en-US" b="1" dirty="0">
                <a:solidFill>
                  <a:srgbClr val="C8E6E6"/>
                </a:solidFill>
              </a:rPr>
              <a:t>Active voice, positive framing, and reader respect win every time</a:t>
            </a:r>
            <a:r>
              <a:rPr lang="en-US" sz="1400" b="1" dirty="0">
                <a:solidFill>
                  <a:srgbClr val="C8E6E6"/>
                </a:solidFill>
              </a:rPr>
              <a:t>.</a:t>
            </a:r>
            <a:endParaRPr lang="en-US" sz="1400" b="1" dirty="0"/>
          </a:p>
        </p:txBody>
      </p:sp>
      <p:sp>
        <p:nvSpPr>
          <p:cNvPr id="18" name="Shape 16"/>
          <p:cNvSpPr/>
          <p:nvPr/>
        </p:nvSpPr>
        <p:spPr>
          <a:xfrm>
            <a:off x="1798320" y="4563727"/>
            <a:ext cx="7345680" cy="1097280"/>
          </a:xfrm>
          <a:prstGeom prst="roundRect">
            <a:avLst>
              <a:gd name="adj" fmla="val 11111"/>
            </a:avLst>
          </a:prstGeom>
          <a:solidFill>
            <a:srgbClr val="1E3A52"/>
          </a:solidFill>
          <a:ln w="12700">
            <a:solidFill>
              <a:srgbClr val="12AEAE"/>
            </a:solidFill>
            <a:prstDash val="solid"/>
          </a:ln>
        </p:spPr>
        <p:txBody>
          <a:bodyPr/>
          <a:lstStyle/>
          <a:p>
            <a:endParaRPr lang="en-IN" sz="2400"/>
          </a:p>
        </p:txBody>
      </p:sp>
      <p:sp>
        <p:nvSpPr>
          <p:cNvPr id="19" name="Text 17"/>
          <p:cNvSpPr/>
          <p:nvPr/>
        </p:nvSpPr>
        <p:spPr>
          <a:xfrm>
            <a:off x="548640" y="4547616"/>
            <a:ext cx="11216640" cy="365760"/>
          </a:xfrm>
          <a:prstGeom prst="rect">
            <a:avLst/>
          </a:prstGeom>
          <a:noFill/>
          <a:ln/>
        </p:spPr>
        <p:txBody>
          <a:bodyPr wrap="square" lIns="0" tIns="0" rIns="0" bIns="0" rtlCol="0" anchor="ctr"/>
          <a:lstStyle/>
          <a:p>
            <a:r>
              <a:rPr lang="en-US" b="1" dirty="0">
                <a:solidFill>
                  <a:srgbClr val="12AEAE"/>
                </a:solidFill>
              </a:rPr>
              <a:t>                                              </a:t>
            </a:r>
            <a:r>
              <a:rPr lang="en-US" sz="2800" b="1" dirty="0">
                <a:solidFill>
                  <a:srgbClr val="12AEAE"/>
                </a:solidFill>
              </a:rPr>
              <a:t>Revision is not optional</a:t>
            </a:r>
            <a:endParaRPr lang="en-US" dirty="0"/>
          </a:p>
        </p:txBody>
      </p:sp>
      <p:sp>
        <p:nvSpPr>
          <p:cNvPr id="20" name="Text 18"/>
          <p:cNvSpPr/>
          <p:nvPr/>
        </p:nvSpPr>
        <p:spPr>
          <a:xfrm>
            <a:off x="548640" y="4937760"/>
            <a:ext cx="11216640" cy="512064"/>
          </a:xfrm>
          <a:prstGeom prst="rect">
            <a:avLst/>
          </a:prstGeom>
          <a:noFill/>
          <a:ln/>
        </p:spPr>
        <p:txBody>
          <a:bodyPr wrap="square" lIns="0" tIns="0" rIns="0" bIns="0" rtlCol="0" anchor="ctr"/>
          <a:lstStyle/>
          <a:p>
            <a:r>
              <a:rPr lang="en-US" sz="1600" dirty="0">
                <a:solidFill>
                  <a:srgbClr val="C8E6E6"/>
                </a:solidFill>
              </a:rPr>
              <a:t>                             </a:t>
            </a:r>
            <a:r>
              <a:rPr lang="en-US" sz="2000" dirty="0">
                <a:solidFill>
                  <a:srgbClr val="C8E6E6"/>
                </a:solidFill>
              </a:rPr>
              <a:t>Every professional document deserves at least one round of editing</a:t>
            </a:r>
            <a:r>
              <a:rPr lang="en-US" sz="1600" dirty="0">
                <a:solidFill>
                  <a:srgbClr val="C8E6E6"/>
                </a:solidFill>
              </a:rPr>
              <a:t>.</a:t>
            </a:r>
            <a:endParaRPr lang="en-US" sz="1267" dirty="0"/>
          </a:p>
        </p:txBody>
      </p:sp>
      <p:sp>
        <p:nvSpPr>
          <p:cNvPr id="21" name="Text 19"/>
          <p:cNvSpPr/>
          <p:nvPr/>
        </p:nvSpPr>
        <p:spPr>
          <a:xfrm>
            <a:off x="609600" y="5874367"/>
            <a:ext cx="10972800" cy="855617"/>
          </a:xfrm>
          <a:prstGeom prst="rect">
            <a:avLst/>
          </a:prstGeom>
          <a:noFill/>
          <a:ln/>
        </p:spPr>
        <p:txBody>
          <a:bodyPr wrap="square" lIns="0" tIns="0" rIns="0" bIns="0" rtlCol="0" anchor="ctr"/>
          <a:lstStyle/>
          <a:p>
            <a:pPr algn="ctr"/>
            <a:r>
              <a:rPr lang="en-US" sz="2400" b="1" i="1" dirty="0"/>
              <a:t>"The difference between the almost right word and the right word is the difference between the lightning bug and the lightning."  — Mark Twain</a:t>
            </a:r>
            <a:endParaRPr lang="en-US" sz="2400" b="1" dirty="0"/>
          </a:p>
        </p:txBody>
      </p:sp>
      <p:pic>
        <p:nvPicPr>
          <p:cNvPr id="23" name="Picture 2" descr="KL Deemed to be University Logo">
            <a:extLst>
              <a:ext uri="{FF2B5EF4-FFF2-40B4-BE49-F238E27FC236}">
                <a16:creationId xmlns:a16="http://schemas.microsoft.com/office/drawing/2014/main" id="{9987C395-903E-9742-76FB-1D2BB23A890A}"/>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22405F"/>
          </a:solidFill>
          <a:ln w="12700">
            <a:solidFill>
              <a:srgbClr val="22405F"/>
            </a:solidFill>
            <a:prstDash val="solid"/>
          </a:ln>
        </p:spPr>
        <p:txBody>
          <a:bodyPr/>
          <a:lstStyle/>
          <a:p>
            <a:endParaRPr lang="en-IN" sz="2400"/>
          </a:p>
        </p:txBody>
      </p:sp>
      <p:sp>
        <p:nvSpPr>
          <p:cNvPr id="3" name="Text 1"/>
          <p:cNvSpPr/>
          <p:nvPr/>
        </p:nvSpPr>
        <p:spPr>
          <a:xfrm>
            <a:off x="487680" y="121920"/>
            <a:ext cx="10972800" cy="975360"/>
          </a:xfrm>
          <a:prstGeom prst="rect">
            <a:avLst/>
          </a:prstGeom>
          <a:noFill/>
          <a:ln/>
        </p:spPr>
        <p:txBody>
          <a:bodyPr wrap="square" lIns="0" tIns="0" rIns="0" bIns="0" rtlCol="0" anchor="ctr"/>
          <a:lstStyle/>
          <a:p>
            <a:r>
              <a:rPr lang="en-US" sz="2667" b="1" dirty="0">
                <a:solidFill>
                  <a:srgbClr val="FFFFFF"/>
                </a:solidFill>
              </a:rPr>
              <a:t>               Self-Assessment Questions</a:t>
            </a:r>
            <a:endParaRPr lang="en-US" sz="2667" dirty="0"/>
          </a:p>
        </p:txBody>
      </p:sp>
      <p:sp>
        <p:nvSpPr>
          <p:cNvPr id="4" name="Shape 2"/>
          <p:cNvSpPr/>
          <p:nvPr/>
        </p:nvSpPr>
        <p:spPr>
          <a:xfrm>
            <a:off x="365760" y="1341120"/>
            <a:ext cx="5547360" cy="1560576"/>
          </a:xfrm>
          <a:prstGeom prst="roundRect">
            <a:avLst>
              <a:gd name="adj" fmla="val 7031"/>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5" name="Shape 3"/>
          <p:cNvSpPr/>
          <p:nvPr/>
        </p:nvSpPr>
        <p:spPr>
          <a:xfrm>
            <a:off x="585216" y="1377696"/>
            <a:ext cx="585216" cy="585216"/>
          </a:xfrm>
          <a:prstGeom prst="ellipse">
            <a:avLst/>
          </a:prstGeom>
          <a:solidFill>
            <a:srgbClr val="0D8A8A"/>
          </a:solidFill>
          <a:ln w="12700">
            <a:solidFill>
              <a:srgbClr val="0D8A8A"/>
            </a:solidFill>
            <a:prstDash val="solid"/>
          </a:ln>
        </p:spPr>
        <p:txBody>
          <a:bodyPr/>
          <a:lstStyle/>
          <a:p>
            <a:endParaRPr lang="en-IN" sz="2400"/>
          </a:p>
        </p:txBody>
      </p:sp>
      <p:sp>
        <p:nvSpPr>
          <p:cNvPr id="6" name="Text 4"/>
          <p:cNvSpPr/>
          <p:nvPr/>
        </p:nvSpPr>
        <p:spPr>
          <a:xfrm>
            <a:off x="512064" y="1487424"/>
            <a:ext cx="585216" cy="585216"/>
          </a:xfrm>
          <a:prstGeom prst="rect">
            <a:avLst/>
          </a:prstGeom>
          <a:noFill/>
          <a:ln/>
        </p:spPr>
        <p:txBody>
          <a:bodyPr wrap="square" lIns="0" tIns="0" rIns="0" bIns="0" rtlCol="0" anchor="ctr"/>
          <a:lstStyle/>
          <a:p>
            <a:pPr algn="ctr"/>
            <a:r>
              <a:rPr lang="en-US" sz="1467" b="1" dirty="0">
                <a:solidFill>
                  <a:srgbClr val="FFFFFF"/>
                </a:solidFill>
              </a:rPr>
              <a:t>1</a:t>
            </a:r>
            <a:endParaRPr lang="en-US" sz="1467" dirty="0"/>
          </a:p>
        </p:txBody>
      </p:sp>
      <p:sp>
        <p:nvSpPr>
          <p:cNvPr id="7" name="Text 5"/>
          <p:cNvSpPr/>
          <p:nvPr/>
        </p:nvSpPr>
        <p:spPr>
          <a:xfrm>
            <a:off x="1219200" y="1487424"/>
            <a:ext cx="4511040" cy="365760"/>
          </a:xfrm>
          <a:prstGeom prst="rect">
            <a:avLst/>
          </a:prstGeom>
          <a:noFill/>
          <a:ln/>
        </p:spPr>
        <p:txBody>
          <a:bodyPr wrap="square" lIns="0" tIns="0" rIns="0" bIns="0" rtlCol="0" anchor="ctr"/>
          <a:lstStyle/>
          <a:p>
            <a:r>
              <a:rPr lang="en-US" sz="2000" b="1" dirty="0">
                <a:solidFill>
                  <a:srgbClr val="1A2E4A"/>
                </a:solidFill>
              </a:rPr>
              <a:t>Scenario-Based</a:t>
            </a:r>
            <a:endParaRPr lang="en-US" sz="2000" dirty="0"/>
          </a:p>
        </p:txBody>
      </p:sp>
      <p:sp>
        <p:nvSpPr>
          <p:cNvPr id="8" name="Text 6"/>
          <p:cNvSpPr/>
          <p:nvPr/>
        </p:nvSpPr>
        <p:spPr>
          <a:xfrm>
            <a:off x="512064" y="1950720"/>
            <a:ext cx="5254752" cy="877824"/>
          </a:xfrm>
          <a:prstGeom prst="rect">
            <a:avLst/>
          </a:prstGeom>
          <a:noFill/>
          <a:ln/>
        </p:spPr>
        <p:txBody>
          <a:bodyPr wrap="square" lIns="0" tIns="0" rIns="0" bIns="0" rtlCol="0" anchor="ctr"/>
          <a:lstStyle/>
          <a:p>
            <a:pPr algn="just"/>
            <a:r>
              <a:rPr lang="en-US" sz="1600" dirty="0">
                <a:solidFill>
                  <a:srgbClr val="1E293B"/>
                </a:solidFill>
              </a:rPr>
              <a:t>Your manager asks you to inform 200 employees about a surprise policy change effective immediately. Which document type would you choose — email, memo, or report? Justify your choice using principles of audience analysis and urgency.</a:t>
            </a:r>
            <a:endParaRPr lang="en-US" sz="1600" dirty="0"/>
          </a:p>
        </p:txBody>
      </p:sp>
      <p:sp>
        <p:nvSpPr>
          <p:cNvPr id="9" name="Shape 7"/>
          <p:cNvSpPr/>
          <p:nvPr/>
        </p:nvSpPr>
        <p:spPr>
          <a:xfrm>
            <a:off x="365760" y="3048000"/>
            <a:ext cx="5547360" cy="1560576"/>
          </a:xfrm>
          <a:prstGeom prst="roundRect">
            <a:avLst>
              <a:gd name="adj" fmla="val 7031"/>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10" name="Shape 8"/>
          <p:cNvSpPr/>
          <p:nvPr/>
        </p:nvSpPr>
        <p:spPr>
          <a:xfrm>
            <a:off x="512064" y="3194304"/>
            <a:ext cx="585216" cy="585216"/>
          </a:xfrm>
          <a:prstGeom prst="ellipse">
            <a:avLst/>
          </a:prstGeom>
          <a:solidFill>
            <a:srgbClr val="0D8A8A"/>
          </a:solidFill>
          <a:ln w="12700">
            <a:solidFill>
              <a:srgbClr val="0D8A8A"/>
            </a:solidFill>
            <a:prstDash val="solid"/>
          </a:ln>
        </p:spPr>
        <p:txBody>
          <a:bodyPr/>
          <a:lstStyle/>
          <a:p>
            <a:endParaRPr lang="en-IN" sz="2400"/>
          </a:p>
        </p:txBody>
      </p:sp>
      <p:sp>
        <p:nvSpPr>
          <p:cNvPr id="11" name="Text 9"/>
          <p:cNvSpPr/>
          <p:nvPr/>
        </p:nvSpPr>
        <p:spPr>
          <a:xfrm>
            <a:off x="512064" y="3194304"/>
            <a:ext cx="585216" cy="585216"/>
          </a:xfrm>
          <a:prstGeom prst="rect">
            <a:avLst/>
          </a:prstGeom>
          <a:noFill/>
          <a:ln/>
        </p:spPr>
        <p:txBody>
          <a:bodyPr wrap="square" lIns="0" tIns="0" rIns="0" bIns="0" rtlCol="0" anchor="ctr"/>
          <a:lstStyle/>
          <a:p>
            <a:pPr algn="ctr"/>
            <a:r>
              <a:rPr lang="en-US" sz="1467" b="1" dirty="0">
                <a:solidFill>
                  <a:srgbClr val="FFFFFF"/>
                </a:solidFill>
              </a:rPr>
              <a:t>3</a:t>
            </a:r>
            <a:endParaRPr lang="en-US" sz="1467" dirty="0"/>
          </a:p>
        </p:txBody>
      </p:sp>
      <p:sp>
        <p:nvSpPr>
          <p:cNvPr id="12" name="Text 10"/>
          <p:cNvSpPr/>
          <p:nvPr/>
        </p:nvSpPr>
        <p:spPr>
          <a:xfrm>
            <a:off x="1219200" y="3194304"/>
            <a:ext cx="4511040" cy="365760"/>
          </a:xfrm>
          <a:prstGeom prst="rect">
            <a:avLst/>
          </a:prstGeom>
          <a:noFill/>
          <a:ln/>
        </p:spPr>
        <p:txBody>
          <a:bodyPr wrap="square" lIns="0" tIns="0" rIns="0" bIns="0" rtlCol="0" anchor="ctr"/>
          <a:lstStyle/>
          <a:p>
            <a:r>
              <a:rPr lang="en-US" sz="1600" b="1" dirty="0">
                <a:solidFill>
                  <a:srgbClr val="1A2E4A"/>
                </a:solidFill>
              </a:rPr>
              <a:t>Evaluative</a:t>
            </a:r>
            <a:endParaRPr lang="en-US" sz="1600" b="1" dirty="0"/>
          </a:p>
        </p:txBody>
      </p:sp>
      <p:sp>
        <p:nvSpPr>
          <p:cNvPr id="13" name="Text 11"/>
          <p:cNvSpPr/>
          <p:nvPr/>
        </p:nvSpPr>
        <p:spPr>
          <a:xfrm>
            <a:off x="487680" y="3755136"/>
            <a:ext cx="5279136" cy="780288"/>
          </a:xfrm>
          <a:prstGeom prst="rect">
            <a:avLst/>
          </a:prstGeom>
          <a:noFill/>
          <a:ln/>
        </p:spPr>
        <p:txBody>
          <a:bodyPr wrap="square" lIns="0" tIns="0" rIns="0" bIns="0" rtlCol="0" anchor="ctr"/>
          <a:lstStyle/>
          <a:p>
            <a:r>
              <a:rPr lang="en-US" sz="1600" b="1" dirty="0">
                <a:solidFill>
                  <a:srgbClr val="1E293B"/>
                </a:solidFill>
              </a:rPr>
              <a:t>Review the sample internal memo provided (Handout B). Identify violations of the 7 Cs, suggest corrections, and rate overall effectiveness on a scale of 1–10.</a:t>
            </a:r>
            <a:endParaRPr lang="en-US" sz="1600" b="1" dirty="0"/>
          </a:p>
        </p:txBody>
      </p:sp>
      <p:sp>
        <p:nvSpPr>
          <p:cNvPr id="14" name="Shape 12"/>
          <p:cNvSpPr/>
          <p:nvPr/>
        </p:nvSpPr>
        <p:spPr>
          <a:xfrm>
            <a:off x="365760" y="4754880"/>
            <a:ext cx="5547360" cy="1560576"/>
          </a:xfrm>
          <a:prstGeom prst="roundRect">
            <a:avLst>
              <a:gd name="adj" fmla="val 7031"/>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15" name="Shape 13"/>
          <p:cNvSpPr/>
          <p:nvPr/>
        </p:nvSpPr>
        <p:spPr>
          <a:xfrm>
            <a:off x="523603" y="4754880"/>
            <a:ext cx="585216" cy="585216"/>
          </a:xfrm>
          <a:prstGeom prst="ellipse">
            <a:avLst/>
          </a:prstGeom>
          <a:solidFill>
            <a:srgbClr val="0D8A8A"/>
          </a:solidFill>
          <a:ln w="12700">
            <a:solidFill>
              <a:srgbClr val="0D8A8A"/>
            </a:solidFill>
            <a:prstDash val="solid"/>
          </a:ln>
        </p:spPr>
        <p:txBody>
          <a:bodyPr/>
          <a:lstStyle/>
          <a:p>
            <a:endParaRPr lang="en-IN" sz="2400"/>
          </a:p>
        </p:txBody>
      </p:sp>
      <p:sp>
        <p:nvSpPr>
          <p:cNvPr id="16" name="Text 14"/>
          <p:cNvSpPr/>
          <p:nvPr/>
        </p:nvSpPr>
        <p:spPr>
          <a:xfrm>
            <a:off x="512064" y="4901184"/>
            <a:ext cx="585216" cy="585216"/>
          </a:xfrm>
          <a:prstGeom prst="rect">
            <a:avLst/>
          </a:prstGeom>
          <a:noFill/>
          <a:ln/>
        </p:spPr>
        <p:txBody>
          <a:bodyPr wrap="square" lIns="0" tIns="0" rIns="0" bIns="0" rtlCol="0" anchor="ctr"/>
          <a:lstStyle/>
          <a:p>
            <a:pPr algn="ctr"/>
            <a:r>
              <a:rPr lang="en-US" sz="1467" b="1" dirty="0">
                <a:solidFill>
                  <a:srgbClr val="FFFFFF"/>
                </a:solidFill>
              </a:rPr>
              <a:t>5</a:t>
            </a:r>
            <a:endParaRPr lang="en-US" sz="1467" dirty="0"/>
          </a:p>
        </p:txBody>
      </p:sp>
      <p:sp>
        <p:nvSpPr>
          <p:cNvPr id="17" name="Text 15"/>
          <p:cNvSpPr/>
          <p:nvPr/>
        </p:nvSpPr>
        <p:spPr>
          <a:xfrm>
            <a:off x="1219200" y="4901184"/>
            <a:ext cx="4511040" cy="365760"/>
          </a:xfrm>
          <a:prstGeom prst="rect">
            <a:avLst/>
          </a:prstGeom>
          <a:noFill/>
          <a:ln/>
        </p:spPr>
        <p:txBody>
          <a:bodyPr wrap="square" lIns="0" tIns="0" rIns="0" bIns="0" rtlCol="0" anchor="ctr"/>
          <a:lstStyle/>
          <a:p>
            <a:r>
              <a:rPr lang="en-US" sz="1600" b="1" dirty="0">
                <a:solidFill>
                  <a:srgbClr val="1A2E4A"/>
                </a:solidFill>
              </a:rPr>
              <a:t>Reflective</a:t>
            </a:r>
            <a:endParaRPr lang="en-US" sz="1600" dirty="0"/>
          </a:p>
        </p:txBody>
      </p:sp>
      <p:sp>
        <p:nvSpPr>
          <p:cNvPr id="18" name="Text 16"/>
          <p:cNvSpPr/>
          <p:nvPr/>
        </p:nvSpPr>
        <p:spPr>
          <a:xfrm>
            <a:off x="365760" y="5364480"/>
            <a:ext cx="5547360" cy="1097280"/>
          </a:xfrm>
          <a:prstGeom prst="rect">
            <a:avLst/>
          </a:prstGeom>
          <a:noFill/>
          <a:ln/>
        </p:spPr>
        <p:txBody>
          <a:bodyPr wrap="square" lIns="0" tIns="0" rIns="0" bIns="0" rtlCol="0" anchor="ctr"/>
          <a:lstStyle/>
          <a:p>
            <a:r>
              <a:rPr lang="en-US" sz="1600" b="1" dirty="0">
                <a:solidFill>
                  <a:srgbClr val="1E293B"/>
                </a:solidFill>
              </a:rPr>
              <a:t>Think of a real professional or academic writing task you completed. Identify one principle from this session you wish you had applied. Explain how it would have improved your output.</a:t>
            </a:r>
            <a:endParaRPr lang="en-US" sz="1600" b="1" dirty="0"/>
          </a:p>
        </p:txBody>
      </p:sp>
      <p:sp>
        <p:nvSpPr>
          <p:cNvPr id="19" name="Shape 17"/>
          <p:cNvSpPr/>
          <p:nvPr/>
        </p:nvSpPr>
        <p:spPr>
          <a:xfrm>
            <a:off x="6278880" y="1584960"/>
            <a:ext cx="5547360" cy="2170176"/>
          </a:xfrm>
          <a:prstGeom prst="roundRect">
            <a:avLst>
              <a:gd name="adj" fmla="val 7031"/>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20" name="Shape 18"/>
          <p:cNvSpPr/>
          <p:nvPr/>
        </p:nvSpPr>
        <p:spPr>
          <a:xfrm>
            <a:off x="6425184" y="2231136"/>
            <a:ext cx="585216" cy="585216"/>
          </a:xfrm>
          <a:prstGeom prst="ellipse">
            <a:avLst/>
          </a:prstGeom>
          <a:solidFill>
            <a:srgbClr val="E8A020"/>
          </a:solidFill>
          <a:ln w="12700">
            <a:solidFill>
              <a:srgbClr val="E8A020"/>
            </a:solidFill>
            <a:prstDash val="solid"/>
          </a:ln>
        </p:spPr>
        <p:txBody>
          <a:bodyPr/>
          <a:lstStyle/>
          <a:p>
            <a:endParaRPr lang="en-IN" sz="2400"/>
          </a:p>
        </p:txBody>
      </p:sp>
      <p:sp>
        <p:nvSpPr>
          <p:cNvPr id="21" name="Text 19"/>
          <p:cNvSpPr/>
          <p:nvPr/>
        </p:nvSpPr>
        <p:spPr>
          <a:xfrm>
            <a:off x="6425184" y="2340864"/>
            <a:ext cx="585216" cy="585216"/>
          </a:xfrm>
          <a:prstGeom prst="rect">
            <a:avLst/>
          </a:prstGeom>
          <a:noFill/>
          <a:ln/>
        </p:spPr>
        <p:txBody>
          <a:bodyPr wrap="square" lIns="0" tIns="0" rIns="0" bIns="0" rtlCol="0" anchor="ctr"/>
          <a:lstStyle/>
          <a:p>
            <a:pPr algn="ctr"/>
            <a:r>
              <a:rPr lang="en-US" sz="1467" b="1" dirty="0">
                <a:solidFill>
                  <a:srgbClr val="FFFFFF"/>
                </a:solidFill>
              </a:rPr>
              <a:t>2</a:t>
            </a:r>
            <a:endParaRPr lang="en-US" sz="1467" dirty="0"/>
          </a:p>
        </p:txBody>
      </p:sp>
      <p:sp>
        <p:nvSpPr>
          <p:cNvPr id="22" name="Text 20"/>
          <p:cNvSpPr/>
          <p:nvPr/>
        </p:nvSpPr>
        <p:spPr>
          <a:xfrm>
            <a:off x="7132320" y="2340864"/>
            <a:ext cx="4511040" cy="365760"/>
          </a:xfrm>
          <a:prstGeom prst="rect">
            <a:avLst/>
          </a:prstGeom>
          <a:noFill/>
          <a:ln/>
        </p:spPr>
        <p:txBody>
          <a:bodyPr wrap="square" lIns="0" tIns="0" rIns="0" bIns="0" rtlCol="0" anchor="ctr"/>
          <a:lstStyle/>
          <a:p>
            <a:r>
              <a:rPr lang="en-US" sz="1600" b="1" dirty="0">
                <a:solidFill>
                  <a:srgbClr val="1A2E4A"/>
                </a:solidFill>
              </a:rPr>
              <a:t>Analytical</a:t>
            </a:r>
            <a:endParaRPr lang="en-US" sz="1600" dirty="0"/>
          </a:p>
        </p:txBody>
      </p:sp>
      <p:sp>
        <p:nvSpPr>
          <p:cNvPr id="23" name="Text 21"/>
          <p:cNvSpPr/>
          <p:nvPr/>
        </p:nvSpPr>
        <p:spPr>
          <a:xfrm>
            <a:off x="6425184" y="2804160"/>
            <a:ext cx="5254752" cy="877824"/>
          </a:xfrm>
          <a:prstGeom prst="rect">
            <a:avLst/>
          </a:prstGeom>
          <a:noFill/>
          <a:ln/>
        </p:spPr>
        <p:txBody>
          <a:bodyPr wrap="square" lIns="0" tIns="0" rIns="0" bIns="0" rtlCol="0" anchor="ctr"/>
          <a:lstStyle/>
          <a:p>
            <a:pPr algn="just"/>
            <a:r>
              <a:rPr lang="en-US" sz="1600" b="1" dirty="0">
                <a:solidFill>
                  <a:srgbClr val="1E293B"/>
                </a:solidFill>
              </a:rPr>
              <a:t>A colleague argues that bullet points make writing 'unprofessional'. Critically evaluate this claim with reference to formatting principles and document purpose.</a:t>
            </a:r>
            <a:endParaRPr lang="en-US" sz="1600" b="1" dirty="0"/>
          </a:p>
        </p:txBody>
      </p:sp>
      <p:sp>
        <p:nvSpPr>
          <p:cNvPr id="24" name="Shape 22"/>
          <p:cNvSpPr/>
          <p:nvPr/>
        </p:nvSpPr>
        <p:spPr>
          <a:xfrm>
            <a:off x="6370755" y="4262846"/>
            <a:ext cx="5547360" cy="1560576"/>
          </a:xfrm>
          <a:prstGeom prst="roundRect">
            <a:avLst>
              <a:gd name="adj" fmla="val 7031"/>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25" name="Shape 23"/>
          <p:cNvSpPr/>
          <p:nvPr/>
        </p:nvSpPr>
        <p:spPr>
          <a:xfrm>
            <a:off x="6425184" y="3913196"/>
            <a:ext cx="585216" cy="585216"/>
          </a:xfrm>
          <a:prstGeom prst="ellipse">
            <a:avLst/>
          </a:prstGeom>
          <a:solidFill>
            <a:srgbClr val="E8A020"/>
          </a:solidFill>
          <a:ln w="12700">
            <a:solidFill>
              <a:srgbClr val="E8A020"/>
            </a:solidFill>
            <a:prstDash val="solid"/>
          </a:ln>
        </p:spPr>
        <p:txBody>
          <a:bodyPr/>
          <a:lstStyle/>
          <a:p>
            <a:endParaRPr lang="en-IN" sz="2400"/>
          </a:p>
        </p:txBody>
      </p:sp>
      <p:sp>
        <p:nvSpPr>
          <p:cNvPr id="26" name="Text 24"/>
          <p:cNvSpPr/>
          <p:nvPr/>
        </p:nvSpPr>
        <p:spPr>
          <a:xfrm>
            <a:off x="6425184" y="4047744"/>
            <a:ext cx="585216" cy="585216"/>
          </a:xfrm>
          <a:prstGeom prst="rect">
            <a:avLst/>
          </a:prstGeom>
          <a:noFill/>
          <a:ln/>
        </p:spPr>
        <p:txBody>
          <a:bodyPr wrap="square" lIns="0" tIns="0" rIns="0" bIns="0" rtlCol="0" anchor="ctr"/>
          <a:lstStyle/>
          <a:p>
            <a:pPr algn="ctr"/>
            <a:r>
              <a:rPr lang="en-US" sz="1467" b="1" dirty="0">
                <a:solidFill>
                  <a:srgbClr val="FFFFFF"/>
                </a:solidFill>
              </a:rPr>
              <a:t>4</a:t>
            </a:r>
            <a:endParaRPr lang="en-US" sz="1467" dirty="0"/>
          </a:p>
        </p:txBody>
      </p:sp>
      <p:sp>
        <p:nvSpPr>
          <p:cNvPr id="27" name="Text 25"/>
          <p:cNvSpPr/>
          <p:nvPr/>
        </p:nvSpPr>
        <p:spPr>
          <a:xfrm>
            <a:off x="7132320" y="4047744"/>
            <a:ext cx="4511040" cy="365760"/>
          </a:xfrm>
          <a:prstGeom prst="rect">
            <a:avLst/>
          </a:prstGeom>
          <a:noFill/>
          <a:ln/>
        </p:spPr>
        <p:txBody>
          <a:bodyPr wrap="square" lIns="0" tIns="0" rIns="0" bIns="0" rtlCol="0" anchor="ctr"/>
          <a:lstStyle/>
          <a:p>
            <a:r>
              <a:rPr lang="en-US" sz="1600" b="1" dirty="0">
                <a:solidFill>
                  <a:srgbClr val="1A2E4A"/>
                </a:solidFill>
              </a:rPr>
              <a:t>Creative Application</a:t>
            </a:r>
            <a:endParaRPr lang="en-US" sz="1600" dirty="0"/>
          </a:p>
        </p:txBody>
      </p:sp>
      <p:sp>
        <p:nvSpPr>
          <p:cNvPr id="28" name="Text 26"/>
          <p:cNvSpPr/>
          <p:nvPr/>
        </p:nvSpPr>
        <p:spPr>
          <a:xfrm>
            <a:off x="6425184" y="4706112"/>
            <a:ext cx="5401056" cy="1044158"/>
          </a:xfrm>
          <a:prstGeom prst="rect">
            <a:avLst/>
          </a:prstGeom>
          <a:noFill/>
          <a:ln/>
        </p:spPr>
        <p:txBody>
          <a:bodyPr wrap="square" lIns="0" tIns="0" rIns="0" bIns="0" rtlCol="0" anchor="ctr"/>
          <a:lstStyle/>
          <a:p>
            <a:pPr algn="just"/>
            <a:r>
              <a:rPr lang="en-US" b="1" dirty="0">
                <a:solidFill>
                  <a:srgbClr val="1E293B"/>
                </a:solidFill>
              </a:rPr>
              <a:t>Draft a 150-word executive summary for the ArrowTech case outcome. Your audience is the Board of Directors — non-technical, time-poor, and results-focused</a:t>
            </a:r>
            <a:r>
              <a:rPr lang="en-US" sz="1600" b="1" dirty="0">
                <a:solidFill>
                  <a:srgbClr val="1E293B"/>
                </a:solidFill>
              </a:rPr>
              <a:t>.</a:t>
            </a:r>
            <a:endParaRPr lang="en-US" sz="1600" b="1" dirty="0"/>
          </a:p>
        </p:txBody>
      </p:sp>
      <p:pic>
        <p:nvPicPr>
          <p:cNvPr id="30" name="Picture 2" descr="KL Deemed to be University Logo">
            <a:extLst>
              <a:ext uri="{FF2B5EF4-FFF2-40B4-BE49-F238E27FC236}">
                <a16:creationId xmlns:a16="http://schemas.microsoft.com/office/drawing/2014/main" id="{4026F110-23C8-B420-400B-56581D80019D}"/>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1219200"/>
          </a:xfrm>
          <a:prstGeom prst="rect">
            <a:avLst/>
          </a:prstGeom>
          <a:solidFill>
            <a:srgbClr val="0D8A8A"/>
          </a:solidFill>
          <a:ln w="12700">
            <a:solidFill>
              <a:srgbClr val="0D8A8A"/>
            </a:solidFill>
            <a:prstDash val="solid"/>
          </a:ln>
        </p:spPr>
        <p:txBody>
          <a:bodyPr/>
          <a:lstStyle/>
          <a:p>
            <a:endParaRPr lang="en-IN" sz="2400"/>
          </a:p>
        </p:txBody>
      </p:sp>
      <p:sp>
        <p:nvSpPr>
          <p:cNvPr id="3" name="Text 1"/>
          <p:cNvSpPr/>
          <p:nvPr/>
        </p:nvSpPr>
        <p:spPr>
          <a:xfrm>
            <a:off x="1480456" y="0"/>
            <a:ext cx="9980023" cy="1097280"/>
          </a:xfrm>
          <a:prstGeom prst="rect">
            <a:avLst/>
          </a:prstGeom>
          <a:noFill/>
          <a:ln/>
        </p:spPr>
        <p:txBody>
          <a:bodyPr wrap="square" lIns="0" tIns="0" rIns="0" bIns="0" rtlCol="0" anchor="ctr"/>
          <a:lstStyle/>
          <a:p>
            <a:r>
              <a:rPr lang="en-US" sz="2667" b="1" dirty="0">
                <a:solidFill>
                  <a:srgbClr val="FFFFFF"/>
                </a:solidFill>
              </a:rPr>
              <a:t>  Terminal Questions</a:t>
            </a:r>
            <a:endParaRPr lang="en-US" sz="2667" dirty="0"/>
          </a:p>
        </p:txBody>
      </p:sp>
      <p:sp>
        <p:nvSpPr>
          <p:cNvPr id="4" name="Shape 2"/>
          <p:cNvSpPr/>
          <p:nvPr/>
        </p:nvSpPr>
        <p:spPr>
          <a:xfrm>
            <a:off x="365760" y="1341120"/>
            <a:ext cx="11460480" cy="731520"/>
          </a:xfrm>
          <a:prstGeom prst="roundRect">
            <a:avLst>
              <a:gd name="adj" fmla="val 9756"/>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6" name="Text 4"/>
          <p:cNvSpPr/>
          <p:nvPr/>
        </p:nvSpPr>
        <p:spPr>
          <a:xfrm>
            <a:off x="451104" y="1426464"/>
            <a:ext cx="1475232" cy="365760"/>
          </a:xfrm>
          <a:prstGeom prst="rect">
            <a:avLst/>
          </a:prstGeom>
          <a:noFill/>
          <a:ln/>
        </p:spPr>
        <p:txBody>
          <a:bodyPr wrap="square" lIns="0" tIns="0" rIns="0" bIns="0" rtlCol="0" anchor="ctr"/>
          <a:lstStyle/>
          <a:p>
            <a:pPr algn="ctr"/>
            <a:r>
              <a:rPr lang="en-US" sz="1067" b="1" dirty="0">
                <a:solidFill>
                  <a:srgbClr val="FFFFFF"/>
                </a:solidFill>
              </a:rPr>
              <a:t>2 Marks</a:t>
            </a:r>
            <a:endParaRPr lang="en-US" sz="1067" dirty="0"/>
          </a:p>
        </p:txBody>
      </p:sp>
      <p:sp>
        <p:nvSpPr>
          <p:cNvPr id="7" name="Text 5"/>
          <p:cNvSpPr/>
          <p:nvPr/>
        </p:nvSpPr>
        <p:spPr>
          <a:xfrm>
            <a:off x="365760" y="1420368"/>
            <a:ext cx="11277600" cy="798576"/>
          </a:xfrm>
          <a:prstGeom prst="rect">
            <a:avLst/>
          </a:prstGeom>
          <a:noFill/>
          <a:ln/>
        </p:spPr>
        <p:txBody>
          <a:bodyPr wrap="square" lIns="0" tIns="0" rIns="0" bIns="0" rtlCol="0" anchor="t"/>
          <a:lstStyle/>
          <a:p>
            <a:r>
              <a:rPr lang="en-US" sz="2000" dirty="0">
                <a:solidFill>
                  <a:srgbClr val="1E293B"/>
                </a:solidFill>
              </a:rPr>
              <a:t>Q1.  </a:t>
            </a:r>
            <a:r>
              <a:rPr lang="en-US" sz="2000" b="1" dirty="0">
                <a:solidFill>
                  <a:srgbClr val="1E293B"/>
                </a:solidFill>
              </a:rPr>
              <a:t>Define professional writing and list any four characteristics that distinguish it from informal communication</a:t>
            </a:r>
            <a:r>
              <a:rPr lang="en-US" sz="1333" b="1" dirty="0">
                <a:solidFill>
                  <a:srgbClr val="1E293B"/>
                </a:solidFill>
              </a:rPr>
              <a:t>.</a:t>
            </a:r>
            <a:endParaRPr lang="en-US" sz="1333" b="1" dirty="0"/>
          </a:p>
        </p:txBody>
      </p:sp>
      <p:sp>
        <p:nvSpPr>
          <p:cNvPr id="8" name="Shape 6"/>
          <p:cNvSpPr/>
          <p:nvPr/>
        </p:nvSpPr>
        <p:spPr>
          <a:xfrm>
            <a:off x="365760" y="2414016"/>
            <a:ext cx="11460480" cy="646176"/>
          </a:xfrm>
          <a:prstGeom prst="roundRect">
            <a:avLst>
              <a:gd name="adj" fmla="val 9756"/>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10" name="Text 8"/>
          <p:cNvSpPr/>
          <p:nvPr/>
        </p:nvSpPr>
        <p:spPr>
          <a:xfrm>
            <a:off x="451104" y="2499360"/>
            <a:ext cx="1475232" cy="365760"/>
          </a:xfrm>
          <a:prstGeom prst="rect">
            <a:avLst/>
          </a:prstGeom>
          <a:noFill/>
          <a:ln/>
        </p:spPr>
        <p:txBody>
          <a:bodyPr wrap="square" lIns="0" tIns="0" rIns="0" bIns="0" rtlCol="0" anchor="ctr"/>
          <a:lstStyle/>
          <a:p>
            <a:pPr algn="ctr"/>
            <a:r>
              <a:rPr lang="en-US" sz="1067" b="1" dirty="0">
                <a:solidFill>
                  <a:srgbClr val="FFFFFF"/>
                </a:solidFill>
              </a:rPr>
              <a:t>2 Marks</a:t>
            </a:r>
            <a:endParaRPr lang="en-US" sz="1067" dirty="0"/>
          </a:p>
        </p:txBody>
      </p:sp>
      <p:sp>
        <p:nvSpPr>
          <p:cNvPr id="11" name="Text 9"/>
          <p:cNvSpPr/>
          <p:nvPr/>
        </p:nvSpPr>
        <p:spPr>
          <a:xfrm>
            <a:off x="451104" y="2499360"/>
            <a:ext cx="11192256" cy="792480"/>
          </a:xfrm>
          <a:prstGeom prst="rect">
            <a:avLst/>
          </a:prstGeom>
          <a:noFill/>
          <a:ln/>
        </p:spPr>
        <p:txBody>
          <a:bodyPr wrap="square" lIns="0" tIns="0" rIns="0" bIns="0" rtlCol="0" anchor="t"/>
          <a:lstStyle/>
          <a:p>
            <a:r>
              <a:rPr lang="en-US" sz="2000" b="1" dirty="0">
                <a:solidFill>
                  <a:srgbClr val="1E293B"/>
                </a:solidFill>
              </a:rPr>
              <a:t>Q2.  What does the acronym '7 Cs' stand for? Briefly explain any three Cs with one example each.</a:t>
            </a:r>
            <a:endParaRPr lang="en-US" sz="2000" b="1" dirty="0"/>
          </a:p>
        </p:txBody>
      </p:sp>
      <p:sp>
        <p:nvSpPr>
          <p:cNvPr id="12" name="Shape 10"/>
          <p:cNvSpPr/>
          <p:nvPr/>
        </p:nvSpPr>
        <p:spPr>
          <a:xfrm>
            <a:off x="365760" y="3486912"/>
            <a:ext cx="11460480" cy="646176"/>
          </a:xfrm>
          <a:prstGeom prst="roundRect">
            <a:avLst>
              <a:gd name="adj" fmla="val 50000"/>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15" name="Text 13"/>
          <p:cNvSpPr/>
          <p:nvPr/>
        </p:nvSpPr>
        <p:spPr>
          <a:xfrm>
            <a:off x="451104" y="3572256"/>
            <a:ext cx="11192256" cy="792480"/>
          </a:xfrm>
          <a:prstGeom prst="rect">
            <a:avLst/>
          </a:prstGeom>
          <a:noFill/>
          <a:ln/>
        </p:spPr>
        <p:txBody>
          <a:bodyPr wrap="square" lIns="0" tIns="0" rIns="0" bIns="0" rtlCol="0" anchor="t"/>
          <a:lstStyle/>
          <a:p>
            <a:r>
              <a:rPr lang="en-US" b="1" dirty="0">
                <a:solidFill>
                  <a:srgbClr val="1E293B"/>
                </a:solidFill>
              </a:rPr>
              <a:t>Q3.  Differentiate between a business email and a formal memo in terms of format, tone, and appropriate use. Provide one example scenario for each</a:t>
            </a:r>
            <a:r>
              <a:rPr lang="en-US" sz="1400" b="1" dirty="0">
                <a:solidFill>
                  <a:srgbClr val="1E293B"/>
                </a:solidFill>
              </a:rPr>
              <a:t>.</a:t>
            </a:r>
            <a:endParaRPr lang="en-US" sz="1400" b="1" dirty="0"/>
          </a:p>
        </p:txBody>
      </p:sp>
      <p:sp>
        <p:nvSpPr>
          <p:cNvPr id="16" name="Shape 14"/>
          <p:cNvSpPr/>
          <p:nvPr/>
        </p:nvSpPr>
        <p:spPr>
          <a:xfrm>
            <a:off x="365760" y="4559808"/>
            <a:ext cx="11460480" cy="646176"/>
          </a:xfrm>
          <a:prstGeom prst="roundRect">
            <a:avLst>
              <a:gd name="adj" fmla="val 9756"/>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19" name="Text 17"/>
          <p:cNvSpPr/>
          <p:nvPr/>
        </p:nvSpPr>
        <p:spPr>
          <a:xfrm>
            <a:off x="451104" y="4645152"/>
            <a:ext cx="11192256" cy="792480"/>
          </a:xfrm>
          <a:prstGeom prst="rect">
            <a:avLst/>
          </a:prstGeom>
          <a:noFill/>
          <a:ln/>
        </p:spPr>
        <p:txBody>
          <a:bodyPr wrap="square" lIns="0" tIns="0" rIns="0" bIns="0" rtlCol="0" anchor="t"/>
          <a:lstStyle/>
          <a:p>
            <a:r>
              <a:rPr lang="en-US" b="1" dirty="0">
                <a:solidFill>
                  <a:srgbClr val="1E293B"/>
                </a:solidFill>
              </a:rPr>
              <a:t>Q4.  Explain how audience analysis influences decisions about vocabulary, format, and tone in professional documents. Illustrate with two contrasting examples.</a:t>
            </a:r>
            <a:endParaRPr lang="en-US" b="1" dirty="0"/>
          </a:p>
        </p:txBody>
      </p:sp>
      <p:sp>
        <p:nvSpPr>
          <p:cNvPr id="20" name="Shape 18"/>
          <p:cNvSpPr/>
          <p:nvPr/>
        </p:nvSpPr>
        <p:spPr>
          <a:xfrm>
            <a:off x="365760" y="5632704"/>
            <a:ext cx="11460480" cy="646176"/>
          </a:xfrm>
          <a:prstGeom prst="roundRect">
            <a:avLst>
              <a:gd name="adj" fmla="val 50000"/>
            </a:avLst>
          </a:prstGeom>
          <a:solidFill>
            <a:srgbClr val="FFFFFF"/>
          </a:solidFill>
          <a:ln w="12700">
            <a:solidFill>
              <a:srgbClr val="E8EFF7"/>
            </a:solidFill>
            <a:prstDash val="solid"/>
          </a:ln>
          <a:effectLst>
            <a:outerShdw blurRad="101600" dist="38100" dir="2700000" algn="bl" rotWithShape="0">
              <a:srgbClr val="000000">
                <a:alpha val="12000"/>
              </a:srgbClr>
            </a:outerShdw>
          </a:effectLst>
        </p:spPr>
        <p:txBody>
          <a:bodyPr/>
          <a:lstStyle/>
          <a:p>
            <a:endParaRPr lang="en-IN" sz="2400"/>
          </a:p>
        </p:txBody>
      </p:sp>
      <p:sp>
        <p:nvSpPr>
          <p:cNvPr id="23" name="Text 21"/>
          <p:cNvSpPr/>
          <p:nvPr/>
        </p:nvSpPr>
        <p:spPr>
          <a:xfrm>
            <a:off x="365760" y="5644896"/>
            <a:ext cx="11277600" cy="865632"/>
          </a:xfrm>
          <a:prstGeom prst="rect">
            <a:avLst/>
          </a:prstGeom>
          <a:noFill/>
          <a:ln/>
        </p:spPr>
        <p:txBody>
          <a:bodyPr wrap="square" lIns="0" tIns="0" rIns="0" bIns="0" rtlCol="0" anchor="t"/>
          <a:lstStyle/>
          <a:p>
            <a:r>
              <a:rPr lang="en-US" b="1" dirty="0">
                <a:solidFill>
                  <a:srgbClr val="1E293B"/>
                </a:solidFill>
              </a:rPr>
              <a:t>Q5.  You are the HR Manager of a company introducing a mandatory weekend shift policy for one month. Draft a formal memo to all employees (approx. 250 words) announcing this change. Ensure your writing adheres to the 7 Cs and follows correct memo format.</a:t>
            </a:r>
            <a:endParaRPr lang="en-US" b="1" dirty="0"/>
          </a:p>
        </p:txBody>
      </p:sp>
      <p:pic>
        <p:nvPicPr>
          <p:cNvPr id="25" name="Picture 2" descr="KL Deemed to be University Logo">
            <a:extLst>
              <a:ext uri="{FF2B5EF4-FFF2-40B4-BE49-F238E27FC236}">
                <a16:creationId xmlns:a16="http://schemas.microsoft.com/office/drawing/2014/main" id="{A6AA40B4-2EA5-B42A-67E3-FD547AE4E223}"/>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1309" y="93891"/>
            <a:ext cx="7105194" cy="107372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6" name="TextBox 5">
            <a:extLst>
              <a:ext uri="{FF2B5EF4-FFF2-40B4-BE49-F238E27FC236}">
                <a16:creationId xmlns:a16="http://schemas.microsoft.com/office/drawing/2014/main" id="{0A5B1345-E794-7A9E-9F04-A1ADA748DBD0}"/>
              </a:ext>
            </a:extLst>
          </p:cNvPr>
          <p:cNvSpPr txBox="1"/>
          <p:nvPr/>
        </p:nvSpPr>
        <p:spPr>
          <a:xfrm>
            <a:off x="533399" y="1360715"/>
            <a:ext cx="10493829" cy="3693319"/>
          </a:xfrm>
          <a:prstGeom prst="rect">
            <a:avLst/>
          </a:prstGeom>
          <a:noFill/>
        </p:spPr>
        <p:txBody>
          <a:bodyPr wrap="square">
            <a:spAutoFit/>
          </a:bodyPr>
          <a:lstStyle/>
          <a:p>
            <a:pPr marL="342900" indent="-342900">
              <a:buAutoNum type="arabicPeriod"/>
            </a:pPr>
            <a:r>
              <a:rPr lang="en-IN" sz="2800" dirty="0">
                <a:hlinkClick r:id="rId3"/>
              </a:rPr>
              <a:t>https://www.21kschool.com/in/blog/how-to-overcome-stage-fear/</a:t>
            </a:r>
            <a:endParaRPr lang="en-IN" sz="2800" dirty="0"/>
          </a:p>
          <a:p>
            <a:pPr marL="342900" indent="-342900">
              <a:buAutoNum type="arabicPeriod"/>
            </a:pPr>
            <a:r>
              <a:rPr lang="en-IN" sz="2800" dirty="0">
                <a:hlinkClick r:id="rId4"/>
              </a:rPr>
              <a:t>https://www.sandrazimmer.com/transform-stage-fright-into-authentic-presence/</a:t>
            </a:r>
            <a:endParaRPr lang="en-IN" sz="2800" dirty="0"/>
          </a:p>
          <a:p>
            <a:pPr marL="342900" indent="-342900">
              <a:buAutoNum type="arabicPeriod"/>
            </a:pPr>
            <a:r>
              <a:rPr lang="en-IN" sz="2800" dirty="0">
                <a:hlinkClick r:id="rId5"/>
              </a:rPr>
              <a:t>https://www.rockethealth.app/blog/how-to-overcome-stage-fear-proven-strategies-for-confidence/</a:t>
            </a:r>
            <a:endParaRPr lang="en-IN" sz="2800" dirty="0"/>
          </a:p>
          <a:p>
            <a:pPr marL="342900" indent="-342900">
              <a:buAutoNum type="arabicPeriod" startAt="4"/>
            </a:pPr>
            <a:r>
              <a:rPr lang="en-IN" sz="2800" dirty="0">
                <a:hlinkClick r:id="rId6"/>
              </a:rPr>
              <a:t>https://www.youtube.com/watch?v=zCVX3cqn4ao</a:t>
            </a:r>
            <a:endParaRPr lang="en-IN" sz="2800" dirty="0"/>
          </a:p>
          <a:p>
            <a:pPr marL="342900" indent="-342900">
              <a:buAutoNum type="arabicPeriod" startAt="4"/>
            </a:pPr>
            <a:r>
              <a:rPr lang="en-IN" sz="2800" dirty="0">
                <a:hlinkClick r:id="rId7"/>
              </a:rPr>
              <a:t>https://www.youtube.com/watch?v=_N0QScyQLD0</a:t>
            </a:r>
            <a:endParaRPr lang="en-IN" sz="2800" dirty="0"/>
          </a:p>
          <a:p>
            <a:pPr marL="342900" indent="-342900">
              <a:buAutoNum type="arabicPeriod" startAt="4"/>
            </a:pPr>
            <a:endParaRPr lang="en-IN" sz="2000" dirty="0"/>
          </a:p>
          <a:p>
            <a:endParaRPr lang="en-IN"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a:latin typeface="Poppins" pitchFamily="2" charset="77"/>
                <a:cs typeface="Poppins" pitchFamily="2" charset="77"/>
              </a:rPr>
              <a:t>Team –LANGUAGE SKILLS </a:t>
            </a:r>
            <a:r>
              <a:rPr lang="en-US" sz="2400" b="1" dirty="0">
                <a:latin typeface="Poppins" pitchFamily="2" charset="77"/>
                <a:cs typeface="Poppins" pitchFamily="2" charset="77"/>
              </a:rPr>
              <a:t>FOR ENGINEERS</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datastoreItem>
</file>

<file path=customXml/itemProps2.xml><?xml version="1.0" encoding="utf-8"?>
<ds:datastoreItem xmlns:ds="http://schemas.openxmlformats.org/officeDocument/2006/customXml" ds:itemID="{3DA00F5F-5366-4B1C-9406-30DECA796ABB}">
  <ds:schemaRefs/>
</ds:datastoreItem>
</file>

<file path=customXml/itemProps3.xml><?xml version="1.0" encoding="utf-8"?>
<ds:datastoreItem xmlns:ds="http://schemas.openxmlformats.org/officeDocument/2006/customXml" ds:itemID="{C89A6ECA-0C1B-4F00-836D-A696F073E5C2}">
  <ds:schemaRefs/>
</ds:datastoreItem>
</file>

<file path=docProps/app.xml><?xml version="1.0" encoding="utf-8"?>
<Properties xmlns="http://schemas.openxmlformats.org/officeDocument/2006/extended-properties" xmlns:vt="http://schemas.openxmlformats.org/officeDocument/2006/docPropsVTypes">
  <Template>Office Theme</Template>
  <TotalTime>3897</TotalTime>
  <Words>1940</Words>
  <Application>Microsoft Office PowerPoint</Application>
  <PresentationFormat>Widescreen</PresentationFormat>
  <Paragraphs>236</Paragraphs>
  <Slides>20</Slides>
  <Notes>14</Notes>
  <HiddenSlides>0</HiddenSlides>
  <MMClips>2</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Amasis MT Pro</vt:lpstr>
      <vt:lpstr>Amasis MT Pro Black</vt:lpstr>
      <vt:lpstr>Aptos ExtraBold</vt:lpstr>
      <vt:lpstr>Arial</vt:lpstr>
      <vt:lpstr>Arial Nova</vt:lpstr>
      <vt:lpstr>Calibri</vt:lpstr>
      <vt:lpstr>Gill Sans Nova</vt:lpstr>
      <vt:lpstr>Poppins</vt:lpstr>
      <vt:lpstr>quote-cjk-patch</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SHAIDA FARHAD</cp:lastModifiedBy>
  <cp:revision>324</cp:revision>
  <dcterms:created xsi:type="dcterms:W3CDTF">2020-02-08T09:57:00Z</dcterms:created>
  <dcterms:modified xsi:type="dcterms:W3CDTF">2026-07-17T02:39:41Z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27401E1F0AE14F1F955F03AC52F510AC_13</vt:lpwstr>
  </property>
  <property fmtid="{D5CDD505-2E9C-101B-9397-08002B2CF9AE}" pid="4" name="KSOProductBuildVer">
    <vt:lpwstr>1033-12.2.0.19307</vt:lpwstr>
  </property>
</Properties>
</file>