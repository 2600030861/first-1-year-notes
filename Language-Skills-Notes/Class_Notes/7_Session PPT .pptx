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0"/>
  </p:notesMasterIdLst>
  <p:sldIdLst>
    <p:sldId id="271" r:id="rId5"/>
    <p:sldId id="358" r:id="rId6"/>
    <p:sldId id="321" r:id="rId7"/>
    <p:sldId id="322" r:id="rId8"/>
    <p:sldId id="325" r:id="rId9"/>
    <p:sldId id="334" r:id="rId10"/>
    <p:sldId id="335" r:id="rId11"/>
    <p:sldId id="343" r:id="rId12"/>
    <p:sldId id="336" r:id="rId13"/>
    <p:sldId id="344" r:id="rId14"/>
    <p:sldId id="345" r:id="rId15"/>
    <p:sldId id="356" r:id="rId16"/>
    <p:sldId id="357" r:id="rId17"/>
    <p:sldId id="346" r:id="rId18"/>
    <p:sldId id="347" r:id="rId19"/>
    <p:sldId id="348" r:id="rId20"/>
    <p:sldId id="352" r:id="rId21"/>
    <p:sldId id="349" r:id="rId22"/>
    <p:sldId id="350" r:id="rId23"/>
    <p:sldId id="351" r:id="rId24"/>
    <p:sldId id="359" r:id="rId25"/>
    <p:sldId id="353" r:id="rId26"/>
    <p:sldId id="354" r:id="rId27"/>
    <p:sldId id="355" r:id="rId28"/>
    <p:sldId id="304"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4845"/>
    <a:srgbClr val="FF9900"/>
    <a:srgbClr val="FAD2D2"/>
    <a:srgbClr val="F89E4C"/>
    <a:srgbClr val="A81E24"/>
    <a:srgbClr val="FFF2CC"/>
    <a:srgbClr val="CF2F33"/>
    <a:srgbClr val="BA2532"/>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175C9D-ED00-C042-BA6C-9F9756DEEB11}" v="52" dt="2025-06-25T15:24:37.568"/>
  </p1510:revLst>
</p1510:revInfo>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45"/>
  </p:normalViewPr>
  <p:slideViewPr>
    <p:cSldViewPr snapToGrid="0">
      <p:cViewPr varScale="1">
        <p:scale>
          <a:sx n="78" d="100"/>
          <a:sy n="78" d="100"/>
        </p:scale>
        <p:origin x="850" y="43"/>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8/17/2026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31A3C-E967-AD0E-BDF2-4981595BD2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5411DD-DBF1-1AE5-2BBD-776B4241E36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1785D0F-661E-D4E7-802A-DCDAE3DC47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180E0F-252D-AC90-29E8-34A9E0BA06F2}"/>
              </a:ext>
            </a:extLst>
          </p:cNvPr>
          <p:cNvSpPr>
            <a:spLocks noGrp="1"/>
          </p:cNvSpPr>
          <p:nvPr>
            <p:ph type="sldNum" sz="quarter" idx="5"/>
          </p:nvPr>
        </p:nvSpPr>
        <p:spPr/>
        <p:txBody>
          <a:bodyPr/>
          <a:lstStyle/>
          <a:p>
            <a:fld id="{54E4ADD7-897F-4F47-A317-DE24AB827DD3}" type="slidenum">
              <a:rPr lang="en-US" smtClean="0"/>
              <a:pPr/>
              <a:t>2</a:t>
            </a:fld>
            <a:endParaRPr lang="en-US" dirty="0"/>
          </a:p>
        </p:txBody>
      </p:sp>
    </p:spTree>
    <p:extLst>
      <p:ext uri="{BB962C8B-B14F-4D97-AF65-F5344CB8AC3E}">
        <p14:creationId xmlns:p14="http://schemas.microsoft.com/office/powerpoint/2010/main" val="32262567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4ADD7-897F-4F47-A317-DE24AB827DD3}" type="slidenum">
              <a:rPr lang="en-US" smtClean="0"/>
              <a:pPr/>
              <a:t>3</a:t>
            </a:fld>
            <a:endParaRPr lang="en-US" dirty="0"/>
          </a:p>
        </p:txBody>
      </p:sp>
    </p:spTree>
    <p:extLst>
      <p:ext uri="{BB962C8B-B14F-4D97-AF65-F5344CB8AC3E}">
        <p14:creationId xmlns:p14="http://schemas.microsoft.com/office/powerpoint/2010/main" val="32216550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85427-2814-9459-F054-C79F6657B3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85864F-5025-3C88-6D45-804ABF88C50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5BF2906-D086-3DF3-6257-312FCB6DDC3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870C23-18F1-1E09-573A-4D64AF2E1BEC}"/>
              </a:ext>
            </a:extLst>
          </p:cNvPr>
          <p:cNvSpPr>
            <a:spLocks noGrp="1"/>
          </p:cNvSpPr>
          <p:nvPr>
            <p:ph type="sldNum" sz="quarter" idx="5"/>
          </p:nvPr>
        </p:nvSpPr>
        <p:spPr/>
        <p:txBody>
          <a:bodyPr/>
          <a:lstStyle/>
          <a:p>
            <a:fld id="{54E4ADD7-897F-4F47-A317-DE24AB827DD3}" type="slidenum">
              <a:rPr lang="en-US" smtClean="0"/>
              <a:pPr/>
              <a:t>4</a:t>
            </a:fld>
            <a:endParaRPr lang="en-US" dirty="0"/>
          </a:p>
        </p:txBody>
      </p:sp>
    </p:spTree>
    <p:extLst>
      <p:ext uri="{BB962C8B-B14F-4D97-AF65-F5344CB8AC3E}">
        <p14:creationId xmlns:p14="http://schemas.microsoft.com/office/powerpoint/2010/main" val="42552834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974AA-789D-41E3-50AE-D0D1F3DE50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D62CDA-D351-4D49-686C-EB00CDC8379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E3F8369-D12B-C86C-B837-4669E618EE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84850A-D438-1E5D-2ED7-DE319EFA3D77}"/>
              </a:ext>
            </a:extLst>
          </p:cNvPr>
          <p:cNvSpPr>
            <a:spLocks noGrp="1"/>
          </p:cNvSpPr>
          <p:nvPr>
            <p:ph type="sldNum" sz="quarter" idx="5"/>
          </p:nvPr>
        </p:nvSpPr>
        <p:spPr/>
        <p:txBody>
          <a:bodyPr/>
          <a:lstStyle/>
          <a:p>
            <a:fld id="{54E4ADD7-897F-4F47-A317-DE24AB827DD3}" type="slidenum">
              <a:rPr lang="en-US" smtClean="0"/>
              <a:pPr/>
              <a:t>5</a:t>
            </a:fld>
            <a:endParaRPr lang="en-US" dirty="0"/>
          </a:p>
        </p:txBody>
      </p:sp>
    </p:spTree>
    <p:extLst>
      <p:ext uri="{BB962C8B-B14F-4D97-AF65-F5344CB8AC3E}">
        <p14:creationId xmlns:p14="http://schemas.microsoft.com/office/powerpoint/2010/main" val="2853079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DBDC5-6FC0-B220-A07B-E7AF42779A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171679-876F-EEB9-3968-D6E0870FE0E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82A30245-DAEB-C9FF-9C0A-AF619E4675D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20BC70-B62F-1E09-A1F2-2BF9DC7F6CC2}"/>
              </a:ext>
            </a:extLst>
          </p:cNvPr>
          <p:cNvSpPr>
            <a:spLocks noGrp="1"/>
          </p:cNvSpPr>
          <p:nvPr>
            <p:ph type="sldNum" sz="quarter" idx="5"/>
          </p:nvPr>
        </p:nvSpPr>
        <p:spPr/>
        <p:txBody>
          <a:bodyPr/>
          <a:lstStyle/>
          <a:p>
            <a:fld id="{54E4ADD7-897F-4F47-A317-DE24AB827DD3}" type="slidenum">
              <a:rPr lang="en-US" smtClean="0"/>
              <a:pPr/>
              <a:t>6</a:t>
            </a:fld>
            <a:endParaRPr lang="en-US" dirty="0"/>
          </a:p>
        </p:txBody>
      </p:sp>
    </p:spTree>
    <p:extLst>
      <p:ext uri="{BB962C8B-B14F-4D97-AF65-F5344CB8AC3E}">
        <p14:creationId xmlns:p14="http://schemas.microsoft.com/office/powerpoint/2010/main" val="21060331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55183-D78E-A658-C3FA-440F637A7E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B75415-E159-66D1-7D7F-63EA69267E2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D71C258-0AE5-4CF8-F60F-5A7F83D0A0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43CA3F-2E07-6F35-FECC-0FBAFF5475AC}"/>
              </a:ext>
            </a:extLst>
          </p:cNvPr>
          <p:cNvSpPr>
            <a:spLocks noGrp="1"/>
          </p:cNvSpPr>
          <p:nvPr>
            <p:ph type="sldNum" sz="quarter" idx="5"/>
          </p:nvPr>
        </p:nvSpPr>
        <p:spPr/>
        <p:txBody>
          <a:bodyPr/>
          <a:lstStyle/>
          <a:p>
            <a:fld id="{54E4ADD7-897F-4F47-A317-DE24AB827DD3}" type="slidenum">
              <a:rPr lang="en-US" smtClean="0"/>
              <a:pPr/>
              <a:t>7</a:t>
            </a:fld>
            <a:endParaRPr lang="en-US" dirty="0"/>
          </a:p>
        </p:txBody>
      </p:sp>
    </p:spTree>
    <p:extLst>
      <p:ext uri="{BB962C8B-B14F-4D97-AF65-F5344CB8AC3E}">
        <p14:creationId xmlns:p14="http://schemas.microsoft.com/office/powerpoint/2010/main" val="3113793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058EA-3DA8-8888-9D90-7749938F48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906DDE-BE34-AE85-8ED0-3FE32000B1F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EA0C2E1-D84F-318B-6814-F8F4F7DE5A4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60DDF0-8860-CBF2-B9E1-49CCA017D374}"/>
              </a:ext>
            </a:extLst>
          </p:cNvPr>
          <p:cNvSpPr>
            <a:spLocks noGrp="1"/>
          </p:cNvSpPr>
          <p:nvPr>
            <p:ph type="sldNum" sz="quarter" idx="5"/>
          </p:nvPr>
        </p:nvSpPr>
        <p:spPr/>
        <p:txBody>
          <a:bodyPr/>
          <a:lstStyle/>
          <a:p>
            <a:fld id="{54E4ADD7-897F-4F47-A317-DE24AB827DD3}" type="slidenum">
              <a:rPr lang="en-US" smtClean="0"/>
              <a:pPr/>
              <a:t>8</a:t>
            </a:fld>
            <a:endParaRPr lang="en-US" dirty="0"/>
          </a:p>
        </p:txBody>
      </p:sp>
    </p:spTree>
    <p:extLst>
      <p:ext uri="{BB962C8B-B14F-4D97-AF65-F5344CB8AC3E}">
        <p14:creationId xmlns:p14="http://schemas.microsoft.com/office/powerpoint/2010/main" val="16875922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27D9D-38AB-DF01-33E0-47B1BCDB23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5FC316-BD2F-2936-4850-698B170FA36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3B70ED9-F7FE-B0C0-EBAD-71C549CD9F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F1068B-0BEC-FD84-8296-2D92C607FA2D}"/>
              </a:ext>
            </a:extLst>
          </p:cNvPr>
          <p:cNvSpPr>
            <a:spLocks noGrp="1"/>
          </p:cNvSpPr>
          <p:nvPr>
            <p:ph type="sldNum" sz="quarter" idx="5"/>
          </p:nvPr>
        </p:nvSpPr>
        <p:spPr/>
        <p:txBody>
          <a:bodyPr/>
          <a:lstStyle/>
          <a:p>
            <a:fld id="{54E4ADD7-897F-4F47-A317-DE24AB827DD3}" type="slidenum">
              <a:rPr lang="en-US" smtClean="0"/>
              <a:pPr/>
              <a:t>9</a:t>
            </a:fld>
            <a:endParaRPr lang="en-US" dirty="0"/>
          </a:p>
        </p:txBody>
      </p:sp>
    </p:spTree>
    <p:extLst>
      <p:ext uri="{BB962C8B-B14F-4D97-AF65-F5344CB8AC3E}">
        <p14:creationId xmlns:p14="http://schemas.microsoft.com/office/powerpoint/2010/main" val="1251422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C8F8C-E3F3-78D3-B089-B020ADDD20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0031B5-2424-C072-88DF-D1516D0D979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985C7AE-E3A2-A3C1-8F6B-5AC97414AA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7C3834-7D72-B71A-7CA3-E71D3F2D2499}"/>
              </a:ext>
            </a:extLst>
          </p:cNvPr>
          <p:cNvSpPr>
            <a:spLocks noGrp="1"/>
          </p:cNvSpPr>
          <p:nvPr>
            <p:ph type="sldNum" sz="quarter" idx="5"/>
          </p:nvPr>
        </p:nvSpPr>
        <p:spPr/>
        <p:txBody>
          <a:bodyPr/>
          <a:lstStyle/>
          <a:p>
            <a:fld id="{54E4ADD7-897F-4F47-A317-DE24AB827DD3}" type="slidenum">
              <a:rPr lang="en-US" smtClean="0"/>
              <a:pPr/>
              <a:t>10</a:t>
            </a:fld>
            <a:endParaRPr lang="en-US" dirty="0"/>
          </a:p>
        </p:txBody>
      </p:sp>
    </p:spTree>
    <p:extLst>
      <p:ext uri="{BB962C8B-B14F-4D97-AF65-F5344CB8AC3E}">
        <p14:creationId xmlns:p14="http://schemas.microsoft.com/office/powerpoint/2010/main" val="37402000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38980-2B85-38FB-4FC4-7F6F9B920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6566DD-313C-58AA-3233-F87F7959695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87D95FE-9F4E-C35D-645E-8D663BA432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B0BD58-7DFE-1089-6538-3896AD1B9B69}"/>
              </a:ext>
            </a:extLst>
          </p:cNvPr>
          <p:cNvSpPr>
            <a:spLocks noGrp="1"/>
          </p:cNvSpPr>
          <p:nvPr>
            <p:ph type="sldNum" sz="quarter" idx="5"/>
          </p:nvPr>
        </p:nvSpPr>
        <p:spPr/>
        <p:txBody>
          <a:bodyPr/>
          <a:lstStyle/>
          <a:p>
            <a:fld id="{54E4ADD7-897F-4F47-A317-DE24AB827DD3}" type="slidenum">
              <a:rPr lang="en-US" smtClean="0"/>
              <a:pPr/>
              <a:t>11</a:t>
            </a:fld>
            <a:endParaRPr lang="en-US" dirty="0"/>
          </a:p>
        </p:txBody>
      </p:sp>
    </p:spTree>
    <p:extLst>
      <p:ext uri="{BB962C8B-B14F-4D97-AF65-F5344CB8AC3E}">
        <p14:creationId xmlns:p14="http://schemas.microsoft.com/office/powerpoint/2010/main" val="28174630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85E94-1DCF-58AE-97BF-1DE699399A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DD1644-98A1-4C83-B544-F982CCF393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F511614-68BB-2B63-DABA-78B126AFA0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36A210-83A6-60E1-E55E-12440E3984F1}"/>
              </a:ext>
            </a:extLst>
          </p:cNvPr>
          <p:cNvSpPr>
            <a:spLocks noGrp="1"/>
          </p:cNvSpPr>
          <p:nvPr>
            <p:ph type="sldNum" sz="quarter" idx="5"/>
          </p:nvPr>
        </p:nvSpPr>
        <p:spPr/>
        <p:txBody>
          <a:bodyPr/>
          <a:lstStyle/>
          <a:p>
            <a:fld id="{54E4ADD7-897F-4F47-A317-DE24AB827DD3}" type="slidenum">
              <a:rPr lang="en-US" smtClean="0"/>
              <a:pPr/>
              <a:t>12</a:t>
            </a:fld>
            <a:endParaRPr lang="en-US" dirty="0"/>
          </a:p>
        </p:txBody>
      </p:sp>
    </p:spTree>
    <p:extLst>
      <p:ext uri="{BB962C8B-B14F-4D97-AF65-F5344CB8AC3E}">
        <p14:creationId xmlns:p14="http://schemas.microsoft.com/office/powerpoint/2010/main" val="32362441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83F88-E4DE-B93E-334E-BAE496FB3A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0F7B79-D376-1D7A-EF09-DA9935C9F9A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08071609-49E5-AD99-9A4C-E2FF0E4282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41C4502-4AC5-2AC7-0F8E-F9B2E9379C1E}"/>
              </a:ext>
            </a:extLst>
          </p:cNvPr>
          <p:cNvSpPr>
            <a:spLocks noGrp="1"/>
          </p:cNvSpPr>
          <p:nvPr>
            <p:ph type="sldNum" sz="quarter" idx="5"/>
          </p:nvPr>
        </p:nvSpPr>
        <p:spPr/>
        <p:txBody>
          <a:bodyPr/>
          <a:lstStyle/>
          <a:p>
            <a:fld id="{54E4ADD7-897F-4F47-A317-DE24AB827DD3}" type="slidenum">
              <a:rPr lang="en-US" smtClean="0"/>
              <a:pPr/>
              <a:t>13</a:t>
            </a:fld>
            <a:endParaRPr lang="en-US" dirty="0"/>
          </a:p>
        </p:txBody>
      </p:sp>
    </p:spTree>
    <p:extLst>
      <p:ext uri="{BB962C8B-B14F-4D97-AF65-F5344CB8AC3E}">
        <p14:creationId xmlns:p14="http://schemas.microsoft.com/office/powerpoint/2010/main" val="42020713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C60D7-B5C7-763B-8334-C692404A29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AD493D-7C61-5E99-64A5-B5802B231A8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00402F7-05EE-D34F-93F8-369E7B43A3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D93A3D-F139-D2BA-85D0-D8C88FDCE428}"/>
              </a:ext>
            </a:extLst>
          </p:cNvPr>
          <p:cNvSpPr>
            <a:spLocks noGrp="1"/>
          </p:cNvSpPr>
          <p:nvPr>
            <p:ph type="sldNum" sz="quarter" idx="5"/>
          </p:nvPr>
        </p:nvSpPr>
        <p:spPr/>
        <p:txBody>
          <a:bodyPr/>
          <a:lstStyle/>
          <a:p>
            <a:fld id="{54E4ADD7-897F-4F47-A317-DE24AB827DD3}" type="slidenum">
              <a:rPr lang="en-US" smtClean="0"/>
              <a:pPr/>
              <a:t>14</a:t>
            </a:fld>
            <a:endParaRPr lang="en-US" dirty="0"/>
          </a:p>
        </p:txBody>
      </p:sp>
    </p:spTree>
    <p:extLst>
      <p:ext uri="{BB962C8B-B14F-4D97-AF65-F5344CB8AC3E}">
        <p14:creationId xmlns:p14="http://schemas.microsoft.com/office/powerpoint/2010/main" val="32554197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FE795-9635-81C0-8EB4-74B8A171D7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DA476E-AA21-786C-AE9E-124A24096D8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118F275-A2AB-BBEA-1DF3-35CA6F0233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FC3513-3A9F-B15A-921F-76B87BFDB268}"/>
              </a:ext>
            </a:extLst>
          </p:cNvPr>
          <p:cNvSpPr>
            <a:spLocks noGrp="1"/>
          </p:cNvSpPr>
          <p:nvPr>
            <p:ph type="sldNum" sz="quarter" idx="5"/>
          </p:nvPr>
        </p:nvSpPr>
        <p:spPr/>
        <p:txBody>
          <a:bodyPr/>
          <a:lstStyle/>
          <a:p>
            <a:fld id="{54E4ADD7-897F-4F47-A317-DE24AB827DD3}" type="slidenum">
              <a:rPr lang="en-US" smtClean="0"/>
              <a:pPr/>
              <a:t>15</a:t>
            </a:fld>
            <a:endParaRPr lang="en-US" dirty="0"/>
          </a:p>
        </p:txBody>
      </p:sp>
    </p:spTree>
    <p:extLst>
      <p:ext uri="{BB962C8B-B14F-4D97-AF65-F5344CB8AC3E}">
        <p14:creationId xmlns:p14="http://schemas.microsoft.com/office/powerpoint/2010/main" val="9966735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560D1-F9B9-07F5-C38A-6779426628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204C4D-B0D0-5B07-EE50-D83E32D2B8E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0305B903-D29D-091C-5A5E-AF1BC79AF8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248DE0-6E49-9212-5EA5-7D55B6D572F7}"/>
              </a:ext>
            </a:extLst>
          </p:cNvPr>
          <p:cNvSpPr>
            <a:spLocks noGrp="1"/>
          </p:cNvSpPr>
          <p:nvPr>
            <p:ph type="sldNum" sz="quarter" idx="5"/>
          </p:nvPr>
        </p:nvSpPr>
        <p:spPr/>
        <p:txBody>
          <a:bodyPr/>
          <a:lstStyle/>
          <a:p>
            <a:fld id="{54E4ADD7-897F-4F47-A317-DE24AB827DD3}" type="slidenum">
              <a:rPr lang="en-US" smtClean="0"/>
              <a:pPr/>
              <a:t>16</a:t>
            </a:fld>
            <a:endParaRPr lang="en-US" dirty="0"/>
          </a:p>
        </p:txBody>
      </p:sp>
    </p:spTree>
    <p:extLst>
      <p:ext uri="{BB962C8B-B14F-4D97-AF65-F5344CB8AC3E}">
        <p14:creationId xmlns:p14="http://schemas.microsoft.com/office/powerpoint/2010/main" val="9793052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9DC39-70AA-2794-D86F-CDEF32E452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799937-4DB9-7B80-1324-79B561A7087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58D5801-D807-DBFC-3C06-A0FCD8318F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1DF50B-7AC0-9C60-BD9A-6D3457C74FAB}"/>
              </a:ext>
            </a:extLst>
          </p:cNvPr>
          <p:cNvSpPr>
            <a:spLocks noGrp="1"/>
          </p:cNvSpPr>
          <p:nvPr>
            <p:ph type="sldNum" sz="quarter" idx="5"/>
          </p:nvPr>
        </p:nvSpPr>
        <p:spPr/>
        <p:txBody>
          <a:bodyPr/>
          <a:lstStyle/>
          <a:p>
            <a:fld id="{54E4ADD7-897F-4F47-A317-DE24AB827DD3}" type="slidenum">
              <a:rPr lang="en-US" smtClean="0"/>
              <a:pPr/>
              <a:t>17</a:t>
            </a:fld>
            <a:endParaRPr lang="en-US" dirty="0"/>
          </a:p>
        </p:txBody>
      </p:sp>
    </p:spTree>
    <p:extLst>
      <p:ext uri="{BB962C8B-B14F-4D97-AF65-F5344CB8AC3E}">
        <p14:creationId xmlns:p14="http://schemas.microsoft.com/office/powerpoint/2010/main" val="5965432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453CC-15AD-75C4-E380-BE960CDBD0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CA2337-B149-0B42-977C-074B3BBE0AD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25E9BFD-7CB4-8D1A-4BE7-D5A394049D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78E949-D50D-E259-6B2D-F275B75244D5}"/>
              </a:ext>
            </a:extLst>
          </p:cNvPr>
          <p:cNvSpPr>
            <a:spLocks noGrp="1"/>
          </p:cNvSpPr>
          <p:nvPr>
            <p:ph type="sldNum" sz="quarter" idx="5"/>
          </p:nvPr>
        </p:nvSpPr>
        <p:spPr/>
        <p:txBody>
          <a:bodyPr/>
          <a:lstStyle/>
          <a:p>
            <a:fld id="{54E4ADD7-897F-4F47-A317-DE24AB827DD3}" type="slidenum">
              <a:rPr lang="en-US" smtClean="0"/>
              <a:pPr/>
              <a:t>18</a:t>
            </a:fld>
            <a:endParaRPr lang="en-US" dirty="0"/>
          </a:p>
        </p:txBody>
      </p:sp>
    </p:spTree>
    <p:extLst>
      <p:ext uri="{BB962C8B-B14F-4D97-AF65-F5344CB8AC3E}">
        <p14:creationId xmlns:p14="http://schemas.microsoft.com/office/powerpoint/2010/main" val="29533108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4C057-5A58-E2CD-3B40-76FEE67A2A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CDBDD9-E81A-F1C9-B0E3-BF3778BC338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0AD0866C-ED2D-D513-4AC9-13D7217DC2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C72BCE-B8DB-F7AA-D797-9734E4752F66}"/>
              </a:ext>
            </a:extLst>
          </p:cNvPr>
          <p:cNvSpPr>
            <a:spLocks noGrp="1"/>
          </p:cNvSpPr>
          <p:nvPr>
            <p:ph type="sldNum" sz="quarter" idx="5"/>
          </p:nvPr>
        </p:nvSpPr>
        <p:spPr/>
        <p:txBody>
          <a:bodyPr/>
          <a:lstStyle/>
          <a:p>
            <a:fld id="{54E4ADD7-897F-4F47-A317-DE24AB827DD3}" type="slidenum">
              <a:rPr lang="en-US" smtClean="0"/>
              <a:pPr/>
              <a:t>19</a:t>
            </a:fld>
            <a:endParaRPr lang="en-US" dirty="0"/>
          </a:p>
        </p:txBody>
      </p:sp>
    </p:spTree>
    <p:extLst>
      <p:ext uri="{BB962C8B-B14F-4D97-AF65-F5344CB8AC3E}">
        <p14:creationId xmlns:p14="http://schemas.microsoft.com/office/powerpoint/2010/main" val="41144996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C1E3A-1140-463D-9CCE-9A53BACE03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44CA69-F59F-A8C8-E0C6-94341767F01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E11F77A-7B2A-EF66-81B4-35A6DB01C8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2B9B5C-17A7-0B50-1D26-830A431B2E34}"/>
              </a:ext>
            </a:extLst>
          </p:cNvPr>
          <p:cNvSpPr>
            <a:spLocks noGrp="1"/>
          </p:cNvSpPr>
          <p:nvPr>
            <p:ph type="sldNum" sz="quarter" idx="5"/>
          </p:nvPr>
        </p:nvSpPr>
        <p:spPr/>
        <p:txBody>
          <a:bodyPr/>
          <a:lstStyle/>
          <a:p>
            <a:fld id="{54E4ADD7-897F-4F47-A317-DE24AB827DD3}" type="slidenum">
              <a:rPr lang="en-US" smtClean="0"/>
              <a:pPr/>
              <a:t>20</a:t>
            </a:fld>
            <a:endParaRPr lang="en-US" dirty="0"/>
          </a:p>
        </p:txBody>
      </p:sp>
    </p:spTree>
    <p:extLst>
      <p:ext uri="{BB962C8B-B14F-4D97-AF65-F5344CB8AC3E}">
        <p14:creationId xmlns:p14="http://schemas.microsoft.com/office/powerpoint/2010/main" val="382477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9F9DA-2F1E-6D84-3C44-8FCCAB8599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31A0E2-4DAC-0E49-0C01-2276D7317CB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69B6BC0-8043-AAD4-371C-78D94AB36E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240A26-0D5B-5C54-1421-679CFE7DA198}"/>
              </a:ext>
            </a:extLst>
          </p:cNvPr>
          <p:cNvSpPr>
            <a:spLocks noGrp="1"/>
          </p:cNvSpPr>
          <p:nvPr>
            <p:ph type="sldNum" sz="quarter" idx="5"/>
          </p:nvPr>
        </p:nvSpPr>
        <p:spPr/>
        <p:txBody>
          <a:bodyPr/>
          <a:lstStyle/>
          <a:p>
            <a:fld id="{54E4ADD7-897F-4F47-A317-DE24AB827DD3}" type="slidenum">
              <a:rPr lang="en-US" smtClean="0"/>
              <a:pPr/>
              <a:t>21</a:t>
            </a:fld>
            <a:endParaRPr lang="en-US" dirty="0"/>
          </a:p>
        </p:txBody>
      </p:sp>
    </p:spTree>
    <p:extLst>
      <p:ext uri="{BB962C8B-B14F-4D97-AF65-F5344CB8AC3E}">
        <p14:creationId xmlns:p14="http://schemas.microsoft.com/office/powerpoint/2010/main" val="40197966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3653B-03BE-AA37-3C6B-512A27D9C1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548EF0-8EFE-549D-DAFA-0711D960868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A83F34C-0A48-C8FC-1AD9-979D0A4258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4C6443-A1BE-C17B-DCDF-EAF1CDE47BD9}"/>
              </a:ext>
            </a:extLst>
          </p:cNvPr>
          <p:cNvSpPr>
            <a:spLocks noGrp="1"/>
          </p:cNvSpPr>
          <p:nvPr>
            <p:ph type="sldNum" sz="quarter" idx="5"/>
          </p:nvPr>
        </p:nvSpPr>
        <p:spPr/>
        <p:txBody>
          <a:bodyPr/>
          <a:lstStyle/>
          <a:p>
            <a:fld id="{54E4ADD7-897F-4F47-A317-DE24AB827DD3}" type="slidenum">
              <a:rPr lang="en-US" smtClean="0"/>
              <a:pPr/>
              <a:t>22</a:t>
            </a:fld>
            <a:endParaRPr lang="en-US" dirty="0"/>
          </a:p>
        </p:txBody>
      </p:sp>
    </p:spTree>
    <p:extLst>
      <p:ext uri="{BB962C8B-B14F-4D97-AF65-F5344CB8AC3E}">
        <p14:creationId xmlns:p14="http://schemas.microsoft.com/office/powerpoint/2010/main" val="22590768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F6422-90CA-739C-431C-5E5DA069CE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E00019-F41A-05A2-3AF6-A625846FB74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5450A58-71BE-AFC7-CE6C-05209C1ADFB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5619E9-17A8-128B-3C20-6CF541E851F3}"/>
              </a:ext>
            </a:extLst>
          </p:cNvPr>
          <p:cNvSpPr>
            <a:spLocks noGrp="1"/>
          </p:cNvSpPr>
          <p:nvPr>
            <p:ph type="sldNum" sz="quarter" idx="5"/>
          </p:nvPr>
        </p:nvSpPr>
        <p:spPr/>
        <p:txBody>
          <a:bodyPr/>
          <a:lstStyle/>
          <a:p>
            <a:fld id="{54E4ADD7-897F-4F47-A317-DE24AB827DD3}" type="slidenum">
              <a:rPr lang="en-US" smtClean="0"/>
              <a:pPr/>
              <a:t>23</a:t>
            </a:fld>
            <a:endParaRPr lang="en-US" dirty="0"/>
          </a:p>
        </p:txBody>
      </p:sp>
    </p:spTree>
    <p:extLst>
      <p:ext uri="{BB962C8B-B14F-4D97-AF65-F5344CB8AC3E}">
        <p14:creationId xmlns:p14="http://schemas.microsoft.com/office/powerpoint/2010/main" val="31936241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EFF12-A894-A918-588E-6D8F1B1C16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C6EE2E-BF32-584F-2A01-20AA414EC8F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F6F2814-2C3A-BCCC-F6DD-DBEAFA14D8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515069-818F-682C-B6FB-A793D655F10B}"/>
              </a:ext>
            </a:extLst>
          </p:cNvPr>
          <p:cNvSpPr>
            <a:spLocks noGrp="1"/>
          </p:cNvSpPr>
          <p:nvPr>
            <p:ph type="sldNum" sz="quarter" idx="5"/>
          </p:nvPr>
        </p:nvSpPr>
        <p:spPr/>
        <p:txBody>
          <a:bodyPr/>
          <a:lstStyle/>
          <a:p>
            <a:fld id="{54E4ADD7-897F-4F47-A317-DE24AB827DD3}" type="slidenum">
              <a:rPr lang="en-US" smtClean="0"/>
              <a:pPr/>
              <a:t>24</a:t>
            </a:fld>
            <a:endParaRPr lang="en-US" dirty="0"/>
          </a:p>
        </p:txBody>
      </p:sp>
    </p:spTree>
    <p:extLst>
      <p:ext uri="{BB962C8B-B14F-4D97-AF65-F5344CB8AC3E}">
        <p14:creationId xmlns:p14="http://schemas.microsoft.com/office/powerpoint/2010/main" val="27633054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8/17/2026</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8/17/2026</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8/17/2026</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8/17/2026</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8/17/2026</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8/17/2026</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8/17/2026</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8/17/2026</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8/17/2026</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8/17/2026</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hyperlink" Target="https://www.aps.edu/accessibility-at-aps/accessibility-tools/hemingway-app" TargetMode="External"/><Relationship Id="rId3" Type="http://schemas.openxmlformats.org/officeDocument/2006/relationships/image" Target="../media/image4.png"/><Relationship Id="rId7" Type="http://schemas.openxmlformats.org/officeDocument/2006/relationships/hyperlink" Target="https://odd.dog/blog/corporate-jargon-generator/"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hyperlink" Target="https://owl.purdue.edu/owl/index.html" TargetMode="External"/><Relationship Id="rId5" Type="http://schemas.openxmlformats.org/officeDocument/2006/relationships/hyperlink" Target="https://www.grammarly.com/blog/writing-tips/" TargetMode="External"/><Relationship Id="rId4" Type="http://schemas.openxmlformats.org/officeDocument/2006/relationships/hyperlink" Target="https://www.plainenglish.co.uk/" TargetMode="External"/><Relationship Id="rId9" Type="http://schemas.openxmlformats.org/officeDocument/2006/relationships/hyperlink" Target="https://www.just-the-word.com/" TargetMode="Externa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9831" y="-81945"/>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solidFill>
                <a:srgbClr val="E84845"/>
              </a:solidFill>
            </a:endParaRPr>
          </a:p>
          <a:p>
            <a:pPr algn="ctr"/>
            <a:endParaRPr lang="en-US" dirty="0">
              <a:solidFill>
                <a:srgbClr val="E84845"/>
              </a:solidFill>
            </a:endParaRPr>
          </a:p>
          <a:p>
            <a:pPr algn="ctr"/>
            <a:endParaRPr lang="en-US" dirty="0">
              <a:solidFill>
                <a:srgbClr val="E84845"/>
              </a:solidFill>
            </a:endParaRPr>
          </a:p>
          <a:p>
            <a:pPr algn="ctr"/>
            <a:endParaRPr lang="en-US" dirty="0">
              <a:solidFill>
                <a:srgbClr val="E84845"/>
              </a:solidFill>
            </a:endParaRPr>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9831" y="0"/>
            <a:ext cx="6027459" cy="6623931"/>
          </a:xfrm>
          <a:prstGeom prst="rect">
            <a:avLst/>
          </a:prstGeom>
          <a:noFill/>
          <a:ln>
            <a:noFill/>
          </a:ln>
        </p:spPr>
      </p:pic>
      <p:sp>
        <p:nvSpPr>
          <p:cNvPr id="476" name="Google Shape;476;p16"/>
          <p:cNvSpPr txBox="1"/>
          <p:nvPr/>
        </p:nvSpPr>
        <p:spPr>
          <a:xfrm>
            <a:off x="4748981" y="3429000"/>
            <a:ext cx="6799006" cy="3108503"/>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endParaRPr lang="en-US" sz="3200" b="1" cap="all" dirty="0">
              <a:ln/>
              <a:solidFill>
                <a:srgbClr val="C00000"/>
              </a:solidFill>
              <a:latin typeface="+mj-lt"/>
              <a:cs typeface="Poppins" panose="00000500000000000000" pitchFamily="2" charset="0"/>
              <a:sym typeface="BioRhyme ExtraBold"/>
            </a:endParaRPr>
          </a:p>
          <a:p>
            <a:pPr marR="0" lvl="0" indent="0" algn="ctr">
              <a:spcBef>
                <a:spcPts val="0"/>
              </a:spcBef>
              <a:spcAft>
                <a:spcPts val="0"/>
              </a:spcAft>
              <a:buNone/>
            </a:pPr>
            <a:endParaRPr lang="en-US" sz="2000" b="1" dirty="0">
              <a:solidFill>
                <a:schemeClr val="bg1">
                  <a:lumMod val="50000"/>
                </a:schemeClr>
              </a:solidFill>
              <a:latin typeface="+mj-lt"/>
              <a:ea typeface="BioRhyme ExtraBold"/>
              <a:cs typeface="Poppins" panose="00000500000000000000" pitchFamily="2" charset="0"/>
              <a:sym typeface="BioRhyme ExtraBold"/>
            </a:endParaRPr>
          </a:p>
          <a:p>
            <a:pPr marR="0" lvl="0" indent="0" algn="ctr">
              <a:spcBef>
                <a:spcPts val="0"/>
              </a:spcBef>
              <a:spcAft>
                <a:spcPts val="0"/>
              </a:spcAft>
              <a:buNone/>
            </a:pPr>
            <a:endParaRPr lang="en-IN" sz="3600" b="1" dirty="0">
              <a:latin typeface="Times New Roman" panose="02020603050405020304" pitchFamily="18" charset="0"/>
              <a:cs typeface="Times New Roman" panose="02020603050405020304" pitchFamily="18" charset="0"/>
            </a:endParaRPr>
          </a:p>
          <a:p>
            <a:pPr marR="0" lvl="0" indent="0" algn="ctr">
              <a:spcBef>
                <a:spcPts val="0"/>
              </a:spcBef>
              <a:spcAft>
                <a:spcPts val="0"/>
              </a:spcAft>
              <a:buNone/>
            </a:pPr>
            <a:r>
              <a:rPr lang="en-IN" sz="3600" b="1" dirty="0">
                <a:latin typeface="Times New Roman" panose="02020603050405020304" pitchFamily="18" charset="0"/>
                <a:cs typeface="Times New Roman" panose="02020603050405020304" pitchFamily="18" charset="0"/>
              </a:rPr>
              <a:t>Applying Vocabulary Precision to Workplace Communication Problems</a:t>
            </a:r>
            <a:endParaRPr lang="en-US" sz="3600" b="1" dirty="0">
              <a:solidFill>
                <a:schemeClr val="accent1">
                  <a:lumMod val="50000"/>
                </a:schemeClr>
              </a:solidFill>
              <a:latin typeface="Times New Roman" panose="02020603050405020304" pitchFamily="18" charset="0"/>
              <a:cs typeface="Times New Roman" panose="02020603050405020304" pitchFamily="18" charset="0"/>
              <a:sym typeface="BioRhyme ExtraBold"/>
            </a:endParaRPr>
          </a:p>
        </p:txBody>
      </p:sp>
      <p:sp>
        <p:nvSpPr>
          <p:cNvPr id="475" name="Google Shape;475;p16"/>
          <p:cNvSpPr txBox="1"/>
          <p:nvPr/>
        </p:nvSpPr>
        <p:spPr>
          <a:xfrm>
            <a:off x="6105831" y="696452"/>
            <a:ext cx="5712180" cy="1938952"/>
          </a:xfrm>
          <a:prstGeom prst="rect">
            <a:avLst/>
          </a:prstGeom>
          <a:noFill/>
          <a:ln>
            <a:noFill/>
          </a:ln>
          <a:effectLst/>
        </p:spPr>
        <p:txBody>
          <a:bodyPr spcFirstLastPara="1" wrap="square" lIns="91425" tIns="45700" rIns="91425" bIns="45700" anchor="t" anchorCtr="0">
            <a:spAutoFit/>
          </a:bodyPr>
          <a:lstStyle/>
          <a:p>
            <a:pPr algn="ctr"/>
            <a:r>
              <a:rPr lang="en-US" sz="4000" b="1" dirty="0">
                <a:solidFill>
                  <a:srgbClr val="C00000"/>
                </a:solidFill>
                <a:latin typeface="Times New Roman" panose="02020603050405020304" pitchFamily="18" charset="0"/>
                <a:cs typeface="Times New Roman" panose="02020603050405020304" pitchFamily="18" charset="0"/>
              </a:rPr>
              <a:t>Department of English</a:t>
            </a:r>
          </a:p>
          <a:p>
            <a:pPr algn="ctr"/>
            <a:r>
              <a:rPr lang="en-US" sz="4000" b="1" dirty="0">
                <a:solidFill>
                  <a:srgbClr val="C00000"/>
                </a:solidFill>
                <a:latin typeface="Times New Roman" panose="02020603050405020304" pitchFamily="18" charset="0"/>
                <a:cs typeface="Times New Roman" panose="02020603050405020304" pitchFamily="18" charset="0"/>
              </a:rPr>
              <a:t>Language Skills for Engineers</a:t>
            </a:r>
          </a:p>
        </p:txBody>
      </p:sp>
      <p:sp>
        <p:nvSpPr>
          <p:cNvPr id="8" name="Google Shape;502;p17">
            <a:extLst>
              <a:ext uri="{FF2B5EF4-FFF2-40B4-BE49-F238E27FC236}">
                <a16:creationId xmlns:a16="http://schemas.microsoft.com/office/drawing/2014/main" id="{7153E61F-4441-DBE3-3DFF-6E9EF6C48D23}"/>
              </a:ext>
            </a:extLst>
          </p:cNvPr>
          <p:cNvSpPr/>
          <p:nvPr/>
        </p:nvSpPr>
        <p:spPr>
          <a:xfrm>
            <a:off x="6164543" y="3898038"/>
            <a:ext cx="3948803" cy="614968"/>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3000" b="1" dirty="0">
                <a:solidFill>
                  <a:schemeClr val="lt1"/>
                </a:solidFill>
                <a:latin typeface="Times New Roman" panose="02020603050405020304" pitchFamily="18" charset="0"/>
                <a:ea typeface="Calibri"/>
                <a:cs typeface="Times New Roman" panose="02020603050405020304" pitchFamily="18" charset="0"/>
                <a:sym typeface="Calibri"/>
              </a:rPr>
              <a:t>Session - 7</a:t>
            </a:r>
            <a:endParaRPr sz="3000" b="1" dirty="0">
              <a:solidFill>
                <a:schemeClr val="lt1"/>
              </a:solidFill>
              <a:latin typeface="Times New Roman" panose="02020603050405020304" pitchFamily="18" charset="0"/>
              <a:ea typeface="Calibri"/>
              <a:cs typeface="Times New Roman" panose="02020603050405020304" pitchFamily="18"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D89FF-8346-442A-1863-FD4FFFE32834}"/>
            </a:ext>
          </a:extLst>
        </p:cNvPr>
        <p:cNvGrpSpPr/>
        <p:nvPr/>
      </p:nvGrpSpPr>
      <p:grpSpPr>
        <a:xfrm>
          <a:off x="0" y="0"/>
          <a:ext cx="0" cy="0"/>
          <a:chOff x="0" y="0"/>
          <a:chExt cx="0" cy="0"/>
        </a:xfrm>
      </p:grpSpPr>
      <p:sp>
        <p:nvSpPr>
          <p:cNvPr id="23" name="Rounded Rectangle 17">
            <a:extLst>
              <a:ext uri="{FF2B5EF4-FFF2-40B4-BE49-F238E27FC236}">
                <a16:creationId xmlns:a16="http://schemas.microsoft.com/office/drawing/2014/main" id="{38BE98CF-B069-48DD-D1E4-98EB8ECC5C28}"/>
              </a:ext>
            </a:extLst>
          </p:cNvPr>
          <p:cNvSpPr/>
          <p:nvPr/>
        </p:nvSpPr>
        <p:spPr>
          <a:xfrm>
            <a:off x="1356852" y="300038"/>
            <a:ext cx="10471353" cy="928994"/>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latin typeface="Times New Roman" panose="02020603050405020304" pitchFamily="18" charset="0"/>
                <a:cs typeface="Times New Roman" panose="02020603050405020304" pitchFamily="18" charset="0"/>
              </a:rPr>
              <a:t>Topics Covered</a:t>
            </a:r>
            <a:endParaRPr lang="en-US" sz="3000" b="1" dirty="0">
              <a:latin typeface="Times New Roman" panose="02020603050405020304" pitchFamily="18" charset="0"/>
              <a:cs typeface="Times New Roman" panose="02020603050405020304" pitchFamily="18" charset="0"/>
            </a:endParaRPr>
          </a:p>
        </p:txBody>
      </p:sp>
      <p:pic>
        <p:nvPicPr>
          <p:cNvPr id="42" name="Picture 2" descr="KL Deemed to be University Logo">
            <a:extLst>
              <a:ext uri="{FF2B5EF4-FFF2-40B4-BE49-F238E27FC236}">
                <a16:creationId xmlns:a16="http://schemas.microsoft.com/office/drawing/2014/main" id="{E8F1CEF5-46EA-609D-43F2-A6825C17D521}"/>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 name="TextBox 4">
            <a:extLst>
              <a:ext uri="{FF2B5EF4-FFF2-40B4-BE49-F238E27FC236}">
                <a16:creationId xmlns:a16="http://schemas.microsoft.com/office/drawing/2014/main" id="{D9CC6EAF-DC3B-AC7B-5AE1-E61833B540F4}"/>
              </a:ext>
            </a:extLst>
          </p:cNvPr>
          <p:cNvSpPr txBox="1"/>
          <p:nvPr/>
        </p:nvSpPr>
        <p:spPr>
          <a:xfrm>
            <a:off x="221227" y="1519084"/>
            <a:ext cx="11754464" cy="3666901"/>
          </a:xfrm>
          <a:prstGeom prst="rect">
            <a:avLst/>
          </a:prstGeom>
          <a:noFill/>
        </p:spPr>
        <p:txBody>
          <a:bodyPr wrap="square">
            <a:spAutoFit/>
          </a:bodyPr>
          <a:lstStyle/>
          <a:p>
            <a:pPr marL="457200" indent="-457200">
              <a:lnSpc>
                <a:spcPct val="115000"/>
              </a:lnSpc>
              <a:spcAft>
                <a:spcPts val="1000"/>
              </a:spcAf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Avoiding Clichés, </a:t>
            </a:r>
          </a:p>
          <a:p>
            <a:pPr marL="457200" indent="-457200">
              <a:lnSpc>
                <a:spcPct val="115000"/>
              </a:lnSpc>
              <a:spcAft>
                <a:spcPts val="1000"/>
              </a:spcAf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Buzzwords &amp; Corporate-Speak, </a:t>
            </a:r>
          </a:p>
          <a:p>
            <a:pPr marL="457200" indent="-457200">
              <a:lnSpc>
                <a:spcPct val="115000"/>
              </a:lnSpc>
              <a:spcAft>
                <a:spcPts val="1000"/>
              </a:spcAf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AI for Vocabulary Growth, Contextual Examples </a:t>
            </a:r>
          </a:p>
          <a:p>
            <a:pPr marL="457200" indent="-457200">
              <a:lnSpc>
                <a:spcPct val="115000"/>
              </a:lnSpc>
              <a:spcAft>
                <a:spcPts val="1000"/>
              </a:spcAf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Nuance Checking </a:t>
            </a:r>
          </a:p>
          <a:p>
            <a:pPr marL="457200" indent="-457200">
              <a:lnSpc>
                <a:spcPct val="115000"/>
              </a:lnSpc>
              <a:spcAft>
                <a:spcPts val="1000"/>
              </a:spcAf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Collocation Verification </a:t>
            </a:r>
          </a:p>
          <a:p>
            <a:pPr marL="457200" indent="-457200">
              <a:lnSpc>
                <a:spcPct val="115000"/>
              </a:lnSpc>
              <a:spcAft>
                <a:spcPts val="1000"/>
              </a:spcAf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Personal Word Bank Development</a:t>
            </a:r>
            <a:endParaRPr lang="en-IN" sz="28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17287443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1386349" y="135579"/>
            <a:ext cx="10471353" cy="928994"/>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b="1" dirty="0">
                <a:latin typeface="Times New Roman" panose="02020603050405020304" pitchFamily="18" charset="0"/>
                <a:cs typeface="Times New Roman" panose="02020603050405020304" pitchFamily="18" charset="0"/>
              </a:rPr>
              <a:t>Aim</a:t>
            </a:r>
            <a:r>
              <a:rPr lang="en-IN" sz="3200" dirty="0">
                <a:latin typeface="Times New Roman" panose="02020603050405020304" pitchFamily="18" charset="0"/>
                <a:cs typeface="Times New Roman" panose="02020603050405020304" pitchFamily="18" charset="0"/>
              </a:rPr>
              <a:t> &amp; </a:t>
            </a:r>
            <a:r>
              <a:rPr lang="en-IN" sz="3200" b="1" dirty="0">
                <a:latin typeface="Times New Roman" panose="02020603050405020304" pitchFamily="18" charset="0"/>
                <a:ea typeface="Times New Roman" panose="02020603050405020304" pitchFamily="18" charset="0"/>
                <a:cs typeface="Times New Roman" panose="02020603050405020304" pitchFamily="18" charset="0"/>
              </a:rPr>
              <a:t>Instructional Objectives</a:t>
            </a:r>
            <a:r>
              <a:rPr lang="en-IN" sz="3200" dirty="0">
                <a:latin typeface="Times New Roman" panose="02020603050405020304" pitchFamily="18" charset="0"/>
                <a:cs typeface="Times New Roman" panose="02020603050405020304" pitchFamily="18" charset="0"/>
              </a:rPr>
              <a:t> </a:t>
            </a:r>
            <a:endParaRPr lang="en-US" sz="3000" b="1" dirty="0">
              <a:latin typeface="Times New Roman" panose="02020603050405020304" pitchFamily="18" charset="0"/>
              <a:cs typeface="Times New Roman" panose="02020603050405020304" pitchFamily="18" charset="0"/>
            </a:endParaRP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 name="TextBox 4">
            <a:extLst>
              <a:ext uri="{FF2B5EF4-FFF2-40B4-BE49-F238E27FC236}">
                <a16:creationId xmlns:a16="http://schemas.microsoft.com/office/drawing/2014/main" id="{78BFA863-3A31-990E-F4D8-ED6442CA98BE}"/>
              </a:ext>
            </a:extLst>
          </p:cNvPr>
          <p:cNvSpPr txBox="1"/>
          <p:nvPr/>
        </p:nvSpPr>
        <p:spPr>
          <a:xfrm>
            <a:off x="218768" y="1529070"/>
            <a:ext cx="11754464" cy="5335563"/>
          </a:xfrm>
          <a:prstGeom prst="rect">
            <a:avLst/>
          </a:prstGeom>
          <a:noFill/>
        </p:spPr>
        <p:txBody>
          <a:bodyPr wrap="square">
            <a:spAutoFit/>
          </a:bodyPr>
          <a:lstStyle/>
          <a:p>
            <a:pPr>
              <a:lnSpc>
                <a:spcPct val="115000"/>
              </a:lnSpc>
              <a:spcAft>
                <a:spcPts val="1000"/>
              </a:spcAft>
              <a:buNone/>
            </a:pPr>
            <a:r>
              <a:rPr lang="en-IN" sz="2400" b="1" dirty="0">
                <a:effectLst/>
                <a:latin typeface="Times New Roman" panose="02020603050405020304" pitchFamily="18" charset="0"/>
                <a:ea typeface="Times New Roman" panose="02020603050405020304" pitchFamily="18" charset="0"/>
                <a:cs typeface="Times New Roman" panose="02020603050405020304" pitchFamily="18" charset="0"/>
              </a:rPr>
              <a:t>Aim:</a:t>
            </a:r>
            <a:b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To develop learners’ ability to communicate clearly, professionally, and meaningfully by avoiding vague corporate language and enhancing vocabulary using AI tools responsibly.</a:t>
            </a:r>
          </a:p>
          <a:p>
            <a:pPr>
              <a:lnSpc>
                <a:spcPct val="115000"/>
              </a:lnSpc>
              <a:spcAft>
                <a:spcPts val="1000"/>
              </a:spcAft>
              <a:buNone/>
            </a:pPr>
            <a:r>
              <a:rPr lang="en-IN" sz="2400" b="1" dirty="0">
                <a:effectLst/>
                <a:latin typeface="Times New Roman" panose="02020603050405020304" pitchFamily="18" charset="0"/>
                <a:ea typeface="Times New Roman" panose="02020603050405020304" pitchFamily="18" charset="0"/>
                <a:cs typeface="Times New Roman" panose="02020603050405020304" pitchFamily="18" charset="0"/>
              </a:rPr>
              <a:t>Instructional Objectives:</a:t>
            </a:r>
          </a:p>
          <a:p>
            <a:r>
              <a:rPr lang="en-IN" sz="2400" dirty="0">
                <a:latin typeface="Times New Roman" panose="02020603050405020304" pitchFamily="18" charset="0"/>
                <a:cs typeface="Times New Roman" panose="02020603050405020304" pitchFamily="18" charset="0"/>
              </a:rPr>
              <a:t>Identify clichés, buzzwords, and empty corporate expressions in professional communication. </a:t>
            </a:r>
          </a:p>
          <a:p>
            <a:r>
              <a:rPr lang="en-IN" sz="2400" dirty="0">
                <a:latin typeface="Times New Roman" panose="02020603050405020304" pitchFamily="18" charset="0"/>
                <a:cs typeface="Times New Roman" panose="02020603050405020304" pitchFamily="18" charset="0"/>
              </a:rPr>
              <a:t>Differentiate between vague language and precise, meaningful language. </a:t>
            </a:r>
          </a:p>
          <a:p>
            <a:r>
              <a:rPr lang="en-IN" sz="2400" dirty="0">
                <a:latin typeface="Times New Roman" panose="02020603050405020304" pitchFamily="18" charset="0"/>
                <a:cs typeface="Times New Roman" panose="02020603050405020304" pitchFamily="18" charset="0"/>
              </a:rPr>
              <a:t>Revise sentences to improve clarity, specificity, and impact. </a:t>
            </a:r>
          </a:p>
          <a:p>
            <a:r>
              <a:rPr lang="en-IN" sz="2400" dirty="0">
                <a:latin typeface="Times New Roman" panose="02020603050405020304" pitchFamily="18" charset="0"/>
                <a:cs typeface="Times New Roman" panose="02020603050405020304" pitchFamily="18" charset="0"/>
              </a:rPr>
              <a:t>Use AI tools to: </a:t>
            </a:r>
          </a:p>
          <a:p>
            <a:pPr lvl="1"/>
            <a:r>
              <a:rPr lang="en-IN" sz="2400" dirty="0">
                <a:latin typeface="Times New Roman" panose="02020603050405020304" pitchFamily="18" charset="0"/>
                <a:cs typeface="Times New Roman" panose="02020603050405020304" pitchFamily="18" charset="0"/>
              </a:rPr>
              <a:t>Generate contextual vocabulary examples </a:t>
            </a:r>
          </a:p>
          <a:p>
            <a:pPr lvl="1"/>
            <a:r>
              <a:rPr lang="en-IN" sz="2400" dirty="0">
                <a:latin typeface="Times New Roman" panose="02020603050405020304" pitchFamily="18" charset="0"/>
                <a:cs typeface="Times New Roman" panose="02020603050405020304" pitchFamily="18" charset="0"/>
              </a:rPr>
              <a:t>Check word nuance and collocations </a:t>
            </a:r>
          </a:p>
          <a:p>
            <a:pPr lvl="1"/>
            <a:r>
              <a:rPr lang="en-IN" sz="2400" dirty="0">
                <a:latin typeface="Times New Roman" panose="02020603050405020304" pitchFamily="18" charset="0"/>
                <a:cs typeface="Times New Roman" panose="02020603050405020304" pitchFamily="18" charset="0"/>
              </a:rPr>
              <a:t>Build a personalized word bank </a:t>
            </a:r>
          </a:p>
          <a:p>
            <a:r>
              <a:rPr lang="en-IN" sz="2400" dirty="0">
                <a:latin typeface="Times New Roman" panose="02020603050405020304" pitchFamily="18" charset="0"/>
                <a:cs typeface="Times New Roman" panose="02020603050405020304" pitchFamily="18" charset="0"/>
              </a:rPr>
              <a:t>Evaluate AI-generated suggestions for accuracy, tone, and appropriateness. </a:t>
            </a:r>
          </a:p>
          <a:p>
            <a:pPr>
              <a:lnSpc>
                <a:spcPct val="115000"/>
              </a:lnSpc>
              <a:spcAft>
                <a:spcPts val="1000"/>
              </a:spcAft>
              <a:buNone/>
            </a:pPr>
            <a:endParaRPr lang="en-IN" sz="2000" dirty="0">
              <a:effectLst/>
              <a:latin typeface="Calibri" panose="020F0502020204030204" pitchFamily="34" charset="0"/>
              <a:ea typeface="MS Mincho" panose="02020609040205080304" pitchFamily="49" charset="-128"/>
              <a:cs typeface="Calibri" panose="020F0502020204030204" pitchFamily="34" charset="0"/>
            </a:endParaRPr>
          </a:p>
        </p:txBody>
      </p:sp>
    </p:spTree>
    <p:extLst>
      <p:ext uri="{BB962C8B-B14F-4D97-AF65-F5344CB8AC3E}">
        <p14:creationId xmlns:p14="http://schemas.microsoft.com/office/powerpoint/2010/main" val="200696776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84F79-525C-E0A0-6B4D-D2BB85E033BA}"/>
            </a:ext>
          </a:extLst>
        </p:cNvPr>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3920CB8-9C82-6518-1CF8-69FDC36502C3}"/>
              </a:ext>
            </a:extLst>
          </p:cNvPr>
          <p:cNvSpPr/>
          <p:nvPr/>
        </p:nvSpPr>
        <p:spPr>
          <a:xfrm>
            <a:off x="2924657" y="300038"/>
            <a:ext cx="6639951" cy="928994"/>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000" b="1" dirty="0">
                <a:latin typeface="Times New Roman" panose="02020603050405020304" pitchFamily="18" charset="0"/>
                <a:ea typeface="Times New Roman" panose="02020603050405020304" pitchFamily="18" charset="0"/>
                <a:cs typeface="Times New Roman" panose="02020603050405020304" pitchFamily="18" charset="0"/>
              </a:rPr>
              <a:t>Learning Outcomes</a:t>
            </a:r>
            <a:endParaRPr lang="en-US" sz="4000" b="1" dirty="0">
              <a:latin typeface="Times New Roman" panose="02020603050405020304" pitchFamily="18" charset="0"/>
              <a:cs typeface="Times New Roman" panose="02020603050405020304" pitchFamily="18" charset="0"/>
            </a:endParaRPr>
          </a:p>
        </p:txBody>
      </p:sp>
      <p:pic>
        <p:nvPicPr>
          <p:cNvPr id="42" name="Picture 2" descr="KL Deemed to be University Logo">
            <a:extLst>
              <a:ext uri="{FF2B5EF4-FFF2-40B4-BE49-F238E27FC236}">
                <a16:creationId xmlns:a16="http://schemas.microsoft.com/office/drawing/2014/main" id="{29C1F5C8-C98F-DDC0-903B-2A67C67DFFD8}"/>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3" name="TextBox 2">
            <a:extLst>
              <a:ext uri="{FF2B5EF4-FFF2-40B4-BE49-F238E27FC236}">
                <a16:creationId xmlns:a16="http://schemas.microsoft.com/office/drawing/2014/main" id="{DCE6FF03-0C75-9B09-B6DC-2C39ED38A1BA}"/>
              </a:ext>
            </a:extLst>
          </p:cNvPr>
          <p:cNvSpPr txBox="1"/>
          <p:nvPr/>
        </p:nvSpPr>
        <p:spPr>
          <a:xfrm>
            <a:off x="162232" y="1229032"/>
            <a:ext cx="11444749" cy="5024965"/>
          </a:xfrm>
          <a:prstGeom prst="rect">
            <a:avLst/>
          </a:prstGeom>
          <a:noFill/>
        </p:spPr>
        <p:txBody>
          <a:bodyPr wrap="square">
            <a:spAutoFit/>
          </a:bodyPr>
          <a:lstStyle/>
          <a:p>
            <a:pPr>
              <a:lnSpc>
                <a:spcPct val="115000"/>
              </a:lnSpc>
              <a:spcAft>
                <a:spcPts val="1000"/>
              </a:spcAft>
              <a:buNone/>
            </a:pPr>
            <a:r>
              <a:rPr lang="en-IN" sz="2800" dirty="0">
                <a:effectLst/>
                <a:latin typeface="Times New Roman" panose="02020603050405020304" pitchFamily="18" charset="0"/>
                <a:ea typeface="Times New Roman" panose="02020603050405020304" pitchFamily="18" charset="0"/>
                <a:cs typeface="Times New Roman" panose="02020603050405020304" pitchFamily="18" charset="0"/>
              </a:rPr>
              <a:t>By the end of this session, students will be able to:</a:t>
            </a:r>
            <a:endParaRPr lang="en-IN" sz="2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Understand the importance of clarity and substance in managerial communication </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Replace clichés and buzzwords with clear, concise, and specific language </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Write professional messages that are direct and meaningful </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Use AI tools effectively to: Learn new vocabulary in context, Verify correct usage and collocations </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Apply improved language skills in: Emails, Reports, Presentations </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Critically assess AI-generated content before using it </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Develop a preference for clarity over jargon </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Build confidence in using precise and impactful language </a:t>
            </a:r>
          </a:p>
        </p:txBody>
      </p:sp>
    </p:spTree>
    <p:extLst>
      <p:ext uri="{BB962C8B-B14F-4D97-AF65-F5344CB8AC3E}">
        <p14:creationId xmlns:p14="http://schemas.microsoft.com/office/powerpoint/2010/main" val="31846903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46DED-81C6-8600-CAC3-7ACBC1095ED5}"/>
            </a:ext>
          </a:extLst>
        </p:cNvPr>
        <p:cNvGrpSpPr/>
        <p:nvPr/>
      </p:nvGrpSpPr>
      <p:grpSpPr>
        <a:xfrm>
          <a:off x="0" y="0"/>
          <a:ext cx="0" cy="0"/>
          <a:chOff x="0" y="0"/>
          <a:chExt cx="0" cy="0"/>
        </a:xfrm>
      </p:grpSpPr>
      <p:sp>
        <p:nvSpPr>
          <p:cNvPr id="23" name="Rounded Rectangle 17">
            <a:extLst>
              <a:ext uri="{FF2B5EF4-FFF2-40B4-BE49-F238E27FC236}">
                <a16:creationId xmlns:a16="http://schemas.microsoft.com/office/drawing/2014/main" id="{7ACF0CC4-537B-A87E-0B3F-E6B69ECB31CB}"/>
              </a:ext>
            </a:extLst>
          </p:cNvPr>
          <p:cNvSpPr/>
          <p:nvPr/>
        </p:nvSpPr>
        <p:spPr>
          <a:xfrm>
            <a:off x="2968902" y="272277"/>
            <a:ext cx="6639951" cy="73061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latin typeface="Times New Roman" panose="02020603050405020304" pitchFamily="18" charset="0"/>
                <a:cs typeface="Times New Roman" panose="02020603050405020304" pitchFamily="18" charset="0"/>
              </a:rPr>
              <a:t>Case Study</a:t>
            </a:r>
          </a:p>
        </p:txBody>
      </p:sp>
      <p:pic>
        <p:nvPicPr>
          <p:cNvPr id="42" name="Picture 2" descr="KL Deemed to be University Logo">
            <a:extLst>
              <a:ext uri="{FF2B5EF4-FFF2-40B4-BE49-F238E27FC236}">
                <a16:creationId xmlns:a16="http://schemas.microsoft.com/office/drawing/2014/main" id="{06252213-335A-B525-58FF-6F5AEF94C0DD}"/>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3" name="TextBox 2">
            <a:extLst>
              <a:ext uri="{FF2B5EF4-FFF2-40B4-BE49-F238E27FC236}">
                <a16:creationId xmlns:a16="http://schemas.microsoft.com/office/drawing/2014/main" id="{66C8C558-FA4E-351C-7B9D-A6E56528EDA0}"/>
              </a:ext>
            </a:extLst>
          </p:cNvPr>
          <p:cNvSpPr txBox="1"/>
          <p:nvPr/>
        </p:nvSpPr>
        <p:spPr>
          <a:xfrm>
            <a:off x="235975" y="1106129"/>
            <a:ext cx="11665974" cy="5693866"/>
          </a:xfrm>
          <a:prstGeom prst="rect">
            <a:avLst/>
          </a:prstGeom>
          <a:noFill/>
        </p:spPr>
        <p:txBody>
          <a:bodyPr wrap="square">
            <a:spAutoFit/>
          </a:bodyPr>
          <a:lstStyle/>
          <a:p>
            <a:r>
              <a:rPr lang="en-IN" sz="2600" b="1" dirty="0">
                <a:latin typeface="Times New Roman" panose="02020603050405020304" pitchFamily="18" charset="0"/>
                <a:cs typeface="Times New Roman" panose="02020603050405020304" pitchFamily="18" charset="0"/>
              </a:rPr>
              <a:t>Scenario</a:t>
            </a:r>
          </a:p>
          <a:p>
            <a:r>
              <a:rPr lang="en-IN" sz="2600" dirty="0">
                <a:latin typeface="Times New Roman" panose="02020603050405020304" pitchFamily="18" charset="0"/>
                <a:cs typeface="Times New Roman" panose="02020603050405020304" pitchFamily="18" charset="0"/>
              </a:rPr>
              <a:t>Riya, a first-year engineering student, is part of a team working on a mini-project. She is asked to send a project update email to her faculty mentor.</a:t>
            </a:r>
          </a:p>
          <a:p>
            <a:r>
              <a:rPr lang="en-IN" sz="2600" dirty="0">
                <a:latin typeface="Times New Roman" panose="02020603050405020304" pitchFamily="18" charset="0"/>
                <a:cs typeface="Times New Roman" panose="02020603050405020304" pitchFamily="18" charset="0"/>
              </a:rPr>
              <a:t>She uses AI to help her write the email.</a:t>
            </a:r>
          </a:p>
          <a:p>
            <a:r>
              <a:rPr lang="en-IN" sz="2600" dirty="0">
                <a:latin typeface="Times New Roman" panose="02020603050405020304" pitchFamily="18" charset="0"/>
                <a:cs typeface="Times New Roman" panose="02020603050405020304" pitchFamily="18" charset="0"/>
              </a:rPr>
              <a:t> </a:t>
            </a:r>
            <a:r>
              <a:rPr lang="en-IN" sz="2600" b="1" dirty="0">
                <a:latin typeface="Times New Roman" panose="02020603050405020304" pitchFamily="18" charset="0"/>
                <a:cs typeface="Times New Roman" panose="02020603050405020304" pitchFamily="18" charset="0"/>
              </a:rPr>
              <a:t>Riya’s Email (Original Version)</a:t>
            </a:r>
          </a:p>
          <a:p>
            <a:r>
              <a:rPr lang="en-IN" sz="2600" dirty="0">
                <a:latin typeface="Times New Roman" panose="02020603050405020304" pitchFamily="18" charset="0"/>
                <a:cs typeface="Times New Roman" panose="02020603050405020304" pitchFamily="18" charset="0"/>
              </a:rPr>
              <a:t>“We are leveraging our collective strengths to ideate and implement a scalable solution. The team has been proactively engaging in brainstorming sessions to optimize outcomes. We are currently in the process of aligning our resources to deliver impactful results. Moving forward, we aim to synergize our efforts and maximize efficiency.”</a:t>
            </a:r>
          </a:p>
          <a:p>
            <a:r>
              <a:rPr lang="en-IN" sz="2600" b="1" dirty="0">
                <a:latin typeface="Times New Roman" panose="02020603050405020304" pitchFamily="18" charset="0"/>
                <a:cs typeface="Times New Roman" panose="02020603050405020304" pitchFamily="18" charset="0"/>
              </a:rPr>
              <a:t>Task 1: Identify the Problem</a:t>
            </a:r>
          </a:p>
          <a:p>
            <a:pPr marL="342900" lvl="0" indent="-342900">
              <a:buFont typeface="Arial" panose="020B0604020202020204" pitchFamily="34" charset="0"/>
              <a:buChar char="•"/>
            </a:pPr>
            <a:r>
              <a:rPr lang="en-IN" sz="2600" dirty="0">
                <a:latin typeface="Times New Roman" panose="02020603050405020304" pitchFamily="18" charset="0"/>
                <a:cs typeface="Times New Roman" panose="02020603050405020304" pitchFamily="18" charset="0"/>
              </a:rPr>
              <a:t>List the clichés, buzzwords, and corporate jargon in the email.</a:t>
            </a:r>
          </a:p>
          <a:p>
            <a:pPr marL="342900" lvl="0" indent="-342900">
              <a:buFont typeface="Arial" panose="020B0604020202020204" pitchFamily="34" charset="0"/>
              <a:buChar char="•"/>
            </a:pPr>
            <a:r>
              <a:rPr lang="en-IN" sz="2600" dirty="0">
                <a:latin typeface="Times New Roman" panose="02020603050405020304" pitchFamily="18" charset="0"/>
                <a:cs typeface="Times New Roman" panose="02020603050405020304" pitchFamily="18" charset="0"/>
              </a:rPr>
              <a:t>Why is this email unclear or ineffective?</a:t>
            </a:r>
          </a:p>
          <a:p>
            <a:pPr marL="342900" indent="-342900">
              <a:buFont typeface="Arial" panose="020B0604020202020204" pitchFamily="34" charset="0"/>
              <a:buChar char="•"/>
            </a:pPr>
            <a:r>
              <a:rPr lang="en-IN" sz="2600" dirty="0">
                <a:latin typeface="Times New Roman" panose="02020603050405020304" pitchFamily="18" charset="0"/>
                <a:cs typeface="Times New Roman" panose="02020603050405020304" pitchFamily="18" charset="0"/>
              </a:rPr>
              <a:t>What important information is missing?</a:t>
            </a:r>
            <a:endParaRPr lang="en-IN" sz="260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330478883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549EF-504A-43C8-BC6A-5C3C2F3279C2}"/>
            </a:ext>
          </a:extLst>
        </p:cNvPr>
        <p:cNvGrpSpPr/>
        <p:nvPr/>
      </p:nvGrpSpPr>
      <p:grpSpPr>
        <a:xfrm>
          <a:off x="0" y="0"/>
          <a:ext cx="0" cy="0"/>
          <a:chOff x="0" y="0"/>
          <a:chExt cx="0" cy="0"/>
        </a:xfrm>
      </p:grpSpPr>
      <p:sp>
        <p:nvSpPr>
          <p:cNvPr id="23" name="Rounded Rectangle 17">
            <a:extLst>
              <a:ext uri="{FF2B5EF4-FFF2-40B4-BE49-F238E27FC236}">
                <a16:creationId xmlns:a16="http://schemas.microsoft.com/office/drawing/2014/main" id="{F0D385E7-BBCD-31F7-023E-05DF4BF01F9F}"/>
              </a:ext>
            </a:extLst>
          </p:cNvPr>
          <p:cNvSpPr/>
          <p:nvPr/>
        </p:nvSpPr>
        <p:spPr>
          <a:xfrm>
            <a:off x="2924657" y="147484"/>
            <a:ext cx="6639951" cy="60007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000" b="1" dirty="0">
              <a:latin typeface="+mj-lt"/>
            </a:endParaRPr>
          </a:p>
          <a:p>
            <a:pPr algn="ctr"/>
            <a:r>
              <a:rPr lang="en-US" sz="3600" b="1" dirty="0">
                <a:latin typeface="Times New Roman" panose="02020603050405020304" pitchFamily="18" charset="0"/>
                <a:cs typeface="Times New Roman" panose="02020603050405020304" pitchFamily="18" charset="0"/>
              </a:rPr>
              <a:t>Case Study</a:t>
            </a:r>
          </a:p>
          <a:p>
            <a:pPr algn="ctr"/>
            <a:endParaRPr lang="en-US" sz="3000" b="1" dirty="0">
              <a:latin typeface="+mj-lt"/>
            </a:endParaRPr>
          </a:p>
        </p:txBody>
      </p:sp>
      <p:pic>
        <p:nvPicPr>
          <p:cNvPr id="42" name="Picture 2" descr="KL Deemed to be University Logo">
            <a:extLst>
              <a:ext uri="{FF2B5EF4-FFF2-40B4-BE49-F238E27FC236}">
                <a16:creationId xmlns:a16="http://schemas.microsoft.com/office/drawing/2014/main" id="{9C95ECD9-B426-1D75-8CC1-1032677C7AC4}"/>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3" name="TextBox 2">
            <a:extLst>
              <a:ext uri="{FF2B5EF4-FFF2-40B4-BE49-F238E27FC236}">
                <a16:creationId xmlns:a16="http://schemas.microsoft.com/office/drawing/2014/main" id="{A7DFC2AF-CDF1-F26A-E3E8-40CF1EB73D7A}"/>
              </a:ext>
            </a:extLst>
          </p:cNvPr>
          <p:cNvSpPr txBox="1"/>
          <p:nvPr/>
        </p:nvSpPr>
        <p:spPr>
          <a:xfrm>
            <a:off x="353961" y="1061884"/>
            <a:ext cx="11205861" cy="544764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Task 2: AI Usage Reflection</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Riya used AI to generate this email.</a:t>
            </a:r>
          </a:p>
          <a:p>
            <a:pPr lvl="0"/>
            <a:r>
              <a:rPr lang="en-IN" sz="2400" dirty="0">
                <a:latin typeface="Times New Roman" panose="02020603050405020304" pitchFamily="18" charset="0"/>
                <a:cs typeface="Times New Roman" panose="02020603050405020304" pitchFamily="18" charset="0"/>
              </a:rPr>
              <a:t>What mistakes did she make while using AI?</a:t>
            </a:r>
          </a:p>
          <a:p>
            <a:pPr lvl="0"/>
            <a:r>
              <a:rPr lang="en-IN" sz="2400" dirty="0">
                <a:latin typeface="Times New Roman" panose="02020603050405020304" pitchFamily="18" charset="0"/>
                <a:cs typeface="Times New Roman" panose="02020603050405020304" pitchFamily="18" charset="0"/>
              </a:rPr>
              <a:t>How could she have:</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Asked better prompts?</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Checked the tone and clarity?</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Why is it important to verify AI-generated language</a:t>
            </a:r>
          </a:p>
          <a:p>
            <a:endParaRPr lang="en-IN" sz="2400" b="1"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Task 3: Rewrite with Substance</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Rewrite the email by:</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Removing clichés and buzzwords</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Adding specific details (progress, challenges, next steps)</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Making the message clear and concise</a:t>
            </a:r>
          </a:p>
          <a:p>
            <a:endParaRPr lang="en-IN" sz="3600" dirty="0">
              <a:effectLst/>
              <a:ea typeface="Times New Roman" panose="02020603050405020304" pitchFamily="18" charset="0"/>
            </a:endParaRPr>
          </a:p>
        </p:txBody>
      </p:sp>
    </p:spTree>
    <p:extLst>
      <p:ext uri="{BB962C8B-B14F-4D97-AF65-F5344CB8AC3E}">
        <p14:creationId xmlns:p14="http://schemas.microsoft.com/office/powerpoint/2010/main" val="403458921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D085A-8629-0ABA-9AC2-4B735BF23111}"/>
            </a:ext>
          </a:extLst>
        </p:cNvPr>
        <p:cNvGrpSpPr/>
        <p:nvPr/>
      </p:nvGrpSpPr>
      <p:grpSpPr>
        <a:xfrm>
          <a:off x="0" y="0"/>
          <a:ext cx="0" cy="0"/>
          <a:chOff x="0" y="0"/>
          <a:chExt cx="0" cy="0"/>
        </a:xfrm>
      </p:grpSpPr>
      <p:sp>
        <p:nvSpPr>
          <p:cNvPr id="23" name="Rounded Rectangle 17">
            <a:extLst>
              <a:ext uri="{FF2B5EF4-FFF2-40B4-BE49-F238E27FC236}">
                <a16:creationId xmlns:a16="http://schemas.microsoft.com/office/drawing/2014/main" id="{1E47B97D-2BE5-91AD-9276-1B1D9FF53EB1}"/>
              </a:ext>
            </a:extLst>
          </p:cNvPr>
          <p:cNvSpPr/>
          <p:nvPr/>
        </p:nvSpPr>
        <p:spPr>
          <a:xfrm>
            <a:off x="2998399" y="300038"/>
            <a:ext cx="6639951" cy="60007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latin typeface="Times New Roman" panose="02020603050405020304" pitchFamily="18" charset="0"/>
                <a:cs typeface="Times New Roman" panose="02020603050405020304" pitchFamily="18" charset="0"/>
              </a:rPr>
              <a:t>Avoiding Clichés</a:t>
            </a:r>
            <a:endParaRPr lang="en-US" sz="3000" b="1" dirty="0">
              <a:latin typeface="Times New Roman" panose="02020603050405020304" pitchFamily="18" charset="0"/>
              <a:cs typeface="Times New Roman" panose="02020603050405020304" pitchFamily="18" charset="0"/>
            </a:endParaRPr>
          </a:p>
        </p:txBody>
      </p:sp>
      <p:pic>
        <p:nvPicPr>
          <p:cNvPr id="42" name="Picture 2" descr="KL Deemed to be University Logo">
            <a:extLst>
              <a:ext uri="{FF2B5EF4-FFF2-40B4-BE49-F238E27FC236}">
                <a16:creationId xmlns:a16="http://schemas.microsoft.com/office/drawing/2014/main" id="{A91BE8A3-3FE5-788A-5D0C-5A543685B912}"/>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4" name="TextBox 3">
            <a:extLst>
              <a:ext uri="{FF2B5EF4-FFF2-40B4-BE49-F238E27FC236}">
                <a16:creationId xmlns:a16="http://schemas.microsoft.com/office/drawing/2014/main" id="{6A121841-6F1B-6CDF-E9EC-5132C7EC8AC6}"/>
              </a:ext>
            </a:extLst>
          </p:cNvPr>
          <p:cNvSpPr txBox="1"/>
          <p:nvPr/>
        </p:nvSpPr>
        <p:spPr>
          <a:xfrm>
            <a:off x="427702" y="1120878"/>
            <a:ext cx="11297265" cy="6278642"/>
          </a:xfrm>
          <a:prstGeom prst="rect">
            <a:avLst/>
          </a:prstGeom>
          <a:noFill/>
        </p:spPr>
        <p:txBody>
          <a:bodyPr wrap="square">
            <a:spAutoFit/>
          </a:bodyPr>
          <a:lstStyle/>
          <a:p>
            <a:pPr>
              <a:buNone/>
            </a:pPr>
            <a:r>
              <a:rPr lang="en-IN" sz="2400" b="1" dirty="0">
                <a:latin typeface="Times New Roman" panose="02020603050405020304" pitchFamily="18" charset="0"/>
                <a:cs typeface="Times New Roman" panose="02020603050405020304" pitchFamily="18" charset="0"/>
              </a:rPr>
              <a:t>Cliché</a:t>
            </a:r>
            <a:r>
              <a:rPr lang="en-IN" sz="2400" dirty="0">
                <a:latin typeface="Times New Roman" panose="02020603050405020304" pitchFamily="18" charset="0"/>
                <a:cs typeface="Times New Roman" panose="02020603050405020304" pitchFamily="18" charset="0"/>
              </a:rPr>
              <a:t>: A cliché is a word, phrase, or expression that has been overused so much that it has lost its originality and impact. It often sounds predictable, vague, or uninteresting.</a:t>
            </a:r>
          </a:p>
          <a:p>
            <a:pPr>
              <a:buNone/>
            </a:pPr>
            <a:r>
              <a:rPr lang="en-IN" sz="2400" dirty="0">
                <a:latin typeface="Times New Roman" panose="02020603050405020304" pitchFamily="18" charset="0"/>
                <a:cs typeface="Times New Roman" panose="02020603050405020304" pitchFamily="18" charset="0"/>
              </a:rPr>
              <a:t>Examples: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Think outside the box</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At the end of the day</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Leverage our strengths</a:t>
            </a:r>
          </a:p>
          <a:p>
            <a:endParaRPr lang="en-IN" sz="2400" b="1"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Why Should You Avoid Clichés?</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They make communication boring and predictable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They reduce clarity and precision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They sound unprofessional or insincere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They hide the real meaning or action</a:t>
            </a:r>
          </a:p>
          <a:p>
            <a:pPr marL="342900" indent="-3429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Good communication is not about sounding impressive—it’s about being understood clearly.</a:t>
            </a: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a:p>
            <a:pPr>
              <a:buNone/>
            </a:pPr>
            <a:endParaRPr lang="en-IN" dirty="0"/>
          </a:p>
        </p:txBody>
      </p:sp>
      <p:pic>
        <p:nvPicPr>
          <p:cNvPr id="5" name="Picture 4" descr="What Is a Cliche?">
            <a:extLst>
              <a:ext uri="{FF2B5EF4-FFF2-40B4-BE49-F238E27FC236}">
                <a16:creationId xmlns:a16="http://schemas.microsoft.com/office/drawing/2014/main" id="{FEFAE7C2-FFA1-5594-B4D7-FB0CF4EBE4E1}"/>
              </a:ext>
            </a:extLst>
          </p:cNvPr>
          <p:cNvPicPr>
            <a:picLocks noChangeAspect="1"/>
          </p:cNvPicPr>
          <p:nvPr/>
        </p:nvPicPr>
        <p:blipFill>
          <a:blip r:embed="rId4"/>
          <a:stretch>
            <a:fillRect/>
          </a:stretch>
        </p:blipFill>
        <p:spPr>
          <a:xfrm>
            <a:off x="7713405" y="2197511"/>
            <a:ext cx="3303640" cy="2979174"/>
          </a:xfrm>
          <a:prstGeom prst="rect">
            <a:avLst/>
          </a:prstGeom>
        </p:spPr>
      </p:pic>
    </p:spTree>
    <p:extLst>
      <p:ext uri="{BB962C8B-B14F-4D97-AF65-F5344CB8AC3E}">
        <p14:creationId xmlns:p14="http://schemas.microsoft.com/office/powerpoint/2010/main" val="96679915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FF080-ED75-51AC-AA42-DA5AF3099E6B}"/>
            </a:ext>
          </a:extLst>
        </p:cNvPr>
        <p:cNvGrpSpPr/>
        <p:nvPr/>
      </p:nvGrpSpPr>
      <p:grpSpPr>
        <a:xfrm>
          <a:off x="0" y="0"/>
          <a:ext cx="0" cy="0"/>
          <a:chOff x="0" y="0"/>
          <a:chExt cx="0" cy="0"/>
        </a:xfrm>
      </p:grpSpPr>
      <p:sp>
        <p:nvSpPr>
          <p:cNvPr id="23" name="Rounded Rectangle 17">
            <a:extLst>
              <a:ext uri="{FF2B5EF4-FFF2-40B4-BE49-F238E27FC236}">
                <a16:creationId xmlns:a16="http://schemas.microsoft.com/office/drawing/2014/main" id="{EBA61AFA-3ED6-5B47-2D64-5664D3D0596F}"/>
              </a:ext>
            </a:extLst>
          </p:cNvPr>
          <p:cNvSpPr/>
          <p:nvPr/>
        </p:nvSpPr>
        <p:spPr>
          <a:xfrm>
            <a:off x="2998399" y="0"/>
            <a:ext cx="6639951" cy="60007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latin typeface="Times New Roman" panose="02020603050405020304" pitchFamily="18" charset="0"/>
                <a:cs typeface="Times New Roman" panose="02020603050405020304" pitchFamily="18" charset="0"/>
              </a:rPr>
              <a:t>Avoiding Clichés</a:t>
            </a:r>
            <a:endParaRPr lang="en-US" sz="3000" b="1" dirty="0">
              <a:latin typeface="Times New Roman" panose="02020603050405020304" pitchFamily="18" charset="0"/>
              <a:cs typeface="Times New Roman" panose="02020603050405020304" pitchFamily="18" charset="0"/>
            </a:endParaRPr>
          </a:p>
        </p:txBody>
      </p:sp>
      <p:pic>
        <p:nvPicPr>
          <p:cNvPr id="42" name="Picture 2" descr="KL Deemed to be University Logo">
            <a:extLst>
              <a:ext uri="{FF2B5EF4-FFF2-40B4-BE49-F238E27FC236}">
                <a16:creationId xmlns:a16="http://schemas.microsoft.com/office/drawing/2014/main" id="{F7B592EB-EE63-685F-46E0-99A283765744}"/>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4" name="TextBox 3">
            <a:extLst>
              <a:ext uri="{FF2B5EF4-FFF2-40B4-BE49-F238E27FC236}">
                <a16:creationId xmlns:a16="http://schemas.microsoft.com/office/drawing/2014/main" id="{4181F296-8C6F-060B-CCDF-0BDD243793D8}"/>
              </a:ext>
            </a:extLst>
          </p:cNvPr>
          <p:cNvSpPr txBox="1"/>
          <p:nvPr/>
        </p:nvSpPr>
        <p:spPr>
          <a:xfrm>
            <a:off x="117987" y="722671"/>
            <a:ext cx="11754465" cy="6278642"/>
          </a:xfrm>
          <a:prstGeom prst="rect">
            <a:avLst/>
          </a:prstGeom>
          <a:noFill/>
        </p:spPr>
        <p:txBody>
          <a:bodyPr wrap="square">
            <a:spAutoFit/>
          </a:bodyPr>
          <a:lstStyle/>
          <a:p>
            <a:pPr>
              <a:buNone/>
            </a:pPr>
            <a:r>
              <a:rPr lang="en-IN" sz="2400" dirty="0">
                <a:latin typeface="Times New Roman" panose="02020603050405020304" pitchFamily="18" charset="0"/>
                <a:cs typeface="Times New Roman" panose="02020603050405020304" pitchFamily="18" charset="0"/>
              </a:rPr>
              <a:t>How to Avoid Clichés in Communication</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Be Specific</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Use Simple, Clear Language</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Focus on Facts, Not Fancy Words</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Question Every Phrase</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Use AI Carefully</a:t>
            </a:r>
          </a:p>
          <a:p>
            <a:r>
              <a:rPr lang="en-IN" sz="2400" b="1" dirty="0">
                <a:latin typeface="Times New Roman" panose="02020603050405020304" pitchFamily="18" charset="0"/>
                <a:cs typeface="Times New Roman" panose="02020603050405020304" pitchFamily="18" charset="0"/>
              </a:rPr>
              <a:t>In Spoken Communication</a:t>
            </a:r>
          </a:p>
          <a:p>
            <a:r>
              <a:rPr lang="en-IN" sz="2400" dirty="0">
                <a:latin typeface="Times New Roman" panose="02020603050405020304" pitchFamily="18" charset="0"/>
                <a:cs typeface="Times New Roman" panose="02020603050405020304" pitchFamily="18" charset="0"/>
              </a:rPr>
              <a:t>Avoid fillers like: </a:t>
            </a:r>
          </a:p>
          <a:p>
            <a:pPr marL="800100" lvl="1"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“Basically…” </a:t>
            </a:r>
          </a:p>
          <a:p>
            <a:pPr marL="800100" lvl="1"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“You know…” </a:t>
            </a:r>
          </a:p>
          <a:p>
            <a:r>
              <a:rPr lang="en-IN" sz="2400" dirty="0">
                <a:latin typeface="Times New Roman" panose="02020603050405020304" pitchFamily="18" charset="0"/>
                <a:cs typeface="Times New Roman" panose="02020603050405020304" pitchFamily="18" charset="0"/>
              </a:rPr>
              <a:t>Speak </a:t>
            </a:r>
            <a:r>
              <a:rPr lang="en-IN" sz="2400" b="1" dirty="0">
                <a:latin typeface="Times New Roman" panose="02020603050405020304" pitchFamily="18" charset="0"/>
                <a:cs typeface="Times New Roman" panose="02020603050405020304" pitchFamily="18" charset="0"/>
              </a:rPr>
              <a:t>directly and naturally</a:t>
            </a:r>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In Written Communication</a:t>
            </a:r>
          </a:p>
          <a:p>
            <a:r>
              <a:rPr lang="en-IN" sz="2400" dirty="0">
                <a:latin typeface="Times New Roman" panose="02020603050405020304" pitchFamily="18" charset="0"/>
                <a:cs typeface="Times New Roman" panose="02020603050405020304" pitchFamily="18" charset="0"/>
              </a:rPr>
              <a:t>Prefer: </a:t>
            </a:r>
          </a:p>
          <a:p>
            <a:pPr marL="800100" lvl="1"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Short sentences </a:t>
            </a:r>
          </a:p>
          <a:p>
            <a:pPr marL="800100" lvl="1"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Active voice </a:t>
            </a:r>
          </a:p>
          <a:p>
            <a:pPr marL="800100" lvl="1"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Clear structure </a:t>
            </a:r>
          </a:p>
          <a:p>
            <a:pPr>
              <a:buNone/>
            </a:pPr>
            <a:endParaRPr lang="en-IN" dirty="0"/>
          </a:p>
        </p:txBody>
      </p:sp>
    </p:spTree>
    <p:extLst>
      <p:ext uri="{BB962C8B-B14F-4D97-AF65-F5344CB8AC3E}">
        <p14:creationId xmlns:p14="http://schemas.microsoft.com/office/powerpoint/2010/main" val="246797371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F977E-F5BD-F128-759A-8EBA4D568F56}"/>
            </a:ext>
          </a:extLst>
        </p:cNvPr>
        <p:cNvGrpSpPr/>
        <p:nvPr/>
      </p:nvGrpSpPr>
      <p:grpSpPr>
        <a:xfrm>
          <a:off x="0" y="0"/>
          <a:ext cx="0" cy="0"/>
          <a:chOff x="0" y="0"/>
          <a:chExt cx="0" cy="0"/>
        </a:xfrm>
      </p:grpSpPr>
      <p:sp>
        <p:nvSpPr>
          <p:cNvPr id="23" name="Rounded Rectangle 17">
            <a:extLst>
              <a:ext uri="{FF2B5EF4-FFF2-40B4-BE49-F238E27FC236}">
                <a16:creationId xmlns:a16="http://schemas.microsoft.com/office/drawing/2014/main" id="{564BC0C7-2F59-420D-6CC4-F25469A07D93}"/>
              </a:ext>
            </a:extLst>
          </p:cNvPr>
          <p:cNvSpPr/>
          <p:nvPr/>
        </p:nvSpPr>
        <p:spPr>
          <a:xfrm>
            <a:off x="2924657" y="0"/>
            <a:ext cx="6639951" cy="60007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dirty="0">
                <a:latin typeface="Times New Roman" panose="02020603050405020304" pitchFamily="18" charset="0"/>
                <a:cs typeface="Times New Roman" panose="02020603050405020304" pitchFamily="18" charset="0"/>
              </a:rPr>
              <a:t>Buzzwords</a:t>
            </a:r>
            <a:endParaRPr lang="en-US" sz="3000" b="1" dirty="0">
              <a:latin typeface="Times New Roman" panose="02020603050405020304" pitchFamily="18" charset="0"/>
              <a:cs typeface="Times New Roman" panose="02020603050405020304" pitchFamily="18" charset="0"/>
            </a:endParaRPr>
          </a:p>
        </p:txBody>
      </p:sp>
      <p:pic>
        <p:nvPicPr>
          <p:cNvPr id="42" name="Picture 2" descr="KL Deemed to be University Logo">
            <a:extLst>
              <a:ext uri="{FF2B5EF4-FFF2-40B4-BE49-F238E27FC236}">
                <a16:creationId xmlns:a16="http://schemas.microsoft.com/office/drawing/2014/main" id="{5589BE55-1FE0-32E2-4670-5F641C319236}"/>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3" name="TextBox 2">
            <a:extLst>
              <a:ext uri="{FF2B5EF4-FFF2-40B4-BE49-F238E27FC236}">
                <a16:creationId xmlns:a16="http://schemas.microsoft.com/office/drawing/2014/main" id="{A1B47731-6C56-D801-A208-BB7671FB9A8C}"/>
              </a:ext>
            </a:extLst>
          </p:cNvPr>
          <p:cNvSpPr txBox="1"/>
          <p:nvPr/>
        </p:nvSpPr>
        <p:spPr>
          <a:xfrm>
            <a:off x="191729" y="958645"/>
            <a:ext cx="11665974" cy="5539978"/>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Buzzwords</a:t>
            </a:r>
            <a:r>
              <a:rPr lang="en-IN" sz="2800" dirty="0">
                <a:latin typeface="Times New Roman" panose="02020603050405020304" pitchFamily="18" charset="0"/>
                <a:cs typeface="Times New Roman" panose="02020603050405020304" pitchFamily="18" charset="0"/>
              </a:rPr>
              <a:t> are trendy or fashionable words/phrases that are used frequently in professional or corporate settings—often to sound impressive, modern, or intelligent.</a:t>
            </a:r>
          </a:p>
          <a:p>
            <a:endParaRPr lang="en-IN" sz="2800" b="1" dirty="0">
              <a:latin typeface="Times New Roman" panose="02020603050405020304" pitchFamily="18" charset="0"/>
              <a:cs typeface="Times New Roman" panose="02020603050405020304" pitchFamily="18" charset="0"/>
            </a:endParaRPr>
          </a:p>
          <a:p>
            <a:r>
              <a:rPr lang="en-IN" sz="2800" b="1" dirty="0">
                <a:latin typeface="Times New Roman" panose="02020603050405020304" pitchFamily="18" charset="0"/>
                <a:cs typeface="Times New Roman" panose="02020603050405020304" pitchFamily="18" charset="0"/>
              </a:rPr>
              <a:t>Examples of Buzzwords</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“Innovation”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“Disruption”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“Scalable”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“Dynamic”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“Cutting-edge”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“Agile”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“Growth mindset”</a:t>
            </a:r>
          </a:p>
          <a:p>
            <a:endParaRPr lang="en-IN" dirty="0"/>
          </a:p>
        </p:txBody>
      </p:sp>
    </p:spTree>
    <p:extLst>
      <p:ext uri="{BB962C8B-B14F-4D97-AF65-F5344CB8AC3E}">
        <p14:creationId xmlns:p14="http://schemas.microsoft.com/office/powerpoint/2010/main" val="341057957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53E5C-5DFD-3054-EF43-339DFF493C3B}"/>
            </a:ext>
          </a:extLst>
        </p:cNvPr>
        <p:cNvGrpSpPr/>
        <p:nvPr/>
      </p:nvGrpSpPr>
      <p:grpSpPr>
        <a:xfrm>
          <a:off x="0" y="0"/>
          <a:ext cx="0" cy="0"/>
          <a:chOff x="0" y="0"/>
          <a:chExt cx="0" cy="0"/>
        </a:xfrm>
      </p:grpSpPr>
      <p:sp>
        <p:nvSpPr>
          <p:cNvPr id="23" name="Rounded Rectangle 17">
            <a:extLst>
              <a:ext uri="{FF2B5EF4-FFF2-40B4-BE49-F238E27FC236}">
                <a16:creationId xmlns:a16="http://schemas.microsoft.com/office/drawing/2014/main" id="{61E88085-86A5-EF7A-525D-9B21870781D9}"/>
              </a:ext>
            </a:extLst>
          </p:cNvPr>
          <p:cNvSpPr/>
          <p:nvPr/>
        </p:nvSpPr>
        <p:spPr>
          <a:xfrm>
            <a:off x="2924657" y="0"/>
            <a:ext cx="6639951" cy="60007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b="1" dirty="0">
                <a:latin typeface="Times New Roman" panose="02020603050405020304" pitchFamily="18" charset="0"/>
                <a:cs typeface="Times New Roman" panose="02020603050405020304" pitchFamily="18" charset="0"/>
              </a:rPr>
              <a:t>Empty Corporate-Speak</a:t>
            </a:r>
            <a:endParaRPr lang="en-US" sz="2800" b="1" dirty="0">
              <a:latin typeface="Times New Roman" panose="02020603050405020304" pitchFamily="18" charset="0"/>
              <a:cs typeface="Times New Roman" panose="02020603050405020304" pitchFamily="18" charset="0"/>
            </a:endParaRPr>
          </a:p>
        </p:txBody>
      </p:sp>
      <p:pic>
        <p:nvPicPr>
          <p:cNvPr id="42" name="Picture 2" descr="KL Deemed to be University Logo">
            <a:extLst>
              <a:ext uri="{FF2B5EF4-FFF2-40B4-BE49-F238E27FC236}">
                <a16:creationId xmlns:a16="http://schemas.microsoft.com/office/drawing/2014/main" id="{0857EE62-2E60-ECE1-2F42-B77006D4B795}"/>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3" name="TextBox 2">
            <a:extLst>
              <a:ext uri="{FF2B5EF4-FFF2-40B4-BE49-F238E27FC236}">
                <a16:creationId xmlns:a16="http://schemas.microsoft.com/office/drawing/2014/main" id="{18C16FB0-FB5E-4618-5958-637E56599D17}"/>
              </a:ext>
            </a:extLst>
          </p:cNvPr>
          <p:cNvSpPr txBox="1"/>
          <p:nvPr/>
        </p:nvSpPr>
        <p:spPr>
          <a:xfrm>
            <a:off x="250723" y="1179871"/>
            <a:ext cx="11678264" cy="5109091"/>
          </a:xfrm>
          <a:prstGeom prst="rect">
            <a:avLst/>
          </a:prstGeom>
          <a:noFill/>
        </p:spPr>
        <p:txBody>
          <a:bodyPr wrap="square">
            <a:spAutoFit/>
          </a:bodyPr>
          <a:lstStyle/>
          <a:p>
            <a:r>
              <a:rPr lang="en-IN" sz="2800" dirty="0">
                <a:latin typeface="Times New Roman" panose="02020603050405020304" pitchFamily="18" charset="0"/>
                <a:cs typeface="Times New Roman" panose="02020603050405020304" pitchFamily="18" charset="0"/>
              </a:rPr>
              <a:t>Empty corporate-speak refers to long, complicated sentences filled with buzzwords and jargon that sound important but say very little.</a:t>
            </a:r>
          </a:p>
          <a:p>
            <a:r>
              <a:rPr lang="en-IN" sz="2800" dirty="0">
                <a:latin typeface="Times New Roman" panose="02020603050405020304" pitchFamily="18" charset="0"/>
                <a:cs typeface="Times New Roman" panose="02020603050405020304" pitchFamily="18" charset="0"/>
              </a:rPr>
              <a:t>It often hides the real message instead of explaining it.</a:t>
            </a:r>
          </a:p>
          <a:p>
            <a:endParaRPr lang="en-IN" sz="2800" b="1" dirty="0">
              <a:latin typeface="Times New Roman" panose="02020603050405020304" pitchFamily="18" charset="0"/>
              <a:cs typeface="Times New Roman" panose="02020603050405020304" pitchFamily="18" charset="0"/>
            </a:endParaRPr>
          </a:p>
          <a:p>
            <a:r>
              <a:rPr lang="en-IN" sz="2800" b="1" dirty="0">
                <a:latin typeface="Times New Roman" panose="02020603050405020304" pitchFamily="18" charset="0"/>
                <a:cs typeface="Times New Roman" panose="02020603050405020304" pitchFamily="18" charset="0"/>
              </a:rPr>
              <a:t>Examples of Empty Corporate-Speak</a:t>
            </a:r>
          </a:p>
          <a:p>
            <a:r>
              <a:rPr lang="en-IN" sz="2800" dirty="0">
                <a:latin typeface="Times New Roman" panose="02020603050405020304" pitchFamily="18" charset="0"/>
                <a:cs typeface="Times New Roman" panose="02020603050405020304" pitchFamily="18" charset="0"/>
              </a:rPr>
              <a:t>❌ “We are leveraging synergies to optimize impactful outcomes.”</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“We are working together to improve results.”</a:t>
            </a:r>
          </a:p>
          <a:p>
            <a:r>
              <a:rPr lang="en-IN" sz="2800" dirty="0">
                <a:latin typeface="Times New Roman" panose="02020603050405020304" pitchFamily="18" charset="0"/>
                <a:cs typeface="Times New Roman" panose="02020603050405020304" pitchFamily="18" charset="0"/>
              </a:rPr>
              <a:t>❌ “Let’s circle back and touch base offline.”</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“Let’s discuss this later.”</a:t>
            </a:r>
          </a:p>
          <a:p>
            <a:r>
              <a:rPr lang="en-IN" sz="2800" dirty="0">
                <a:latin typeface="Times New Roman" panose="02020603050405020304" pitchFamily="18" charset="0"/>
                <a:cs typeface="Times New Roman" panose="02020603050405020304" pitchFamily="18" charset="0"/>
              </a:rPr>
              <a:t>❌ “We need to align our resources moving forward.”</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 “We need to plan how to use our team and tools.”</a:t>
            </a:r>
          </a:p>
          <a:p>
            <a:endParaRPr lang="en-IN" dirty="0"/>
          </a:p>
        </p:txBody>
      </p:sp>
    </p:spTree>
    <p:extLst>
      <p:ext uri="{BB962C8B-B14F-4D97-AF65-F5344CB8AC3E}">
        <p14:creationId xmlns:p14="http://schemas.microsoft.com/office/powerpoint/2010/main" val="143489228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DA1C7-53B9-EED7-3BA1-83AA1DF86090}"/>
            </a:ext>
          </a:extLst>
        </p:cNvPr>
        <p:cNvGrpSpPr/>
        <p:nvPr/>
      </p:nvGrpSpPr>
      <p:grpSpPr>
        <a:xfrm>
          <a:off x="0" y="0"/>
          <a:ext cx="0" cy="0"/>
          <a:chOff x="0" y="0"/>
          <a:chExt cx="0" cy="0"/>
        </a:xfrm>
      </p:grpSpPr>
      <p:sp>
        <p:nvSpPr>
          <p:cNvPr id="23" name="Rounded Rectangle 17">
            <a:extLst>
              <a:ext uri="{FF2B5EF4-FFF2-40B4-BE49-F238E27FC236}">
                <a16:creationId xmlns:a16="http://schemas.microsoft.com/office/drawing/2014/main" id="{C410213C-BA02-F4A4-8B17-2E9624CA82A5}"/>
              </a:ext>
            </a:extLst>
          </p:cNvPr>
          <p:cNvSpPr/>
          <p:nvPr/>
        </p:nvSpPr>
        <p:spPr>
          <a:xfrm>
            <a:off x="2448233" y="103238"/>
            <a:ext cx="8450826" cy="496837"/>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800" b="1" dirty="0">
                <a:latin typeface="Times New Roman" panose="02020603050405020304" pitchFamily="18" charset="0"/>
                <a:cs typeface="Times New Roman" panose="02020603050405020304" pitchFamily="18" charset="0"/>
              </a:rPr>
              <a:t>Buzzwords &amp; Corporate-Speak a Problem?</a:t>
            </a:r>
          </a:p>
        </p:txBody>
      </p:sp>
      <p:pic>
        <p:nvPicPr>
          <p:cNvPr id="42" name="Picture 2" descr="KL Deemed to be University Logo">
            <a:extLst>
              <a:ext uri="{FF2B5EF4-FFF2-40B4-BE49-F238E27FC236}">
                <a16:creationId xmlns:a16="http://schemas.microsoft.com/office/drawing/2014/main" id="{1F7D8EBC-5AD6-3C00-796B-451AD5DEC415}"/>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3" name="TextBox 2">
            <a:extLst>
              <a:ext uri="{FF2B5EF4-FFF2-40B4-BE49-F238E27FC236}">
                <a16:creationId xmlns:a16="http://schemas.microsoft.com/office/drawing/2014/main" id="{486EC7E5-256C-F08D-7E05-14D8A456F38E}"/>
              </a:ext>
            </a:extLst>
          </p:cNvPr>
          <p:cNvSpPr txBox="1"/>
          <p:nvPr/>
        </p:nvSpPr>
        <p:spPr>
          <a:xfrm>
            <a:off x="294968" y="899652"/>
            <a:ext cx="11897032" cy="4945394"/>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Problems:</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Lack  clarity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Sound artificial or pretentious</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Waste time and confuse listeners/readers Hide real ideas or lack of understanding</a:t>
            </a:r>
          </a:p>
          <a:p>
            <a:r>
              <a:rPr lang="en-IN" sz="2800" b="1" dirty="0">
                <a:latin typeface="Times New Roman" panose="02020603050405020304" pitchFamily="18" charset="0"/>
                <a:cs typeface="Times New Roman" panose="02020603050405020304" pitchFamily="18" charset="0"/>
              </a:rPr>
              <a:t>How to Avoid Buzzwords &amp; Corporate-Speak</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Use Plain English</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Be Specific</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Shorten Sentences</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Focus on Meaning, Not Style</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Use AI Carefully</a:t>
            </a:r>
          </a:p>
        </p:txBody>
      </p:sp>
    </p:spTree>
    <p:extLst>
      <p:ext uri="{BB962C8B-B14F-4D97-AF65-F5344CB8AC3E}">
        <p14:creationId xmlns:p14="http://schemas.microsoft.com/office/powerpoint/2010/main" val="19832006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81FB1-2344-A3FF-81D0-5177E5C4492D}"/>
            </a:ext>
          </a:extLst>
        </p:cNvPr>
        <p:cNvGrpSpPr/>
        <p:nvPr/>
      </p:nvGrpSpPr>
      <p:grpSpPr>
        <a:xfrm>
          <a:off x="0" y="0"/>
          <a:ext cx="0" cy="0"/>
          <a:chOff x="0" y="0"/>
          <a:chExt cx="0" cy="0"/>
        </a:xfrm>
      </p:grpSpPr>
      <p:sp>
        <p:nvSpPr>
          <p:cNvPr id="23" name="Rounded Rectangle 17">
            <a:extLst>
              <a:ext uri="{FF2B5EF4-FFF2-40B4-BE49-F238E27FC236}">
                <a16:creationId xmlns:a16="http://schemas.microsoft.com/office/drawing/2014/main" id="{567C5FA3-1CBF-0D74-EB10-622A474562F3}"/>
              </a:ext>
            </a:extLst>
          </p:cNvPr>
          <p:cNvSpPr/>
          <p:nvPr/>
        </p:nvSpPr>
        <p:spPr>
          <a:xfrm>
            <a:off x="2448233" y="103238"/>
            <a:ext cx="8450826" cy="496837"/>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800" b="1" dirty="0">
                <a:latin typeface="Times New Roman" panose="02020603050405020304" pitchFamily="18" charset="0"/>
                <a:cs typeface="Times New Roman" panose="02020603050405020304" pitchFamily="18" charset="0"/>
              </a:rPr>
              <a:t>Buzzwords &amp; Corporate-Speak – Complex Problem</a:t>
            </a:r>
          </a:p>
        </p:txBody>
      </p:sp>
      <p:pic>
        <p:nvPicPr>
          <p:cNvPr id="42" name="Picture 2" descr="KL Deemed to be University Logo">
            <a:extLst>
              <a:ext uri="{FF2B5EF4-FFF2-40B4-BE49-F238E27FC236}">
                <a16:creationId xmlns:a16="http://schemas.microsoft.com/office/drawing/2014/main" id="{AD495F77-C09E-EC05-0188-C9D0DA7F9F5B}"/>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3" name="TextBox 2">
            <a:extLst>
              <a:ext uri="{FF2B5EF4-FFF2-40B4-BE49-F238E27FC236}">
                <a16:creationId xmlns:a16="http://schemas.microsoft.com/office/drawing/2014/main" id="{AFA4B6B5-03C3-D852-0687-5716233CE351}"/>
              </a:ext>
            </a:extLst>
          </p:cNvPr>
          <p:cNvSpPr txBox="1"/>
          <p:nvPr/>
        </p:nvSpPr>
        <p:spPr>
          <a:xfrm>
            <a:off x="235974" y="1076632"/>
            <a:ext cx="11842955" cy="4955203"/>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Task</a:t>
            </a:r>
            <a:r>
              <a:rPr lang="en-IN" sz="2400" dirty="0">
                <a:latin typeface="Times New Roman" panose="02020603050405020304" pitchFamily="18" charset="0"/>
                <a:cs typeface="Times New Roman" panose="02020603050405020304" pitchFamily="18" charset="0"/>
              </a:rPr>
              <a:t>: Identify the empty buzzwords and clichés in a 'corporate-speak' paragraph and rewrite it with substance; explain how each replacement adds real meaning.</a:t>
            </a:r>
          </a:p>
          <a:p>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Paragraph</a:t>
            </a:r>
            <a:r>
              <a:rPr lang="en-IN" sz="2400" dirty="0">
                <a:latin typeface="Times New Roman" panose="02020603050405020304" pitchFamily="18" charset="0"/>
                <a:cs typeface="Times New Roman" panose="02020603050405020304" pitchFamily="18" charset="0"/>
              </a:rPr>
              <a:t>: “Our organization is committed to leveraging synergistic solutions to drive impactful outcomes. By adopting a forward-thinking, agile mindset, we aim to optimize core competencies and unlock value across all verticals. Moving forward, we will circle back to align our strategic roadmap and ensure best-in-class deliverables while maximizing stakeholder engagement.”</a:t>
            </a:r>
          </a:p>
          <a:p>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Buzz Words/Cliche?( What)</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Replacements (Why)</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Re-write…( How)</a:t>
            </a:r>
          </a:p>
          <a:p>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109617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08C5B-C020-D861-C0D2-B2799231036E}"/>
            </a:ext>
          </a:extLst>
        </p:cNvPr>
        <p:cNvGrpSpPr/>
        <p:nvPr/>
      </p:nvGrpSpPr>
      <p:grpSpPr>
        <a:xfrm>
          <a:off x="0" y="0"/>
          <a:ext cx="0" cy="0"/>
          <a:chOff x="0" y="0"/>
          <a:chExt cx="0" cy="0"/>
        </a:xfrm>
      </p:grpSpPr>
      <p:sp>
        <p:nvSpPr>
          <p:cNvPr id="23" name="Rounded Rectangle 17">
            <a:extLst>
              <a:ext uri="{FF2B5EF4-FFF2-40B4-BE49-F238E27FC236}">
                <a16:creationId xmlns:a16="http://schemas.microsoft.com/office/drawing/2014/main" id="{B89EF88B-0FF7-BF1D-C1DA-7E09A4A7FE75}"/>
              </a:ext>
            </a:extLst>
          </p:cNvPr>
          <p:cNvSpPr/>
          <p:nvPr/>
        </p:nvSpPr>
        <p:spPr>
          <a:xfrm>
            <a:off x="2448233" y="103238"/>
            <a:ext cx="8450826" cy="496837"/>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b="1" dirty="0">
                <a:latin typeface="Times New Roman" panose="02020603050405020304" pitchFamily="18" charset="0"/>
                <a:cs typeface="Times New Roman" panose="02020603050405020304" pitchFamily="18" charset="0"/>
              </a:rPr>
              <a:t>(Lab Activity -4) Corporate-Speak Cleanup Challenge</a:t>
            </a:r>
          </a:p>
        </p:txBody>
      </p:sp>
      <p:pic>
        <p:nvPicPr>
          <p:cNvPr id="42" name="Picture 2" descr="KL Deemed to be University Logo">
            <a:extLst>
              <a:ext uri="{FF2B5EF4-FFF2-40B4-BE49-F238E27FC236}">
                <a16:creationId xmlns:a16="http://schemas.microsoft.com/office/drawing/2014/main" id="{B25494D2-A4F3-B23A-6B6D-C973CC0BD33E}"/>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3" name="TextBox 2">
            <a:extLst>
              <a:ext uri="{FF2B5EF4-FFF2-40B4-BE49-F238E27FC236}">
                <a16:creationId xmlns:a16="http://schemas.microsoft.com/office/drawing/2014/main" id="{9E1A37C4-3DD2-09E3-93B9-2C9E399D4EA5}"/>
              </a:ext>
            </a:extLst>
          </p:cNvPr>
          <p:cNvSpPr txBox="1"/>
          <p:nvPr/>
        </p:nvSpPr>
        <p:spPr>
          <a:xfrm>
            <a:off x="0" y="600075"/>
            <a:ext cx="12078930" cy="6617196"/>
          </a:xfrm>
          <a:prstGeom prst="rect">
            <a:avLst/>
          </a:prstGeom>
          <a:noFill/>
        </p:spPr>
        <p:txBody>
          <a:bodyPr wrap="square">
            <a:spAutoFit/>
          </a:bodyPr>
          <a:lstStyle/>
          <a:p>
            <a:pPr>
              <a:lnSpc>
                <a:spcPct val="150000"/>
              </a:lnSpc>
            </a:pPr>
            <a:r>
              <a:rPr lang="en-IN" sz="2400" b="1" dirty="0">
                <a:latin typeface="Times New Roman" panose="02020603050405020304" pitchFamily="18" charset="0"/>
                <a:cs typeface="Times New Roman" panose="02020603050405020304" pitchFamily="18" charset="0"/>
              </a:rPr>
              <a:t>Rewrite sentences in clear, simple English Keep meaning intact.</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“Let’s circle back and touch base offline.” </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“We need to leverage our synergies moving forward.” </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“This initiative will drive impactful outcomes.” </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“Please align with the stakeholders on this deliverable.” </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“We are pivoting our strategy to maximize value.” </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“Let’s take this discussion to the next level.” </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“We need to streamline our processes for efficiency.” </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“Kindly revert back with your inputs at the earliest.” </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“This solution is not scalable in the long run.” </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“We should ideate innovative solutions for growth.” </a:t>
            </a:r>
          </a:p>
          <a:p>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490820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F4FB8-3916-6909-6580-1F98B050DDF7}"/>
            </a:ext>
          </a:extLst>
        </p:cNvPr>
        <p:cNvGrpSpPr/>
        <p:nvPr/>
      </p:nvGrpSpPr>
      <p:grpSpPr>
        <a:xfrm>
          <a:off x="0" y="0"/>
          <a:ext cx="0" cy="0"/>
          <a:chOff x="0" y="0"/>
          <a:chExt cx="0" cy="0"/>
        </a:xfrm>
      </p:grpSpPr>
      <p:sp>
        <p:nvSpPr>
          <p:cNvPr id="23" name="Rounded Rectangle 17">
            <a:extLst>
              <a:ext uri="{FF2B5EF4-FFF2-40B4-BE49-F238E27FC236}">
                <a16:creationId xmlns:a16="http://schemas.microsoft.com/office/drawing/2014/main" id="{39967E10-354D-970F-4822-1A5C65C28C18}"/>
              </a:ext>
            </a:extLst>
          </p:cNvPr>
          <p:cNvSpPr/>
          <p:nvPr/>
        </p:nvSpPr>
        <p:spPr>
          <a:xfrm>
            <a:off x="2448233" y="103238"/>
            <a:ext cx="8450826" cy="496837"/>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latin typeface="Times New Roman" panose="02020603050405020304" pitchFamily="18" charset="0"/>
                <a:cs typeface="Times New Roman" panose="02020603050405020304" pitchFamily="18" charset="0"/>
              </a:rPr>
              <a:t>AI for Vocabulary Growth</a:t>
            </a:r>
            <a:endParaRPr lang="en-IN" sz="2800" b="1" dirty="0">
              <a:latin typeface="Times New Roman" panose="02020603050405020304" pitchFamily="18" charset="0"/>
              <a:cs typeface="Times New Roman" panose="02020603050405020304" pitchFamily="18" charset="0"/>
            </a:endParaRPr>
          </a:p>
        </p:txBody>
      </p:sp>
      <p:pic>
        <p:nvPicPr>
          <p:cNvPr id="42" name="Picture 2" descr="KL Deemed to be University Logo">
            <a:extLst>
              <a:ext uri="{FF2B5EF4-FFF2-40B4-BE49-F238E27FC236}">
                <a16:creationId xmlns:a16="http://schemas.microsoft.com/office/drawing/2014/main" id="{937A05AF-AF50-50AF-1FD0-606BA612CB64}"/>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3" name="TextBox 2">
            <a:extLst>
              <a:ext uri="{FF2B5EF4-FFF2-40B4-BE49-F238E27FC236}">
                <a16:creationId xmlns:a16="http://schemas.microsoft.com/office/drawing/2014/main" id="{AC35B342-631C-0D13-8771-695F02FB05C1}"/>
              </a:ext>
            </a:extLst>
          </p:cNvPr>
          <p:cNvSpPr txBox="1"/>
          <p:nvPr/>
        </p:nvSpPr>
        <p:spPr>
          <a:xfrm>
            <a:off x="132734" y="722671"/>
            <a:ext cx="12059265" cy="6555641"/>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In Vocabulary Development</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Generating Contextual Examples</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Understanding Nuance (Subtle Meaning Differences)</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Learning Collocations (Word Combinations)</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Building a Personal Word Bank</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Improving Writing</a:t>
            </a:r>
          </a:p>
          <a:p>
            <a:r>
              <a:rPr lang="en-IN" sz="2800" b="1" dirty="0">
                <a:latin typeface="Times New Roman" panose="02020603050405020304" pitchFamily="18" charset="0"/>
                <a:cs typeface="Times New Roman" panose="02020603050405020304" pitchFamily="18" charset="0"/>
              </a:rPr>
              <a:t>*Remember: AI is helpful, but not always perfect.</a:t>
            </a:r>
          </a:p>
          <a:p>
            <a:r>
              <a:rPr lang="en-IN" sz="2800" b="1" dirty="0">
                <a:latin typeface="Times New Roman" panose="02020603050405020304" pitchFamily="18" charset="0"/>
                <a:cs typeface="Times New Roman" panose="02020603050405020304" pitchFamily="18" charset="0"/>
              </a:rPr>
              <a:t>Always check:</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Is the word suitable for the context?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Is the tone formal or informal as needed?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Is the collocation correct</a:t>
            </a:r>
            <a:r>
              <a:rPr lang="en-IN" sz="2800" dirty="0"/>
              <a:t>?</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Ask Good Prompts</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Avoid Overdependence</a:t>
            </a:r>
          </a:p>
          <a:p>
            <a:r>
              <a:rPr lang="en-IN" sz="2800" dirty="0"/>
              <a:t>👉 </a:t>
            </a:r>
            <a:r>
              <a:rPr lang="en-IN" sz="2800" b="1" dirty="0">
                <a:latin typeface="Times New Roman" panose="02020603050405020304" pitchFamily="18" charset="0"/>
                <a:cs typeface="Times New Roman" panose="02020603050405020304" pitchFamily="18" charset="0"/>
              </a:rPr>
              <a:t>Use AI to understand, practice, and improve, not just to copy.</a:t>
            </a:r>
          </a:p>
          <a:p>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31722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0C516-5FDC-D43D-7312-90891090BB0F}"/>
            </a:ext>
          </a:extLst>
        </p:cNvPr>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A47B968-A6CA-2DA6-3505-59E2642546B0}"/>
              </a:ext>
            </a:extLst>
          </p:cNvPr>
          <p:cNvSpPr/>
          <p:nvPr/>
        </p:nvSpPr>
        <p:spPr>
          <a:xfrm>
            <a:off x="2448233" y="103238"/>
            <a:ext cx="8450826" cy="496837"/>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latin typeface="Times New Roman" panose="02020603050405020304" pitchFamily="18" charset="0"/>
                <a:cs typeface="Times New Roman" panose="02020603050405020304" pitchFamily="18" charset="0"/>
              </a:rPr>
              <a:t>AI for Vocabulary Growth</a:t>
            </a:r>
            <a:endParaRPr lang="en-IN" sz="2800" b="1" dirty="0">
              <a:latin typeface="Times New Roman" panose="02020603050405020304" pitchFamily="18" charset="0"/>
              <a:cs typeface="Times New Roman" panose="02020603050405020304" pitchFamily="18" charset="0"/>
            </a:endParaRPr>
          </a:p>
        </p:txBody>
      </p:sp>
      <p:pic>
        <p:nvPicPr>
          <p:cNvPr id="42" name="Picture 2" descr="KL Deemed to be University Logo">
            <a:extLst>
              <a:ext uri="{FF2B5EF4-FFF2-40B4-BE49-F238E27FC236}">
                <a16:creationId xmlns:a16="http://schemas.microsoft.com/office/drawing/2014/main" id="{A712A076-2334-FEFF-97B3-E78B550B19D3}"/>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3" name="TextBox 2">
            <a:extLst>
              <a:ext uri="{FF2B5EF4-FFF2-40B4-BE49-F238E27FC236}">
                <a16:creationId xmlns:a16="http://schemas.microsoft.com/office/drawing/2014/main" id="{F517C97F-F598-6396-CBC0-C2343B3CD132}"/>
              </a:ext>
            </a:extLst>
          </p:cNvPr>
          <p:cNvSpPr txBox="1"/>
          <p:nvPr/>
        </p:nvSpPr>
        <p:spPr>
          <a:xfrm>
            <a:off x="294968" y="899652"/>
            <a:ext cx="11164529" cy="6124754"/>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In Vocabulary Development</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Generating Contextual Examples</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Understanding Nuance (Subtle Meaning Differences)</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Learning Collocations (Word Combinations)</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Building a Personal Word Bank</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Improving Writing</a:t>
            </a:r>
          </a:p>
          <a:p>
            <a:r>
              <a:rPr lang="en-IN" sz="2800" b="1" dirty="0">
                <a:latin typeface="Times New Roman" panose="02020603050405020304" pitchFamily="18" charset="0"/>
                <a:cs typeface="Times New Roman" panose="02020603050405020304" pitchFamily="18" charset="0"/>
              </a:rPr>
              <a:t>*Remember: AI is helpful, but not always perfect.</a:t>
            </a:r>
          </a:p>
          <a:p>
            <a:r>
              <a:rPr lang="en-IN" sz="2800" b="1" dirty="0">
                <a:latin typeface="Times New Roman" panose="02020603050405020304" pitchFamily="18" charset="0"/>
                <a:cs typeface="Times New Roman" panose="02020603050405020304" pitchFamily="18" charset="0"/>
              </a:rPr>
              <a:t>Always check:</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Is the word suitable for the context?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Is the tone formal or informal as needed?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Is the collocation correct</a:t>
            </a:r>
            <a:r>
              <a:rPr lang="en-IN" sz="2800" dirty="0"/>
              <a:t>?</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Ask Good Prompts</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Avoid Overdependence</a:t>
            </a:r>
          </a:p>
          <a:p>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98999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4AE71-D042-0669-7FDF-DB67B3548C78}"/>
            </a:ext>
          </a:extLst>
        </p:cNvPr>
        <p:cNvGrpSpPr/>
        <p:nvPr/>
      </p:nvGrpSpPr>
      <p:grpSpPr>
        <a:xfrm>
          <a:off x="0" y="0"/>
          <a:ext cx="0" cy="0"/>
          <a:chOff x="0" y="0"/>
          <a:chExt cx="0" cy="0"/>
        </a:xfrm>
      </p:grpSpPr>
      <p:sp>
        <p:nvSpPr>
          <p:cNvPr id="23" name="Rounded Rectangle 17">
            <a:extLst>
              <a:ext uri="{FF2B5EF4-FFF2-40B4-BE49-F238E27FC236}">
                <a16:creationId xmlns:a16="http://schemas.microsoft.com/office/drawing/2014/main" id="{7F75E776-42B8-9A54-B36C-7BBB11FB05A2}"/>
              </a:ext>
            </a:extLst>
          </p:cNvPr>
          <p:cNvSpPr/>
          <p:nvPr/>
        </p:nvSpPr>
        <p:spPr>
          <a:xfrm>
            <a:off x="2448233" y="103238"/>
            <a:ext cx="8450826" cy="496837"/>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latin typeface="Times New Roman" panose="02020603050405020304" pitchFamily="18" charset="0"/>
                <a:cs typeface="Times New Roman" panose="02020603050405020304" pitchFamily="18" charset="0"/>
              </a:rPr>
              <a:t>AI for </a:t>
            </a:r>
            <a:r>
              <a:rPr lang="en-IN" sz="2800" dirty="0"/>
              <a:t> </a:t>
            </a:r>
            <a:r>
              <a:rPr lang="en-IN" sz="2800" b="1" dirty="0">
                <a:latin typeface="Times New Roman" panose="02020603050405020304" pitchFamily="18" charset="0"/>
                <a:cs typeface="Times New Roman" panose="02020603050405020304" pitchFamily="18" charset="0"/>
              </a:rPr>
              <a:t>Generating Contextual Examples</a:t>
            </a:r>
          </a:p>
        </p:txBody>
      </p:sp>
      <p:pic>
        <p:nvPicPr>
          <p:cNvPr id="42" name="Picture 2" descr="KL Deemed to be University Logo">
            <a:extLst>
              <a:ext uri="{FF2B5EF4-FFF2-40B4-BE49-F238E27FC236}">
                <a16:creationId xmlns:a16="http://schemas.microsoft.com/office/drawing/2014/main" id="{4F98DB80-F32D-CDCC-8AB7-0AEBE126199A}"/>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3" name="TextBox 2">
            <a:extLst>
              <a:ext uri="{FF2B5EF4-FFF2-40B4-BE49-F238E27FC236}">
                <a16:creationId xmlns:a16="http://schemas.microsoft.com/office/drawing/2014/main" id="{EF164188-75D7-0F64-2FB0-162270AFBE0C}"/>
              </a:ext>
            </a:extLst>
          </p:cNvPr>
          <p:cNvSpPr txBox="1"/>
          <p:nvPr/>
        </p:nvSpPr>
        <p:spPr>
          <a:xfrm>
            <a:off x="0" y="600075"/>
            <a:ext cx="11975690" cy="6247864"/>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Navigation:</a:t>
            </a:r>
          </a:p>
          <a:p>
            <a:pPr marL="457200" indent="-4572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Choose the Word: Start with a word you want to learn.</a:t>
            </a:r>
          </a:p>
          <a:p>
            <a:pPr marL="457200" indent="-4572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Ask AI the Right Prompt: The quality of examples depends on your prompt.</a:t>
            </a:r>
          </a:p>
          <a:p>
            <a:pPr marL="457200" indent="-4572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Analyse the Examples</a:t>
            </a:r>
          </a:p>
          <a:p>
            <a:pPr marL="457200" indent="-4572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Create Your Own Sentence</a:t>
            </a:r>
          </a:p>
          <a:p>
            <a:pPr marL="457200" indent="-4572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Verify with AI</a:t>
            </a:r>
          </a:p>
          <a:p>
            <a:r>
              <a:rPr lang="en-IN" sz="2800" b="1" dirty="0">
                <a:latin typeface="Times New Roman" panose="02020603050405020304" pitchFamily="18" charset="0"/>
                <a:cs typeface="Times New Roman" panose="02020603050405020304" pitchFamily="18" charset="0"/>
              </a:rPr>
              <a:t>Explore Variations</a:t>
            </a:r>
          </a:p>
          <a:p>
            <a:pPr marL="457200" indent="-4572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For nuance</a:t>
            </a:r>
          </a:p>
          <a:p>
            <a:pPr marL="457200" indent="-4572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For collocations</a:t>
            </a:r>
          </a:p>
          <a:p>
            <a:pPr marL="457200" indent="-4572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For spoken use</a:t>
            </a:r>
          </a:p>
          <a:p>
            <a:r>
              <a:rPr lang="en-IN" sz="2800" b="1" dirty="0">
                <a:latin typeface="Times New Roman" panose="02020603050405020304" pitchFamily="18" charset="0"/>
                <a:cs typeface="Times New Roman" panose="02020603050405020304" pitchFamily="18" charset="0"/>
              </a:rPr>
              <a:t>Avoid</a:t>
            </a:r>
          </a:p>
          <a:p>
            <a:pPr marL="457200" indent="-4572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Copying AI sentences without understanding </a:t>
            </a:r>
          </a:p>
          <a:p>
            <a:pPr marL="457200" indent="-4572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 Using words in the wrong context </a:t>
            </a:r>
          </a:p>
          <a:p>
            <a:pPr marL="457200" indent="-4572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 Ignoring tone (formal/informal) </a:t>
            </a:r>
          </a:p>
          <a:p>
            <a:pPr marL="457200" indent="-4572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 Not practicing your own sentences</a:t>
            </a:r>
          </a:p>
          <a:p>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681222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AB1E9-910B-FF26-A4C7-4A50FF3EF350}"/>
            </a:ext>
          </a:extLst>
        </p:cNvPr>
        <p:cNvGrpSpPr/>
        <p:nvPr/>
      </p:nvGrpSpPr>
      <p:grpSpPr>
        <a:xfrm>
          <a:off x="0" y="0"/>
          <a:ext cx="0" cy="0"/>
          <a:chOff x="0" y="0"/>
          <a:chExt cx="0" cy="0"/>
        </a:xfrm>
      </p:grpSpPr>
      <p:sp>
        <p:nvSpPr>
          <p:cNvPr id="23" name="Rounded Rectangle 17">
            <a:extLst>
              <a:ext uri="{FF2B5EF4-FFF2-40B4-BE49-F238E27FC236}">
                <a16:creationId xmlns:a16="http://schemas.microsoft.com/office/drawing/2014/main" id="{6876AB65-B4FB-8339-0D64-E85197BE4004}"/>
              </a:ext>
            </a:extLst>
          </p:cNvPr>
          <p:cNvSpPr/>
          <p:nvPr/>
        </p:nvSpPr>
        <p:spPr>
          <a:xfrm>
            <a:off x="2448233" y="103238"/>
            <a:ext cx="8450826" cy="496837"/>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b="1" dirty="0">
                <a:latin typeface="Times New Roman" panose="02020603050405020304" pitchFamily="18" charset="0"/>
                <a:cs typeface="Times New Roman" panose="02020603050405020304" pitchFamily="18" charset="0"/>
              </a:rPr>
              <a:t>AI Tools for Improving English Vocabulary</a:t>
            </a:r>
          </a:p>
        </p:txBody>
      </p:sp>
      <p:pic>
        <p:nvPicPr>
          <p:cNvPr id="42" name="Picture 2" descr="KL Deemed to be University Logo">
            <a:extLst>
              <a:ext uri="{FF2B5EF4-FFF2-40B4-BE49-F238E27FC236}">
                <a16:creationId xmlns:a16="http://schemas.microsoft.com/office/drawing/2014/main" id="{3A17C61D-D4F9-62EB-5863-ABB8878800B3}"/>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3" name="TextBox 2">
            <a:extLst>
              <a:ext uri="{FF2B5EF4-FFF2-40B4-BE49-F238E27FC236}">
                <a16:creationId xmlns:a16="http://schemas.microsoft.com/office/drawing/2014/main" id="{EFFA362F-9838-1E72-91C3-14B1F3664B7B}"/>
              </a:ext>
            </a:extLst>
          </p:cNvPr>
          <p:cNvSpPr txBox="1"/>
          <p:nvPr/>
        </p:nvSpPr>
        <p:spPr>
          <a:xfrm>
            <a:off x="191728" y="870155"/>
            <a:ext cx="11783961" cy="5693866"/>
          </a:xfrm>
          <a:prstGeom prst="rect">
            <a:avLst/>
          </a:prstGeom>
          <a:noFill/>
        </p:spPr>
        <p:txBody>
          <a:bodyPr wrap="square">
            <a:spAutoFit/>
          </a:bodyPr>
          <a:lstStyle/>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ChatGPT</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Quizlet</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Duolingo</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Grammarly</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Wordtune</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ELSA Speak</a:t>
            </a:r>
          </a:p>
          <a:p>
            <a:r>
              <a:rPr lang="en-IN" sz="2800" b="1" dirty="0">
                <a:latin typeface="Times New Roman" panose="02020603050405020304" pitchFamily="18" charset="0"/>
                <a:cs typeface="Times New Roman" panose="02020603050405020304" pitchFamily="18" charset="0"/>
              </a:rPr>
              <a:t>How to Combine These Tools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Learn → ChatGPT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Store → Quizlet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Practice daily → Duolingo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Write &amp; improve → Grammarly + Wordtune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Speak → ELSA Speak</a:t>
            </a:r>
          </a:p>
          <a:p>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19154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100AB-4261-DABD-F00E-701B6DEFA8F6}"/>
            </a:ext>
          </a:extLst>
        </p:cNvPr>
        <p:cNvGrpSpPr/>
        <p:nvPr/>
      </p:nvGrpSpPr>
      <p:grpSpPr>
        <a:xfrm>
          <a:off x="0" y="0"/>
          <a:ext cx="0" cy="0"/>
          <a:chOff x="0" y="0"/>
          <a:chExt cx="0" cy="0"/>
        </a:xfrm>
      </p:grpSpPr>
      <p:sp>
        <p:nvSpPr>
          <p:cNvPr id="23" name="Rounded Rectangle 17">
            <a:extLst>
              <a:ext uri="{FF2B5EF4-FFF2-40B4-BE49-F238E27FC236}">
                <a16:creationId xmlns:a16="http://schemas.microsoft.com/office/drawing/2014/main" id="{C22BA80C-D397-7110-A343-9E5D798C8E7B}"/>
              </a:ext>
            </a:extLst>
          </p:cNvPr>
          <p:cNvSpPr/>
          <p:nvPr/>
        </p:nvSpPr>
        <p:spPr>
          <a:xfrm>
            <a:off x="2448233" y="103238"/>
            <a:ext cx="8450826" cy="496837"/>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latin typeface="Times New Roman" panose="02020603050405020304" pitchFamily="18" charset="0"/>
                <a:cs typeface="Times New Roman" panose="02020603050405020304" pitchFamily="18" charset="0"/>
              </a:rPr>
              <a:t>Checking Nuance</a:t>
            </a:r>
            <a:endParaRPr lang="en-IN" sz="2800" b="1" dirty="0">
              <a:latin typeface="Times New Roman" panose="02020603050405020304" pitchFamily="18" charset="0"/>
              <a:cs typeface="Times New Roman" panose="02020603050405020304" pitchFamily="18" charset="0"/>
            </a:endParaRPr>
          </a:p>
        </p:txBody>
      </p:sp>
      <p:pic>
        <p:nvPicPr>
          <p:cNvPr id="42" name="Picture 2" descr="KL Deemed to be University Logo">
            <a:extLst>
              <a:ext uri="{FF2B5EF4-FFF2-40B4-BE49-F238E27FC236}">
                <a16:creationId xmlns:a16="http://schemas.microsoft.com/office/drawing/2014/main" id="{40DC3A17-9972-EDE7-8C2E-BE3C052FF5FA}"/>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3" name="TextBox 2">
            <a:extLst>
              <a:ext uri="{FF2B5EF4-FFF2-40B4-BE49-F238E27FC236}">
                <a16:creationId xmlns:a16="http://schemas.microsoft.com/office/drawing/2014/main" id="{75D97B9C-E651-7A57-F18F-06953E5A3E7B}"/>
              </a:ext>
            </a:extLst>
          </p:cNvPr>
          <p:cNvSpPr txBox="1"/>
          <p:nvPr/>
        </p:nvSpPr>
        <p:spPr>
          <a:xfrm>
            <a:off x="0" y="600075"/>
            <a:ext cx="11975689" cy="6124754"/>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Nuance: </a:t>
            </a:r>
            <a:r>
              <a:rPr lang="en-IN" sz="2800" dirty="0">
                <a:latin typeface="Times New Roman" panose="02020603050405020304" pitchFamily="18" charset="0"/>
                <a:cs typeface="Times New Roman" panose="02020603050405020304" pitchFamily="18" charset="0"/>
              </a:rPr>
              <a:t>The subtle differences in tone, word choice, timing, and body language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It shifts communication from merely "exchanging information" to "building mutual understanding".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It prevents misunderstandings, conveys respect, and allows for deeper, more meaningful human connections</a:t>
            </a:r>
            <a:r>
              <a:rPr lang="en-IN" sz="2800" dirty="0"/>
              <a:t>.</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It helps you describe complex ideas and fine distinctions.</a:t>
            </a:r>
          </a:p>
          <a:p>
            <a:r>
              <a:rPr lang="en-IN" sz="2800" b="1" dirty="0">
                <a:latin typeface="Times New Roman" panose="02020603050405020304" pitchFamily="18" charset="0"/>
                <a:cs typeface="Times New Roman" panose="02020603050405020304" pitchFamily="18" charset="0"/>
              </a:rPr>
              <a:t>Examples</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“Interesting…”: Can mean genuine curiosity or hidden disagreement.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“We need to talk.”: Can be serious concern or simple discussion.</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“Really?”: Can express interest or </a:t>
            </a:r>
            <a:r>
              <a:rPr lang="en-IN" sz="2800" dirty="0" err="1">
                <a:latin typeface="Times New Roman" panose="02020603050405020304" pitchFamily="18" charset="0"/>
                <a:cs typeface="Times New Roman" panose="02020603050405020304" pitchFamily="18" charset="0"/>
              </a:rPr>
              <a:t>skepticism</a:t>
            </a:r>
            <a:r>
              <a:rPr lang="en-IN" sz="2800" dirty="0">
                <a:latin typeface="Times New Roman" panose="02020603050405020304" pitchFamily="18" charset="0"/>
                <a:cs typeface="Times New Roman" panose="02020603050405020304" pitchFamily="18" charset="0"/>
              </a:rPr>
              <a:t>.</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“We should revisit this.”: Soft rejection of an idea</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“Good effort.”: Partial approval, not full success</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“She is stubborn.” vs “She is determined.”: Negative vs positive framing</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“Call me sometime.”: Can be genuine invitation or casual goodbye phrase</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604618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A2DBC-BA3E-A4DD-0A64-103CD06F8448}"/>
            </a:ext>
          </a:extLst>
        </p:cNvPr>
        <p:cNvGrpSpPr/>
        <p:nvPr/>
      </p:nvGrpSpPr>
      <p:grpSpPr>
        <a:xfrm>
          <a:off x="0" y="0"/>
          <a:ext cx="0" cy="0"/>
          <a:chOff x="0" y="0"/>
          <a:chExt cx="0" cy="0"/>
        </a:xfrm>
      </p:grpSpPr>
      <p:sp>
        <p:nvSpPr>
          <p:cNvPr id="23" name="Rounded Rectangle 17">
            <a:extLst>
              <a:ext uri="{FF2B5EF4-FFF2-40B4-BE49-F238E27FC236}">
                <a16:creationId xmlns:a16="http://schemas.microsoft.com/office/drawing/2014/main" id="{CCD7A526-5673-E58E-6120-E73616653DA3}"/>
              </a:ext>
            </a:extLst>
          </p:cNvPr>
          <p:cNvSpPr/>
          <p:nvPr/>
        </p:nvSpPr>
        <p:spPr>
          <a:xfrm>
            <a:off x="2448233" y="103238"/>
            <a:ext cx="8450826" cy="496837"/>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latin typeface="Times New Roman" panose="02020603050405020304" pitchFamily="18" charset="0"/>
                <a:cs typeface="Times New Roman" panose="02020603050405020304" pitchFamily="18" charset="0"/>
              </a:rPr>
              <a:t>Checking Collocation</a:t>
            </a:r>
            <a:endParaRPr lang="en-IN" sz="2800" b="1" dirty="0">
              <a:latin typeface="Times New Roman" panose="02020603050405020304" pitchFamily="18" charset="0"/>
              <a:cs typeface="Times New Roman" panose="02020603050405020304" pitchFamily="18" charset="0"/>
            </a:endParaRPr>
          </a:p>
        </p:txBody>
      </p:sp>
      <p:pic>
        <p:nvPicPr>
          <p:cNvPr id="42" name="Picture 2" descr="KL Deemed to be University Logo">
            <a:extLst>
              <a:ext uri="{FF2B5EF4-FFF2-40B4-BE49-F238E27FC236}">
                <a16:creationId xmlns:a16="http://schemas.microsoft.com/office/drawing/2014/main" id="{501244AE-A17B-E2C5-92DA-2FB9CAB9A972}"/>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4" name="TextBox 3">
            <a:extLst>
              <a:ext uri="{FF2B5EF4-FFF2-40B4-BE49-F238E27FC236}">
                <a16:creationId xmlns:a16="http://schemas.microsoft.com/office/drawing/2014/main" id="{0FD1FC8A-57E1-838A-ADBF-20A1360B2E43}"/>
              </a:ext>
            </a:extLst>
          </p:cNvPr>
          <p:cNvSpPr txBox="1"/>
          <p:nvPr/>
        </p:nvSpPr>
        <p:spPr>
          <a:xfrm>
            <a:off x="103238" y="600075"/>
            <a:ext cx="11931445" cy="6647974"/>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Collocation: </a:t>
            </a:r>
            <a:r>
              <a:rPr lang="en-IN" sz="2400" dirty="0">
                <a:latin typeface="Times New Roman" panose="02020603050405020304" pitchFamily="18" charset="0"/>
                <a:cs typeface="Times New Roman" panose="02020603050405020304" pitchFamily="18" charset="0"/>
              </a:rPr>
              <a:t>A </a:t>
            </a:r>
            <a:r>
              <a:rPr lang="en-IN" sz="2400" b="1" dirty="0">
                <a:latin typeface="Times New Roman" panose="02020603050405020304" pitchFamily="18" charset="0"/>
                <a:cs typeface="Times New Roman" panose="02020603050405020304" pitchFamily="18" charset="0"/>
              </a:rPr>
              <a:t>collocation</a:t>
            </a:r>
            <a:r>
              <a:rPr lang="en-IN" sz="2400" dirty="0">
                <a:latin typeface="Times New Roman" panose="02020603050405020304" pitchFamily="18" charset="0"/>
                <a:cs typeface="Times New Roman" panose="02020603050405020304" pitchFamily="18" charset="0"/>
              </a:rPr>
              <a:t> is a natural combination of words that are commonly used together. They are not fixed grammar rules, but </a:t>
            </a:r>
            <a:r>
              <a:rPr lang="en-IN" sz="2400" b="1" dirty="0">
                <a:latin typeface="Times New Roman" panose="02020603050405020304" pitchFamily="18" charset="0"/>
                <a:cs typeface="Times New Roman" panose="02020603050405020304" pitchFamily="18" charset="0"/>
              </a:rPr>
              <a:t>language habits</a:t>
            </a:r>
            <a:r>
              <a:rPr lang="en-IN" sz="2400" dirty="0">
                <a:latin typeface="Times New Roman" panose="02020603050405020304" pitchFamily="18" charset="0"/>
                <a:cs typeface="Times New Roman" panose="02020603050405020304" pitchFamily="18" charset="0"/>
              </a:rPr>
              <a:t> formed over time.</a:t>
            </a:r>
          </a:p>
          <a:p>
            <a:r>
              <a:rPr lang="en-IN" sz="2400" b="1" dirty="0">
                <a:latin typeface="Times New Roman" panose="02020603050405020304" pitchFamily="18" charset="0"/>
                <a:cs typeface="Times New Roman" panose="02020603050405020304" pitchFamily="18" charset="0"/>
              </a:rPr>
              <a:t>Verb + noun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make a decision</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take a break</a:t>
            </a:r>
          </a:p>
          <a:p>
            <a:r>
              <a:rPr lang="en-IN" sz="2400" b="1" dirty="0">
                <a:latin typeface="Times New Roman" panose="02020603050405020304" pitchFamily="18" charset="0"/>
                <a:cs typeface="Times New Roman" panose="02020603050405020304" pitchFamily="18" charset="0"/>
              </a:rPr>
              <a:t>Adjective + noun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strong coffee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heavy rain</a:t>
            </a:r>
          </a:p>
          <a:p>
            <a:r>
              <a:rPr lang="en-IN" sz="2400" b="1" dirty="0">
                <a:latin typeface="Times New Roman" panose="02020603050405020304" pitchFamily="18" charset="0"/>
                <a:cs typeface="Times New Roman" panose="02020603050405020304" pitchFamily="18" charset="0"/>
              </a:rPr>
              <a:t>Adverb + adjective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highly successful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completely satisfied</a:t>
            </a:r>
          </a:p>
          <a:p>
            <a:r>
              <a:rPr lang="en-IN" sz="2400" b="1" dirty="0">
                <a:latin typeface="Times New Roman" panose="02020603050405020304" pitchFamily="18" charset="0"/>
                <a:cs typeface="Times New Roman" panose="02020603050405020304" pitchFamily="18" charset="0"/>
              </a:rPr>
              <a:t>Verb + adverb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strongly agree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barely manage </a:t>
            </a:r>
          </a:p>
          <a:p>
            <a:r>
              <a:rPr lang="en-IN" sz="2400" b="1" dirty="0">
                <a:latin typeface="Times New Roman" panose="02020603050405020304" pitchFamily="18" charset="0"/>
                <a:cs typeface="Times New Roman" panose="02020603050405020304" pitchFamily="18" charset="0"/>
              </a:rPr>
              <a:t>Noun + noun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traffic jam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data analysis</a:t>
            </a:r>
          </a:p>
          <a:p>
            <a:endParaRPr lang="en-IN" dirty="0"/>
          </a:p>
        </p:txBody>
      </p:sp>
    </p:spTree>
    <p:extLst>
      <p:ext uri="{BB962C8B-B14F-4D97-AF65-F5344CB8AC3E}">
        <p14:creationId xmlns:p14="http://schemas.microsoft.com/office/powerpoint/2010/main" val="321886024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AA733-B902-1AB6-4E9E-AE889D3CFAB4}"/>
            </a:ext>
          </a:extLst>
        </p:cNvPr>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CD6189B-4DB2-4E79-7888-DEF10E26836A}"/>
              </a:ext>
            </a:extLst>
          </p:cNvPr>
          <p:cNvSpPr/>
          <p:nvPr/>
        </p:nvSpPr>
        <p:spPr>
          <a:xfrm>
            <a:off x="1622323" y="103238"/>
            <a:ext cx="9424218" cy="496837"/>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latin typeface="Times New Roman" panose="02020603050405020304" pitchFamily="18" charset="0"/>
                <a:cs typeface="Times New Roman" panose="02020603050405020304" pitchFamily="18" charset="0"/>
              </a:rPr>
              <a:t>Building a Personal Word Bank while verifying suggestions</a:t>
            </a:r>
            <a:endParaRPr lang="en-IN" sz="2800" b="1" dirty="0">
              <a:latin typeface="Times New Roman" panose="02020603050405020304" pitchFamily="18" charset="0"/>
              <a:cs typeface="Times New Roman" panose="02020603050405020304" pitchFamily="18" charset="0"/>
            </a:endParaRPr>
          </a:p>
        </p:txBody>
      </p:sp>
      <p:pic>
        <p:nvPicPr>
          <p:cNvPr id="42" name="Picture 2" descr="KL Deemed to be University Logo">
            <a:extLst>
              <a:ext uri="{FF2B5EF4-FFF2-40B4-BE49-F238E27FC236}">
                <a16:creationId xmlns:a16="http://schemas.microsoft.com/office/drawing/2014/main" id="{01FD8FF4-5F6A-07B4-38C4-1E4C9024D5A9}"/>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3" name="TextBox 2">
            <a:extLst>
              <a:ext uri="{FF2B5EF4-FFF2-40B4-BE49-F238E27FC236}">
                <a16:creationId xmlns:a16="http://schemas.microsoft.com/office/drawing/2014/main" id="{79A84A26-F9B8-790C-32F4-80DCFCBA76A4}"/>
              </a:ext>
            </a:extLst>
          </p:cNvPr>
          <p:cNvSpPr txBox="1"/>
          <p:nvPr/>
        </p:nvSpPr>
        <p:spPr>
          <a:xfrm>
            <a:off x="235974" y="703313"/>
            <a:ext cx="11282515" cy="2954655"/>
          </a:xfrm>
          <a:prstGeom prst="rect">
            <a:avLst/>
          </a:prstGeom>
          <a:noFill/>
        </p:spPr>
        <p:txBody>
          <a:bodyPr wrap="square">
            <a:spAutoFit/>
          </a:bodyPr>
          <a:lstStyle/>
          <a:p>
            <a:pPr>
              <a:buNone/>
            </a:pPr>
            <a:r>
              <a:rPr lang="en-IN" sz="2400" dirty="0">
                <a:latin typeface="Times New Roman" panose="02020603050405020304" pitchFamily="18" charset="0"/>
                <a:cs typeface="Times New Roman" panose="02020603050405020304" pitchFamily="18" charset="0"/>
              </a:rPr>
              <a:t>A </a:t>
            </a:r>
            <a:r>
              <a:rPr lang="en-IN" sz="2400" b="1" dirty="0">
                <a:latin typeface="Times New Roman" panose="02020603050405020304" pitchFamily="18" charset="0"/>
                <a:cs typeface="Times New Roman" panose="02020603050405020304" pitchFamily="18" charset="0"/>
              </a:rPr>
              <a:t>personal word bank</a:t>
            </a:r>
            <a:r>
              <a:rPr lang="en-IN" sz="2400" dirty="0">
                <a:latin typeface="Times New Roman" panose="02020603050405020304" pitchFamily="18" charset="0"/>
                <a:cs typeface="Times New Roman" panose="02020603050405020304" pitchFamily="18" charset="0"/>
              </a:rPr>
              <a:t> is a collection of new words you learn, along with:</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Meanings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Example sentences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Collocations (word combinations)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Your own usage</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Collect Words Using AI</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Record Words in a Structured Format</a:t>
            </a:r>
          </a:p>
          <a:p>
            <a:endParaRPr lang="en-IN" dirty="0"/>
          </a:p>
        </p:txBody>
      </p:sp>
      <p:graphicFrame>
        <p:nvGraphicFramePr>
          <p:cNvPr id="5" name="Table 4">
            <a:extLst>
              <a:ext uri="{FF2B5EF4-FFF2-40B4-BE49-F238E27FC236}">
                <a16:creationId xmlns:a16="http://schemas.microsoft.com/office/drawing/2014/main" id="{2C4BF027-F54B-B824-DD9F-5DD2EC1FDA52}"/>
              </a:ext>
            </a:extLst>
          </p:cNvPr>
          <p:cNvGraphicFramePr>
            <a:graphicFrameLocks noGrp="1"/>
          </p:cNvGraphicFramePr>
          <p:nvPr>
            <p:extLst>
              <p:ext uri="{D42A27DB-BD31-4B8C-83A1-F6EECF244321}">
                <p14:modId xmlns:p14="http://schemas.microsoft.com/office/powerpoint/2010/main" val="3363156402"/>
              </p:ext>
            </p:extLst>
          </p:nvPr>
        </p:nvGraphicFramePr>
        <p:xfrm>
          <a:off x="235974" y="5367992"/>
          <a:ext cx="11828206" cy="1254034"/>
        </p:xfrm>
        <a:graphic>
          <a:graphicData uri="http://schemas.openxmlformats.org/drawingml/2006/table">
            <a:tbl>
              <a:tblPr/>
              <a:tblGrid>
                <a:gridCol w="1169754">
                  <a:extLst>
                    <a:ext uri="{9D8B030D-6E8A-4147-A177-3AD203B41FA5}">
                      <a16:colId xmlns:a16="http://schemas.microsoft.com/office/drawing/2014/main" val="2988636584"/>
                    </a:ext>
                  </a:extLst>
                </a:gridCol>
                <a:gridCol w="2664613">
                  <a:extLst>
                    <a:ext uri="{9D8B030D-6E8A-4147-A177-3AD203B41FA5}">
                      <a16:colId xmlns:a16="http://schemas.microsoft.com/office/drawing/2014/main" val="1547805393"/>
                    </a:ext>
                  </a:extLst>
                </a:gridCol>
                <a:gridCol w="2664613">
                  <a:extLst>
                    <a:ext uri="{9D8B030D-6E8A-4147-A177-3AD203B41FA5}">
                      <a16:colId xmlns:a16="http://schemas.microsoft.com/office/drawing/2014/main" val="1379198483"/>
                    </a:ext>
                  </a:extLst>
                </a:gridCol>
                <a:gridCol w="2664613">
                  <a:extLst>
                    <a:ext uri="{9D8B030D-6E8A-4147-A177-3AD203B41FA5}">
                      <a16:colId xmlns:a16="http://schemas.microsoft.com/office/drawing/2014/main" val="2487524457"/>
                    </a:ext>
                  </a:extLst>
                </a:gridCol>
                <a:gridCol w="2664613">
                  <a:extLst>
                    <a:ext uri="{9D8B030D-6E8A-4147-A177-3AD203B41FA5}">
                      <a16:colId xmlns:a16="http://schemas.microsoft.com/office/drawing/2014/main" val="1507941887"/>
                    </a:ext>
                  </a:extLst>
                </a:gridCol>
              </a:tblGrid>
              <a:tr h="455331">
                <a:tc>
                  <a:txBody>
                    <a:bodyPr/>
                    <a:lstStyle/>
                    <a:p>
                      <a:pPr algn="l" rtl="0" fontAlgn="ctr">
                        <a:buNone/>
                      </a:pPr>
                      <a:r>
                        <a:rPr lang="en-IN" sz="2200" b="0" i="0" u="none" strike="noStrike">
                          <a:solidFill>
                            <a:srgbClr val="000000"/>
                          </a:solidFill>
                          <a:effectLst/>
                          <a:latin typeface="Times New Roman" panose="02020603050405020304" pitchFamily="18" charset="0"/>
                        </a:rPr>
                        <a:t>Word</a:t>
                      </a:r>
                    </a:p>
                  </a:txBody>
                  <a:tcPr marL="85725" marR="9525" marT="9525" marB="0" anchor="ctr">
                    <a:lnL>
                      <a:noFill/>
                    </a:lnL>
                    <a:lnR>
                      <a:noFill/>
                    </a:lnR>
                    <a:lnT>
                      <a:noFill/>
                    </a:lnT>
                    <a:lnB>
                      <a:noFill/>
                    </a:lnB>
                    <a:noFill/>
                  </a:tcPr>
                </a:tc>
                <a:tc>
                  <a:txBody>
                    <a:bodyPr/>
                    <a:lstStyle/>
                    <a:p>
                      <a:pPr algn="l" rtl="0" fontAlgn="ctr">
                        <a:buNone/>
                      </a:pPr>
                      <a:r>
                        <a:rPr lang="en-IN" sz="2200" b="0" i="0" u="none" strike="noStrike">
                          <a:solidFill>
                            <a:srgbClr val="000000"/>
                          </a:solidFill>
                          <a:effectLst/>
                          <a:latin typeface="Times New Roman" panose="02020603050405020304" pitchFamily="18" charset="0"/>
                        </a:rPr>
                        <a:t>Meaning</a:t>
                      </a:r>
                    </a:p>
                  </a:txBody>
                  <a:tcPr marL="85725" marR="9525" marT="9525" marB="0" anchor="ctr">
                    <a:lnL>
                      <a:noFill/>
                    </a:lnL>
                    <a:lnR>
                      <a:noFill/>
                    </a:lnR>
                    <a:lnT>
                      <a:noFill/>
                    </a:lnT>
                    <a:lnB>
                      <a:noFill/>
                    </a:lnB>
                    <a:noFill/>
                  </a:tcPr>
                </a:tc>
                <a:tc>
                  <a:txBody>
                    <a:bodyPr/>
                    <a:lstStyle/>
                    <a:p>
                      <a:pPr algn="l" rtl="0" fontAlgn="ctr">
                        <a:buNone/>
                      </a:pPr>
                      <a:r>
                        <a:rPr lang="en-IN" sz="2200" b="0" i="0" u="none" strike="noStrike">
                          <a:solidFill>
                            <a:srgbClr val="000000"/>
                          </a:solidFill>
                          <a:effectLst/>
                          <a:latin typeface="Times New Roman" panose="02020603050405020304" pitchFamily="18" charset="0"/>
                        </a:rPr>
                        <a:t>Example</a:t>
                      </a:r>
                    </a:p>
                  </a:txBody>
                  <a:tcPr marL="85725" marR="9525" marT="9525" marB="0" anchor="ctr">
                    <a:lnL>
                      <a:noFill/>
                    </a:lnL>
                    <a:lnR>
                      <a:noFill/>
                    </a:lnR>
                    <a:lnT>
                      <a:noFill/>
                    </a:lnT>
                    <a:lnB>
                      <a:noFill/>
                    </a:lnB>
                    <a:noFill/>
                  </a:tcPr>
                </a:tc>
                <a:tc>
                  <a:txBody>
                    <a:bodyPr/>
                    <a:lstStyle/>
                    <a:p>
                      <a:pPr algn="l" rtl="0" fontAlgn="ctr">
                        <a:buNone/>
                      </a:pPr>
                      <a:r>
                        <a:rPr lang="en-IN" sz="2200" b="0" i="0" u="none" strike="noStrike">
                          <a:solidFill>
                            <a:srgbClr val="000000"/>
                          </a:solidFill>
                          <a:effectLst/>
                          <a:latin typeface="Times New Roman" panose="02020603050405020304" pitchFamily="18" charset="0"/>
                        </a:rPr>
                        <a:t>Collocation</a:t>
                      </a:r>
                    </a:p>
                  </a:txBody>
                  <a:tcPr marL="85725" marR="9525" marT="9525" marB="0" anchor="ctr">
                    <a:lnL>
                      <a:noFill/>
                    </a:lnL>
                    <a:lnR>
                      <a:noFill/>
                    </a:lnR>
                    <a:lnT>
                      <a:noFill/>
                    </a:lnT>
                    <a:lnB>
                      <a:noFill/>
                    </a:lnB>
                    <a:noFill/>
                  </a:tcPr>
                </a:tc>
                <a:tc>
                  <a:txBody>
                    <a:bodyPr/>
                    <a:lstStyle/>
                    <a:p>
                      <a:pPr algn="l" rtl="0" fontAlgn="ctr">
                        <a:buNone/>
                      </a:pPr>
                      <a:r>
                        <a:rPr lang="en-IN" sz="2200" b="0" i="0" u="none" strike="noStrike">
                          <a:solidFill>
                            <a:srgbClr val="000000"/>
                          </a:solidFill>
                          <a:effectLst/>
                          <a:latin typeface="Times New Roman" panose="02020603050405020304" pitchFamily="18" charset="0"/>
                        </a:rPr>
                        <a:t>Your Sentence</a:t>
                      </a:r>
                    </a:p>
                  </a:txBody>
                  <a:tcPr marL="85725" marR="9525" marT="9525" marB="0" anchor="ctr">
                    <a:lnL>
                      <a:noFill/>
                    </a:lnL>
                    <a:lnR>
                      <a:noFill/>
                    </a:lnR>
                    <a:lnT>
                      <a:noFill/>
                    </a:lnT>
                    <a:lnB>
                      <a:noFill/>
                    </a:lnB>
                    <a:noFill/>
                  </a:tcPr>
                </a:tc>
                <a:extLst>
                  <a:ext uri="{0D108BD9-81ED-4DB2-BD59-A6C34878D82A}">
                    <a16:rowId xmlns:a16="http://schemas.microsoft.com/office/drawing/2014/main" val="3155079170"/>
                  </a:ext>
                </a:extLst>
              </a:tr>
              <a:tr h="798703">
                <a:tc>
                  <a:txBody>
                    <a:bodyPr/>
                    <a:lstStyle/>
                    <a:p>
                      <a:pPr algn="l" rtl="0" fontAlgn="ctr">
                        <a:buNone/>
                      </a:pPr>
                      <a:r>
                        <a:rPr lang="en-IN" sz="2000" b="0" i="0" u="none" strike="noStrike">
                          <a:solidFill>
                            <a:srgbClr val="000000"/>
                          </a:solidFill>
                          <a:effectLst/>
                          <a:latin typeface="Times New Roman" panose="02020603050405020304" pitchFamily="18" charset="0"/>
                        </a:rPr>
                        <a:t>Optimize</a:t>
                      </a:r>
                    </a:p>
                  </a:txBody>
                  <a:tcPr marL="85725" marR="9525" marT="9525" marB="0" anchor="ctr">
                    <a:lnL>
                      <a:noFill/>
                    </a:lnL>
                    <a:lnR>
                      <a:noFill/>
                    </a:lnR>
                    <a:lnT>
                      <a:noFill/>
                    </a:lnT>
                    <a:lnB>
                      <a:noFill/>
                    </a:lnB>
                    <a:noFill/>
                  </a:tcPr>
                </a:tc>
                <a:tc>
                  <a:txBody>
                    <a:bodyPr/>
                    <a:lstStyle/>
                    <a:p>
                      <a:pPr algn="l" rtl="0" fontAlgn="ctr">
                        <a:buNone/>
                      </a:pPr>
                      <a:r>
                        <a:rPr lang="en-IN" sz="2200" b="0" i="0" u="none" strike="noStrike">
                          <a:solidFill>
                            <a:srgbClr val="000000"/>
                          </a:solidFill>
                          <a:effectLst/>
                          <a:latin typeface="Times New Roman" panose="02020603050405020304" pitchFamily="18" charset="0"/>
                        </a:rPr>
                        <a:t>Improve efficiency</a:t>
                      </a:r>
                    </a:p>
                  </a:txBody>
                  <a:tcPr marL="85725" marR="9525" marT="9525" marB="0" anchor="ctr">
                    <a:lnL>
                      <a:noFill/>
                    </a:lnL>
                    <a:lnR>
                      <a:noFill/>
                    </a:lnR>
                    <a:lnT>
                      <a:noFill/>
                    </a:lnT>
                    <a:lnB>
                      <a:noFill/>
                    </a:lnB>
                    <a:noFill/>
                  </a:tcPr>
                </a:tc>
                <a:tc>
                  <a:txBody>
                    <a:bodyPr/>
                    <a:lstStyle/>
                    <a:p>
                      <a:pPr algn="l" rtl="0" fontAlgn="ctr">
                        <a:buNone/>
                      </a:pPr>
                      <a:r>
                        <a:rPr lang="en-IN" sz="2200" b="0" i="0" u="none" strike="noStrike" dirty="0">
                          <a:solidFill>
                            <a:srgbClr val="000000"/>
                          </a:solidFill>
                          <a:effectLst/>
                          <a:latin typeface="Times New Roman" panose="02020603050405020304" pitchFamily="18" charset="0"/>
                        </a:rPr>
                        <a:t>Engineers optimize code</a:t>
                      </a:r>
                    </a:p>
                  </a:txBody>
                  <a:tcPr marL="85725" marR="9525" marT="9525" marB="0" anchor="ctr">
                    <a:lnL>
                      <a:noFill/>
                    </a:lnL>
                    <a:lnR>
                      <a:noFill/>
                    </a:lnR>
                    <a:lnT>
                      <a:noFill/>
                    </a:lnT>
                    <a:lnB>
                      <a:noFill/>
                    </a:lnB>
                    <a:noFill/>
                  </a:tcPr>
                </a:tc>
                <a:tc>
                  <a:txBody>
                    <a:bodyPr/>
                    <a:lstStyle/>
                    <a:p>
                      <a:pPr algn="l" rtl="0" fontAlgn="ctr">
                        <a:buNone/>
                      </a:pPr>
                      <a:r>
                        <a:rPr lang="en-IN" sz="2200" b="0" i="0" u="none" strike="noStrike">
                          <a:solidFill>
                            <a:srgbClr val="000000"/>
                          </a:solidFill>
                          <a:effectLst/>
                          <a:latin typeface="Times New Roman" panose="02020603050405020304" pitchFamily="18" charset="0"/>
                        </a:rPr>
                        <a:t>optimize performance</a:t>
                      </a:r>
                    </a:p>
                  </a:txBody>
                  <a:tcPr marL="85725" marR="9525" marT="9525" marB="0" anchor="ctr">
                    <a:lnL>
                      <a:noFill/>
                    </a:lnL>
                    <a:lnR>
                      <a:noFill/>
                    </a:lnR>
                    <a:lnT>
                      <a:noFill/>
                    </a:lnT>
                    <a:lnB>
                      <a:noFill/>
                    </a:lnB>
                    <a:noFill/>
                  </a:tcPr>
                </a:tc>
                <a:tc>
                  <a:txBody>
                    <a:bodyPr/>
                    <a:lstStyle/>
                    <a:p>
                      <a:pPr algn="l" rtl="0" fontAlgn="ctr">
                        <a:buNone/>
                      </a:pPr>
                      <a:r>
                        <a:rPr lang="en-IN" sz="2200" b="0" i="0" u="none" strike="noStrike" dirty="0">
                          <a:solidFill>
                            <a:srgbClr val="000000"/>
                          </a:solidFill>
                          <a:effectLst/>
                          <a:latin typeface="Times New Roman" panose="02020603050405020304" pitchFamily="18" charset="0"/>
                        </a:rPr>
                        <a:t>I optimize my study plan</a:t>
                      </a:r>
                    </a:p>
                  </a:txBody>
                  <a:tcPr marL="85725" marR="9525" marT="9525" marB="0" anchor="ctr">
                    <a:lnL>
                      <a:noFill/>
                    </a:lnL>
                    <a:lnR>
                      <a:noFill/>
                    </a:lnR>
                    <a:lnT>
                      <a:noFill/>
                    </a:lnT>
                    <a:lnB>
                      <a:noFill/>
                    </a:lnB>
                    <a:noFill/>
                  </a:tcPr>
                </a:tc>
                <a:extLst>
                  <a:ext uri="{0D108BD9-81ED-4DB2-BD59-A6C34878D82A}">
                    <a16:rowId xmlns:a16="http://schemas.microsoft.com/office/drawing/2014/main" val="2823946059"/>
                  </a:ext>
                </a:extLst>
              </a:tr>
            </a:tbl>
          </a:graphicData>
        </a:graphic>
      </p:graphicFrame>
      <p:sp>
        <p:nvSpPr>
          <p:cNvPr id="7" name="TextBox 6">
            <a:extLst>
              <a:ext uri="{FF2B5EF4-FFF2-40B4-BE49-F238E27FC236}">
                <a16:creationId xmlns:a16="http://schemas.microsoft.com/office/drawing/2014/main" id="{1C8C3528-15DE-B697-EB7A-2900615B8AC1}"/>
              </a:ext>
            </a:extLst>
          </p:cNvPr>
          <p:cNvSpPr txBox="1"/>
          <p:nvPr/>
        </p:nvSpPr>
        <p:spPr>
          <a:xfrm>
            <a:off x="235974" y="3429000"/>
            <a:ext cx="8121683" cy="1938992"/>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Note:</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Check Meaning</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Check Context</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Check Collocations</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Cross-Check (Optional but Strong Practice)</a:t>
            </a:r>
          </a:p>
        </p:txBody>
      </p:sp>
    </p:spTree>
    <p:extLst>
      <p:ext uri="{BB962C8B-B14F-4D97-AF65-F5344CB8AC3E}">
        <p14:creationId xmlns:p14="http://schemas.microsoft.com/office/powerpoint/2010/main" val="325138060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6221F-83EA-47A7-1297-A5487DB9E5EA}"/>
            </a:ext>
          </a:extLst>
        </p:cNvPr>
        <p:cNvGrpSpPr/>
        <p:nvPr/>
      </p:nvGrpSpPr>
      <p:grpSpPr>
        <a:xfrm>
          <a:off x="0" y="0"/>
          <a:ext cx="0" cy="0"/>
          <a:chOff x="0" y="0"/>
          <a:chExt cx="0" cy="0"/>
        </a:xfrm>
      </p:grpSpPr>
      <p:sp>
        <p:nvSpPr>
          <p:cNvPr id="23" name="Rounded Rectangle 17">
            <a:extLst>
              <a:ext uri="{FF2B5EF4-FFF2-40B4-BE49-F238E27FC236}">
                <a16:creationId xmlns:a16="http://schemas.microsoft.com/office/drawing/2014/main" id="{A2141F7C-D981-2794-CA7C-0A6329F14A08}"/>
              </a:ext>
            </a:extLst>
          </p:cNvPr>
          <p:cNvSpPr/>
          <p:nvPr/>
        </p:nvSpPr>
        <p:spPr>
          <a:xfrm>
            <a:off x="1622323" y="103238"/>
            <a:ext cx="9424218" cy="496837"/>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latin typeface="Times New Roman" panose="02020603050405020304" pitchFamily="18" charset="0"/>
                <a:cs typeface="Times New Roman" panose="02020603050405020304" pitchFamily="18" charset="0"/>
              </a:rPr>
              <a:t>Portfolio Activity 2</a:t>
            </a:r>
            <a:endParaRPr lang="en-IN" sz="2800" b="1" dirty="0">
              <a:latin typeface="Times New Roman" panose="02020603050405020304" pitchFamily="18" charset="0"/>
              <a:cs typeface="Times New Roman" panose="02020603050405020304" pitchFamily="18" charset="0"/>
            </a:endParaRPr>
          </a:p>
        </p:txBody>
      </p:sp>
      <p:pic>
        <p:nvPicPr>
          <p:cNvPr id="42" name="Picture 2" descr="KL Deemed to be University Logo">
            <a:extLst>
              <a:ext uri="{FF2B5EF4-FFF2-40B4-BE49-F238E27FC236}">
                <a16:creationId xmlns:a16="http://schemas.microsoft.com/office/drawing/2014/main" id="{7361DAD5-9D34-7E5D-FDBB-46CE173A6DBC}"/>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2" name="TextBox 1">
            <a:extLst>
              <a:ext uri="{FF2B5EF4-FFF2-40B4-BE49-F238E27FC236}">
                <a16:creationId xmlns:a16="http://schemas.microsoft.com/office/drawing/2014/main" id="{6254C143-C3EB-15EA-514A-E3B03CEDAF77}"/>
              </a:ext>
            </a:extLst>
          </p:cNvPr>
          <p:cNvSpPr txBox="1"/>
          <p:nvPr/>
        </p:nvSpPr>
        <p:spPr>
          <a:xfrm>
            <a:off x="934065" y="1514168"/>
            <a:ext cx="10776153" cy="1877437"/>
          </a:xfrm>
          <a:prstGeom prst="rect">
            <a:avLst/>
          </a:prstGeom>
          <a:noFill/>
        </p:spPr>
        <p:txBody>
          <a:bodyPr wrap="square" rtlCol="0">
            <a:spAutoFit/>
          </a:bodyPr>
          <a:lstStyle/>
          <a:p>
            <a:r>
              <a:rPr lang="en-US" sz="3600" dirty="0">
                <a:solidFill>
                  <a:srgbClr val="FF0000"/>
                </a:solidFill>
              </a:rPr>
              <a:t>Personal Word Bank &amp; Jargon-to-Plain English Rewrite </a:t>
            </a:r>
          </a:p>
          <a:p>
            <a:endParaRPr lang="en-US" sz="4400" dirty="0"/>
          </a:p>
          <a:p>
            <a:r>
              <a:rPr lang="en-US" sz="3600" dirty="0"/>
              <a:t>Refer Portfolio Activity 2 and Complete Tasks 8 &amp; 9</a:t>
            </a:r>
          </a:p>
        </p:txBody>
      </p:sp>
    </p:spTree>
    <p:extLst>
      <p:ext uri="{BB962C8B-B14F-4D97-AF65-F5344CB8AC3E}">
        <p14:creationId xmlns:p14="http://schemas.microsoft.com/office/powerpoint/2010/main" val="39911550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C28A5-5A0A-3B65-B834-26708FA105CD}"/>
            </a:ext>
          </a:extLst>
        </p:cNvPr>
        <p:cNvGrpSpPr/>
        <p:nvPr/>
      </p:nvGrpSpPr>
      <p:grpSpPr>
        <a:xfrm>
          <a:off x="0" y="0"/>
          <a:ext cx="0" cy="0"/>
          <a:chOff x="0" y="0"/>
          <a:chExt cx="0" cy="0"/>
        </a:xfrm>
      </p:grpSpPr>
      <p:sp>
        <p:nvSpPr>
          <p:cNvPr id="23" name="Rounded Rectangle 17">
            <a:extLst>
              <a:ext uri="{FF2B5EF4-FFF2-40B4-BE49-F238E27FC236}">
                <a16:creationId xmlns:a16="http://schemas.microsoft.com/office/drawing/2014/main" id="{BBD72039-D235-6511-77A6-00049A634E26}"/>
              </a:ext>
            </a:extLst>
          </p:cNvPr>
          <p:cNvSpPr/>
          <p:nvPr/>
        </p:nvSpPr>
        <p:spPr>
          <a:xfrm>
            <a:off x="2448233" y="103238"/>
            <a:ext cx="8450826" cy="496837"/>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dirty="0">
                <a:latin typeface="Times New Roman" panose="02020603050405020304" pitchFamily="18" charset="0"/>
                <a:cs typeface="Times New Roman" panose="02020603050405020304" pitchFamily="18" charset="0"/>
              </a:rPr>
              <a:t>Rewrite + Reflection</a:t>
            </a:r>
            <a:endParaRPr lang="en-IN" sz="3600" b="1" dirty="0">
              <a:latin typeface="Times New Roman" panose="02020603050405020304" pitchFamily="18" charset="0"/>
              <a:cs typeface="Times New Roman" panose="02020603050405020304" pitchFamily="18" charset="0"/>
            </a:endParaRPr>
          </a:p>
        </p:txBody>
      </p:sp>
      <p:pic>
        <p:nvPicPr>
          <p:cNvPr id="42" name="Picture 2" descr="KL Deemed to be University Logo">
            <a:extLst>
              <a:ext uri="{FF2B5EF4-FFF2-40B4-BE49-F238E27FC236}">
                <a16:creationId xmlns:a16="http://schemas.microsoft.com/office/drawing/2014/main" id="{E3EE94F2-B6DB-5ADE-9389-A66DB7DEFC0B}"/>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4" name="TextBox 3">
            <a:extLst>
              <a:ext uri="{FF2B5EF4-FFF2-40B4-BE49-F238E27FC236}">
                <a16:creationId xmlns:a16="http://schemas.microsoft.com/office/drawing/2014/main" id="{1CBD6D01-FF98-D07B-5107-AD38C6DF949D}"/>
              </a:ext>
            </a:extLst>
          </p:cNvPr>
          <p:cNvSpPr txBox="1"/>
          <p:nvPr/>
        </p:nvSpPr>
        <p:spPr>
          <a:xfrm>
            <a:off x="103238" y="752169"/>
            <a:ext cx="12088761" cy="5770811"/>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IN" sz="2600" dirty="0">
                <a:latin typeface="Times New Roman" panose="02020603050405020304" pitchFamily="18" charset="0"/>
                <a:cs typeface="Times New Roman" panose="02020603050405020304" pitchFamily="18" charset="0"/>
              </a:rPr>
              <a:t>What are clichés? Give two examples and explain why they weaken communication. </a:t>
            </a:r>
          </a:p>
          <a:p>
            <a:pPr marL="342900" lvl="0" indent="-342900">
              <a:lnSpc>
                <a:spcPct val="150000"/>
              </a:lnSpc>
              <a:buFont typeface="Arial" panose="020B0604020202020204" pitchFamily="34" charset="0"/>
              <a:buChar char="•"/>
            </a:pPr>
            <a:r>
              <a:rPr lang="en-IN" sz="2600" dirty="0">
                <a:latin typeface="Times New Roman" panose="02020603050405020304" pitchFamily="18" charset="0"/>
                <a:cs typeface="Times New Roman" panose="02020603050405020304" pitchFamily="18" charset="0"/>
              </a:rPr>
              <a:t>Define buzzwords and empty corporate-speak with examples. </a:t>
            </a:r>
          </a:p>
          <a:p>
            <a:pPr marL="342900" lvl="0" indent="-342900">
              <a:lnSpc>
                <a:spcPct val="150000"/>
              </a:lnSpc>
              <a:buFont typeface="Arial" panose="020B0604020202020204" pitchFamily="34" charset="0"/>
              <a:buChar char="•"/>
            </a:pPr>
            <a:r>
              <a:rPr lang="en-IN" sz="2600" dirty="0">
                <a:latin typeface="Times New Roman" panose="02020603050405020304" pitchFamily="18" charset="0"/>
                <a:cs typeface="Times New Roman" panose="02020603050405020304" pitchFamily="18" charset="0"/>
              </a:rPr>
              <a:t>How does overuse of clichés and buzzwords affect professional writing? </a:t>
            </a:r>
          </a:p>
          <a:p>
            <a:pPr marL="342900" lvl="0" indent="-342900">
              <a:lnSpc>
                <a:spcPct val="150000"/>
              </a:lnSpc>
              <a:buFont typeface="Arial" panose="020B0604020202020204" pitchFamily="34" charset="0"/>
              <a:buChar char="•"/>
            </a:pPr>
            <a:r>
              <a:rPr lang="en-IN" sz="2600" dirty="0">
                <a:latin typeface="Times New Roman" panose="02020603050405020304" pitchFamily="18" charset="0"/>
                <a:cs typeface="Times New Roman" panose="02020603050405020304" pitchFamily="18" charset="0"/>
              </a:rPr>
              <a:t>What is meant by writing with substance? Why is it important for engineers? </a:t>
            </a:r>
          </a:p>
          <a:p>
            <a:pPr marL="342900" indent="-342900">
              <a:lnSpc>
                <a:spcPct val="150000"/>
              </a:lnSpc>
              <a:buFont typeface="Arial" panose="020B0604020202020204" pitchFamily="34" charset="0"/>
              <a:buChar char="•"/>
            </a:pPr>
            <a:r>
              <a:rPr lang="en-IN" sz="2600" dirty="0">
                <a:latin typeface="Times New Roman" panose="02020603050405020304" pitchFamily="18" charset="0"/>
                <a:cs typeface="Times New Roman" panose="02020603050405020304" pitchFamily="18" charset="0"/>
              </a:rPr>
              <a:t>Explain the concept of contextual vocabulary usage with an example. </a:t>
            </a:r>
          </a:p>
          <a:p>
            <a:pPr marL="342900" lvl="0" indent="-342900">
              <a:lnSpc>
                <a:spcPct val="150000"/>
              </a:lnSpc>
              <a:buFont typeface="Arial" panose="020B0604020202020204" pitchFamily="34" charset="0"/>
              <a:buChar char="•"/>
            </a:pPr>
            <a:r>
              <a:rPr lang="en-IN" sz="2600" dirty="0">
                <a:latin typeface="Times New Roman" panose="02020603050405020304" pitchFamily="18" charset="0"/>
                <a:cs typeface="Times New Roman" panose="02020603050405020304" pitchFamily="18" charset="0"/>
              </a:rPr>
              <a:t>How can AI tools like ChatGPT help in generating contextual examples? </a:t>
            </a:r>
          </a:p>
          <a:p>
            <a:pPr marL="342900" lvl="0" indent="-342900">
              <a:lnSpc>
                <a:spcPct val="150000"/>
              </a:lnSpc>
              <a:buFont typeface="Arial" panose="020B0604020202020204" pitchFamily="34" charset="0"/>
              <a:buChar char="•"/>
            </a:pPr>
            <a:r>
              <a:rPr lang="en-IN" sz="2600" dirty="0">
                <a:latin typeface="Times New Roman" panose="02020603050405020304" pitchFamily="18" charset="0"/>
                <a:cs typeface="Times New Roman" panose="02020603050405020304" pitchFamily="18" charset="0"/>
              </a:rPr>
              <a:t>What is collocation? How can AI help in checking correct word combinations? </a:t>
            </a:r>
          </a:p>
          <a:p>
            <a:pPr marL="342900" lvl="0" indent="-342900">
              <a:lnSpc>
                <a:spcPct val="150000"/>
              </a:lnSpc>
              <a:buFont typeface="Arial" panose="020B0604020202020204" pitchFamily="34" charset="0"/>
              <a:buChar char="•"/>
            </a:pPr>
            <a:r>
              <a:rPr lang="en-IN" sz="2600" dirty="0">
                <a:latin typeface="Times New Roman" panose="02020603050405020304" pitchFamily="18" charset="0"/>
                <a:cs typeface="Times New Roman" panose="02020603050405020304" pitchFamily="18" charset="0"/>
              </a:rPr>
              <a:t>Explain how you would verify AI-generated vocabulary suggestions before using them. </a:t>
            </a:r>
          </a:p>
          <a:p>
            <a:pPr marL="342900" lvl="0" indent="-342900">
              <a:lnSpc>
                <a:spcPct val="150000"/>
              </a:lnSpc>
              <a:buFont typeface="Arial" panose="020B0604020202020204" pitchFamily="34" charset="0"/>
              <a:buChar char="•"/>
            </a:pPr>
            <a:r>
              <a:rPr lang="en-IN" sz="2600" dirty="0">
                <a:latin typeface="Times New Roman" panose="02020603050405020304" pitchFamily="18" charset="0"/>
                <a:cs typeface="Times New Roman" panose="02020603050405020304" pitchFamily="18" charset="0"/>
              </a:rPr>
              <a:t>Describe the steps involved in building a personal word bank using AI tools. </a:t>
            </a:r>
          </a:p>
          <a:p>
            <a:endParaRPr lang="en-IN" dirty="0"/>
          </a:p>
        </p:txBody>
      </p:sp>
    </p:spTree>
    <p:extLst>
      <p:ext uri="{BB962C8B-B14F-4D97-AF65-F5344CB8AC3E}">
        <p14:creationId xmlns:p14="http://schemas.microsoft.com/office/powerpoint/2010/main" val="21613384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2225E-54CD-DB58-E6C3-B7555F2AEEE6}"/>
            </a:ext>
          </a:extLst>
        </p:cNvPr>
        <p:cNvGrpSpPr/>
        <p:nvPr/>
      </p:nvGrpSpPr>
      <p:grpSpPr>
        <a:xfrm>
          <a:off x="0" y="0"/>
          <a:ext cx="0" cy="0"/>
          <a:chOff x="0" y="0"/>
          <a:chExt cx="0" cy="0"/>
        </a:xfrm>
      </p:grpSpPr>
      <p:sp>
        <p:nvSpPr>
          <p:cNvPr id="23" name="Rounded Rectangle 17">
            <a:extLst>
              <a:ext uri="{FF2B5EF4-FFF2-40B4-BE49-F238E27FC236}">
                <a16:creationId xmlns:a16="http://schemas.microsoft.com/office/drawing/2014/main" id="{0376316C-6122-D5E7-4F70-B2D753403DA0}"/>
              </a:ext>
            </a:extLst>
          </p:cNvPr>
          <p:cNvSpPr/>
          <p:nvPr/>
        </p:nvSpPr>
        <p:spPr>
          <a:xfrm>
            <a:off x="1990725" y="103239"/>
            <a:ext cx="9085315" cy="496837"/>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latin typeface="Times New Roman" panose="02020603050405020304" pitchFamily="18" charset="0"/>
                <a:cs typeface="Times New Roman" panose="02020603050405020304" pitchFamily="18" charset="0"/>
              </a:rPr>
              <a:t>Further Reading</a:t>
            </a:r>
            <a:endParaRPr lang="en-IN" sz="2800" b="1" dirty="0">
              <a:latin typeface="Times New Roman" panose="02020603050405020304" pitchFamily="18" charset="0"/>
              <a:cs typeface="Times New Roman" panose="02020603050405020304" pitchFamily="18" charset="0"/>
            </a:endParaRPr>
          </a:p>
        </p:txBody>
      </p:sp>
      <p:pic>
        <p:nvPicPr>
          <p:cNvPr id="42" name="Picture 2" descr="KL Deemed to be University Logo">
            <a:extLst>
              <a:ext uri="{FF2B5EF4-FFF2-40B4-BE49-F238E27FC236}">
                <a16:creationId xmlns:a16="http://schemas.microsoft.com/office/drawing/2014/main" id="{13D93DD2-8047-B051-618F-35806871E738}"/>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4" name="TextBox 3">
            <a:extLst>
              <a:ext uri="{FF2B5EF4-FFF2-40B4-BE49-F238E27FC236}">
                <a16:creationId xmlns:a16="http://schemas.microsoft.com/office/drawing/2014/main" id="{FB78BD14-389E-F1F9-C45E-6EB7497CEF5D}"/>
              </a:ext>
            </a:extLst>
          </p:cNvPr>
          <p:cNvSpPr txBox="1"/>
          <p:nvPr/>
        </p:nvSpPr>
        <p:spPr>
          <a:xfrm>
            <a:off x="235974" y="1061884"/>
            <a:ext cx="11754465" cy="5355312"/>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On Writing Well : The Classic Guide to Writing Nonfiction  by William Zinsser</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Pyramid Principle: Logic in Writing and Thinking by Barbara Minto</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HBR Guide to Better Business Writing by Bryan A. Garner</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Everybody Writes: Your New and Improved Go-To Guide to Creating Ridiculously Good Content by Ann Handley</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Word Power Made Easy: With Self Assessment Activities by Norman Lewis</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English Collocations in Use Intermediate Book with Answers: How Words Work Together for Fluent and Natural English by Michael McCarthy </a:t>
            </a:r>
          </a:p>
          <a:p>
            <a:endParaRPr lang="en-IN" dirty="0"/>
          </a:p>
          <a:p>
            <a:endParaRPr lang="en-IN" dirty="0"/>
          </a:p>
          <a:p>
            <a:endParaRPr lang="en-IN" dirty="0"/>
          </a:p>
        </p:txBody>
      </p:sp>
    </p:spTree>
    <p:extLst>
      <p:ext uri="{BB962C8B-B14F-4D97-AF65-F5344CB8AC3E}">
        <p14:creationId xmlns:p14="http://schemas.microsoft.com/office/powerpoint/2010/main" val="13821001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1FEB5-BA66-6265-3263-1D012794B06D}"/>
            </a:ext>
          </a:extLst>
        </p:cNvPr>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7CC2BC5-D558-2FF3-DCEF-E633AFD9C187}"/>
              </a:ext>
            </a:extLst>
          </p:cNvPr>
          <p:cNvSpPr/>
          <p:nvPr/>
        </p:nvSpPr>
        <p:spPr>
          <a:xfrm>
            <a:off x="1990725" y="103239"/>
            <a:ext cx="9085315" cy="496837"/>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latin typeface="Times New Roman" panose="02020603050405020304" pitchFamily="18" charset="0"/>
                <a:cs typeface="Times New Roman" panose="02020603050405020304" pitchFamily="18" charset="0"/>
              </a:rPr>
              <a:t>E-References</a:t>
            </a:r>
            <a:endParaRPr lang="en-IN" sz="2800" b="1" dirty="0">
              <a:latin typeface="Times New Roman" panose="02020603050405020304" pitchFamily="18" charset="0"/>
              <a:cs typeface="Times New Roman" panose="02020603050405020304" pitchFamily="18" charset="0"/>
            </a:endParaRPr>
          </a:p>
        </p:txBody>
      </p:sp>
      <p:pic>
        <p:nvPicPr>
          <p:cNvPr id="42" name="Picture 2" descr="KL Deemed to be University Logo">
            <a:extLst>
              <a:ext uri="{FF2B5EF4-FFF2-40B4-BE49-F238E27FC236}">
                <a16:creationId xmlns:a16="http://schemas.microsoft.com/office/drawing/2014/main" id="{40A5A64A-C76C-2D88-86E1-BCC5547C638A}"/>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4" name="TextBox 3">
            <a:extLst>
              <a:ext uri="{FF2B5EF4-FFF2-40B4-BE49-F238E27FC236}">
                <a16:creationId xmlns:a16="http://schemas.microsoft.com/office/drawing/2014/main" id="{DDC04AFA-B155-4424-43D9-D70CBC44D686}"/>
              </a:ext>
            </a:extLst>
          </p:cNvPr>
          <p:cNvSpPr txBox="1"/>
          <p:nvPr/>
        </p:nvSpPr>
        <p:spPr>
          <a:xfrm>
            <a:off x="353961" y="1209369"/>
            <a:ext cx="10869563" cy="4801314"/>
          </a:xfrm>
          <a:prstGeom prst="rect">
            <a:avLst/>
          </a:prstGeom>
          <a:noFill/>
        </p:spPr>
        <p:txBody>
          <a:bodyPr wrap="square">
            <a:spAutoFit/>
          </a:bodyPr>
          <a:lstStyle/>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Plain English Campaign (Official Site): </a:t>
            </a:r>
            <a:r>
              <a:rPr lang="en-IN" sz="2400" dirty="0">
                <a:latin typeface="Times New Roman" panose="02020603050405020304" pitchFamily="18" charset="0"/>
                <a:cs typeface="Times New Roman" panose="02020603050405020304" pitchFamily="18" charset="0"/>
                <a:hlinkClick r:id="rId4"/>
              </a:rPr>
              <a:t>https://www.plainenglish.co.uk/</a:t>
            </a:r>
            <a:endParaRPr lang="en-IN" sz="24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Grammarly Blog – Writing Tips: </a:t>
            </a:r>
            <a:r>
              <a:rPr lang="en-IN" sz="2400" dirty="0">
                <a:latin typeface="Times New Roman" panose="02020603050405020304" pitchFamily="18" charset="0"/>
                <a:cs typeface="Times New Roman" panose="02020603050405020304" pitchFamily="18" charset="0"/>
                <a:hlinkClick r:id="rId5"/>
              </a:rPr>
              <a:t>https://www.grammarly.com/blog/writing-tips/</a:t>
            </a:r>
            <a:endParaRPr lang="en-IN" sz="24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Purdue OWL (Online Writing Lab</a:t>
            </a:r>
            <a:r>
              <a:rPr lang="en-IN" sz="2400" u="sng" dirty="0">
                <a:latin typeface="Times New Roman" panose="02020603050405020304" pitchFamily="18" charset="0"/>
                <a:cs typeface="Times New Roman" panose="02020603050405020304" pitchFamily="18" charset="0"/>
              </a:rPr>
              <a:t>): </a:t>
            </a:r>
            <a:r>
              <a:rPr lang="en-IN" sz="2400" u="sng" dirty="0">
                <a:latin typeface="Times New Roman" panose="02020603050405020304" pitchFamily="18" charset="0"/>
                <a:cs typeface="Times New Roman" panose="02020603050405020304" pitchFamily="18" charset="0"/>
                <a:hlinkClick r:id="rId6"/>
              </a:rPr>
              <a:t>https://owl.purdue.edu/owl/index.html</a:t>
            </a:r>
            <a:endParaRPr lang="en-IN" sz="2400" u="sng"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Office Jargon Generator : </a:t>
            </a:r>
            <a:r>
              <a:rPr lang="en-IN" sz="2400" dirty="0">
                <a:latin typeface="Times New Roman" panose="02020603050405020304" pitchFamily="18" charset="0"/>
                <a:cs typeface="Times New Roman" panose="02020603050405020304" pitchFamily="18" charset="0"/>
                <a:hlinkClick r:id="rId7"/>
              </a:rPr>
              <a:t>https://odd.dog/blog/corporate-jargon-generator/</a:t>
            </a: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Hemingway Editor App: </a:t>
            </a:r>
            <a:r>
              <a:rPr lang="en-IN" sz="2400" dirty="0">
                <a:latin typeface="Times New Roman" panose="02020603050405020304" pitchFamily="18" charset="0"/>
                <a:cs typeface="Times New Roman" panose="02020603050405020304" pitchFamily="18" charset="0"/>
                <a:hlinkClick r:id="rId8"/>
              </a:rPr>
              <a:t>https://www.aps.edu/accessibility-at-aps/accessibility-tools/hemingway-app</a:t>
            </a: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Just The Word (Collocation Tool): </a:t>
            </a:r>
            <a:r>
              <a:rPr lang="en-IN" sz="2400" dirty="0">
                <a:latin typeface="Times New Roman" panose="02020603050405020304" pitchFamily="18" charset="0"/>
                <a:cs typeface="Times New Roman" panose="02020603050405020304" pitchFamily="18" charset="0"/>
                <a:hlinkClick r:id="rId9"/>
              </a:rPr>
              <a:t>https://www.just-the-word.com/</a:t>
            </a:r>
            <a:endParaRPr lang="en-IN" sz="24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08012653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123768" y="1856934"/>
            <a:ext cx="9086099" cy="3448844"/>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mj-lt"/>
              <a:cs typeface="Poppins" pitchFamily="2" charset="77"/>
            </a:endParaRPr>
          </a:p>
          <a:p>
            <a:pPr algn="ctr"/>
            <a:endParaRPr lang="en-US" sz="4000" b="1" dirty="0">
              <a:latin typeface="+mj-lt"/>
              <a:cs typeface="Poppins" pitchFamily="2" charset="77"/>
            </a:endParaRPr>
          </a:p>
          <a:p>
            <a:pPr algn="ctr"/>
            <a:endParaRPr lang="en-US" sz="4000" b="1" dirty="0">
              <a:latin typeface="+mj-lt"/>
              <a:cs typeface="Poppins" pitchFamily="2" charset="77"/>
            </a:endParaRPr>
          </a:p>
          <a:p>
            <a:pPr algn="ctr"/>
            <a:endParaRPr lang="en-US" sz="4000" b="1" dirty="0">
              <a:latin typeface="Times New Roman" panose="02020603050405020304" pitchFamily="18" charset="0"/>
              <a:cs typeface="Times New Roman" panose="02020603050405020304" pitchFamily="18" charset="0"/>
            </a:endParaRPr>
          </a:p>
          <a:p>
            <a:pPr algn="ctr"/>
            <a:r>
              <a:rPr lang="en-US" sz="4000" b="1" dirty="0">
                <a:latin typeface="Times New Roman" panose="02020603050405020304" pitchFamily="18" charset="0"/>
                <a:cs typeface="Times New Roman" panose="02020603050405020304" pitchFamily="18" charset="0"/>
              </a:rPr>
              <a:t>THANK YOU</a:t>
            </a:r>
          </a:p>
          <a:p>
            <a:pPr algn="ctr"/>
            <a:endParaRPr lang="en-US" sz="4000" dirty="0">
              <a:latin typeface="+mj-lt"/>
              <a:cs typeface="Poppins" pitchFamily="2" charset="77"/>
            </a:endParaRPr>
          </a:p>
          <a:p>
            <a:pPr algn="ctr"/>
            <a:endParaRPr lang="en-US" sz="4000" dirty="0">
              <a:latin typeface="+mj-lt"/>
              <a:cs typeface="Poppins" pitchFamily="2" charset="77"/>
            </a:endParaRPr>
          </a:p>
          <a:p>
            <a:pPr algn="ctr"/>
            <a:endParaRPr lang="en-US" sz="4000" b="1" dirty="0">
              <a:latin typeface="Times New Roman" panose="02020603050405020304" pitchFamily="18" charset="0"/>
              <a:cs typeface="Times New Roman" panose="02020603050405020304" pitchFamily="18" charset="0"/>
            </a:endParaRPr>
          </a:p>
          <a:p>
            <a:pPr algn="ctr"/>
            <a:r>
              <a:rPr lang="en-US" sz="4000" b="1" dirty="0">
                <a:latin typeface="Times New Roman" panose="02020603050405020304" pitchFamily="18" charset="0"/>
                <a:cs typeface="Times New Roman" panose="02020603050405020304" pitchFamily="18" charset="0"/>
              </a:rPr>
              <a:t>Team – Language Skills for Engineers</a:t>
            </a:r>
          </a:p>
          <a:p>
            <a:pPr algn="ctr"/>
            <a:endParaRPr lang="en-US" sz="4000" b="1" dirty="0">
              <a:latin typeface="+mj-lt"/>
              <a:cs typeface="Poppins" pitchFamily="2" charset="77"/>
            </a:endParaRPr>
          </a:p>
          <a:p>
            <a:pPr algn="ctr"/>
            <a:endParaRPr lang="en-US" sz="4000" dirty="0">
              <a:solidFill>
                <a:schemeClr val="bg1"/>
              </a:solidFill>
              <a:latin typeface="+mj-lt"/>
              <a:cs typeface="Poppins" pitchFamily="2" charset="77"/>
            </a:endParaRPr>
          </a:p>
          <a:p>
            <a:pPr algn="ctr"/>
            <a:endParaRPr lang="en-US" sz="4000" dirty="0">
              <a:solidFill>
                <a:schemeClr val="bg1"/>
              </a:solidFill>
              <a:latin typeface="+mj-lt"/>
              <a:cs typeface="Poppins" pitchFamily="2" charset="77"/>
            </a:endParaRPr>
          </a:p>
          <a:p>
            <a:pPr algn="ctr"/>
            <a:endParaRPr lang="en-US" sz="4000" dirty="0">
              <a:solidFill>
                <a:schemeClr val="bg1"/>
              </a:solidFill>
              <a:latin typeface="+mj-lt"/>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707626" y="2680820"/>
            <a:ext cx="3448878" cy="1154623"/>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DA00F5F-5366-4B1C-9406-30DECA796ABB}">
  <ds:schemaRefs>
    <ds:schemaRef ds:uri="http://schemas.microsoft.com/sharepoint/v3/contenttype/forms"/>
  </ds:schemaRefs>
</ds:datastoreItem>
</file>

<file path=customXml/itemProps2.xml><?xml version="1.0" encoding="utf-8"?>
<ds:datastoreItem xmlns:ds="http://schemas.openxmlformats.org/officeDocument/2006/customXml" ds:itemID="{C89A6ECA-0C1B-4F00-836D-A696F073E5C2}">
  <ds:schemaRefs>
    <ds:schemaRef ds:uri="0125a647-8023-46ae-ae6e-85cf36d841bd"/>
    <ds:schemaRef ds:uri="d43ee83c-3e71-4748-8ebc-8eaadf79342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BBD0A98-E68B-4DAA-8964-2F739D6D4075}">
  <ds:schemaRefs>
    <ds:schemaRef ds:uri="0125a647-8023-46ae-ae6e-85cf36d841bd"/>
    <ds:schemaRef ds:uri="http://purl.org/dc/dcmitype/"/>
    <ds:schemaRef ds:uri="http://purl.org/dc/terms/"/>
    <ds:schemaRef ds:uri="http://schemas.microsoft.com/office/2006/metadata/properties"/>
    <ds:schemaRef ds:uri="http://purl.org/dc/elements/1.1/"/>
    <ds:schemaRef ds:uri="d43ee83c-3e71-4748-8ebc-8eaadf793425"/>
    <ds:schemaRef ds:uri="http://www.w3.org/XML/1998/namespace"/>
    <ds:schemaRef ds:uri="http://schemas.microsoft.com/office/2006/documentManagement/types"/>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Office Theme</Template>
  <TotalTime>1764</TotalTime>
  <Words>1971</Words>
  <Application>Microsoft Office PowerPoint</Application>
  <PresentationFormat>Widescreen</PresentationFormat>
  <Paragraphs>322</Paragraphs>
  <Slides>25</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Calibri Light</vt:lpstr>
      <vt:lpstr>Times New Roman</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DHANYAMOL CT</cp:lastModifiedBy>
  <cp:revision>172</cp:revision>
  <dcterms:created xsi:type="dcterms:W3CDTF">2020-02-08T09:57:44Z</dcterms:created>
  <dcterms:modified xsi:type="dcterms:W3CDTF">2026-08-17T09:52:07Z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